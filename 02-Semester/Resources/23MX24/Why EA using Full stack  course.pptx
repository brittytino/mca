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notesSlides/notesSlide48.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notesSlides/notesSlide46.xml" ContentType="application/vnd.openxmlformats-officedocument.presentationml.notesSlide+xml"/>
  <Override PartName="/ppt/notesSlides/notesSlide55.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ppt/notesSlides/notesSlide53.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51.xml" ContentType="application/vnd.openxmlformats-officedocument.presentationml.notesSlide+xml"/>
  <Override PartName="/ppt/notesSlides/notesSlide60.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62"/>
  </p:notesMasterIdLst>
  <p:sldIdLst>
    <p:sldId id="256" r:id="rId2"/>
    <p:sldId id="260" r:id="rId3"/>
    <p:sldId id="261" r:id="rId4"/>
    <p:sldId id="262" r:id="rId5"/>
    <p:sldId id="263" r:id="rId6"/>
    <p:sldId id="264" r:id="rId7"/>
    <p:sldId id="265" r:id="rId8"/>
    <p:sldId id="266" r:id="rId9"/>
    <p:sldId id="267" r:id="rId10"/>
    <p:sldId id="268" r:id="rId11"/>
    <p:sldId id="269" r:id="rId12"/>
    <p:sldId id="270" r:id="rId13"/>
    <p:sldId id="272" r:id="rId14"/>
    <p:sldId id="273" r:id="rId15"/>
    <p:sldId id="274" r:id="rId16"/>
    <p:sldId id="275" r:id="rId17"/>
    <p:sldId id="278" r:id="rId18"/>
    <p:sldId id="279" r:id="rId19"/>
    <p:sldId id="281" r:id="rId20"/>
    <p:sldId id="282" r:id="rId21"/>
    <p:sldId id="283" r:id="rId22"/>
    <p:sldId id="284" r:id="rId23"/>
    <p:sldId id="285" r:id="rId24"/>
    <p:sldId id="287" r:id="rId25"/>
    <p:sldId id="288" r:id="rId26"/>
    <p:sldId id="289" r:id="rId27"/>
    <p:sldId id="290" r:id="rId28"/>
    <p:sldId id="291" r:id="rId29"/>
    <p:sldId id="292" r:id="rId30"/>
    <p:sldId id="293" r:id="rId31"/>
    <p:sldId id="294" r:id="rId32"/>
    <p:sldId id="298" r:id="rId33"/>
    <p:sldId id="299" r:id="rId34"/>
    <p:sldId id="300" r:id="rId35"/>
    <p:sldId id="301" r:id="rId36"/>
    <p:sldId id="302" r:id="rId37"/>
    <p:sldId id="303" r:id="rId38"/>
    <p:sldId id="304" r:id="rId39"/>
    <p:sldId id="305" r:id="rId40"/>
    <p:sldId id="306" r:id="rId41"/>
    <p:sldId id="307" r:id="rId42"/>
    <p:sldId id="308" r:id="rId43"/>
    <p:sldId id="309" r:id="rId44"/>
    <p:sldId id="310" r:id="rId45"/>
    <p:sldId id="311" r:id="rId46"/>
    <p:sldId id="312" r:id="rId47"/>
    <p:sldId id="313" r:id="rId48"/>
    <p:sldId id="314" r:id="rId49"/>
    <p:sldId id="315" r:id="rId50"/>
    <p:sldId id="316" r:id="rId51"/>
    <p:sldId id="317" r:id="rId52"/>
    <p:sldId id="318" r:id="rId53"/>
    <p:sldId id="319" r:id="rId54"/>
    <p:sldId id="320" r:id="rId55"/>
    <p:sldId id="321" r:id="rId56"/>
    <p:sldId id="322" r:id="rId57"/>
    <p:sldId id="323" r:id="rId58"/>
    <p:sldId id="324" r:id="rId59"/>
    <p:sldId id="325" r:id="rId60"/>
    <p:sldId id="326" r:id="rId61"/>
  </p:sldIdLst>
  <p:sldSz cx="12192000" cy="6858000"/>
  <p:notesSz cx="6858000" cy="9144000"/>
  <p:embeddedFontLst>
    <p:embeddedFont>
      <p:font typeface="Calibri" pitchFamily="34" charset="0"/>
      <p:regular r:id="rId63"/>
      <p:bold r:id="rId64"/>
      <p:italic r:id="rId65"/>
      <p:boldItalic r:id="rId66"/>
    </p:embeddedFont>
    <p:embeddedFont>
      <p:font typeface="Poppins" charset="0"/>
      <p:regular r:id="rId67"/>
      <p:bold r:id="rId68"/>
      <p:italic r:id="rId69"/>
      <p:boldItalic r:id="rId70"/>
    </p:embeddedFont>
    <p:embeddedFont>
      <p:font typeface="Inter" charset="0"/>
      <p:regular r:id="rId71"/>
      <p:bold r:id="rId7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FC9120A8-5EFD-48D4-9EBC-27F31F236AB9}">
  <a:tblStyle styleId="{FC9120A8-5EFD-48D4-9EBC-27F31F236AB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1" d="100"/>
          <a:sy n="61" d="100"/>
        </p:scale>
        <p:origin x="-954" y="-84"/>
      </p:cViewPr>
      <p:guideLst>
        <p:guide orient="horz" pos="2160"/>
        <p:guide pos="384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font" Target="fonts/font1.fntdata"/><Relationship Id="rId68" Type="http://schemas.openxmlformats.org/officeDocument/2006/relationships/font" Target="fonts/font6.fntdata"/><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4.fntdata"/><Relationship Id="rId7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3.fntdata"/><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2.fntdata"/><Relationship Id="rId69"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0.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70" Type="http://schemas.openxmlformats.org/officeDocument/2006/relationships/font" Target="fonts/font8.fntdata"/><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 name="Google Shape;218;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0" name="Google Shape;240;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5" name="Google Shape;245;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0" name="Google Shape;250;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0" name="Google Shape;260;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5" name="Google Shape;275;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0" name="Google Shape;280;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5" name="Google Shape;285;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 name="Google Shape;290;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5" name="Google Shape;295;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8" name="Google Shape;318;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8" name="Google Shape;328;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3" name="Google Shape;333;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8" name="Google Shape;338;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3" name="Google Shape;343;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8" name="Google Shape;348;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3" name="Google Shape;353;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9" name="Google Shape;359;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4" name="Google Shape;364;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9" name="Google Shape;369;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4" name="Google Shape;374;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9" name="Google Shape;379;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4" name="Google Shape;384;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9" name="Google Shape;389;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9" name="Google Shape;399;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6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5" name="Google Shape;405;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0" name="Google Shape;410;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6" name="Google Shape;416;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6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1" name="Google Shape;421;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6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7" name="Google Shape;427;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6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2" name="Google Shape;432;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6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8" name="Google Shape;438;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6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3" name="Google Shape;443;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6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8" name="Google Shape;448;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6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4" name="Google Shape;454;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7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0" name="Google Shape;460;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7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5" name="Google Shape;465;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2" name="Google Shape;22;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hyperlink" Target="https://en.wikipedia.org/wiki/HTML" TargetMode="External"/><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hyperlink" Target="https://eluminoustechnologies.com/blog/front-end-development-and-accessibility-practices/" TargetMode="External"/></Relationships>
</file>

<file path=ppt/slides/_rels/slide5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hyperlink" Target="https://eluminoustechnologies.com/hire-dedicated-developers/hire-backend-developers/" TargetMode="External"/><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idx="4294967295"/>
          </p:nvPr>
        </p:nvSpPr>
        <p:spPr>
          <a:xfrm>
            <a:off x="0" y="0"/>
            <a:ext cx="12117388" cy="952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F0000"/>
              </a:buClr>
              <a:buSzPts val="4000"/>
              <a:buFont typeface="Calibri"/>
              <a:buNone/>
            </a:pPr>
            <a:r>
              <a:rPr lang="en-US" sz="4000" b="1" i="0" u="none" strike="noStrike" cap="none" dirty="0">
                <a:solidFill>
                  <a:srgbClr val="FF0000"/>
                </a:solidFill>
                <a:latin typeface="Calibri"/>
                <a:ea typeface="Calibri"/>
                <a:cs typeface="Calibri"/>
                <a:sym typeface="Calibri"/>
              </a:rPr>
              <a:t>Genesis of Enterprise Computing using Full </a:t>
            </a:r>
            <a:r>
              <a:rPr lang="en-US" sz="4000" b="1" i="0" u="none" strike="noStrike" cap="none" dirty="0" smtClean="0">
                <a:solidFill>
                  <a:srgbClr val="FF0000"/>
                </a:solidFill>
                <a:latin typeface="Calibri"/>
                <a:ea typeface="Calibri"/>
                <a:cs typeface="Calibri"/>
                <a:sym typeface="Calibri"/>
              </a:rPr>
              <a:t>stack</a:t>
            </a:r>
            <a:endParaRPr sz="4000" b="1" i="0" u="none" strike="noStrike" cap="none" dirty="0">
              <a:solidFill>
                <a:srgbClr val="FF0000"/>
              </a:solidFill>
              <a:latin typeface="Calibri"/>
              <a:ea typeface="Calibri"/>
              <a:cs typeface="Calibri"/>
              <a:sym typeface="Calibri"/>
            </a:endParaRPr>
          </a:p>
        </p:txBody>
      </p:sp>
      <p:sp>
        <p:nvSpPr>
          <p:cNvPr id="89" name="Google Shape;89;p13"/>
          <p:cNvSpPr txBox="1"/>
          <p:nvPr/>
        </p:nvSpPr>
        <p:spPr>
          <a:xfrm>
            <a:off x="482597" y="952500"/>
            <a:ext cx="11152193" cy="569386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0" i="0" u="none" strike="noStrike" cap="none" dirty="0">
                <a:solidFill>
                  <a:srgbClr val="C00000"/>
                </a:solidFill>
                <a:latin typeface="Calibri"/>
                <a:ea typeface="Calibri"/>
                <a:cs typeface="Calibri"/>
                <a:sym typeface="Calibri"/>
              </a:rPr>
              <a:t>Agenda</a:t>
            </a:r>
            <a:endParaRPr sz="4000" b="0" i="0" u="none" strike="noStrike" cap="none" dirty="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3600"/>
              <a:buFont typeface="Calibri"/>
              <a:buAutoNum type="arabicPeriod"/>
            </a:pPr>
            <a:r>
              <a:rPr lang="en-US" sz="3600" b="0" i="0" u="none" strike="noStrike" cap="none" dirty="0">
                <a:solidFill>
                  <a:schemeClr val="dk1"/>
                </a:solidFill>
                <a:latin typeface="Calibri"/>
                <a:ea typeface="Calibri"/>
                <a:cs typeface="Calibri"/>
                <a:sym typeface="Calibri"/>
              </a:rPr>
              <a:t>Disruptive Technology</a:t>
            </a:r>
            <a:endParaRPr dirty="0"/>
          </a:p>
          <a:p>
            <a:pPr marL="342900" marR="0" lvl="0" indent="-342900" algn="l" rtl="0">
              <a:spcBef>
                <a:spcPts val="0"/>
              </a:spcBef>
              <a:spcAft>
                <a:spcPts val="0"/>
              </a:spcAft>
              <a:buClr>
                <a:schemeClr val="dk1"/>
              </a:buClr>
              <a:buSzPts val="3600"/>
              <a:buFont typeface="Calibri"/>
              <a:buAutoNum type="arabicPeriod"/>
            </a:pPr>
            <a:r>
              <a:rPr lang="en-US" sz="3600" b="0" i="0" u="none" strike="noStrike" cap="none" dirty="0">
                <a:solidFill>
                  <a:schemeClr val="dk1"/>
                </a:solidFill>
                <a:latin typeface="Calibri"/>
                <a:ea typeface="Calibri"/>
                <a:cs typeface="Calibri"/>
                <a:sym typeface="Calibri"/>
              </a:rPr>
              <a:t>Digital Transformation</a:t>
            </a:r>
            <a:endParaRPr dirty="0"/>
          </a:p>
          <a:p>
            <a:pPr marL="342900" marR="0" lvl="0" indent="-342900" algn="l" rtl="0">
              <a:spcBef>
                <a:spcPts val="0"/>
              </a:spcBef>
              <a:spcAft>
                <a:spcPts val="0"/>
              </a:spcAft>
              <a:buClr>
                <a:schemeClr val="dk1"/>
              </a:buClr>
              <a:buSzPts val="3600"/>
              <a:buFont typeface="Calibri"/>
              <a:buAutoNum type="arabicPeriod"/>
            </a:pPr>
            <a:r>
              <a:rPr lang="en-US" sz="3600" b="0" i="0" u="none" strike="noStrike" cap="none" dirty="0">
                <a:solidFill>
                  <a:schemeClr val="dk1"/>
                </a:solidFill>
                <a:latin typeface="Calibri"/>
                <a:ea typeface="Calibri"/>
                <a:cs typeface="Calibri"/>
                <a:sym typeface="Calibri"/>
              </a:rPr>
              <a:t>IT Full stack Development(</a:t>
            </a:r>
            <a:r>
              <a:rPr lang="en-US" sz="3600" b="0" i="0" u="none" strike="noStrike" cap="none" dirty="0">
                <a:solidFill>
                  <a:srgbClr val="FF0000"/>
                </a:solidFill>
                <a:latin typeface="Calibri"/>
                <a:ea typeface="Calibri"/>
                <a:cs typeface="Calibri"/>
                <a:sym typeface="Calibri"/>
              </a:rPr>
              <a:t>Generalist </a:t>
            </a:r>
            <a:r>
              <a:rPr lang="en-US" sz="3600" b="0" i="0" u="none" strike="noStrike" cap="none" dirty="0">
                <a:solidFill>
                  <a:schemeClr val="dk1"/>
                </a:solidFill>
                <a:latin typeface="Calibri"/>
                <a:ea typeface="Calibri"/>
                <a:cs typeface="Calibri"/>
                <a:sym typeface="Calibri"/>
              </a:rPr>
              <a:t>)</a:t>
            </a:r>
            <a:endParaRPr dirty="0"/>
          </a:p>
          <a:p>
            <a:pPr marL="342900" marR="0" lvl="0" indent="-342900" algn="l" rtl="0">
              <a:spcBef>
                <a:spcPts val="0"/>
              </a:spcBef>
              <a:spcAft>
                <a:spcPts val="0"/>
              </a:spcAft>
              <a:buClr>
                <a:schemeClr val="dk1"/>
              </a:buClr>
              <a:buSzPts val="3600"/>
              <a:buFont typeface="Calibri"/>
              <a:buAutoNum type="arabicPeriod"/>
            </a:pPr>
            <a:r>
              <a:rPr lang="en-US" sz="3600" b="0" i="0" u="none" strike="noStrike" cap="none" dirty="0">
                <a:solidFill>
                  <a:schemeClr val="dk1"/>
                </a:solidFill>
                <a:latin typeface="Calibri"/>
                <a:ea typeface="Calibri"/>
                <a:cs typeface="Calibri"/>
                <a:sym typeface="Calibri"/>
              </a:rPr>
              <a:t> Full  Stacks</a:t>
            </a:r>
            <a:endParaRPr dirty="0"/>
          </a:p>
          <a:p>
            <a:pPr marL="342900" marR="0" lvl="0" indent="-342900" algn="l" rtl="0">
              <a:spcBef>
                <a:spcPts val="0"/>
              </a:spcBef>
              <a:spcAft>
                <a:spcPts val="0"/>
              </a:spcAft>
              <a:buClr>
                <a:schemeClr val="dk1"/>
              </a:buClr>
              <a:buSzPts val="3600"/>
              <a:buFont typeface="Calibri"/>
              <a:buAutoNum type="arabicPeriod"/>
            </a:pPr>
            <a:r>
              <a:rPr lang="en-US" sz="3600" b="0" i="0" u="none" strike="noStrike" cap="none" dirty="0">
                <a:solidFill>
                  <a:schemeClr val="dk1"/>
                </a:solidFill>
                <a:latin typeface="Calibri"/>
                <a:ea typeface="Calibri"/>
                <a:cs typeface="Calibri"/>
                <a:sym typeface="Calibri"/>
              </a:rPr>
              <a:t> Java Full stack</a:t>
            </a:r>
            <a:endParaRPr dirty="0"/>
          </a:p>
          <a:p>
            <a:pPr marL="342900" marR="0" lvl="0" indent="-342900" algn="l" rtl="0">
              <a:spcBef>
                <a:spcPts val="0"/>
              </a:spcBef>
              <a:spcAft>
                <a:spcPts val="0"/>
              </a:spcAft>
              <a:buClr>
                <a:schemeClr val="dk1"/>
              </a:buClr>
              <a:buSzPts val="3600"/>
              <a:buFont typeface="Calibri"/>
              <a:buAutoNum type="arabicPeriod"/>
            </a:pPr>
            <a:r>
              <a:rPr lang="en-US" sz="3600" b="0" i="0" u="none" strike="noStrike" cap="none" dirty="0">
                <a:solidFill>
                  <a:schemeClr val="dk1"/>
                </a:solidFill>
                <a:latin typeface="Calibri"/>
                <a:ea typeface="Calibri"/>
                <a:cs typeface="Calibri"/>
                <a:sym typeface="Calibri"/>
              </a:rPr>
              <a:t> Java Script based Full Stack</a:t>
            </a:r>
            <a:endParaRPr dirty="0"/>
          </a:p>
          <a:p>
            <a:pPr marL="342900" marR="0" lvl="0" indent="-342900" algn="l" rtl="0">
              <a:spcBef>
                <a:spcPts val="0"/>
              </a:spcBef>
              <a:spcAft>
                <a:spcPts val="0"/>
              </a:spcAft>
              <a:buClr>
                <a:schemeClr val="dk1"/>
              </a:buClr>
              <a:buSzPts val="3600"/>
              <a:buFont typeface="Calibri"/>
              <a:buAutoNum type="arabicPeriod"/>
            </a:pPr>
            <a:r>
              <a:rPr lang="en-US" sz="3600" b="0" i="0" u="none" strike="noStrike" cap="none" dirty="0">
                <a:solidFill>
                  <a:schemeClr val="dk1"/>
                </a:solidFill>
                <a:latin typeface="Calibri"/>
                <a:ea typeface="Calibri"/>
                <a:cs typeface="Calibri"/>
                <a:sym typeface="Calibri"/>
              </a:rPr>
              <a:t> Java  Vs. Java Script</a:t>
            </a:r>
            <a:endParaRPr dirty="0"/>
          </a:p>
          <a:p>
            <a:pPr marL="342900" marR="0" lvl="0" indent="-342900" algn="l" rtl="0">
              <a:spcBef>
                <a:spcPts val="0"/>
              </a:spcBef>
              <a:spcAft>
                <a:spcPts val="0"/>
              </a:spcAft>
              <a:buClr>
                <a:schemeClr val="dk1"/>
              </a:buClr>
              <a:buSzPts val="3600"/>
              <a:buFont typeface="Calibri"/>
              <a:buAutoNum type="arabicPeriod"/>
            </a:pPr>
            <a:r>
              <a:rPr lang="en-US" sz="3600" b="0" i="0" u="none" strike="noStrike" cap="none" dirty="0">
                <a:solidFill>
                  <a:schemeClr val="dk1"/>
                </a:solidFill>
                <a:latin typeface="Calibri"/>
                <a:ea typeface="Calibri"/>
                <a:cs typeface="Calibri"/>
                <a:sym typeface="Calibri"/>
              </a:rPr>
              <a:t> Java Stack vs. Java Script Full stack</a:t>
            </a:r>
            <a:endParaRPr dirty="0"/>
          </a:p>
          <a:p>
            <a:pPr marL="342900" marR="0" lvl="0" indent="-342900" algn="l" rtl="0">
              <a:spcBef>
                <a:spcPts val="0"/>
              </a:spcBef>
              <a:spcAft>
                <a:spcPts val="0"/>
              </a:spcAft>
              <a:buClr>
                <a:schemeClr val="dk1"/>
              </a:buClr>
              <a:buSzPts val="3600"/>
              <a:buFont typeface="Calibri"/>
              <a:buAutoNum type="arabicPeriod"/>
            </a:pPr>
            <a:r>
              <a:rPr lang="en-US" sz="3600" b="0" i="0" u="none" strike="noStrike" cap="none" dirty="0">
                <a:solidFill>
                  <a:schemeClr val="dk1"/>
                </a:solidFill>
                <a:latin typeface="Calibri"/>
                <a:ea typeface="Calibri"/>
                <a:cs typeface="Calibri"/>
                <a:sym typeface="Calibri"/>
              </a:rPr>
              <a:t> Core Java vs. Advanced Java</a:t>
            </a:r>
            <a:endParaRPr sz="36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114" name="Google Shape;114;p17"/>
          <p:cNvPicPr preferRelativeResize="0"/>
          <p:nvPr/>
        </p:nvPicPr>
        <p:blipFill rotWithShape="1">
          <a:blip r:embed="rId3">
            <a:alphaModFix/>
          </a:blip>
          <a:srcRect/>
          <a:stretch/>
        </p:blipFill>
        <p:spPr>
          <a:xfrm>
            <a:off x="682580" y="238106"/>
            <a:ext cx="11243257" cy="654706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pic>
        <p:nvPicPr>
          <p:cNvPr id="119" name="Google Shape;119;p18"/>
          <p:cNvPicPr preferRelativeResize="0"/>
          <p:nvPr/>
        </p:nvPicPr>
        <p:blipFill rotWithShape="1">
          <a:blip r:embed="rId3">
            <a:alphaModFix/>
          </a:blip>
          <a:srcRect/>
          <a:stretch/>
        </p:blipFill>
        <p:spPr>
          <a:xfrm>
            <a:off x="803564" y="188281"/>
            <a:ext cx="10688722" cy="654502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124" name="Google Shape;124;p19"/>
          <p:cNvPicPr preferRelativeResize="0"/>
          <p:nvPr/>
        </p:nvPicPr>
        <p:blipFill rotWithShape="1">
          <a:blip r:embed="rId3">
            <a:alphaModFix/>
          </a:blip>
          <a:srcRect b="9460"/>
          <a:stretch/>
        </p:blipFill>
        <p:spPr>
          <a:xfrm>
            <a:off x="352770" y="267859"/>
            <a:ext cx="11173822" cy="3315464"/>
          </a:xfrm>
          <a:prstGeom prst="rect">
            <a:avLst/>
          </a:prstGeom>
          <a:noFill/>
          <a:ln>
            <a:noFill/>
          </a:ln>
        </p:spPr>
      </p:pic>
      <p:pic>
        <p:nvPicPr>
          <p:cNvPr id="125" name="Google Shape;125;p19"/>
          <p:cNvPicPr preferRelativeResize="0"/>
          <p:nvPr/>
        </p:nvPicPr>
        <p:blipFill rotWithShape="1">
          <a:blip r:embed="rId4">
            <a:alphaModFix/>
          </a:blip>
          <a:srcRect b="16172"/>
          <a:stretch/>
        </p:blipFill>
        <p:spPr>
          <a:xfrm>
            <a:off x="1413164" y="3819753"/>
            <a:ext cx="8030889" cy="291355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0" name="Google Shape;130;p20"/>
          <p:cNvPicPr preferRelativeResize="0"/>
          <p:nvPr/>
        </p:nvPicPr>
        <p:blipFill rotWithShape="1">
          <a:blip r:embed="rId3">
            <a:alphaModFix/>
          </a:blip>
          <a:srcRect/>
          <a:stretch/>
        </p:blipFill>
        <p:spPr>
          <a:xfrm>
            <a:off x="503334" y="275881"/>
            <a:ext cx="11448260" cy="633098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pic>
        <p:nvPicPr>
          <p:cNvPr id="135" name="Google Shape;135;p21"/>
          <p:cNvPicPr preferRelativeResize="0"/>
          <p:nvPr/>
        </p:nvPicPr>
        <p:blipFill rotWithShape="1">
          <a:blip r:embed="rId3">
            <a:alphaModFix/>
          </a:blip>
          <a:srcRect t="12300" b="3430"/>
          <a:stretch/>
        </p:blipFill>
        <p:spPr>
          <a:xfrm>
            <a:off x="103031" y="482996"/>
            <a:ext cx="5074276" cy="5248970"/>
          </a:xfrm>
          <a:prstGeom prst="rect">
            <a:avLst/>
          </a:prstGeom>
          <a:noFill/>
          <a:ln>
            <a:noFill/>
          </a:ln>
        </p:spPr>
      </p:pic>
      <p:pic>
        <p:nvPicPr>
          <p:cNvPr id="136" name="Google Shape;136;p21"/>
          <p:cNvPicPr preferRelativeResize="0"/>
          <p:nvPr/>
        </p:nvPicPr>
        <p:blipFill rotWithShape="1">
          <a:blip r:embed="rId4">
            <a:alphaModFix/>
          </a:blip>
          <a:srcRect/>
          <a:stretch/>
        </p:blipFill>
        <p:spPr>
          <a:xfrm>
            <a:off x="5177307" y="883813"/>
            <a:ext cx="7014693" cy="394576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2"/>
          <p:cNvSpPr txBox="1">
            <a:spLocks noGrp="1"/>
          </p:cNvSpPr>
          <p:nvPr>
            <p:ph type="title"/>
          </p:nvPr>
        </p:nvSpPr>
        <p:spPr>
          <a:xfrm>
            <a:off x="348803" y="0"/>
            <a:ext cx="10515600" cy="8197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Calibri"/>
              <a:buNone/>
            </a:pPr>
            <a:r>
              <a:rPr lang="en-US" b="1">
                <a:solidFill>
                  <a:srgbClr val="C00000"/>
                </a:solidFill>
              </a:rPr>
              <a:t>What Is Digital Transformation?</a:t>
            </a:r>
            <a:endParaRPr>
              <a:solidFill>
                <a:srgbClr val="C00000"/>
              </a:solidFill>
            </a:endParaRPr>
          </a:p>
        </p:txBody>
      </p:sp>
      <p:sp>
        <p:nvSpPr>
          <p:cNvPr id="142" name="Google Shape;142;p22"/>
          <p:cNvSpPr txBox="1">
            <a:spLocks noGrp="1"/>
          </p:cNvSpPr>
          <p:nvPr>
            <p:ph type="body" idx="1"/>
          </p:nvPr>
        </p:nvSpPr>
        <p:spPr>
          <a:xfrm>
            <a:off x="0" y="695459"/>
            <a:ext cx="12191999" cy="6162541"/>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just" rtl="0">
              <a:lnSpc>
                <a:spcPct val="90000"/>
              </a:lnSpc>
              <a:spcBef>
                <a:spcPts val="0"/>
              </a:spcBef>
              <a:spcAft>
                <a:spcPts val="0"/>
              </a:spcAft>
              <a:buClr>
                <a:schemeClr val="dk1"/>
              </a:buClr>
              <a:buSzPct val="100000"/>
              <a:buChar char="•"/>
            </a:pPr>
            <a:r>
              <a:rPr lang="en-US"/>
              <a:t> </a:t>
            </a:r>
            <a:r>
              <a:rPr lang="en-US">
                <a:solidFill>
                  <a:srgbClr val="002060"/>
                </a:solidFill>
              </a:rPr>
              <a:t>Digital transformation as the integration of digital technology into all areas of a business resulting in fundamental changes to how businesses operate and how they deliver value to customers. </a:t>
            </a:r>
            <a:endParaRPr>
              <a:solidFill>
                <a:srgbClr val="002060"/>
              </a:solidFill>
            </a:endParaRPr>
          </a:p>
          <a:p>
            <a:pPr marL="228600" lvl="0" indent="-228600" algn="just" rtl="0">
              <a:lnSpc>
                <a:spcPct val="90000"/>
              </a:lnSpc>
              <a:spcBef>
                <a:spcPts val="1000"/>
              </a:spcBef>
              <a:spcAft>
                <a:spcPts val="0"/>
              </a:spcAft>
              <a:buClr>
                <a:srgbClr val="002060"/>
              </a:buClr>
              <a:buSzPct val="100000"/>
              <a:buChar char="•"/>
            </a:pPr>
            <a:r>
              <a:rPr lang="en-US">
                <a:solidFill>
                  <a:srgbClr val="002060"/>
                </a:solidFill>
              </a:rPr>
              <a:t>Digital transformation is the process of using technology to create new ways of doing business. i.e. The concept can comprise changing existing systems or building new ones</a:t>
            </a:r>
            <a:r>
              <a:rPr lang="en-US"/>
              <a:t>. </a:t>
            </a:r>
            <a:endParaRPr/>
          </a:p>
          <a:p>
            <a:pPr marL="228600" lvl="0" indent="-228600" algn="l" rtl="0">
              <a:lnSpc>
                <a:spcPct val="90000"/>
              </a:lnSpc>
              <a:spcBef>
                <a:spcPts val="1000"/>
              </a:spcBef>
              <a:spcAft>
                <a:spcPts val="0"/>
              </a:spcAft>
              <a:buClr>
                <a:schemeClr val="dk1"/>
              </a:buClr>
              <a:buSzPct val="100000"/>
              <a:buChar char="•"/>
            </a:pPr>
            <a:r>
              <a:rPr lang="en-US"/>
              <a:t> Company culture, business processes, and customer experience can all be upgraded by digital transformation. </a:t>
            </a:r>
            <a:endParaRPr/>
          </a:p>
          <a:p>
            <a:pPr marL="228600" lvl="0" indent="-228600" algn="l" rtl="0">
              <a:lnSpc>
                <a:spcPct val="90000"/>
              </a:lnSpc>
              <a:spcBef>
                <a:spcPts val="1000"/>
              </a:spcBef>
              <a:spcAft>
                <a:spcPts val="0"/>
              </a:spcAft>
              <a:buClr>
                <a:schemeClr val="dk1"/>
              </a:buClr>
              <a:buSzPct val="100000"/>
              <a:buChar char="•"/>
            </a:pPr>
            <a:r>
              <a:rPr lang="en-US"/>
              <a:t> Digital transformation is a continuous process of adapting, changing, and improving over time, so it’s important for everyone within the organization to be on board.</a:t>
            </a:r>
            <a:endParaRPr/>
          </a:p>
          <a:p>
            <a:pPr marL="228600" lvl="0" indent="-228600" algn="l" rtl="0">
              <a:lnSpc>
                <a:spcPct val="90000"/>
              </a:lnSpc>
              <a:spcBef>
                <a:spcPts val="1000"/>
              </a:spcBef>
              <a:spcAft>
                <a:spcPts val="0"/>
              </a:spcAft>
              <a:buClr>
                <a:schemeClr val="dk1"/>
              </a:buClr>
              <a:buSzPct val="100000"/>
              <a:buChar char="•"/>
            </a:pPr>
            <a:r>
              <a:rPr lang="en-US"/>
              <a:t> By implementing digital transformation, businesses can keep up with changing demands within their market and the business world at large.</a:t>
            </a:r>
            <a:endParaRPr/>
          </a:p>
          <a:p>
            <a:pPr marL="228600" lvl="0" indent="-228600" algn="l" rtl="0">
              <a:lnSpc>
                <a:spcPct val="90000"/>
              </a:lnSpc>
              <a:spcBef>
                <a:spcPts val="1000"/>
              </a:spcBef>
              <a:spcAft>
                <a:spcPts val="0"/>
              </a:spcAft>
              <a:buClr>
                <a:schemeClr val="dk1"/>
              </a:buClr>
              <a:buSzPct val="100000"/>
              <a:buChar char="•"/>
            </a:pPr>
            <a:r>
              <a:rPr lang="en-US"/>
              <a:t>Beyond that, it's a cultural change that requires organizations to continually challenge the status quo, experiment often, and get comfortable with failure. </a:t>
            </a:r>
            <a:endParaRPr/>
          </a:p>
          <a:p>
            <a:pPr marL="228600" lvl="0" indent="-228600" algn="l" rtl="0">
              <a:lnSpc>
                <a:spcPct val="90000"/>
              </a:lnSpc>
              <a:spcBef>
                <a:spcPts val="1000"/>
              </a:spcBef>
              <a:spcAft>
                <a:spcPts val="0"/>
              </a:spcAft>
              <a:buClr>
                <a:schemeClr val="dk1"/>
              </a:buClr>
              <a:buSzPct val="100000"/>
              <a:buChar char="•"/>
            </a:pPr>
            <a:r>
              <a:rPr lang="en-US"/>
              <a:t>This sometimes means walking away from long-standing business processes that companies were built upon in favor of relatively new practices that are still being defined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23"/>
          <p:cNvPicPr preferRelativeResize="0"/>
          <p:nvPr/>
        </p:nvPicPr>
        <p:blipFill rotWithShape="1">
          <a:blip r:embed="rId3">
            <a:alphaModFix/>
          </a:blip>
          <a:srcRect/>
          <a:stretch/>
        </p:blipFill>
        <p:spPr>
          <a:xfrm>
            <a:off x="857518" y="0"/>
            <a:ext cx="9934977" cy="6924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4"/>
          <p:cNvSpPr/>
          <p:nvPr/>
        </p:nvSpPr>
        <p:spPr>
          <a:xfrm>
            <a:off x="240406" y="695459"/>
            <a:ext cx="11964473" cy="5663089"/>
          </a:xfrm>
          <a:prstGeom prst="rect">
            <a:avLst/>
          </a:prstGeom>
          <a:noFill/>
          <a:ln>
            <a:noFill/>
          </a:ln>
        </p:spPr>
        <p:txBody>
          <a:bodyPr spcFirstLastPara="1" wrap="square" lIns="91425" tIns="45700" rIns="91425" bIns="45700" anchor="t" anchorCtr="0">
            <a:noAutofit/>
          </a:bodyPr>
          <a:lstStyle/>
          <a:p>
            <a:pPr marL="457200" marR="0" lvl="0" indent="-457200" algn="l" rtl="0">
              <a:spcBef>
                <a:spcPts val="0"/>
              </a:spcBef>
              <a:spcAft>
                <a:spcPts val="0"/>
              </a:spcAft>
              <a:buClr>
                <a:srgbClr val="FF0000"/>
              </a:buClr>
              <a:buSzPts val="1800"/>
              <a:buFont typeface="Calibri"/>
              <a:buAutoNum type="arabicPeriod"/>
            </a:pPr>
            <a:r>
              <a:rPr lang="en-US" sz="1800" b="1" i="0" u="none" strike="noStrike" cap="none">
                <a:solidFill>
                  <a:srgbClr val="FF0000"/>
                </a:solidFill>
                <a:latin typeface="Calibri"/>
                <a:ea typeface="Calibri"/>
                <a:cs typeface="Calibri"/>
                <a:sym typeface="Calibri"/>
              </a:rPr>
              <a:t>Staying competitive </a:t>
            </a:r>
            <a:r>
              <a:rPr lang="en-US" sz="1800" b="0" i="0" u="none" strike="noStrike" cap="none">
                <a:solidFill>
                  <a:srgbClr val="002060"/>
                </a:solidFill>
                <a:latin typeface="Calibri"/>
                <a:ea typeface="Calibri"/>
                <a:cs typeface="Calibri"/>
                <a:sym typeface="Calibri"/>
              </a:rPr>
              <a:t>– Businesses that do not embrace digital transformation risk falling behind their competitors, who have upgraded their tools and processes to become more efficient and effective.</a:t>
            </a:r>
            <a:endParaRPr/>
          </a:p>
          <a:p>
            <a:pPr marL="457200" marR="0" lvl="0" indent="-457200" algn="l" rtl="0">
              <a:spcBef>
                <a:spcPts val="0"/>
              </a:spcBef>
              <a:spcAft>
                <a:spcPts val="0"/>
              </a:spcAft>
              <a:buClr>
                <a:srgbClr val="FF0000"/>
              </a:buClr>
              <a:buSzPts val="1800"/>
              <a:buFont typeface="Calibri"/>
              <a:buAutoNum type="arabicPeriod"/>
            </a:pPr>
            <a:r>
              <a:rPr lang="en-US" sz="1800" b="1" i="0" u="none" strike="noStrike" cap="none">
                <a:solidFill>
                  <a:srgbClr val="FF0000"/>
                </a:solidFill>
                <a:latin typeface="Calibri"/>
                <a:ea typeface="Calibri"/>
                <a:cs typeface="Calibri"/>
                <a:sym typeface="Calibri"/>
              </a:rPr>
              <a:t>Improving efficiency and productivity </a:t>
            </a:r>
            <a:r>
              <a:rPr lang="en-US" sz="1800" b="0" i="0" u="none" strike="noStrike" cap="none">
                <a:solidFill>
                  <a:srgbClr val="002060"/>
                </a:solidFill>
                <a:latin typeface="Calibri"/>
                <a:ea typeface="Calibri"/>
                <a:cs typeface="Calibri"/>
                <a:sym typeface="Calibri"/>
              </a:rPr>
              <a:t>– Digital transformation streamlines processes, automates tasks, improves data management, frees time for employees to focus on other business areas, and improves productivity.</a:t>
            </a:r>
            <a:endParaRPr/>
          </a:p>
          <a:p>
            <a:pPr marL="457200" marR="0" lvl="0" indent="-457200" algn="l" rtl="0">
              <a:spcBef>
                <a:spcPts val="0"/>
              </a:spcBef>
              <a:spcAft>
                <a:spcPts val="0"/>
              </a:spcAft>
              <a:buClr>
                <a:srgbClr val="FF0000"/>
              </a:buClr>
              <a:buSzPts val="1800"/>
              <a:buFont typeface="Calibri"/>
              <a:buAutoNum type="arabicPeriod"/>
            </a:pPr>
            <a:r>
              <a:rPr lang="en-US" sz="1800" b="1" i="0" u="none" strike="noStrike" cap="none">
                <a:solidFill>
                  <a:srgbClr val="FF0000"/>
                </a:solidFill>
                <a:latin typeface="Calibri"/>
                <a:ea typeface="Calibri"/>
                <a:cs typeface="Calibri"/>
                <a:sym typeface="Calibri"/>
              </a:rPr>
              <a:t>Enhancing customer experience </a:t>
            </a:r>
            <a:r>
              <a:rPr lang="en-US" sz="1800" b="0" i="0" u="none" strike="noStrike" cap="none">
                <a:solidFill>
                  <a:srgbClr val="002060"/>
                </a:solidFill>
                <a:latin typeface="Calibri"/>
                <a:ea typeface="Calibri"/>
                <a:cs typeface="Calibri"/>
                <a:sym typeface="Calibri"/>
              </a:rPr>
              <a:t>– Companies can offer online services, personalized interactions, quick responses to queries, and a more seamless experience, which means digital transformation is vital for customer experience.</a:t>
            </a:r>
            <a:endParaRPr/>
          </a:p>
          <a:p>
            <a:pPr marL="457200" marR="0" lvl="0" indent="-457200" algn="l" rtl="0">
              <a:spcBef>
                <a:spcPts val="0"/>
              </a:spcBef>
              <a:spcAft>
                <a:spcPts val="0"/>
              </a:spcAft>
              <a:buClr>
                <a:srgbClr val="FF0000"/>
              </a:buClr>
              <a:buSzPts val="1800"/>
              <a:buFont typeface="Calibri"/>
              <a:buAutoNum type="arabicPeriod"/>
            </a:pPr>
            <a:r>
              <a:rPr lang="en-US" sz="1800" b="1" i="0" u="none" strike="noStrike" cap="none">
                <a:solidFill>
                  <a:srgbClr val="FF0000"/>
                </a:solidFill>
                <a:latin typeface="Calibri"/>
                <a:ea typeface="Calibri"/>
                <a:cs typeface="Calibri"/>
                <a:sym typeface="Calibri"/>
              </a:rPr>
              <a:t>Making data-driven decisions </a:t>
            </a:r>
            <a:r>
              <a:rPr lang="en-US" sz="1800" b="0" i="0" u="none" strike="noStrike" cap="none">
                <a:solidFill>
                  <a:srgbClr val="002060"/>
                </a:solidFill>
                <a:latin typeface="Calibri"/>
                <a:ea typeface="Calibri"/>
                <a:cs typeface="Calibri"/>
                <a:sym typeface="Calibri"/>
              </a:rPr>
              <a:t>– Organizations can collect and analyze digital transformation data at scale, using it to understand customer behavior and preferences. They can then make informed decisions to create products and services that better meet customer needs.</a:t>
            </a:r>
            <a:endParaRPr/>
          </a:p>
          <a:p>
            <a:pPr marL="457200" marR="0" lvl="0" indent="-457200" algn="l" rtl="0">
              <a:spcBef>
                <a:spcPts val="0"/>
              </a:spcBef>
              <a:spcAft>
                <a:spcPts val="0"/>
              </a:spcAft>
              <a:buClr>
                <a:srgbClr val="FF0000"/>
              </a:buClr>
              <a:buSzPts val="1800"/>
              <a:buFont typeface="Calibri"/>
              <a:buAutoNum type="arabicPeriod"/>
            </a:pPr>
            <a:r>
              <a:rPr lang="en-US" sz="1800" b="1" i="0" u="none" strike="noStrike" cap="none">
                <a:solidFill>
                  <a:srgbClr val="FF0000"/>
                </a:solidFill>
                <a:latin typeface="Calibri"/>
                <a:ea typeface="Calibri"/>
                <a:cs typeface="Calibri"/>
                <a:sym typeface="Calibri"/>
              </a:rPr>
              <a:t>Increasing adaptability </a:t>
            </a:r>
            <a:r>
              <a:rPr lang="en-US" sz="1800" b="0" i="0" u="none" strike="noStrike" cap="none">
                <a:solidFill>
                  <a:srgbClr val="002060"/>
                </a:solidFill>
                <a:latin typeface="Calibri"/>
                <a:ea typeface="Calibri"/>
                <a:cs typeface="Calibri"/>
                <a:sym typeface="Calibri"/>
              </a:rPr>
              <a:t>– Digital transformation allows companies to keep up with changing market conditions and customer demands. They have enhanced capabilities for taking a consistently responsive and flexible approach.</a:t>
            </a:r>
            <a:endParaRPr/>
          </a:p>
          <a:p>
            <a:pPr marL="457200" marR="0" lvl="0" indent="-457200" algn="l" rtl="0">
              <a:spcBef>
                <a:spcPts val="0"/>
              </a:spcBef>
              <a:spcAft>
                <a:spcPts val="0"/>
              </a:spcAft>
              <a:buClr>
                <a:srgbClr val="FF0000"/>
              </a:buClr>
              <a:buSzPts val="1800"/>
              <a:buFont typeface="Calibri"/>
              <a:buAutoNum type="arabicPeriod"/>
            </a:pPr>
            <a:r>
              <a:rPr lang="en-US" sz="1800" b="1" i="0" u="none" strike="noStrike" cap="none">
                <a:solidFill>
                  <a:srgbClr val="FF0000"/>
                </a:solidFill>
                <a:latin typeface="Calibri"/>
                <a:ea typeface="Calibri"/>
                <a:cs typeface="Calibri"/>
                <a:sym typeface="Calibri"/>
              </a:rPr>
              <a:t>Strengthening sustainability </a:t>
            </a:r>
            <a:r>
              <a:rPr lang="en-US" sz="1800" b="0" i="0" u="none" strike="noStrike" cap="none">
                <a:solidFill>
                  <a:srgbClr val="002060"/>
                </a:solidFill>
                <a:latin typeface="Calibri"/>
                <a:ea typeface="Calibri"/>
                <a:cs typeface="Calibri"/>
                <a:sym typeface="Calibri"/>
              </a:rPr>
              <a:t>– With digitized processes in place, companies can reduce their energy consumption and paper waste, allowing them to take an environmentally friendly and sustainable approach to their business.</a:t>
            </a:r>
            <a:endParaRPr/>
          </a:p>
          <a:p>
            <a:pPr marL="457200" marR="0" lvl="0" indent="-457200" algn="l" rtl="0">
              <a:spcBef>
                <a:spcPts val="0"/>
              </a:spcBef>
              <a:spcAft>
                <a:spcPts val="0"/>
              </a:spcAft>
              <a:buClr>
                <a:srgbClr val="FF0000"/>
              </a:buClr>
              <a:buSzPts val="1800"/>
              <a:buFont typeface="Calibri"/>
              <a:buAutoNum type="arabicPeriod"/>
            </a:pPr>
            <a:r>
              <a:rPr lang="en-US" sz="1800" b="1" i="0" u="none" strike="noStrike" cap="none">
                <a:solidFill>
                  <a:srgbClr val="FF0000"/>
                </a:solidFill>
                <a:latin typeface="Calibri"/>
                <a:ea typeface="Calibri"/>
                <a:cs typeface="Calibri"/>
                <a:sym typeface="Calibri"/>
              </a:rPr>
              <a:t>Allowing for innovation </a:t>
            </a:r>
            <a:r>
              <a:rPr lang="en-US" sz="1800" b="0" i="0" u="none" strike="noStrike" cap="none">
                <a:solidFill>
                  <a:srgbClr val="002060"/>
                </a:solidFill>
                <a:latin typeface="Calibri"/>
                <a:ea typeface="Calibri"/>
                <a:cs typeface="Calibri"/>
                <a:sym typeface="Calibri"/>
              </a:rPr>
              <a:t>– By implementing digital transformation processes, companies can explore new business models, develop new products or services, or enter new markets.</a:t>
            </a:r>
            <a:endParaRPr/>
          </a:p>
          <a:p>
            <a:pPr marL="457200" marR="0" lvl="0" indent="-457200" algn="l" rtl="0">
              <a:spcBef>
                <a:spcPts val="0"/>
              </a:spcBef>
              <a:spcAft>
                <a:spcPts val="0"/>
              </a:spcAft>
              <a:buClr>
                <a:srgbClr val="FF0000"/>
              </a:buClr>
              <a:buSzPts val="1800"/>
              <a:buFont typeface="Calibri"/>
              <a:buAutoNum type="arabicPeriod"/>
            </a:pPr>
            <a:r>
              <a:rPr lang="en-US" sz="1800" b="1" i="0" u="none" strike="noStrike" cap="none">
                <a:solidFill>
                  <a:srgbClr val="FF0000"/>
                </a:solidFill>
                <a:latin typeface="Calibri"/>
                <a:ea typeface="Calibri"/>
                <a:cs typeface="Calibri"/>
                <a:sym typeface="Calibri"/>
              </a:rPr>
              <a:t>Attracting and retaining talent </a:t>
            </a:r>
            <a:r>
              <a:rPr lang="en-US" sz="1800" b="0" i="0" u="none" strike="noStrike" cap="none">
                <a:solidFill>
                  <a:srgbClr val="002060"/>
                </a:solidFill>
                <a:latin typeface="Calibri"/>
                <a:ea typeface="Calibri"/>
                <a:cs typeface="Calibri"/>
                <a:sym typeface="Calibri"/>
              </a:rPr>
              <a:t>– Creating a technologically advanced company means that younger generations entering the workforce are more likely to apply. Companies with digital transformation strategies are likely to attract and retain top talent.</a:t>
            </a:r>
            <a:endParaRPr/>
          </a:p>
          <a:p>
            <a:pPr marL="457200" marR="0" lvl="0" indent="-457200" algn="l" rtl="0">
              <a:spcBef>
                <a:spcPts val="0"/>
              </a:spcBef>
              <a:spcAft>
                <a:spcPts val="0"/>
              </a:spcAft>
              <a:buClr>
                <a:srgbClr val="FF0000"/>
              </a:buClr>
              <a:buSzPts val="1800"/>
              <a:buFont typeface="Calibri"/>
              <a:buAutoNum type="arabicPeriod"/>
            </a:pPr>
            <a:r>
              <a:rPr lang="en-US" sz="1800" b="1" i="0" u="none" strike="noStrike" cap="none">
                <a:solidFill>
                  <a:srgbClr val="FF0000"/>
                </a:solidFill>
                <a:latin typeface="Calibri"/>
                <a:ea typeface="Calibri"/>
                <a:cs typeface="Calibri"/>
                <a:sym typeface="Calibri"/>
              </a:rPr>
              <a:t>Saving money </a:t>
            </a:r>
            <a:r>
              <a:rPr lang="en-US" sz="1800" b="0" i="0" u="none" strike="noStrike" cap="none">
                <a:solidFill>
                  <a:srgbClr val="002060"/>
                </a:solidFill>
                <a:latin typeface="Calibri"/>
                <a:ea typeface="Calibri"/>
                <a:cs typeface="Calibri"/>
                <a:sym typeface="Calibri"/>
              </a:rPr>
              <a:t>– Digital processes reduce the need for physical resources, manual labor, and paperwork, significantly reducing costs in the long run</a:t>
            </a:r>
            <a:r>
              <a:rPr lang="en-US" sz="2000" b="0" i="0" u="none" strike="noStrike" cap="none">
                <a:solidFill>
                  <a:srgbClr val="002060"/>
                </a:solidFill>
                <a:latin typeface="Calibri"/>
                <a:ea typeface="Calibri"/>
                <a:cs typeface="Calibri"/>
                <a:sym typeface="Calibri"/>
              </a:rPr>
              <a:t>.</a:t>
            </a:r>
            <a:endParaRPr sz="2000" b="0" i="0" u="none" strike="noStrike" cap="none">
              <a:solidFill>
                <a:srgbClr val="00206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p:nvPr/>
        </p:nvSpPr>
        <p:spPr>
          <a:xfrm>
            <a:off x="0" y="396866"/>
            <a:ext cx="12192000" cy="600164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0" i="0" u="none" strike="noStrike" cap="none">
                <a:solidFill>
                  <a:srgbClr val="C00000"/>
                </a:solidFill>
                <a:latin typeface="Calibri"/>
                <a:ea typeface="Calibri"/>
                <a:cs typeface="Calibri"/>
                <a:sym typeface="Calibri"/>
              </a:rPr>
              <a:t>How does digital transformation work?</a:t>
            </a:r>
            <a:endParaRPr/>
          </a:p>
          <a:p>
            <a:pPr marL="285750" marR="0" lvl="0" indent="-285750" algn="l" rtl="0">
              <a:spcBef>
                <a:spcPts val="0"/>
              </a:spcBef>
              <a:spcAft>
                <a:spcPts val="0"/>
              </a:spcAft>
              <a:buClr>
                <a:srgbClr val="FF0000"/>
              </a:buClr>
              <a:buSzPts val="2400"/>
              <a:buFont typeface="Arial"/>
              <a:buChar char="•"/>
            </a:pPr>
            <a:r>
              <a:rPr lang="en-US" sz="2400" b="1">
                <a:solidFill>
                  <a:srgbClr val="FF0000"/>
                </a:solidFill>
                <a:latin typeface="Calibri"/>
                <a:ea typeface="Calibri"/>
                <a:cs typeface="Calibri"/>
                <a:sym typeface="Calibri"/>
              </a:rPr>
              <a:t>No two businesses are identical</a:t>
            </a:r>
            <a:r>
              <a:rPr lang="en-US" sz="2400">
                <a:solidFill>
                  <a:srgbClr val="002060"/>
                </a:solidFill>
                <a:latin typeface="Calibri"/>
                <a:ea typeface="Calibri"/>
                <a:cs typeface="Calibri"/>
                <a:sym typeface="Calibri"/>
              </a:rPr>
              <a:t>, so digital transformation processes are not one-size-fits-all. A company’s approach depends on its needs, goals, and structure. </a:t>
            </a:r>
            <a:endParaRPr/>
          </a:p>
          <a:p>
            <a:pPr marL="285750" marR="0" lvl="0" indent="-285750" algn="l" rtl="0">
              <a:spcBef>
                <a:spcPts val="0"/>
              </a:spcBef>
              <a:spcAft>
                <a:spcPts val="0"/>
              </a:spcAft>
              <a:buClr>
                <a:srgbClr val="002060"/>
              </a:buClr>
              <a:buSzPts val="2400"/>
              <a:buFont typeface="Arial"/>
              <a:buChar char="•"/>
            </a:pPr>
            <a:r>
              <a:rPr lang="en-US" sz="2400">
                <a:solidFill>
                  <a:srgbClr val="002060"/>
                </a:solidFill>
                <a:latin typeface="Calibri"/>
                <a:ea typeface="Calibri"/>
                <a:cs typeface="Calibri"/>
                <a:sym typeface="Calibri"/>
              </a:rPr>
              <a:t>Many examples of enterprises have undergone successful digital transformation, but here are some ways such a change can be carried out within specific organizations.</a:t>
            </a:r>
            <a:endParaRPr/>
          </a:p>
          <a:p>
            <a:pPr marL="285750" marR="0" lvl="0" indent="-285750" algn="l" rtl="0">
              <a:spcBef>
                <a:spcPts val="0"/>
              </a:spcBef>
              <a:spcAft>
                <a:spcPts val="0"/>
              </a:spcAft>
              <a:buClr>
                <a:srgbClr val="002060"/>
              </a:buClr>
              <a:buSzPts val="2400"/>
              <a:buFont typeface="Arial"/>
              <a:buChar char="•"/>
            </a:pPr>
            <a:r>
              <a:rPr lang="en-US" sz="2400">
                <a:solidFill>
                  <a:srgbClr val="002060"/>
                </a:solidFill>
                <a:latin typeface="Calibri"/>
                <a:ea typeface="Calibri"/>
                <a:cs typeface="Calibri"/>
                <a:sym typeface="Calibri"/>
              </a:rPr>
              <a:t> </a:t>
            </a:r>
            <a:r>
              <a:rPr lang="en-US" sz="2400" b="1">
                <a:solidFill>
                  <a:srgbClr val="7030A0"/>
                </a:solidFill>
                <a:latin typeface="Calibri"/>
                <a:ea typeface="Calibri"/>
                <a:cs typeface="Calibri"/>
                <a:sym typeface="Calibri"/>
              </a:rPr>
              <a:t>A government agency may digitize its records and implement an online platform to streamline citizen services such as paying taxes or renewing licenses</a:t>
            </a:r>
            <a:r>
              <a:rPr lang="en-US" sz="2400" b="1">
                <a:solidFill>
                  <a:srgbClr val="FF0000"/>
                </a:solidFill>
                <a:latin typeface="Calibri"/>
                <a:ea typeface="Calibri"/>
                <a:cs typeface="Calibri"/>
                <a:sym typeface="Calibri"/>
              </a:rPr>
              <a:t>.</a:t>
            </a:r>
            <a:endParaRPr/>
          </a:p>
          <a:p>
            <a:pPr marL="285750" marR="0" lvl="0" indent="-285750" algn="l" rtl="0">
              <a:spcBef>
                <a:spcPts val="0"/>
              </a:spcBef>
              <a:spcAft>
                <a:spcPts val="0"/>
              </a:spcAft>
              <a:buClr>
                <a:srgbClr val="002060"/>
              </a:buClr>
              <a:buSzPts val="2400"/>
              <a:buFont typeface="Arial"/>
              <a:buChar char="•"/>
            </a:pPr>
            <a:r>
              <a:rPr lang="en-US" sz="2400">
                <a:solidFill>
                  <a:srgbClr val="002060"/>
                </a:solidFill>
                <a:latin typeface="Calibri"/>
                <a:ea typeface="Calibri"/>
                <a:cs typeface="Calibri"/>
                <a:sym typeface="Calibri"/>
              </a:rPr>
              <a:t>An </a:t>
            </a:r>
            <a:r>
              <a:rPr lang="en-US" sz="2400" b="1">
                <a:solidFill>
                  <a:srgbClr val="C00000"/>
                </a:solidFill>
                <a:latin typeface="Calibri"/>
                <a:ea typeface="Calibri"/>
                <a:cs typeface="Calibri"/>
                <a:sym typeface="Calibri"/>
              </a:rPr>
              <a:t>educational company may shift traditional classroom learning to online platforms</a:t>
            </a:r>
            <a:r>
              <a:rPr lang="en-US" sz="2400">
                <a:solidFill>
                  <a:srgbClr val="002060"/>
                </a:solidFill>
                <a:latin typeface="Calibri"/>
                <a:ea typeface="Calibri"/>
                <a:cs typeface="Calibri"/>
                <a:sym typeface="Calibri"/>
              </a:rPr>
              <a:t>, increasing their audience reach and providing flexible learning opportunities.</a:t>
            </a:r>
            <a:endParaRPr/>
          </a:p>
          <a:p>
            <a:pPr marL="285750" marR="0" lvl="0" indent="-285750" algn="l" rtl="0">
              <a:spcBef>
                <a:spcPts val="0"/>
              </a:spcBef>
              <a:spcAft>
                <a:spcPts val="0"/>
              </a:spcAft>
              <a:buClr>
                <a:srgbClr val="002060"/>
              </a:buClr>
              <a:buSzPts val="2400"/>
              <a:buFont typeface="Arial"/>
              <a:buChar char="•"/>
            </a:pPr>
            <a:r>
              <a:rPr lang="en-US" sz="2400">
                <a:solidFill>
                  <a:srgbClr val="002060"/>
                </a:solidFill>
                <a:latin typeface="Calibri"/>
                <a:ea typeface="Calibri"/>
                <a:cs typeface="Calibri"/>
                <a:sym typeface="Calibri"/>
              </a:rPr>
              <a:t>A </a:t>
            </a:r>
            <a:r>
              <a:rPr lang="en-US" sz="2400" b="1">
                <a:solidFill>
                  <a:srgbClr val="FF0000"/>
                </a:solidFill>
                <a:latin typeface="Calibri"/>
                <a:ea typeface="Calibri"/>
                <a:cs typeface="Calibri"/>
                <a:sym typeface="Calibri"/>
              </a:rPr>
              <a:t>furniture store may create virtual showrooms with 360-degree views of products or online design tools to help customers visualize and plan their interior spaces.</a:t>
            </a:r>
            <a:endParaRPr/>
          </a:p>
          <a:p>
            <a:pPr marL="285750" marR="0" lvl="0" indent="-285750" algn="l" rtl="0">
              <a:spcBef>
                <a:spcPts val="0"/>
              </a:spcBef>
              <a:spcAft>
                <a:spcPts val="0"/>
              </a:spcAft>
              <a:buClr>
                <a:srgbClr val="002060"/>
              </a:buClr>
              <a:buSzPts val="2400"/>
              <a:buFont typeface="Arial"/>
              <a:buChar char="•"/>
            </a:pPr>
            <a:r>
              <a:rPr lang="en-US" sz="2400">
                <a:solidFill>
                  <a:srgbClr val="002060"/>
                </a:solidFill>
                <a:latin typeface="Calibri"/>
                <a:ea typeface="Calibri"/>
                <a:cs typeface="Calibri"/>
                <a:sym typeface="Calibri"/>
              </a:rPr>
              <a:t>A </a:t>
            </a:r>
            <a:r>
              <a:rPr lang="en-US" sz="2400" b="1">
                <a:solidFill>
                  <a:srgbClr val="00B050"/>
                </a:solidFill>
                <a:latin typeface="Calibri"/>
                <a:ea typeface="Calibri"/>
                <a:cs typeface="Calibri"/>
                <a:sym typeface="Calibri"/>
              </a:rPr>
              <a:t>glasses company may allow customers to try on their products by letting them upload a photo of themselves to the website</a:t>
            </a:r>
            <a:r>
              <a:rPr lang="en-US" sz="2400">
                <a:solidFill>
                  <a:srgbClr val="002060"/>
                </a:solidFill>
                <a:latin typeface="Calibri"/>
                <a:ea typeface="Calibri"/>
                <a:cs typeface="Calibri"/>
                <a:sym typeface="Calibri"/>
              </a:rPr>
              <a:t>.</a:t>
            </a:r>
            <a:endParaRPr/>
          </a:p>
          <a:p>
            <a:pPr marL="285750" marR="0" lvl="0" indent="-285750" algn="l" rtl="0">
              <a:spcBef>
                <a:spcPts val="0"/>
              </a:spcBef>
              <a:spcAft>
                <a:spcPts val="0"/>
              </a:spcAft>
              <a:buClr>
                <a:srgbClr val="002060"/>
              </a:buClr>
              <a:buSzPts val="2400"/>
              <a:buFont typeface="Arial"/>
              <a:buChar char="•"/>
            </a:pPr>
            <a:r>
              <a:rPr lang="en-US" sz="2400">
                <a:solidFill>
                  <a:srgbClr val="002060"/>
                </a:solidFill>
                <a:latin typeface="Calibri"/>
                <a:ea typeface="Calibri"/>
                <a:cs typeface="Calibri"/>
                <a:sym typeface="Calibri"/>
              </a:rPr>
              <a:t>An </a:t>
            </a:r>
            <a:r>
              <a:rPr lang="en-US" sz="2400" b="1">
                <a:solidFill>
                  <a:schemeClr val="dk1"/>
                </a:solidFill>
                <a:latin typeface="Calibri"/>
                <a:ea typeface="Calibri"/>
                <a:cs typeface="Calibri"/>
                <a:sym typeface="Calibri"/>
              </a:rPr>
              <a:t>e-commerce store may use AI algorithms to analyze customer behavior and preferences, subsequently offering personalized recommendations based on previous purchases and browsing history.</a:t>
            </a:r>
            <a:endParaRPr sz="2400" b="1">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pic>
        <p:nvPicPr>
          <p:cNvPr id="162" name="Google Shape;162;p26"/>
          <p:cNvPicPr preferRelativeResize="0"/>
          <p:nvPr/>
        </p:nvPicPr>
        <p:blipFill rotWithShape="1">
          <a:blip r:embed="rId3">
            <a:alphaModFix/>
          </a:blip>
          <a:srcRect/>
          <a:stretch/>
        </p:blipFill>
        <p:spPr>
          <a:xfrm>
            <a:off x="172869" y="1715059"/>
            <a:ext cx="5613498" cy="4256903"/>
          </a:xfrm>
          <a:prstGeom prst="rect">
            <a:avLst/>
          </a:prstGeom>
          <a:noFill/>
          <a:ln>
            <a:noFill/>
          </a:ln>
        </p:spPr>
      </p:pic>
      <p:pic>
        <p:nvPicPr>
          <p:cNvPr id="163" name="Google Shape;163;p26"/>
          <p:cNvPicPr preferRelativeResize="0"/>
          <p:nvPr/>
        </p:nvPicPr>
        <p:blipFill rotWithShape="1">
          <a:blip r:embed="rId4">
            <a:alphaModFix/>
          </a:blip>
          <a:srcRect/>
          <a:stretch/>
        </p:blipFill>
        <p:spPr>
          <a:xfrm>
            <a:off x="5786366" y="1715058"/>
            <a:ext cx="6306895" cy="409331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168" name="Google Shape;168;p27"/>
          <p:cNvPicPr preferRelativeResize="0"/>
          <p:nvPr/>
        </p:nvPicPr>
        <p:blipFill rotWithShape="1">
          <a:blip r:embed="rId3">
            <a:alphaModFix/>
          </a:blip>
          <a:srcRect/>
          <a:stretch/>
        </p:blipFill>
        <p:spPr>
          <a:xfrm>
            <a:off x="-3420" y="457904"/>
            <a:ext cx="11993651" cy="618759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0000"/>
              </a:buClr>
              <a:buSzPts val="6000"/>
              <a:buFont typeface="Calibri"/>
              <a:buNone/>
            </a:pPr>
            <a:r>
              <a:rPr lang="en-US">
                <a:solidFill>
                  <a:srgbClr val="FF0000"/>
                </a:solidFill>
              </a:rPr>
              <a:t>Full stack Developer</a:t>
            </a:r>
            <a:endParaRPr>
              <a:solidFill>
                <a:srgbClr val="FF0000"/>
              </a:solidFill>
            </a:endParaRPr>
          </a:p>
        </p:txBody>
      </p:sp>
      <p:sp>
        <p:nvSpPr>
          <p:cNvPr id="179" name="Google Shape;179;p2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0070C0"/>
              </a:buClr>
              <a:buSzPts val="3600"/>
              <a:buNone/>
            </a:pPr>
            <a:r>
              <a:rPr lang="en-US" sz="3600">
                <a:solidFill>
                  <a:srgbClr val="0070C0"/>
                </a:solidFill>
              </a:rPr>
              <a:t>IT Specialists vs. IT Generalists</a:t>
            </a:r>
            <a:endParaRPr sz="3600">
              <a:solidFill>
                <a:srgbClr val="0070C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pic>
        <p:nvPicPr>
          <p:cNvPr id="184" name="Google Shape;184;p30"/>
          <p:cNvPicPr preferRelativeResize="0"/>
          <p:nvPr/>
        </p:nvPicPr>
        <p:blipFill rotWithShape="1">
          <a:blip r:embed="rId3">
            <a:alphaModFix/>
          </a:blip>
          <a:srcRect l="9970" t="3711" r="9178" b="13993"/>
          <a:stretch/>
        </p:blipFill>
        <p:spPr>
          <a:xfrm>
            <a:off x="725254" y="2859110"/>
            <a:ext cx="10801338" cy="3998890"/>
          </a:xfrm>
          <a:prstGeom prst="rect">
            <a:avLst/>
          </a:prstGeom>
          <a:noFill/>
          <a:ln>
            <a:noFill/>
          </a:ln>
        </p:spPr>
      </p:pic>
      <p:sp>
        <p:nvSpPr>
          <p:cNvPr id="185" name="Google Shape;185;p30"/>
          <p:cNvSpPr/>
          <p:nvPr/>
        </p:nvSpPr>
        <p:spPr>
          <a:xfrm>
            <a:off x="283335" y="502277"/>
            <a:ext cx="11809927" cy="2123658"/>
          </a:xfrm>
          <a:prstGeom prst="rect">
            <a:avLst/>
          </a:prstGeom>
          <a:noFill/>
          <a:ln>
            <a:noFill/>
          </a:ln>
        </p:spPr>
        <p:txBody>
          <a:bodyPr spcFirstLastPara="1" wrap="square" lIns="91425" tIns="45700" rIns="91425" bIns="45700" anchor="t" anchorCtr="0">
            <a:noAutofit/>
          </a:bodyPr>
          <a:lstStyle/>
          <a:p>
            <a:pPr marL="285750" marR="0" lvl="0" indent="-285750" algn="l" rtl="0">
              <a:spcBef>
                <a:spcPts val="0"/>
              </a:spcBef>
              <a:spcAft>
                <a:spcPts val="0"/>
              </a:spcAft>
              <a:buClr>
                <a:srgbClr val="000000"/>
              </a:buClr>
              <a:buSzPts val="1800"/>
              <a:buFont typeface="Arial"/>
              <a:buChar char="•"/>
            </a:pPr>
            <a:r>
              <a:rPr lang="en-US" sz="1800">
                <a:solidFill>
                  <a:srgbClr val="000000"/>
                </a:solidFill>
                <a:latin typeface="Calibri"/>
                <a:ea typeface="Calibri"/>
                <a:cs typeface="Calibri"/>
                <a:sym typeface="Calibri"/>
              </a:rPr>
              <a:t>It’s the age-old debate- do you want to be the best all-around employee or the one with the exact strengths needed to be the best for a particular task? That is the question posed in the </a:t>
            </a:r>
            <a:r>
              <a:rPr lang="en-US" sz="2400">
                <a:solidFill>
                  <a:srgbClr val="FF0000"/>
                </a:solidFill>
                <a:latin typeface="Calibri"/>
                <a:ea typeface="Calibri"/>
                <a:cs typeface="Calibri"/>
                <a:sym typeface="Calibri"/>
              </a:rPr>
              <a:t>generalist vs. specialist debate</a:t>
            </a:r>
            <a:r>
              <a:rPr lang="en-US" sz="1800">
                <a:solidFill>
                  <a:srgbClr val="000000"/>
                </a:solidFill>
                <a:latin typeface="Calibri"/>
                <a:ea typeface="Calibri"/>
                <a:cs typeface="Calibri"/>
                <a:sym typeface="Calibri"/>
              </a:rPr>
              <a:t>. </a:t>
            </a:r>
            <a:endParaRPr/>
          </a:p>
          <a:p>
            <a:pPr marL="285750" marR="0" lvl="0" indent="-285750" algn="l" rtl="0">
              <a:spcBef>
                <a:spcPts val="0"/>
              </a:spcBef>
              <a:spcAft>
                <a:spcPts val="0"/>
              </a:spcAft>
              <a:buClr>
                <a:srgbClr val="0070C0"/>
              </a:buClr>
              <a:buSzPts val="1800"/>
              <a:buFont typeface="Arial"/>
              <a:buChar char="•"/>
            </a:pPr>
            <a:r>
              <a:rPr lang="en-US" sz="1800">
                <a:solidFill>
                  <a:srgbClr val="0070C0"/>
                </a:solidFill>
                <a:latin typeface="Calibri"/>
                <a:ea typeface="Calibri"/>
                <a:cs typeface="Calibri"/>
                <a:sym typeface="Calibri"/>
              </a:rPr>
              <a:t>To begin this discussion, one must first understand what it means to be generalist as opposed to a specialist. Dictionary.com defines a generalist as a person whose knowledge, aptitudes, and skills are applied to a field as a whole or to a variety of different fields; as opposed to a specialist who is defined as a person who devotes himself or herself to one subject or to one particular branch of a subject or pursuit</a:t>
            </a:r>
            <a:r>
              <a:rPr lang="en-US" sz="1800">
                <a:solidFill>
                  <a:srgbClr val="000000"/>
                </a:solidFill>
                <a:latin typeface="Calibri"/>
                <a:ea typeface="Calibri"/>
                <a:cs typeface="Calibri"/>
                <a:sym typeface="Calibri"/>
              </a:rPr>
              <a:t>.</a:t>
            </a:r>
            <a:endParaRPr/>
          </a:p>
          <a:p>
            <a:pPr marL="285750" marR="0" lvl="0" indent="-285750" algn="l" rtl="0">
              <a:spcBef>
                <a:spcPts val="0"/>
              </a:spcBef>
              <a:spcAft>
                <a:spcPts val="0"/>
              </a:spcAft>
              <a:buClr>
                <a:srgbClr val="000000"/>
              </a:buClr>
              <a:buSzPts val="1800"/>
              <a:buFont typeface="Arial"/>
              <a:buChar char="•"/>
            </a:pPr>
            <a:r>
              <a:rPr lang="en-US" sz="1800">
                <a:solidFill>
                  <a:srgbClr val="000000"/>
                </a:solidFill>
                <a:latin typeface="Calibri"/>
                <a:ea typeface="Calibri"/>
                <a:cs typeface="Calibri"/>
                <a:sym typeface="Calibri"/>
              </a:rPr>
              <a:t>In today’s changing job landscape does it pay to be a generalist or a specialist?</a:t>
            </a:r>
            <a:endParaRPr sz="1800">
              <a:solidFill>
                <a:srgbClr val="00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pic>
        <p:nvPicPr>
          <p:cNvPr id="190" name="Google Shape;190;p31" descr="https://1.bp.blogspot.com/-fl0QHeQ5Ky4/UX6RRsq2NqI/AAAAAAAAAH8/XFUTx6U2Xvk/s640/Generalist+v+Specialist+chart.003.jpg"/>
          <p:cNvPicPr preferRelativeResize="0"/>
          <p:nvPr/>
        </p:nvPicPr>
        <p:blipFill rotWithShape="1">
          <a:blip r:embed="rId3">
            <a:alphaModFix/>
          </a:blip>
          <a:srcRect/>
          <a:stretch/>
        </p:blipFill>
        <p:spPr>
          <a:xfrm>
            <a:off x="91180" y="86742"/>
            <a:ext cx="6067680" cy="4550760"/>
          </a:xfrm>
          <a:prstGeom prst="rect">
            <a:avLst/>
          </a:prstGeom>
          <a:noFill/>
          <a:ln>
            <a:noFill/>
          </a:ln>
        </p:spPr>
      </p:pic>
      <p:pic>
        <p:nvPicPr>
          <p:cNvPr id="191" name="Google Shape;191;p31"/>
          <p:cNvPicPr preferRelativeResize="0"/>
          <p:nvPr/>
        </p:nvPicPr>
        <p:blipFill rotWithShape="1">
          <a:blip r:embed="rId4">
            <a:alphaModFix/>
          </a:blip>
          <a:srcRect/>
          <a:stretch/>
        </p:blipFill>
        <p:spPr>
          <a:xfrm>
            <a:off x="6287649" y="2362122"/>
            <a:ext cx="5775562" cy="433167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pic>
        <p:nvPicPr>
          <p:cNvPr id="196" name="Google Shape;196;p32"/>
          <p:cNvPicPr preferRelativeResize="0"/>
          <p:nvPr/>
        </p:nvPicPr>
        <p:blipFill rotWithShape="1">
          <a:blip r:embed="rId3">
            <a:alphaModFix/>
          </a:blip>
          <a:srcRect/>
          <a:stretch/>
        </p:blipFill>
        <p:spPr>
          <a:xfrm>
            <a:off x="1090412" y="4262906"/>
            <a:ext cx="10101864" cy="2595093"/>
          </a:xfrm>
          <a:prstGeom prst="rect">
            <a:avLst/>
          </a:prstGeom>
          <a:noFill/>
          <a:ln>
            <a:noFill/>
          </a:ln>
        </p:spPr>
      </p:pic>
      <p:pic>
        <p:nvPicPr>
          <p:cNvPr id="197" name="Google Shape;197;p32"/>
          <p:cNvPicPr preferRelativeResize="0"/>
          <p:nvPr/>
        </p:nvPicPr>
        <p:blipFill rotWithShape="1">
          <a:blip r:embed="rId4">
            <a:alphaModFix/>
          </a:blip>
          <a:srcRect/>
          <a:stretch/>
        </p:blipFill>
        <p:spPr>
          <a:xfrm>
            <a:off x="1090412" y="141668"/>
            <a:ext cx="10101864" cy="383790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pic>
        <p:nvPicPr>
          <p:cNvPr id="213" name="Google Shape;213;p35"/>
          <p:cNvPicPr preferRelativeResize="0"/>
          <p:nvPr/>
        </p:nvPicPr>
        <p:blipFill rotWithShape="1">
          <a:blip r:embed="rId3">
            <a:alphaModFix/>
          </a:blip>
          <a:srcRect/>
          <a:stretch/>
        </p:blipFill>
        <p:spPr>
          <a:xfrm>
            <a:off x="1816994" y="2176531"/>
            <a:ext cx="8382000" cy="2189407"/>
          </a:xfrm>
          <a:prstGeom prst="rect">
            <a:avLst/>
          </a:prstGeom>
          <a:noFill/>
          <a:ln>
            <a:noFill/>
          </a:ln>
        </p:spPr>
      </p:pic>
      <p:sp>
        <p:nvSpPr>
          <p:cNvPr id="214" name="Google Shape;214;p35"/>
          <p:cNvSpPr/>
          <p:nvPr/>
        </p:nvSpPr>
        <p:spPr>
          <a:xfrm>
            <a:off x="0" y="0"/>
            <a:ext cx="12015989" cy="233910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rgbClr val="C00000"/>
                </a:solidFill>
                <a:latin typeface="Calibri"/>
                <a:ea typeface="Calibri"/>
                <a:cs typeface="Calibri"/>
                <a:sym typeface="Calibri"/>
              </a:rPr>
              <a:t>The pros and cons of a generalist</a:t>
            </a:r>
            <a:endParaRPr/>
          </a:p>
          <a:p>
            <a:pPr marL="0" marR="0" lvl="0" indent="0" algn="l" rtl="0">
              <a:spcBef>
                <a:spcPts val="0"/>
              </a:spcBef>
              <a:spcAft>
                <a:spcPts val="0"/>
              </a:spcAft>
              <a:buNone/>
            </a:pPr>
            <a:r>
              <a:rPr lang="en-US" sz="1800">
                <a:solidFill>
                  <a:srgbClr val="0070C0"/>
                </a:solidFill>
                <a:latin typeface="Calibri"/>
                <a:ea typeface="Calibri"/>
                <a:cs typeface="Calibri"/>
                <a:sym typeface="Calibri"/>
              </a:rPr>
              <a:t>A generalist - someone who has a range of skills and knowledge. In order to be a capable generalist, one must have experience with various subjects over an extended period of time</a:t>
            </a:r>
            <a:r>
              <a:rPr lang="en-US" sz="1800">
                <a:solidFill>
                  <a:srgbClr val="000000"/>
                </a:solidFill>
                <a:latin typeface="Calibri"/>
                <a:ea typeface="Calibri"/>
                <a:cs typeface="Calibri"/>
                <a:sym typeface="Calibri"/>
              </a:rPr>
              <a:t>.</a:t>
            </a:r>
            <a:endParaRPr/>
          </a:p>
          <a:p>
            <a:pPr marL="0" marR="0" lvl="0" indent="0" algn="l" rtl="0">
              <a:spcBef>
                <a:spcPts val="0"/>
              </a:spcBef>
              <a:spcAft>
                <a:spcPts val="0"/>
              </a:spcAft>
              <a:buNone/>
            </a:pPr>
            <a:endParaRPr sz="1800">
              <a:solidFill>
                <a:srgbClr val="000000"/>
              </a:solidFill>
              <a:latin typeface="Calibri"/>
              <a:ea typeface="Calibri"/>
              <a:cs typeface="Calibri"/>
              <a:sym typeface="Calibri"/>
            </a:endParaRPr>
          </a:p>
          <a:p>
            <a:pPr marL="285750" marR="0" lvl="0" indent="-285750" algn="l" rtl="0">
              <a:spcBef>
                <a:spcPts val="0"/>
              </a:spcBef>
              <a:spcAft>
                <a:spcPts val="0"/>
              </a:spcAft>
              <a:buClr>
                <a:srgbClr val="0070C0"/>
              </a:buClr>
              <a:buSzPts val="1800"/>
              <a:buFont typeface="Arial"/>
              <a:buChar char="•"/>
            </a:pPr>
            <a:r>
              <a:rPr lang="en-US" sz="1800">
                <a:solidFill>
                  <a:srgbClr val="0070C0"/>
                </a:solidFill>
                <a:latin typeface="Calibri"/>
                <a:ea typeface="Calibri"/>
                <a:cs typeface="Calibri"/>
                <a:sym typeface="Calibri"/>
              </a:rPr>
              <a:t>In the world of web development, a full-stack developer can be seen as a generalist.</a:t>
            </a:r>
            <a:endParaRPr/>
          </a:p>
          <a:p>
            <a:pPr marL="285750" marR="0" lvl="0" indent="-285750" algn="l" rtl="0">
              <a:spcBef>
                <a:spcPts val="0"/>
              </a:spcBef>
              <a:spcAft>
                <a:spcPts val="0"/>
              </a:spcAft>
              <a:buClr>
                <a:srgbClr val="0070C0"/>
              </a:buClr>
              <a:buSzPts val="1800"/>
              <a:buFont typeface="Arial"/>
              <a:buChar char="•"/>
            </a:pPr>
            <a:r>
              <a:rPr lang="en-US" sz="1800">
                <a:solidFill>
                  <a:srgbClr val="0070C0"/>
                </a:solidFill>
                <a:latin typeface="Calibri"/>
                <a:ea typeface="Calibri"/>
                <a:cs typeface="Calibri"/>
                <a:sym typeface="Calibri"/>
              </a:rPr>
              <a:t>If you can be efficient in contributing to the frontend, backend, databases, and also ship the project using various dev-ops tools, then you can call yourself a full-stack developer(that said, there's no clear definition for that). But not only - as a jack of all trades, you should also be able to manage projects, talk to clients, etc.</a:t>
            </a:r>
            <a:endParaRPr sz="1800">
              <a:solidFill>
                <a:srgbClr val="0070C0"/>
              </a:solidFill>
              <a:latin typeface="Calibri"/>
              <a:ea typeface="Calibri"/>
              <a:cs typeface="Calibri"/>
              <a:sym typeface="Calibri"/>
            </a:endParaRPr>
          </a:p>
        </p:txBody>
      </p:sp>
      <p:sp>
        <p:nvSpPr>
          <p:cNvPr id="215" name="Google Shape;215;p35"/>
          <p:cNvSpPr/>
          <p:nvPr/>
        </p:nvSpPr>
        <p:spPr>
          <a:xfrm>
            <a:off x="528033" y="4262907"/>
            <a:ext cx="11372045" cy="252376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b="1">
                <a:solidFill>
                  <a:srgbClr val="00B050"/>
                </a:solidFill>
                <a:latin typeface="Arial"/>
                <a:ea typeface="Arial"/>
                <a:cs typeface="Arial"/>
                <a:sym typeface="Arial"/>
              </a:rPr>
              <a:t>Some of the good things about being a generalist include</a:t>
            </a:r>
            <a:endParaRPr sz="1400">
              <a:solidFill>
                <a:srgbClr val="00B050"/>
              </a:solidFill>
              <a:latin typeface="Arial"/>
              <a:ea typeface="Arial"/>
              <a:cs typeface="Arial"/>
              <a:sym typeface="Arial"/>
            </a:endParaRPr>
          </a:p>
          <a:p>
            <a:pPr marL="342900" marR="0" lvl="0" indent="-342900" algn="l" rtl="0">
              <a:spcBef>
                <a:spcPts val="0"/>
              </a:spcBef>
              <a:spcAft>
                <a:spcPts val="0"/>
              </a:spcAft>
              <a:buClr>
                <a:srgbClr val="00B050"/>
              </a:buClr>
              <a:buSzPts val="1800"/>
              <a:buFont typeface="Calibri"/>
              <a:buAutoNum type="arabicPeriod"/>
            </a:pPr>
            <a:r>
              <a:rPr lang="en-US" sz="1800">
                <a:solidFill>
                  <a:srgbClr val="00B050"/>
                </a:solidFill>
                <a:latin typeface="Arial"/>
                <a:ea typeface="Arial"/>
                <a:cs typeface="Arial"/>
                <a:sym typeface="Arial"/>
              </a:rPr>
              <a:t>Being able to solve problems in various subjects</a:t>
            </a:r>
            <a:endParaRPr/>
          </a:p>
          <a:p>
            <a:pPr marL="342900" marR="0" lvl="0" indent="-342900" algn="l" rtl="0">
              <a:spcBef>
                <a:spcPts val="0"/>
              </a:spcBef>
              <a:spcAft>
                <a:spcPts val="0"/>
              </a:spcAft>
              <a:buClr>
                <a:srgbClr val="00B050"/>
              </a:buClr>
              <a:buSzPts val="1800"/>
              <a:buFont typeface="Calibri"/>
              <a:buAutoNum type="arabicPeriod"/>
            </a:pPr>
            <a:r>
              <a:rPr lang="en-US" sz="1800">
                <a:solidFill>
                  <a:srgbClr val="00B050"/>
                </a:solidFill>
                <a:latin typeface="Arial"/>
                <a:ea typeface="Arial"/>
                <a:cs typeface="Arial"/>
                <a:sym typeface="Arial"/>
              </a:rPr>
              <a:t>An ability to see the bigger picture</a:t>
            </a:r>
            <a:endParaRPr/>
          </a:p>
          <a:p>
            <a:pPr marL="342900" marR="0" lvl="0" indent="-342900" algn="l" rtl="0">
              <a:spcBef>
                <a:spcPts val="0"/>
              </a:spcBef>
              <a:spcAft>
                <a:spcPts val="0"/>
              </a:spcAft>
              <a:buClr>
                <a:srgbClr val="00B050"/>
              </a:buClr>
              <a:buSzPts val="1800"/>
              <a:buFont typeface="Calibri"/>
              <a:buAutoNum type="arabicPeriod"/>
            </a:pPr>
            <a:r>
              <a:rPr lang="en-US" sz="1800">
                <a:solidFill>
                  <a:srgbClr val="00B050"/>
                </a:solidFill>
                <a:latin typeface="Arial"/>
                <a:ea typeface="Arial"/>
                <a:cs typeface="Arial"/>
                <a:sym typeface="Arial"/>
              </a:rPr>
              <a:t>A smaller chance of becoming obsolete, as your skills are useful in different situations</a:t>
            </a:r>
            <a:endParaRPr/>
          </a:p>
          <a:p>
            <a:pPr marL="342900" marR="0" lvl="0" indent="-342900" algn="l" rtl="0">
              <a:spcBef>
                <a:spcPts val="0"/>
              </a:spcBef>
              <a:spcAft>
                <a:spcPts val="0"/>
              </a:spcAft>
              <a:buClr>
                <a:srgbClr val="00B050"/>
              </a:buClr>
              <a:buSzPts val="1800"/>
              <a:buFont typeface="Calibri"/>
              <a:buAutoNum type="arabicPeriod"/>
            </a:pPr>
            <a:r>
              <a:rPr lang="en-US" sz="1800">
                <a:solidFill>
                  <a:srgbClr val="00B050"/>
                </a:solidFill>
                <a:latin typeface="Arial"/>
                <a:ea typeface="Arial"/>
                <a:cs typeface="Arial"/>
                <a:sym typeface="Arial"/>
              </a:rPr>
              <a:t>Variety</a:t>
            </a:r>
            <a:endParaRPr/>
          </a:p>
          <a:p>
            <a:pPr marL="0" marR="0" lvl="0" indent="0" algn="l" rtl="0">
              <a:spcBef>
                <a:spcPts val="0"/>
              </a:spcBef>
              <a:spcAft>
                <a:spcPts val="0"/>
              </a:spcAft>
              <a:buNone/>
            </a:pPr>
            <a:r>
              <a:rPr lang="en-US" sz="1800" b="1">
                <a:solidFill>
                  <a:srgbClr val="C00000"/>
                </a:solidFill>
                <a:latin typeface="Arial"/>
                <a:ea typeface="Arial"/>
                <a:cs typeface="Arial"/>
                <a:sym typeface="Arial"/>
              </a:rPr>
              <a:t>The negative parts of being a generalist include</a:t>
            </a:r>
            <a:endParaRPr sz="1800">
              <a:solidFill>
                <a:srgbClr val="C00000"/>
              </a:solidFill>
              <a:latin typeface="Arial"/>
              <a:ea typeface="Arial"/>
              <a:cs typeface="Arial"/>
              <a:sym typeface="Arial"/>
            </a:endParaRPr>
          </a:p>
          <a:p>
            <a:pPr marL="0" marR="0" lvl="0" indent="-114300" algn="l" rtl="0">
              <a:spcBef>
                <a:spcPts val="0"/>
              </a:spcBef>
              <a:spcAft>
                <a:spcPts val="0"/>
              </a:spcAft>
              <a:buClr>
                <a:srgbClr val="C00000"/>
              </a:buClr>
              <a:buSzPts val="1800"/>
              <a:buFont typeface="Arial"/>
              <a:buChar char="•"/>
            </a:pPr>
            <a:r>
              <a:rPr lang="en-US" sz="1800">
                <a:solidFill>
                  <a:srgbClr val="C00000"/>
                </a:solidFill>
                <a:latin typeface="Arial"/>
                <a:ea typeface="Arial"/>
                <a:cs typeface="Arial"/>
                <a:sym typeface="Arial"/>
              </a:rPr>
              <a:t>There are smaller limits to the depth of your knowledge</a:t>
            </a:r>
            <a:endParaRPr/>
          </a:p>
          <a:p>
            <a:pPr marL="0" marR="0" lvl="0" indent="-114300" algn="l" rtl="0">
              <a:spcBef>
                <a:spcPts val="0"/>
              </a:spcBef>
              <a:spcAft>
                <a:spcPts val="0"/>
              </a:spcAft>
              <a:buClr>
                <a:srgbClr val="C00000"/>
              </a:buClr>
              <a:buSzPts val="1800"/>
              <a:buFont typeface="Arial"/>
              <a:buChar char="•"/>
            </a:pPr>
            <a:r>
              <a:rPr lang="en-US" sz="1800">
                <a:solidFill>
                  <a:srgbClr val="C00000"/>
                </a:solidFill>
                <a:latin typeface="Arial"/>
                <a:ea typeface="Arial"/>
                <a:cs typeface="Arial"/>
                <a:sym typeface="Arial"/>
              </a:rPr>
              <a:t>It's easier to replace you when problems get specific</a:t>
            </a:r>
            <a:endParaRPr/>
          </a:p>
          <a:p>
            <a:pPr marL="0" marR="0" lvl="0" indent="-114300" algn="l" rtl="0">
              <a:spcBef>
                <a:spcPts val="0"/>
              </a:spcBef>
              <a:spcAft>
                <a:spcPts val="0"/>
              </a:spcAft>
              <a:buClr>
                <a:srgbClr val="C00000"/>
              </a:buClr>
              <a:buSzPts val="1800"/>
              <a:buFont typeface="Arial"/>
              <a:buChar char="•"/>
            </a:pPr>
            <a:r>
              <a:rPr lang="en-US" sz="1800">
                <a:solidFill>
                  <a:srgbClr val="C00000"/>
                </a:solidFill>
                <a:latin typeface="Arial"/>
                <a:ea typeface="Arial"/>
                <a:cs typeface="Arial"/>
                <a:sym typeface="Arial"/>
              </a:rPr>
              <a:t>A constant need to keep yourself up-to-date with various topics</a:t>
            </a:r>
            <a:endParaRPr sz="1800">
              <a:solidFill>
                <a:srgbClr val="C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6"/>
          <p:cNvSpPr/>
          <p:nvPr/>
        </p:nvSpPr>
        <p:spPr>
          <a:xfrm>
            <a:off x="90152" y="375307"/>
            <a:ext cx="11539469" cy="624786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rgbClr val="FF0000"/>
                </a:solidFill>
                <a:latin typeface="Calibri"/>
                <a:ea typeface="Calibri"/>
                <a:cs typeface="Calibri"/>
                <a:sym typeface="Calibri"/>
              </a:rPr>
              <a:t>The pros and cons of a </a:t>
            </a:r>
            <a:r>
              <a:rPr lang="en-US" sz="2400">
                <a:solidFill>
                  <a:srgbClr val="FF0000"/>
                </a:solidFill>
                <a:latin typeface="Calibri"/>
                <a:ea typeface="Calibri"/>
                <a:cs typeface="Calibri"/>
                <a:sym typeface="Calibri"/>
              </a:rPr>
              <a:t>specialist</a:t>
            </a:r>
            <a:r>
              <a:rPr lang="en-US" sz="2800">
                <a:solidFill>
                  <a:srgbClr val="FF0000"/>
                </a:solidFill>
                <a:latin typeface="Calibri"/>
                <a:ea typeface="Calibri"/>
                <a:cs typeface="Calibri"/>
                <a:sym typeface="Calibri"/>
              </a:rPr>
              <a:t> – Front-End Developer or Back –End Developer</a:t>
            </a:r>
            <a:endParaRPr/>
          </a:p>
          <a:p>
            <a:pPr marL="0" marR="0" lvl="0" indent="0" algn="l" rtl="0">
              <a:spcBef>
                <a:spcPts val="0"/>
              </a:spcBef>
              <a:spcAft>
                <a:spcPts val="0"/>
              </a:spcAft>
              <a:buNone/>
            </a:pPr>
            <a:endParaRPr sz="2800">
              <a:solidFill>
                <a:srgbClr val="FF0000"/>
              </a:solidFill>
              <a:latin typeface="Calibri"/>
              <a:ea typeface="Calibri"/>
              <a:cs typeface="Calibri"/>
              <a:sym typeface="Calibri"/>
            </a:endParaRPr>
          </a:p>
          <a:p>
            <a:pPr marL="0" marR="0" lvl="0" indent="0" algn="l" rtl="0">
              <a:spcBef>
                <a:spcPts val="0"/>
              </a:spcBef>
              <a:spcAft>
                <a:spcPts val="0"/>
              </a:spcAft>
              <a:buNone/>
            </a:pPr>
            <a:r>
              <a:rPr lang="en-US" sz="2400">
                <a:solidFill>
                  <a:srgbClr val="0070C0"/>
                </a:solidFill>
                <a:latin typeface="Calibri"/>
                <a:ea typeface="Calibri"/>
                <a:cs typeface="Calibri"/>
                <a:sym typeface="Calibri"/>
              </a:rPr>
              <a:t>A specialist is someone who's got lots of experience, knowledge, or skill in a particular subject. In order to gain that kind of mastery, one must do focused work for a long period of time, giving attention only to a limited range of subjects.</a:t>
            </a:r>
            <a:endParaRPr/>
          </a:p>
          <a:p>
            <a:pPr marL="0" marR="0" lvl="0" indent="0" algn="l" rtl="0">
              <a:spcBef>
                <a:spcPts val="0"/>
              </a:spcBef>
              <a:spcAft>
                <a:spcPts val="0"/>
              </a:spcAft>
              <a:buNone/>
            </a:pPr>
            <a:endParaRPr sz="1800">
              <a:solidFill>
                <a:srgbClr val="000000"/>
              </a:solidFill>
              <a:latin typeface="Calibri"/>
              <a:ea typeface="Calibri"/>
              <a:cs typeface="Calibri"/>
              <a:sym typeface="Calibri"/>
            </a:endParaRPr>
          </a:p>
          <a:p>
            <a:pPr marL="0" marR="0" lvl="0" indent="0" algn="l" rtl="0">
              <a:spcBef>
                <a:spcPts val="0"/>
              </a:spcBef>
              <a:spcAft>
                <a:spcPts val="0"/>
              </a:spcAft>
              <a:buNone/>
            </a:pPr>
            <a:r>
              <a:rPr lang="en-US" sz="2400" b="1">
                <a:solidFill>
                  <a:srgbClr val="00B050"/>
                </a:solidFill>
                <a:latin typeface="Calibri"/>
                <a:ea typeface="Calibri"/>
                <a:cs typeface="Calibri"/>
                <a:sym typeface="Calibri"/>
              </a:rPr>
              <a:t>Some good things about being of a specialist include</a:t>
            </a:r>
            <a:endParaRPr sz="2400">
              <a:solidFill>
                <a:srgbClr val="00B050"/>
              </a:solidFill>
              <a:latin typeface="Calibri"/>
              <a:ea typeface="Calibri"/>
              <a:cs typeface="Calibri"/>
              <a:sym typeface="Calibri"/>
            </a:endParaRPr>
          </a:p>
          <a:p>
            <a:pPr marL="342900" marR="0" lvl="0" indent="-342900" algn="l" rtl="0">
              <a:spcBef>
                <a:spcPts val="0"/>
              </a:spcBef>
              <a:spcAft>
                <a:spcPts val="0"/>
              </a:spcAft>
              <a:buClr>
                <a:srgbClr val="00B050"/>
              </a:buClr>
              <a:buSzPts val="2400"/>
              <a:buFont typeface="Calibri"/>
              <a:buAutoNum type="arabicPeriod"/>
            </a:pPr>
            <a:r>
              <a:rPr lang="en-US" sz="2400">
                <a:solidFill>
                  <a:srgbClr val="00B050"/>
                </a:solidFill>
                <a:latin typeface="Calibri"/>
                <a:ea typeface="Calibri"/>
                <a:cs typeface="Calibri"/>
                <a:sym typeface="Calibri"/>
              </a:rPr>
              <a:t>Ability to contribute to solving complex problems</a:t>
            </a:r>
            <a:endParaRPr/>
          </a:p>
          <a:p>
            <a:pPr marL="342900" marR="0" lvl="0" indent="-342900" algn="l" rtl="0">
              <a:spcBef>
                <a:spcPts val="0"/>
              </a:spcBef>
              <a:spcAft>
                <a:spcPts val="0"/>
              </a:spcAft>
              <a:buClr>
                <a:srgbClr val="00B050"/>
              </a:buClr>
              <a:buSzPts val="2400"/>
              <a:buFont typeface="Calibri"/>
              <a:buAutoNum type="arabicPeriod"/>
            </a:pPr>
            <a:r>
              <a:rPr lang="en-US" sz="2400">
                <a:solidFill>
                  <a:srgbClr val="00B050"/>
                </a:solidFill>
                <a:latin typeface="Calibri"/>
                <a:ea typeface="Calibri"/>
                <a:cs typeface="Calibri"/>
                <a:sym typeface="Calibri"/>
              </a:rPr>
              <a:t>Possibility to become an expert in a specific domain</a:t>
            </a:r>
            <a:endParaRPr/>
          </a:p>
          <a:p>
            <a:pPr marL="342900" marR="0" lvl="0" indent="-342900" algn="l" rtl="0">
              <a:spcBef>
                <a:spcPts val="0"/>
              </a:spcBef>
              <a:spcAft>
                <a:spcPts val="0"/>
              </a:spcAft>
              <a:buClr>
                <a:srgbClr val="00B050"/>
              </a:buClr>
              <a:buSzPts val="2400"/>
              <a:buFont typeface="Calibri"/>
              <a:buAutoNum type="arabicPeriod"/>
            </a:pPr>
            <a:r>
              <a:rPr lang="en-US" sz="2400">
                <a:solidFill>
                  <a:srgbClr val="00B050"/>
                </a:solidFill>
                <a:latin typeface="Calibri"/>
                <a:ea typeface="Calibri"/>
                <a:cs typeface="Calibri"/>
                <a:sym typeface="Calibri"/>
              </a:rPr>
              <a:t>Less competition</a:t>
            </a:r>
            <a:endParaRPr/>
          </a:p>
          <a:p>
            <a:pPr marL="342900" marR="0" lvl="0" indent="-342900" algn="l" rtl="0">
              <a:spcBef>
                <a:spcPts val="0"/>
              </a:spcBef>
              <a:spcAft>
                <a:spcPts val="0"/>
              </a:spcAft>
              <a:buClr>
                <a:srgbClr val="00B050"/>
              </a:buClr>
              <a:buSzPts val="2400"/>
              <a:buFont typeface="Calibri"/>
              <a:buAutoNum type="arabicPeriod"/>
            </a:pPr>
            <a:r>
              <a:rPr lang="en-US" sz="2400">
                <a:solidFill>
                  <a:srgbClr val="00B050"/>
                </a:solidFill>
                <a:latin typeface="Calibri"/>
                <a:ea typeface="Calibri"/>
                <a:cs typeface="Calibri"/>
                <a:sym typeface="Calibri"/>
              </a:rPr>
              <a:t>More money</a:t>
            </a:r>
            <a:endParaRPr/>
          </a:p>
          <a:p>
            <a:pPr marL="342900" marR="0" lvl="0" indent="-215900" algn="l" rtl="0">
              <a:spcBef>
                <a:spcPts val="0"/>
              </a:spcBef>
              <a:spcAft>
                <a:spcPts val="0"/>
              </a:spcAft>
              <a:buClr>
                <a:schemeClr val="dk1"/>
              </a:buClr>
              <a:buSzPts val="2000"/>
              <a:buFont typeface="Calibri"/>
              <a:buNone/>
            </a:pPr>
            <a:endParaRPr sz="2000">
              <a:solidFill>
                <a:srgbClr val="00B050"/>
              </a:solidFill>
              <a:latin typeface="Calibri"/>
              <a:ea typeface="Calibri"/>
              <a:cs typeface="Calibri"/>
              <a:sym typeface="Calibri"/>
            </a:endParaRPr>
          </a:p>
          <a:p>
            <a:pPr marL="0" marR="0" lvl="0" indent="0" algn="l" rtl="0">
              <a:spcBef>
                <a:spcPts val="0"/>
              </a:spcBef>
              <a:spcAft>
                <a:spcPts val="0"/>
              </a:spcAft>
              <a:buNone/>
            </a:pPr>
            <a:r>
              <a:rPr lang="en-US" sz="2400" b="1">
                <a:solidFill>
                  <a:srgbClr val="C00000"/>
                </a:solidFill>
                <a:latin typeface="Calibri"/>
                <a:ea typeface="Calibri"/>
                <a:cs typeface="Calibri"/>
                <a:sym typeface="Calibri"/>
              </a:rPr>
              <a:t>The negative parts about specializing include:</a:t>
            </a:r>
            <a:endParaRPr sz="2400">
              <a:solidFill>
                <a:srgbClr val="C00000"/>
              </a:solidFill>
              <a:latin typeface="Calibri"/>
              <a:ea typeface="Calibri"/>
              <a:cs typeface="Calibri"/>
              <a:sym typeface="Calibri"/>
            </a:endParaRPr>
          </a:p>
          <a:p>
            <a:pPr marL="342900" marR="0" lvl="0" indent="-342900" algn="l" rtl="0">
              <a:spcBef>
                <a:spcPts val="0"/>
              </a:spcBef>
              <a:spcAft>
                <a:spcPts val="0"/>
              </a:spcAft>
              <a:buClr>
                <a:srgbClr val="C00000"/>
              </a:buClr>
              <a:buSzPts val="2400"/>
              <a:buFont typeface="Calibri"/>
              <a:buAutoNum type="arabicPeriod"/>
            </a:pPr>
            <a:r>
              <a:rPr lang="en-US" sz="2400">
                <a:solidFill>
                  <a:srgbClr val="C00000"/>
                </a:solidFill>
                <a:latin typeface="Calibri"/>
                <a:ea typeface="Calibri"/>
                <a:cs typeface="Calibri"/>
                <a:sym typeface="Calibri"/>
              </a:rPr>
              <a:t>Less variety in the problems you're able to solve</a:t>
            </a:r>
            <a:endParaRPr/>
          </a:p>
          <a:p>
            <a:pPr marL="342900" marR="0" lvl="0" indent="-342900" algn="l" rtl="0">
              <a:spcBef>
                <a:spcPts val="0"/>
              </a:spcBef>
              <a:spcAft>
                <a:spcPts val="0"/>
              </a:spcAft>
              <a:buClr>
                <a:srgbClr val="C00000"/>
              </a:buClr>
              <a:buSzPts val="2400"/>
              <a:buFont typeface="Calibri"/>
              <a:buAutoNum type="arabicPeriod"/>
            </a:pPr>
            <a:r>
              <a:rPr lang="en-US" sz="2400">
                <a:solidFill>
                  <a:srgbClr val="C00000"/>
                </a:solidFill>
                <a:latin typeface="Calibri"/>
                <a:ea typeface="Calibri"/>
                <a:cs typeface="Calibri"/>
                <a:sym typeface="Calibri"/>
              </a:rPr>
              <a:t>Bigger chance of becoming obsolete</a:t>
            </a:r>
            <a:endParaRPr/>
          </a:p>
          <a:p>
            <a:pPr marL="342900" marR="0" lvl="0" indent="-342900" algn="l" rtl="0">
              <a:spcBef>
                <a:spcPts val="0"/>
              </a:spcBef>
              <a:spcAft>
                <a:spcPts val="0"/>
              </a:spcAft>
              <a:buClr>
                <a:srgbClr val="C00000"/>
              </a:buClr>
              <a:buSzPts val="2400"/>
              <a:buFont typeface="Calibri"/>
              <a:buAutoNum type="arabicPeriod"/>
            </a:pPr>
            <a:r>
              <a:rPr lang="en-US" sz="2400">
                <a:solidFill>
                  <a:srgbClr val="C00000"/>
                </a:solidFill>
                <a:latin typeface="Calibri"/>
                <a:ea typeface="Calibri"/>
                <a:cs typeface="Calibri"/>
                <a:sym typeface="Calibri"/>
              </a:rPr>
              <a:t>A danger of having a narrow view of things</a:t>
            </a:r>
            <a:endParaRPr/>
          </a:p>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8"/>
          <p:cNvSpPr/>
          <p:nvPr/>
        </p:nvSpPr>
        <p:spPr>
          <a:xfrm>
            <a:off x="0" y="0"/>
            <a:ext cx="12192000" cy="381642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rgbClr val="C00000"/>
                </a:solidFill>
                <a:latin typeface="Poppins"/>
                <a:ea typeface="Poppins"/>
                <a:cs typeface="Poppins"/>
                <a:sym typeface="Poppins"/>
              </a:rPr>
              <a:t>What is an Enterprise Application?</a:t>
            </a:r>
            <a:endParaRPr/>
          </a:p>
          <a:p>
            <a:pPr marL="0" marR="0" lvl="0" indent="0" algn="just" rtl="0">
              <a:spcBef>
                <a:spcPts val="0"/>
              </a:spcBef>
              <a:spcAft>
                <a:spcPts val="0"/>
              </a:spcAft>
              <a:buNone/>
            </a:pPr>
            <a:r>
              <a:rPr lang="en-US" sz="2400">
                <a:solidFill>
                  <a:srgbClr val="002060"/>
                </a:solidFill>
                <a:latin typeface="Calibri"/>
                <a:ea typeface="Calibri"/>
                <a:cs typeface="Calibri"/>
                <a:sym typeface="Calibri"/>
              </a:rPr>
              <a:t>An enterprise application is a large, complex software system used by organizations to support business operations. Examples include HRMS, inventory management systems, and customer service software. These applications are designed to improve productivity, increase efficiency, and provide data-driven insights to inform decision-making.</a:t>
            </a:r>
            <a:endParaRPr/>
          </a:p>
          <a:p>
            <a:pPr marL="285750" marR="0" lvl="0" indent="-285750" algn="l" rtl="0">
              <a:spcBef>
                <a:spcPts val="0"/>
              </a:spcBef>
              <a:spcAft>
                <a:spcPts val="0"/>
              </a:spcAft>
              <a:buClr>
                <a:srgbClr val="C00000"/>
              </a:buClr>
              <a:buSzPts val="1800"/>
              <a:buFont typeface="Arial"/>
              <a:buChar char="•"/>
            </a:pPr>
            <a:r>
              <a:rPr lang="en-US" sz="1800">
                <a:solidFill>
                  <a:srgbClr val="C00000"/>
                </a:solidFill>
                <a:latin typeface="Calibri"/>
                <a:ea typeface="Calibri"/>
                <a:cs typeface="Calibri"/>
                <a:sym typeface="Calibri"/>
              </a:rPr>
              <a:t>Enterprise applications are designed to integrate computer systems that run all phases of an enterprise’s operations to facilitate cooperation and coordination of work across the enterprise. </a:t>
            </a:r>
            <a:endParaRPr/>
          </a:p>
          <a:p>
            <a:pPr marL="285750" marR="0" lvl="0" indent="-285750" algn="l" rtl="0">
              <a:spcBef>
                <a:spcPts val="0"/>
              </a:spcBef>
              <a:spcAft>
                <a:spcPts val="0"/>
              </a:spcAft>
              <a:buClr>
                <a:srgbClr val="C00000"/>
              </a:buClr>
              <a:buSzPts val="1800"/>
              <a:buFont typeface="Arial"/>
              <a:buChar char="•"/>
            </a:pPr>
            <a:r>
              <a:rPr lang="en-US" sz="1800">
                <a:solidFill>
                  <a:srgbClr val="C00000"/>
                </a:solidFill>
                <a:latin typeface="Calibri"/>
                <a:ea typeface="Calibri"/>
                <a:cs typeface="Calibri"/>
                <a:sym typeface="Calibri"/>
              </a:rPr>
              <a:t>The intent is to integrate core business processes (e.g., sales, accounting, finance, human resources, inventory and manufacturing). </a:t>
            </a:r>
            <a:endParaRPr sz="1800">
              <a:solidFill>
                <a:srgbClr val="C00000"/>
              </a:solidFill>
              <a:latin typeface="Calibri"/>
              <a:ea typeface="Calibri"/>
              <a:cs typeface="Calibri"/>
              <a:sym typeface="Calibri"/>
            </a:endParaRPr>
          </a:p>
          <a:p>
            <a:pPr marL="285750" marR="0" lvl="0" indent="-285750" algn="l" rtl="0">
              <a:spcBef>
                <a:spcPts val="0"/>
              </a:spcBef>
              <a:spcAft>
                <a:spcPts val="0"/>
              </a:spcAft>
              <a:buClr>
                <a:srgbClr val="C00000"/>
              </a:buClr>
              <a:buSzPts val="1800"/>
              <a:buFont typeface="Arial"/>
              <a:buChar char="•"/>
            </a:pPr>
            <a:r>
              <a:rPr lang="en-US" sz="1800">
                <a:solidFill>
                  <a:srgbClr val="C00000"/>
                </a:solidFill>
                <a:latin typeface="Calibri"/>
                <a:ea typeface="Calibri"/>
                <a:cs typeface="Calibri"/>
                <a:sym typeface="Calibri"/>
              </a:rPr>
              <a:t>The ideal enterprise system could control all major business processes in real time via a single software architecture on a client/server platform. Enterprise software is expanding its scope to link the enterprise with suppliers, business partners and customers.</a:t>
            </a:r>
            <a:endParaRPr sz="1800">
              <a:solidFill>
                <a:srgbClr val="C00000"/>
              </a:solidFill>
              <a:latin typeface="Calibri"/>
              <a:ea typeface="Calibri"/>
              <a:cs typeface="Calibri"/>
              <a:sym typeface="Calibri"/>
            </a:endParaRPr>
          </a:p>
        </p:txBody>
      </p:sp>
      <p:sp>
        <p:nvSpPr>
          <p:cNvPr id="232" name="Google Shape;232;p38"/>
          <p:cNvSpPr/>
          <p:nvPr/>
        </p:nvSpPr>
        <p:spPr>
          <a:xfrm>
            <a:off x="0" y="3811012"/>
            <a:ext cx="12118108" cy="30469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rgbClr val="FF0000"/>
                </a:solidFill>
                <a:latin typeface="Calibri"/>
                <a:ea typeface="Calibri"/>
                <a:cs typeface="Calibri"/>
                <a:sym typeface="Calibri"/>
              </a:rPr>
              <a:t>What is Enterprise Application Development?</a:t>
            </a:r>
            <a:endParaRPr/>
          </a:p>
          <a:p>
            <a:pPr marL="285750" marR="0" lvl="0" indent="-285750" algn="l" rtl="0">
              <a:spcBef>
                <a:spcPts val="0"/>
              </a:spcBef>
              <a:spcAft>
                <a:spcPts val="0"/>
              </a:spcAft>
              <a:buClr>
                <a:srgbClr val="002060"/>
              </a:buClr>
              <a:buSzPts val="2000"/>
              <a:buFont typeface="Arial"/>
              <a:buChar char="•"/>
            </a:pPr>
            <a:r>
              <a:rPr lang="en-US" sz="2000">
                <a:solidFill>
                  <a:srgbClr val="002060"/>
                </a:solidFill>
                <a:latin typeface="Calibri"/>
                <a:ea typeface="Calibri"/>
                <a:cs typeface="Calibri"/>
                <a:sym typeface="Calibri"/>
              </a:rPr>
              <a:t>The process of building and deploying a scalable solution for large-scale firms to accommodate their needs is known as enterprise application development. </a:t>
            </a:r>
            <a:endParaRPr sz="2000">
              <a:solidFill>
                <a:srgbClr val="002060"/>
              </a:solidFill>
              <a:latin typeface="Calibri"/>
              <a:ea typeface="Calibri"/>
              <a:cs typeface="Calibri"/>
              <a:sym typeface="Calibri"/>
            </a:endParaRPr>
          </a:p>
          <a:p>
            <a:pPr marL="285750" marR="0" lvl="0" indent="-285750" algn="l" rtl="0">
              <a:spcBef>
                <a:spcPts val="0"/>
              </a:spcBef>
              <a:spcAft>
                <a:spcPts val="0"/>
              </a:spcAft>
              <a:buClr>
                <a:srgbClr val="002060"/>
              </a:buClr>
              <a:buSzPts val="2000"/>
              <a:buFont typeface="Arial"/>
              <a:buChar char="•"/>
            </a:pPr>
            <a:r>
              <a:rPr lang="en-US" sz="2000">
                <a:solidFill>
                  <a:srgbClr val="002060"/>
                </a:solidFill>
                <a:latin typeface="Calibri"/>
                <a:ea typeface="Calibri"/>
                <a:cs typeface="Calibri"/>
                <a:sym typeface="Calibri"/>
              </a:rPr>
              <a:t>It addresses the pain points suffered by the firm and enables effective engagement of clients, employees, and partners.</a:t>
            </a:r>
            <a:endParaRPr/>
          </a:p>
          <a:p>
            <a:pPr marL="285750" marR="0" lvl="0" indent="-285750" algn="l" rtl="0">
              <a:spcBef>
                <a:spcPts val="0"/>
              </a:spcBef>
              <a:spcAft>
                <a:spcPts val="0"/>
              </a:spcAft>
              <a:buClr>
                <a:srgbClr val="002060"/>
              </a:buClr>
              <a:buSzPts val="2000"/>
              <a:buFont typeface="Arial"/>
              <a:buChar char="•"/>
            </a:pPr>
            <a:r>
              <a:rPr lang="en-US" sz="2000">
                <a:solidFill>
                  <a:srgbClr val="002060"/>
                </a:solidFill>
                <a:latin typeface="Calibri"/>
                <a:ea typeface="Calibri"/>
                <a:cs typeface="Calibri"/>
                <a:sym typeface="Calibri"/>
              </a:rPr>
              <a:t>Through enterprise applications, the workflow gets automated, which empowers users to accomplish tasks in lesser time than usual. </a:t>
            </a:r>
            <a:endParaRPr sz="2000">
              <a:solidFill>
                <a:srgbClr val="002060"/>
              </a:solidFill>
              <a:latin typeface="Calibri"/>
              <a:ea typeface="Calibri"/>
              <a:cs typeface="Calibri"/>
              <a:sym typeface="Calibri"/>
            </a:endParaRPr>
          </a:p>
          <a:p>
            <a:pPr marL="285750" marR="0" lvl="0" indent="-285750" algn="l" rtl="0">
              <a:spcBef>
                <a:spcPts val="0"/>
              </a:spcBef>
              <a:spcAft>
                <a:spcPts val="0"/>
              </a:spcAft>
              <a:buClr>
                <a:srgbClr val="002060"/>
              </a:buClr>
              <a:buSzPts val="2000"/>
              <a:buFont typeface="Arial"/>
              <a:buChar char="•"/>
            </a:pPr>
            <a:r>
              <a:rPr lang="en-US" sz="2000">
                <a:solidFill>
                  <a:srgbClr val="002060"/>
                </a:solidFill>
                <a:latin typeface="Calibri"/>
                <a:ea typeface="Calibri"/>
                <a:cs typeface="Calibri"/>
                <a:sym typeface="Calibri"/>
              </a:rPr>
              <a:t>Agility, speed, and scalability are crucial points to consider while developing the application.</a:t>
            </a:r>
            <a:endParaRPr/>
          </a:p>
          <a:p>
            <a:pPr marL="285750" marR="0" lvl="0" indent="-285750" algn="l" rtl="0">
              <a:spcBef>
                <a:spcPts val="0"/>
              </a:spcBef>
              <a:spcAft>
                <a:spcPts val="0"/>
              </a:spcAft>
              <a:buClr>
                <a:srgbClr val="002060"/>
              </a:buClr>
              <a:buSzPts val="2000"/>
              <a:buFont typeface="Arial"/>
              <a:buChar char="•"/>
            </a:pPr>
            <a:r>
              <a:rPr lang="en-US" sz="2000">
                <a:solidFill>
                  <a:srgbClr val="002060"/>
                </a:solidFill>
                <a:latin typeface="Calibri"/>
                <a:ea typeface="Calibri"/>
                <a:cs typeface="Calibri"/>
                <a:sym typeface="Calibri"/>
              </a:rPr>
              <a:t>Cloud technologies facilitate the adoption of developing enterprise applications</a:t>
            </a:r>
            <a:r>
              <a:rPr lang="en-US" sz="2400">
                <a:solidFill>
                  <a:srgbClr val="002060"/>
                </a:solidFill>
                <a:latin typeface="Calibri"/>
                <a:ea typeface="Calibri"/>
                <a:cs typeface="Calibri"/>
                <a:sym typeface="Calibri"/>
              </a:rPr>
              <a:t>.</a:t>
            </a:r>
            <a:endParaRPr sz="2400">
              <a:solidFill>
                <a:srgbClr val="002060"/>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9"/>
          <p:cNvSpPr/>
          <p:nvPr/>
        </p:nvSpPr>
        <p:spPr>
          <a:xfrm>
            <a:off x="1" y="296214"/>
            <a:ext cx="12192000" cy="624786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dirty="0">
                <a:solidFill>
                  <a:srgbClr val="FF0000"/>
                </a:solidFill>
                <a:latin typeface="Calibri"/>
                <a:ea typeface="Calibri"/>
                <a:cs typeface="Calibri"/>
                <a:sym typeface="Calibri"/>
              </a:rPr>
              <a:t>What is Full-Stack Development?</a:t>
            </a:r>
            <a:endParaRPr dirty="0"/>
          </a:p>
          <a:p>
            <a:pPr marL="457200" marR="0" lvl="0" indent="-457200" algn="l" rtl="0">
              <a:spcBef>
                <a:spcPts val="0"/>
              </a:spcBef>
              <a:spcAft>
                <a:spcPts val="0"/>
              </a:spcAft>
              <a:buClr>
                <a:srgbClr val="002060"/>
              </a:buClr>
              <a:buSzPts val="2800"/>
              <a:buFont typeface="Arial"/>
              <a:buChar char="•"/>
            </a:pPr>
            <a:r>
              <a:rPr lang="en-US" sz="2800" dirty="0">
                <a:solidFill>
                  <a:srgbClr val="002060"/>
                </a:solidFill>
                <a:latin typeface="Calibri"/>
                <a:ea typeface="Calibri"/>
                <a:cs typeface="Calibri"/>
                <a:sym typeface="Calibri"/>
              </a:rPr>
              <a:t>The technique of designing and creating all levels of a web application, including the frontend, backend, and database, is referred to as full-stack development. </a:t>
            </a:r>
            <a:endParaRPr sz="2800" dirty="0">
              <a:solidFill>
                <a:srgbClr val="002060"/>
              </a:solidFill>
              <a:latin typeface="Calibri"/>
              <a:ea typeface="Calibri"/>
              <a:cs typeface="Calibri"/>
              <a:sym typeface="Calibri"/>
            </a:endParaRPr>
          </a:p>
          <a:p>
            <a:pPr marL="457200" marR="0" lvl="0" indent="-457200" algn="l" rtl="0">
              <a:spcBef>
                <a:spcPts val="0"/>
              </a:spcBef>
              <a:spcAft>
                <a:spcPts val="0"/>
              </a:spcAft>
              <a:buClr>
                <a:srgbClr val="002060"/>
              </a:buClr>
              <a:buSzPts val="2800"/>
              <a:buFont typeface="Arial"/>
              <a:buChar char="•"/>
            </a:pPr>
            <a:r>
              <a:rPr lang="en-US" sz="2800" dirty="0">
                <a:solidFill>
                  <a:srgbClr val="002060"/>
                </a:solidFill>
                <a:latin typeface="Calibri"/>
                <a:ea typeface="Calibri"/>
                <a:cs typeface="Calibri"/>
                <a:sym typeface="Calibri"/>
              </a:rPr>
              <a:t>A full-stack developer is knowledgeable in both frontend and backend technologies and is capable of creating a comprehensive web application from the ground up</a:t>
            </a:r>
            <a:r>
              <a:rPr lang="en-US" sz="28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3200" dirty="0">
                <a:solidFill>
                  <a:srgbClr val="FF0000"/>
                </a:solidFill>
                <a:latin typeface="Calibri"/>
                <a:ea typeface="Calibri"/>
                <a:cs typeface="Calibri"/>
                <a:sym typeface="Calibri"/>
              </a:rPr>
              <a:t>Why Full-Stack Development is Important in </a:t>
            </a:r>
            <a:r>
              <a:rPr lang="en-US" sz="3200" dirty="0" smtClean="0">
                <a:solidFill>
                  <a:srgbClr val="FF0000"/>
                </a:solidFill>
                <a:latin typeface="Calibri"/>
                <a:ea typeface="Calibri"/>
                <a:cs typeface="Calibri"/>
                <a:sym typeface="Calibri"/>
              </a:rPr>
              <a:t>2026?</a:t>
            </a:r>
            <a:endParaRPr dirty="0"/>
          </a:p>
          <a:p>
            <a:pPr marL="457200" marR="0" lvl="0" indent="-457200" algn="l" rtl="0">
              <a:spcBef>
                <a:spcPts val="0"/>
              </a:spcBef>
              <a:spcAft>
                <a:spcPts val="0"/>
              </a:spcAft>
              <a:buClr>
                <a:schemeClr val="dk1"/>
              </a:buClr>
              <a:buSzPts val="2800"/>
              <a:buFont typeface="Arial"/>
              <a:buChar char="•"/>
            </a:pPr>
            <a:r>
              <a:rPr lang="en-US" sz="2800" dirty="0">
                <a:solidFill>
                  <a:schemeClr val="dk1"/>
                </a:solidFill>
                <a:latin typeface="Calibri"/>
                <a:ea typeface="Calibri"/>
                <a:cs typeface="Calibri"/>
                <a:sym typeface="Calibri"/>
              </a:rPr>
              <a:t>Full-stack development is now required for producing high-performance, responsive, and scalable online apps in </a:t>
            </a:r>
            <a:r>
              <a:rPr lang="en-US" sz="2800" dirty="0" smtClean="0">
                <a:solidFill>
                  <a:schemeClr val="dk1"/>
                </a:solidFill>
                <a:latin typeface="Calibri"/>
                <a:ea typeface="Calibri"/>
                <a:cs typeface="Calibri"/>
                <a:sym typeface="Calibri"/>
              </a:rPr>
              <a:t>2026. </a:t>
            </a:r>
            <a:endParaRPr sz="2800" dirty="0">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2800"/>
              <a:buFont typeface="Arial"/>
              <a:buChar char="•"/>
            </a:pPr>
            <a:r>
              <a:rPr lang="en-US" sz="2800" dirty="0">
                <a:solidFill>
                  <a:schemeClr val="dk1"/>
                </a:solidFill>
                <a:latin typeface="Calibri"/>
                <a:ea typeface="Calibri"/>
                <a:cs typeface="Calibri"/>
                <a:sym typeface="Calibri"/>
              </a:rPr>
              <a:t>Companies want developers that can work across many technology stacks and produce end-to-end solutions.</a:t>
            </a:r>
            <a:endParaRPr dirty="0"/>
          </a:p>
          <a:p>
            <a:pPr marL="457200" marR="0" lvl="0" indent="-457200" algn="l" rtl="0">
              <a:spcBef>
                <a:spcPts val="0"/>
              </a:spcBef>
              <a:spcAft>
                <a:spcPts val="0"/>
              </a:spcAft>
              <a:buClr>
                <a:schemeClr val="dk1"/>
              </a:buClr>
              <a:buSzPts val="2800"/>
              <a:buFont typeface="Arial"/>
              <a:buChar char="•"/>
            </a:pPr>
            <a:r>
              <a:rPr lang="en-US" sz="2800" dirty="0">
                <a:solidFill>
                  <a:schemeClr val="dk1"/>
                </a:solidFill>
                <a:latin typeface="Calibri"/>
                <a:ea typeface="Calibri"/>
                <a:cs typeface="Calibri"/>
                <a:sym typeface="Calibri"/>
              </a:rPr>
              <a:t>Full-stack developers can assist shorten a project's development cycle while preserving code quality.</a:t>
            </a:r>
            <a:endParaRPr sz="2800" dirty="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pic>
        <p:nvPicPr>
          <p:cNvPr id="242" name="Google Shape;242;p40"/>
          <p:cNvPicPr preferRelativeResize="0"/>
          <p:nvPr/>
        </p:nvPicPr>
        <p:blipFill rotWithShape="1">
          <a:blip r:embed="rId3">
            <a:alphaModFix/>
          </a:blip>
          <a:srcRect t="5188" b="10860"/>
          <a:stretch/>
        </p:blipFill>
        <p:spPr>
          <a:xfrm>
            <a:off x="772732" y="496071"/>
            <a:ext cx="10637950" cy="602767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pic>
        <p:nvPicPr>
          <p:cNvPr id="247" name="Google Shape;247;p41"/>
          <p:cNvPicPr preferRelativeResize="0"/>
          <p:nvPr/>
        </p:nvPicPr>
        <p:blipFill rotWithShape="1">
          <a:blip r:embed="rId3">
            <a:alphaModFix/>
          </a:blip>
          <a:srcRect/>
          <a:stretch/>
        </p:blipFill>
        <p:spPr>
          <a:xfrm>
            <a:off x="192785" y="1223493"/>
            <a:ext cx="11823665" cy="441745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pic>
        <p:nvPicPr>
          <p:cNvPr id="252" name="Google Shape;252;p42"/>
          <p:cNvPicPr preferRelativeResize="0"/>
          <p:nvPr/>
        </p:nvPicPr>
        <p:blipFill rotWithShape="1">
          <a:blip r:embed="rId3">
            <a:alphaModFix/>
          </a:blip>
          <a:srcRect t="8920" b="22583"/>
          <a:stretch/>
        </p:blipFill>
        <p:spPr>
          <a:xfrm>
            <a:off x="154083" y="914399"/>
            <a:ext cx="11784631" cy="574308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44"/>
          <p:cNvSpPr/>
          <p:nvPr/>
        </p:nvSpPr>
        <p:spPr>
          <a:xfrm>
            <a:off x="-1" y="0"/>
            <a:ext cx="12192001" cy="717119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rgbClr val="002060"/>
                </a:solidFill>
                <a:latin typeface="Calibri"/>
                <a:ea typeface="Calibri"/>
                <a:cs typeface="Calibri"/>
                <a:sym typeface="Calibri"/>
              </a:rPr>
              <a:t>Enterprise computing and full-stack development are two concepts that are related but represent different aspects of the software development and IT landscape</a:t>
            </a: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2000">
                <a:solidFill>
                  <a:srgbClr val="7030A0"/>
                </a:solidFill>
                <a:latin typeface="Calibri"/>
                <a:ea typeface="Calibri"/>
                <a:cs typeface="Calibri"/>
                <a:sym typeface="Calibri"/>
              </a:rPr>
              <a:t>Enterprise Computing:</a:t>
            </a:r>
            <a:endParaRPr/>
          </a:p>
          <a:p>
            <a:pPr marL="342900" marR="0" lvl="0" indent="-342900" algn="l" rtl="0">
              <a:spcBef>
                <a:spcPts val="0"/>
              </a:spcBef>
              <a:spcAft>
                <a:spcPts val="0"/>
              </a:spcAft>
              <a:buClr>
                <a:srgbClr val="7030A0"/>
              </a:buClr>
              <a:buSzPts val="2000"/>
              <a:buFont typeface="Arial"/>
              <a:buChar char="•"/>
            </a:pPr>
            <a:r>
              <a:rPr lang="en-US" sz="2000">
                <a:solidFill>
                  <a:srgbClr val="7030A0"/>
                </a:solidFill>
                <a:latin typeface="Calibri"/>
                <a:ea typeface="Calibri"/>
                <a:cs typeface="Calibri"/>
                <a:sym typeface="Calibri"/>
              </a:rPr>
              <a:t>Enterprise computing refers to the use of information technology (IT) in organizations, particularly large businesses or enterprises. It involves the design, deployment, and management of complex computing environments that support the various needs of an organization.</a:t>
            </a:r>
            <a:endParaRPr/>
          </a:p>
          <a:p>
            <a:pPr marL="342900" marR="0" lvl="0" indent="-342900" algn="l" rtl="0">
              <a:spcBef>
                <a:spcPts val="0"/>
              </a:spcBef>
              <a:spcAft>
                <a:spcPts val="0"/>
              </a:spcAft>
              <a:buClr>
                <a:srgbClr val="7030A0"/>
              </a:buClr>
              <a:buSzPts val="2000"/>
              <a:buFont typeface="Arial"/>
              <a:buChar char="•"/>
            </a:pPr>
            <a:r>
              <a:rPr lang="en-US" sz="2000">
                <a:solidFill>
                  <a:srgbClr val="7030A0"/>
                </a:solidFill>
                <a:latin typeface="Calibri"/>
                <a:ea typeface="Calibri"/>
                <a:cs typeface="Calibri"/>
                <a:sym typeface="Calibri"/>
              </a:rPr>
              <a:t>This includes infrastructure, software applications, data management, security, networking, and more. The goal of enterprise computing is to streamline business processes, improve efficiency, and support the overall goals of the organization.</a:t>
            </a:r>
            <a:endParaRPr/>
          </a:p>
          <a:p>
            <a:pPr marL="342900" marR="0" lvl="0" indent="-342900" algn="l" rtl="0">
              <a:spcBef>
                <a:spcPts val="0"/>
              </a:spcBef>
              <a:spcAft>
                <a:spcPts val="0"/>
              </a:spcAft>
              <a:buClr>
                <a:srgbClr val="7030A0"/>
              </a:buClr>
              <a:buSzPts val="2000"/>
              <a:buFont typeface="Arial"/>
              <a:buChar char="•"/>
            </a:pPr>
            <a:r>
              <a:rPr lang="en-US" sz="2000">
                <a:solidFill>
                  <a:srgbClr val="7030A0"/>
                </a:solidFill>
                <a:latin typeface="Calibri"/>
                <a:ea typeface="Calibri"/>
                <a:cs typeface="Calibri"/>
                <a:sym typeface="Calibri"/>
              </a:rPr>
              <a:t>Enterprise computing often involves the use of large-scale systems, databases, and applications that can handle a significant amount of data and user interactions. </a:t>
            </a:r>
            <a:endParaRPr/>
          </a:p>
          <a:p>
            <a:pPr marL="342900" marR="0" lvl="0" indent="-342900" algn="l" rtl="0">
              <a:spcBef>
                <a:spcPts val="0"/>
              </a:spcBef>
              <a:spcAft>
                <a:spcPts val="0"/>
              </a:spcAft>
              <a:buClr>
                <a:srgbClr val="7030A0"/>
              </a:buClr>
              <a:buSzPts val="2000"/>
              <a:buFont typeface="Arial"/>
              <a:buChar char="•"/>
            </a:pPr>
            <a:r>
              <a:rPr lang="en-US" sz="2000">
                <a:solidFill>
                  <a:srgbClr val="7030A0"/>
                </a:solidFill>
                <a:latin typeface="Calibri"/>
                <a:ea typeface="Calibri"/>
                <a:cs typeface="Calibri"/>
                <a:sym typeface="Calibri"/>
              </a:rPr>
              <a:t>It also encompasses areas such as enterprise resource planning (ERP), customer relationship management (CRM), and other business-critical systems</a:t>
            </a: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2000">
                <a:solidFill>
                  <a:srgbClr val="C00000"/>
                </a:solidFill>
                <a:latin typeface="Calibri"/>
                <a:ea typeface="Calibri"/>
                <a:cs typeface="Calibri"/>
                <a:sym typeface="Calibri"/>
              </a:rPr>
              <a:t>Full-Stack Development:</a:t>
            </a:r>
            <a:endParaRPr/>
          </a:p>
          <a:p>
            <a:pPr marL="342900" marR="0" lvl="0" indent="-342900" algn="l" rtl="0">
              <a:spcBef>
                <a:spcPts val="0"/>
              </a:spcBef>
              <a:spcAft>
                <a:spcPts val="0"/>
              </a:spcAft>
              <a:buClr>
                <a:srgbClr val="C00000"/>
              </a:buClr>
              <a:buSzPts val="2000"/>
              <a:buFont typeface="Arial"/>
              <a:buChar char="•"/>
            </a:pPr>
            <a:r>
              <a:rPr lang="en-US" sz="2000">
                <a:solidFill>
                  <a:srgbClr val="C00000"/>
                </a:solidFill>
                <a:latin typeface="Calibri"/>
                <a:ea typeface="Calibri"/>
                <a:cs typeface="Calibri"/>
                <a:sym typeface="Calibri"/>
              </a:rPr>
              <a:t>Full-stack development refers to the practice of working on both the front-end (client-side) and back-end (server-side) of an application or system. </a:t>
            </a:r>
            <a:endParaRPr/>
          </a:p>
          <a:p>
            <a:pPr marL="342900" marR="0" lvl="0" indent="-342900" algn="l" rtl="0">
              <a:spcBef>
                <a:spcPts val="0"/>
              </a:spcBef>
              <a:spcAft>
                <a:spcPts val="0"/>
              </a:spcAft>
              <a:buClr>
                <a:srgbClr val="C00000"/>
              </a:buClr>
              <a:buSzPts val="2000"/>
              <a:buFont typeface="Arial"/>
              <a:buChar char="•"/>
            </a:pPr>
            <a:r>
              <a:rPr lang="en-US" sz="2000">
                <a:solidFill>
                  <a:srgbClr val="C00000"/>
                </a:solidFill>
                <a:latin typeface="Calibri"/>
                <a:ea typeface="Calibri"/>
                <a:cs typeface="Calibri"/>
                <a:sym typeface="Calibri"/>
              </a:rPr>
              <a:t>A full-stack developer is someone who has expertise in both the user interface (UI) and user experience (UX) aspects of an application as well as the server-side logic, databases, and other components that make the application function.</a:t>
            </a:r>
            <a:endParaRPr/>
          </a:p>
          <a:p>
            <a:pPr marL="342900" marR="0" lvl="0" indent="-342900" algn="l" rtl="0">
              <a:spcBef>
                <a:spcPts val="0"/>
              </a:spcBef>
              <a:spcAft>
                <a:spcPts val="0"/>
              </a:spcAft>
              <a:buClr>
                <a:srgbClr val="C00000"/>
              </a:buClr>
              <a:buSzPts val="2000"/>
              <a:buFont typeface="Arial"/>
              <a:buChar char="•"/>
            </a:pPr>
            <a:r>
              <a:rPr lang="en-US" sz="2000">
                <a:solidFill>
                  <a:srgbClr val="C00000"/>
                </a:solidFill>
                <a:latin typeface="Calibri"/>
                <a:ea typeface="Calibri"/>
                <a:cs typeface="Calibri"/>
                <a:sym typeface="Calibri"/>
              </a:rPr>
              <a:t>A full-stack developer is typically proficient in multiple technologies and languages, allowing them to work on various layers of a software stack.</a:t>
            </a:r>
            <a:endParaRPr/>
          </a:p>
          <a:p>
            <a:pPr marL="342900" marR="0" lvl="0" indent="-342900" algn="l" rtl="0">
              <a:spcBef>
                <a:spcPts val="0"/>
              </a:spcBef>
              <a:spcAft>
                <a:spcPts val="0"/>
              </a:spcAft>
              <a:buClr>
                <a:srgbClr val="C00000"/>
              </a:buClr>
              <a:buSzPts val="2000"/>
              <a:buFont typeface="Arial"/>
              <a:buChar char="•"/>
            </a:pPr>
            <a:r>
              <a:rPr lang="en-US" sz="2000">
                <a:solidFill>
                  <a:srgbClr val="C00000"/>
                </a:solidFill>
                <a:latin typeface="Calibri"/>
                <a:ea typeface="Calibri"/>
                <a:cs typeface="Calibri"/>
                <a:sym typeface="Calibri"/>
              </a:rPr>
              <a:t>The software stack consists of the technology layers that make up an application, from the user interface to the database and everything in between.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45"/>
          <p:cNvSpPr/>
          <p:nvPr/>
        </p:nvSpPr>
        <p:spPr>
          <a:xfrm>
            <a:off x="103031" y="335845"/>
            <a:ext cx="12088969" cy="575542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rgbClr val="FF0000"/>
                </a:solidFill>
                <a:latin typeface="Calibri"/>
                <a:ea typeface="Calibri"/>
                <a:cs typeface="Calibri"/>
                <a:sym typeface="Calibri"/>
              </a:rPr>
              <a:t>Relation between Enterprise Computing and Full Stack:</a:t>
            </a:r>
            <a:endParaRPr/>
          </a:p>
          <a:p>
            <a:pPr marL="0" marR="0" lvl="0" indent="0" algn="l" rtl="0">
              <a:spcBef>
                <a:spcPts val="0"/>
              </a:spcBef>
              <a:spcAft>
                <a:spcPts val="0"/>
              </a:spcAft>
              <a:buNone/>
            </a:pPr>
            <a:endParaRPr sz="2400">
              <a:solidFill>
                <a:srgbClr val="FF0000"/>
              </a:solidFill>
              <a:latin typeface="Calibri"/>
              <a:ea typeface="Calibri"/>
              <a:cs typeface="Calibri"/>
              <a:sym typeface="Calibri"/>
            </a:endParaRPr>
          </a:p>
          <a:p>
            <a:pPr marL="285750" marR="0" lvl="0" indent="-285750" algn="l" rtl="0">
              <a:spcBef>
                <a:spcPts val="0"/>
              </a:spcBef>
              <a:spcAft>
                <a:spcPts val="0"/>
              </a:spcAft>
              <a:buClr>
                <a:srgbClr val="002060"/>
              </a:buClr>
              <a:buSzPts val="2000"/>
              <a:buFont typeface="Arial"/>
              <a:buChar char="•"/>
            </a:pPr>
            <a:r>
              <a:rPr lang="en-US" sz="2000">
                <a:solidFill>
                  <a:srgbClr val="002060"/>
                </a:solidFill>
                <a:latin typeface="Calibri"/>
                <a:ea typeface="Calibri"/>
                <a:cs typeface="Calibri"/>
                <a:sym typeface="Calibri"/>
              </a:rPr>
              <a:t>The relationship between enterprise computing and full-stack development lies in the context of building and maintaining enterprise-level applications. </a:t>
            </a:r>
            <a:endParaRPr/>
          </a:p>
          <a:p>
            <a:pPr marL="285750" marR="0" lvl="0" indent="-285750" algn="l" rtl="0">
              <a:spcBef>
                <a:spcPts val="0"/>
              </a:spcBef>
              <a:spcAft>
                <a:spcPts val="0"/>
              </a:spcAft>
              <a:buClr>
                <a:srgbClr val="002060"/>
              </a:buClr>
              <a:buSzPts val="2000"/>
              <a:buFont typeface="Arial"/>
              <a:buChar char="•"/>
            </a:pPr>
            <a:r>
              <a:rPr lang="en-US" sz="2000">
                <a:solidFill>
                  <a:srgbClr val="002060"/>
                </a:solidFill>
                <a:latin typeface="Calibri"/>
                <a:ea typeface="Calibri"/>
                <a:cs typeface="Calibri"/>
                <a:sym typeface="Calibri"/>
              </a:rPr>
              <a:t>In large organizations, full-stack developers may be involved in creating and maintaining various components of enterprise systems.</a:t>
            </a:r>
            <a:endParaRPr/>
          </a:p>
          <a:p>
            <a:pPr marL="285750" marR="0" lvl="0" indent="-285750" algn="l" rtl="0">
              <a:spcBef>
                <a:spcPts val="0"/>
              </a:spcBef>
              <a:spcAft>
                <a:spcPts val="0"/>
              </a:spcAft>
              <a:buClr>
                <a:srgbClr val="002060"/>
              </a:buClr>
              <a:buSzPts val="2000"/>
              <a:buFont typeface="Arial"/>
              <a:buChar char="•"/>
            </a:pPr>
            <a:r>
              <a:rPr lang="en-US" sz="2000">
                <a:solidFill>
                  <a:srgbClr val="002060"/>
                </a:solidFill>
                <a:latin typeface="Calibri"/>
                <a:ea typeface="Calibri"/>
                <a:cs typeface="Calibri"/>
                <a:sym typeface="Calibri"/>
              </a:rPr>
              <a:t>These systems often require a combination of front-end and back-end development skills to deliver a cohesive and integrated solution.</a:t>
            </a:r>
            <a:endParaRPr/>
          </a:p>
          <a:p>
            <a:pPr marL="285750" marR="0" lvl="0" indent="-285750" algn="l" rtl="0">
              <a:spcBef>
                <a:spcPts val="0"/>
              </a:spcBef>
              <a:spcAft>
                <a:spcPts val="0"/>
              </a:spcAft>
              <a:buClr>
                <a:srgbClr val="002060"/>
              </a:buClr>
              <a:buSzPts val="2000"/>
              <a:buFont typeface="Arial"/>
              <a:buChar char="•"/>
            </a:pPr>
            <a:r>
              <a:rPr lang="en-US" sz="2000">
                <a:solidFill>
                  <a:srgbClr val="002060"/>
                </a:solidFill>
                <a:latin typeface="Calibri"/>
                <a:ea typeface="Calibri"/>
                <a:cs typeface="Calibri"/>
                <a:sym typeface="Calibri"/>
              </a:rPr>
              <a:t>Full-stack developers working in an enterprise environment may contribute to the development of user interfaces, business logic, integration with databases, and other essential components of enterprise applications. </a:t>
            </a:r>
            <a:endParaRPr/>
          </a:p>
          <a:p>
            <a:pPr marL="285750" marR="0" lvl="0" indent="-285750" algn="l" rtl="0">
              <a:spcBef>
                <a:spcPts val="0"/>
              </a:spcBef>
              <a:spcAft>
                <a:spcPts val="0"/>
              </a:spcAft>
              <a:buClr>
                <a:srgbClr val="002060"/>
              </a:buClr>
              <a:buSzPts val="2000"/>
              <a:buFont typeface="Arial"/>
              <a:buChar char="•"/>
            </a:pPr>
            <a:r>
              <a:rPr lang="en-US" sz="2000">
                <a:solidFill>
                  <a:srgbClr val="002060"/>
                </a:solidFill>
                <a:latin typeface="Calibri"/>
                <a:ea typeface="Calibri"/>
                <a:cs typeface="Calibri"/>
                <a:sym typeface="Calibri"/>
              </a:rPr>
              <a:t>Their expertise allows them to understand and work across different layers of the technology stack, ensuring that the entire system functions seamlessly.</a:t>
            </a:r>
            <a:endParaRPr/>
          </a:p>
          <a:p>
            <a:pPr marL="285750" marR="0" lvl="0" indent="-285750" algn="l" rtl="0">
              <a:spcBef>
                <a:spcPts val="0"/>
              </a:spcBef>
              <a:spcAft>
                <a:spcPts val="0"/>
              </a:spcAft>
              <a:buClr>
                <a:srgbClr val="002060"/>
              </a:buClr>
              <a:buSzPts val="2000"/>
              <a:buFont typeface="Arial"/>
              <a:buChar char="•"/>
            </a:pPr>
            <a:r>
              <a:rPr lang="en-US" sz="2000">
                <a:solidFill>
                  <a:srgbClr val="002060"/>
                </a:solidFill>
                <a:latin typeface="Calibri"/>
                <a:ea typeface="Calibri"/>
                <a:cs typeface="Calibri"/>
                <a:sym typeface="Calibri"/>
              </a:rPr>
              <a:t>In summary, while enterprise computing focuses on the broader use of IT in organizations, full-stack development plays a role in the implementation and maintenance of the software and systems that form a part of enterprise computing. </a:t>
            </a:r>
            <a:endParaRPr/>
          </a:p>
          <a:p>
            <a:pPr marL="285750" marR="0" lvl="0" indent="-285750" algn="l" rtl="0">
              <a:spcBef>
                <a:spcPts val="0"/>
              </a:spcBef>
              <a:spcAft>
                <a:spcPts val="0"/>
              </a:spcAft>
              <a:buClr>
                <a:srgbClr val="002060"/>
              </a:buClr>
              <a:buSzPts val="2000"/>
              <a:buFont typeface="Arial"/>
              <a:buChar char="•"/>
            </a:pPr>
            <a:r>
              <a:rPr lang="en-US" sz="2000">
                <a:solidFill>
                  <a:srgbClr val="002060"/>
                </a:solidFill>
                <a:latin typeface="Calibri"/>
                <a:ea typeface="Calibri"/>
                <a:cs typeface="Calibri"/>
                <a:sym typeface="Calibri"/>
              </a:rPr>
              <a:t>Full-stack developers bring a comprehensive skill set to the table, making them valuable contributors to the development and evolution of enterprise-level </a:t>
            </a:r>
            <a:endParaRPr sz="2000">
              <a:solidFill>
                <a:srgbClr val="002060"/>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46"/>
          <p:cNvSpPr/>
          <p:nvPr/>
        </p:nvSpPr>
        <p:spPr>
          <a:xfrm>
            <a:off x="0" y="0"/>
            <a:ext cx="11900078" cy="68326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2000">
                <a:solidFill>
                  <a:srgbClr val="002060"/>
                </a:solidFill>
                <a:latin typeface="Calibri"/>
                <a:ea typeface="Calibri"/>
                <a:cs typeface="Calibri"/>
                <a:sym typeface="Calibri"/>
              </a:rPr>
              <a:t>Studying the course "Enterprise Computing using Full Stack" can offer several benefits and is relevant for individuals pursuing careers in software development, especially in the context of large-scale business applications. Here are some reasons why studying this course might be valuable:</a:t>
            </a:r>
            <a:endParaRPr/>
          </a:p>
          <a:p>
            <a:pPr marL="0" marR="0" lvl="0" indent="0" algn="l" rtl="0">
              <a:spcBef>
                <a:spcPts val="0"/>
              </a:spcBef>
              <a:spcAft>
                <a:spcPts val="0"/>
              </a:spcAft>
              <a:buNone/>
            </a:pPr>
            <a:endParaRPr sz="1800">
              <a:solidFill>
                <a:srgbClr val="002060"/>
              </a:solidFill>
              <a:latin typeface="Calibri"/>
              <a:ea typeface="Calibri"/>
              <a:cs typeface="Calibri"/>
              <a:sym typeface="Calibri"/>
            </a:endParaRPr>
          </a:p>
          <a:p>
            <a:pPr marL="342900" marR="0" lvl="0" indent="-342900" algn="l" rtl="0">
              <a:spcBef>
                <a:spcPts val="0"/>
              </a:spcBef>
              <a:spcAft>
                <a:spcPts val="0"/>
              </a:spcAft>
              <a:buClr>
                <a:srgbClr val="7030A0"/>
              </a:buClr>
              <a:buSzPts val="1800"/>
              <a:buFont typeface="Calibri"/>
              <a:buAutoNum type="arabicPeriod"/>
            </a:pPr>
            <a:r>
              <a:rPr lang="en-US" sz="1800">
                <a:solidFill>
                  <a:srgbClr val="7030A0"/>
                </a:solidFill>
                <a:latin typeface="Calibri"/>
                <a:ea typeface="Calibri"/>
                <a:cs typeface="Calibri"/>
                <a:sym typeface="Calibri"/>
              </a:rPr>
              <a:t>Comprehensive Skill Set: Full-stack development involves working on both the front-end and back-end of applications. Understanding the full stack equips you with a comprehensive skill set, allowing you to work on various components of an application, from user interfaces to server-side logic and databases.</a:t>
            </a:r>
            <a:endParaRPr/>
          </a:p>
          <a:p>
            <a:pPr marL="342900" marR="0" lvl="0" indent="-228600" algn="l" rtl="0">
              <a:spcBef>
                <a:spcPts val="0"/>
              </a:spcBef>
              <a:spcAft>
                <a:spcPts val="0"/>
              </a:spcAft>
              <a:buClr>
                <a:schemeClr val="dk1"/>
              </a:buClr>
              <a:buSzPts val="1800"/>
              <a:buFont typeface="Calibri"/>
              <a:buNone/>
            </a:pPr>
            <a:endParaRPr sz="1800">
              <a:solidFill>
                <a:srgbClr val="7030A0"/>
              </a:solidFill>
              <a:latin typeface="Calibri"/>
              <a:ea typeface="Calibri"/>
              <a:cs typeface="Calibri"/>
              <a:sym typeface="Calibri"/>
            </a:endParaRPr>
          </a:p>
          <a:p>
            <a:pPr marL="342900" marR="0" lvl="0" indent="-342900" algn="l" rtl="0">
              <a:spcBef>
                <a:spcPts val="0"/>
              </a:spcBef>
              <a:spcAft>
                <a:spcPts val="0"/>
              </a:spcAft>
              <a:buClr>
                <a:srgbClr val="7030A0"/>
              </a:buClr>
              <a:buSzPts val="1800"/>
              <a:buFont typeface="Calibri"/>
              <a:buAutoNum type="arabicPeriod"/>
            </a:pPr>
            <a:r>
              <a:rPr lang="en-US" sz="1800">
                <a:solidFill>
                  <a:srgbClr val="7030A0"/>
                </a:solidFill>
                <a:latin typeface="Calibri"/>
                <a:ea typeface="Calibri"/>
                <a:cs typeface="Calibri"/>
                <a:sym typeface="Calibri"/>
              </a:rPr>
              <a:t>Versatility: Full-stack developers are versatile and can contribute to different parts of a project. This versatility is valuable in dynamic development environments where individuals may need to switch between tasks or collaborate with different teams.</a:t>
            </a:r>
            <a:endParaRPr/>
          </a:p>
          <a:p>
            <a:pPr marL="342900" marR="0" lvl="0" indent="-228600" algn="l" rtl="0">
              <a:spcBef>
                <a:spcPts val="0"/>
              </a:spcBef>
              <a:spcAft>
                <a:spcPts val="0"/>
              </a:spcAft>
              <a:buClr>
                <a:schemeClr val="dk1"/>
              </a:buClr>
              <a:buSzPts val="1800"/>
              <a:buFont typeface="Calibri"/>
              <a:buNone/>
            </a:pPr>
            <a:endParaRPr sz="1800">
              <a:solidFill>
                <a:srgbClr val="7030A0"/>
              </a:solidFill>
              <a:latin typeface="Calibri"/>
              <a:ea typeface="Calibri"/>
              <a:cs typeface="Calibri"/>
              <a:sym typeface="Calibri"/>
            </a:endParaRPr>
          </a:p>
          <a:p>
            <a:pPr marL="342900" marR="0" lvl="0" indent="-342900" algn="l" rtl="0">
              <a:spcBef>
                <a:spcPts val="0"/>
              </a:spcBef>
              <a:spcAft>
                <a:spcPts val="0"/>
              </a:spcAft>
              <a:buClr>
                <a:srgbClr val="7030A0"/>
              </a:buClr>
              <a:buSzPts val="1800"/>
              <a:buFont typeface="Calibri"/>
              <a:buAutoNum type="arabicPeriod"/>
            </a:pPr>
            <a:r>
              <a:rPr lang="en-US" sz="1800">
                <a:solidFill>
                  <a:srgbClr val="7030A0"/>
                </a:solidFill>
                <a:latin typeface="Calibri"/>
                <a:ea typeface="Calibri"/>
                <a:cs typeface="Calibri"/>
                <a:sym typeface="Calibri"/>
              </a:rPr>
              <a:t>Holistic Understanding: Enterprise computing often involves complex systems with multiple layers. Studying full-stack development provides a holistic understanding of how different parts of a system interact, allowing you to design and implement solutions that consider the entire technology stack.</a:t>
            </a:r>
            <a:endParaRPr/>
          </a:p>
          <a:p>
            <a:pPr marL="342900" marR="0" lvl="0" indent="-228600" algn="l" rtl="0">
              <a:spcBef>
                <a:spcPts val="0"/>
              </a:spcBef>
              <a:spcAft>
                <a:spcPts val="0"/>
              </a:spcAft>
              <a:buClr>
                <a:schemeClr val="dk1"/>
              </a:buClr>
              <a:buSzPts val="1800"/>
              <a:buFont typeface="Calibri"/>
              <a:buNone/>
            </a:pPr>
            <a:endParaRPr sz="1800">
              <a:solidFill>
                <a:srgbClr val="7030A0"/>
              </a:solidFill>
              <a:latin typeface="Calibri"/>
              <a:ea typeface="Calibri"/>
              <a:cs typeface="Calibri"/>
              <a:sym typeface="Calibri"/>
            </a:endParaRPr>
          </a:p>
          <a:p>
            <a:pPr marL="342900" marR="0" lvl="0" indent="-342900" algn="l" rtl="0">
              <a:spcBef>
                <a:spcPts val="0"/>
              </a:spcBef>
              <a:spcAft>
                <a:spcPts val="0"/>
              </a:spcAft>
              <a:buClr>
                <a:srgbClr val="7030A0"/>
              </a:buClr>
              <a:buSzPts val="1800"/>
              <a:buFont typeface="Calibri"/>
              <a:buAutoNum type="arabicPeriod"/>
            </a:pPr>
            <a:r>
              <a:rPr lang="en-US" sz="1800">
                <a:solidFill>
                  <a:srgbClr val="7030A0"/>
                </a:solidFill>
                <a:latin typeface="Calibri"/>
                <a:ea typeface="Calibri"/>
                <a:cs typeface="Calibri"/>
                <a:sym typeface="Calibri"/>
              </a:rPr>
              <a:t>Efficient Problem Solving: Full-stack developers are well-equipped to troubleshoot issues and solve problems across the entire application. This efficiency is crucial in enterprise environments where quick and effective problem resolution is essential for maintaining business continuity.</a:t>
            </a:r>
            <a:endParaRPr/>
          </a:p>
          <a:p>
            <a:pPr marL="342900" marR="0" lvl="0" indent="-228600" algn="l" rtl="0">
              <a:spcBef>
                <a:spcPts val="0"/>
              </a:spcBef>
              <a:spcAft>
                <a:spcPts val="0"/>
              </a:spcAft>
              <a:buClr>
                <a:schemeClr val="dk1"/>
              </a:buClr>
              <a:buSzPts val="1800"/>
              <a:buFont typeface="Calibri"/>
              <a:buNone/>
            </a:pPr>
            <a:endParaRPr sz="1800">
              <a:solidFill>
                <a:srgbClr val="7030A0"/>
              </a:solidFill>
              <a:latin typeface="Calibri"/>
              <a:ea typeface="Calibri"/>
              <a:cs typeface="Calibri"/>
              <a:sym typeface="Calibri"/>
            </a:endParaRPr>
          </a:p>
          <a:p>
            <a:pPr marL="342900" marR="0" lvl="0" indent="-342900" algn="l" rtl="0">
              <a:spcBef>
                <a:spcPts val="0"/>
              </a:spcBef>
              <a:spcAft>
                <a:spcPts val="0"/>
              </a:spcAft>
              <a:buClr>
                <a:srgbClr val="7030A0"/>
              </a:buClr>
              <a:buSzPts val="1800"/>
              <a:buFont typeface="Calibri"/>
              <a:buAutoNum type="arabicPeriod"/>
            </a:pPr>
            <a:r>
              <a:rPr lang="en-US" sz="1800">
                <a:solidFill>
                  <a:srgbClr val="7030A0"/>
                </a:solidFill>
                <a:latin typeface="Calibri"/>
                <a:ea typeface="Calibri"/>
                <a:cs typeface="Calibri"/>
                <a:sym typeface="Calibri"/>
              </a:rPr>
              <a:t>Collaboration and Communication: Full-stack developers can bridge the gap between front-end and back-end teams, facilitating better collaboration and communication in a development project. This is especially important in large enterprises where cross-functional teams are common</a:t>
            </a: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47"/>
          <p:cNvSpPr/>
          <p:nvPr/>
        </p:nvSpPr>
        <p:spPr>
          <a:xfrm>
            <a:off x="0" y="0"/>
            <a:ext cx="11848564" cy="6740307"/>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7030A0"/>
              </a:buClr>
              <a:buSzPts val="1800"/>
              <a:buFont typeface="Calibri"/>
              <a:buAutoNum type="arabicPeriod" startAt="6"/>
            </a:pPr>
            <a:r>
              <a:rPr lang="en-US" sz="1800">
                <a:solidFill>
                  <a:srgbClr val="7030A0"/>
                </a:solidFill>
                <a:latin typeface="Calibri"/>
                <a:ea typeface="Calibri"/>
                <a:cs typeface="Calibri"/>
                <a:sym typeface="Calibri"/>
              </a:rPr>
              <a:t>Adaptability to Technologies: Technology landscapes evolve, and the ability to adapt to new technologies is crucial. Full-stack development exposes you to a variety of tools, frameworks, and languages, making it easier to learn and adopt new technologies as they emerge.</a:t>
            </a:r>
            <a:endParaRPr/>
          </a:p>
          <a:p>
            <a:pPr marL="342900" marR="0" lvl="0" indent="-228600" algn="l" rtl="0">
              <a:spcBef>
                <a:spcPts val="0"/>
              </a:spcBef>
              <a:spcAft>
                <a:spcPts val="0"/>
              </a:spcAft>
              <a:buClr>
                <a:schemeClr val="dk1"/>
              </a:buClr>
              <a:buSzPts val="1800"/>
              <a:buFont typeface="Calibri"/>
              <a:buNone/>
            </a:pPr>
            <a:endParaRPr sz="1800">
              <a:solidFill>
                <a:srgbClr val="7030A0"/>
              </a:solidFill>
              <a:latin typeface="Calibri"/>
              <a:ea typeface="Calibri"/>
              <a:cs typeface="Calibri"/>
              <a:sym typeface="Calibri"/>
            </a:endParaRPr>
          </a:p>
          <a:p>
            <a:pPr marL="342900" marR="0" lvl="0" indent="-342900" algn="l" rtl="0">
              <a:spcBef>
                <a:spcPts val="0"/>
              </a:spcBef>
              <a:spcAft>
                <a:spcPts val="0"/>
              </a:spcAft>
              <a:buClr>
                <a:srgbClr val="7030A0"/>
              </a:buClr>
              <a:buSzPts val="1800"/>
              <a:buFont typeface="Calibri"/>
              <a:buAutoNum type="arabicPeriod" startAt="6"/>
            </a:pPr>
            <a:r>
              <a:rPr lang="en-US" sz="1800">
                <a:solidFill>
                  <a:srgbClr val="7030A0"/>
                </a:solidFill>
                <a:latin typeface="Calibri"/>
                <a:ea typeface="Calibri"/>
                <a:cs typeface="Calibri"/>
                <a:sym typeface="Calibri"/>
              </a:rPr>
              <a:t>Career Opportunities: Many enterprises seek professionals with full-stack development skills because they can contribute to various aspects of a project. This can open up a broader range of career opportunities, especially in organizations that value versatile and skilled developers.</a:t>
            </a:r>
            <a:endParaRPr/>
          </a:p>
          <a:p>
            <a:pPr marL="342900" marR="0" lvl="0" indent="-228600" algn="l" rtl="0">
              <a:spcBef>
                <a:spcPts val="0"/>
              </a:spcBef>
              <a:spcAft>
                <a:spcPts val="0"/>
              </a:spcAft>
              <a:buClr>
                <a:schemeClr val="dk1"/>
              </a:buClr>
              <a:buSzPts val="1800"/>
              <a:buFont typeface="Calibri"/>
              <a:buNone/>
            </a:pPr>
            <a:endParaRPr sz="1800">
              <a:solidFill>
                <a:srgbClr val="7030A0"/>
              </a:solidFill>
              <a:latin typeface="Calibri"/>
              <a:ea typeface="Calibri"/>
              <a:cs typeface="Calibri"/>
              <a:sym typeface="Calibri"/>
            </a:endParaRPr>
          </a:p>
          <a:p>
            <a:pPr marL="342900" marR="0" lvl="0" indent="-342900" algn="l" rtl="0">
              <a:spcBef>
                <a:spcPts val="0"/>
              </a:spcBef>
              <a:spcAft>
                <a:spcPts val="0"/>
              </a:spcAft>
              <a:buClr>
                <a:srgbClr val="7030A0"/>
              </a:buClr>
              <a:buSzPts val="1800"/>
              <a:buFont typeface="Calibri"/>
              <a:buAutoNum type="arabicPeriod" startAt="6"/>
            </a:pPr>
            <a:r>
              <a:rPr lang="en-US" sz="1800">
                <a:solidFill>
                  <a:srgbClr val="7030A0"/>
                </a:solidFill>
                <a:latin typeface="Calibri"/>
                <a:ea typeface="Calibri"/>
                <a:cs typeface="Calibri"/>
                <a:sym typeface="Calibri"/>
              </a:rPr>
              <a:t>Agile Development: Full-stack development aligns well with agile development methodologies. Agile emphasizes collaboration, adaptability, and the ability to deliver functional software quickly, qualities that are inherent in the full-stack development approach.</a:t>
            </a:r>
            <a:endParaRPr/>
          </a:p>
          <a:p>
            <a:pPr marL="342900" marR="0" lvl="0" indent="-228600" algn="l" rtl="0">
              <a:spcBef>
                <a:spcPts val="0"/>
              </a:spcBef>
              <a:spcAft>
                <a:spcPts val="0"/>
              </a:spcAft>
              <a:buClr>
                <a:schemeClr val="dk1"/>
              </a:buClr>
              <a:buSzPts val="1800"/>
              <a:buFont typeface="Calibri"/>
              <a:buNone/>
            </a:pPr>
            <a:endParaRPr sz="1800">
              <a:solidFill>
                <a:srgbClr val="7030A0"/>
              </a:solidFill>
              <a:latin typeface="Calibri"/>
              <a:ea typeface="Calibri"/>
              <a:cs typeface="Calibri"/>
              <a:sym typeface="Calibri"/>
            </a:endParaRPr>
          </a:p>
          <a:p>
            <a:pPr marL="342900" marR="0" lvl="0" indent="-342900" algn="l" rtl="0">
              <a:spcBef>
                <a:spcPts val="0"/>
              </a:spcBef>
              <a:spcAft>
                <a:spcPts val="0"/>
              </a:spcAft>
              <a:buClr>
                <a:srgbClr val="7030A0"/>
              </a:buClr>
              <a:buSzPts val="1800"/>
              <a:buFont typeface="Calibri"/>
              <a:buAutoNum type="arabicPeriod" startAt="6"/>
            </a:pPr>
            <a:r>
              <a:rPr lang="en-US" sz="1800">
                <a:solidFill>
                  <a:srgbClr val="7030A0"/>
                </a:solidFill>
                <a:latin typeface="Calibri"/>
                <a:ea typeface="Calibri"/>
                <a:cs typeface="Calibri"/>
                <a:sym typeface="Calibri"/>
              </a:rPr>
              <a:t>Entrepreneurial Ventures: If you aspire to work on your entrepreneurial projects or start a tech-related business, having full-stack development skills can be advantageous. It allows you to handle the development process from end to end, creating a more self-reliant approach.</a:t>
            </a:r>
            <a:endParaRPr/>
          </a:p>
          <a:p>
            <a:pPr marL="342900" marR="0" lvl="0" indent="-228600" algn="l" rtl="0">
              <a:spcBef>
                <a:spcPts val="0"/>
              </a:spcBef>
              <a:spcAft>
                <a:spcPts val="0"/>
              </a:spcAft>
              <a:buClr>
                <a:schemeClr val="dk1"/>
              </a:buClr>
              <a:buSzPts val="1800"/>
              <a:buFont typeface="Calibri"/>
              <a:buNone/>
            </a:pPr>
            <a:endParaRPr sz="1800">
              <a:solidFill>
                <a:srgbClr val="7030A0"/>
              </a:solidFill>
              <a:latin typeface="Calibri"/>
              <a:ea typeface="Calibri"/>
              <a:cs typeface="Calibri"/>
              <a:sym typeface="Calibri"/>
            </a:endParaRPr>
          </a:p>
          <a:p>
            <a:pPr marL="342900" marR="0" lvl="0" indent="-342900" algn="l" rtl="0">
              <a:spcBef>
                <a:spcPts val="0"/>
              </a:spcBef>
              <a:spcAft>
                <a:spcPts val="0"/>
              </a:spcAft>
              <a:buClr>
                <a:srgbClr val="7030A0"/>
              </a:buClr>
              <a:buSzPts val="1800"/>
              <a:buFont typeface="Calibri"/>
              <a:buAutoNum type="arabicPeriod" startAt="6"/>
            </a:pPr>
            <a:r>
              <a:rPr lang="en-US" sz="1800">
                <a:solidFill>
                  <a:srgbClr val="7030A0"/>
                </a:solidFill>
                <a:latin typeface="Calibri"/>
                <a:ea typeface="Calibri"/>
                <a:cs typeface="Calibri"/>
                <a:sym typeface="Calibri"/>
              </a:rPr>
              <a:t>Demand in the Job Market: There is a growing demand for full-stack developers in the job market. Many organizations value professionals who can contribute to different parts of the development process, making full-stack developers sought after.</a:t>
            </a:r>
            <a:endParaRPr/>
          </a:p>
          <a:p>
            <a:pPr marL="342900" marR="0" lvl="0" indent="-228600" algn="l" rtl="0">
              <a:spcBef>
                <a:spcPts val="0"/>
              </a:spcBef>
              <a:spcAft>
                <a:spcPts val="0"/>
              </a:spcAft>
              <a:buClr>
                <a:schemeClr val="dk1"/>
              </a:buClr>
              <a:buSzPts val="1800"/>
              <a:buFont typeface="Calibri"/>
              <a:buNone/>
            </a:pPr>
            <a:endParaRPr sz="1800">
              <a:solidFill>
                <a:srgbClr val="7030A0"/>
              </a:solidFill>
              <a:latin typeface="Calibri"/>
              <a:ea typeface="Calibri"/>
              <a:cs typeface="Calibri"/>
              <a:sym typeface="Calibri"/>
            </a:endParaRPr>
          </a:p>
          <a:p>
            <a:pPr marL="342900" marR="0" lvl="0" indent="-342900" algn="l" rtl="0">
              <a:spcBef>
                <a:spcPts val="0"/>
              </a:spcBef>
              <a:spcAft>
                <a:spcPts val="0"/>
              </a:spcAft>
              <a:buClr>
                <a:srgbClr val="7030A0"/>
              </a:buClr>
              <a:buSzPts val="1800"/>
              <a:buFont typeface="Calibri"/>
              <a:buAutoNum type="arabicPeriod" startAt="6"/>
            </a:pPr>
            <a:r>
              <a:rPr lang="en-US" sz="1800">
                <a:solidFill>
                  <a:srgbClr val="7030A0"/>
                </a:solidFill>
                <a:latin typeface="Calibri"/>
                <a:ea typeface="Calibri"/>
                <a:cs typeface="Calibri"/>
                <a:sym typeface="Calibri"/>
              </a:rPr>
              <a:t>In conclusion, studying "Enterprise Computing using Full Stack" provides a well-rounded education that prepares individuals to tackle the challenges of building and maintaining complex enterprise applications. It combines technical proficiency with a broad understanding of system architecture, making graduates valuable contributors in the rapidly evolving field of enterprise computing.</a:t>
            </a:r>
            <a:endParaRPr sz="1800">
              <a:solidFill>
                <a:srgbClr val="7030A0"/>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8"/>
          <p:cNvSpPr/>
          <p:nvPr/>
        </p:nvSpPr>
        <p:spPr>
          <a:xfrm>
            <a:off x="0" y="210514"/>
            <a:ext cx="12192000" cy="58169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rgbClr val="00B050"/>
                </a:solidFill>
                <a:latin typeface="Calibri"/>
                <a:ea typeface="Calibri"/>
                <a:cs typeface="Calibri"/>
                <a:sym typeface="Calibri"/>
              </a:rPr>
              <a:t>The terms "Java full stack" and "JavaScript full stack" refer to different technology stacks that are commonly used in full-stack development. Both have their strengths and use cases, and the choice between them often depends on various factors such as project requirements, team expertise, and specific goals. Let's explore each of them</a:t>
            </a: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r>
              <a:rPr lang="en-US" sz="2400">
                <a:solidFill>
                  <a:srgbClr val="C00000"/>
                </a:solidFill>
                <a:latin typeface="Calibri"/>
                <a:ea typeface="Calibri"/>
                <a:cs typeface="Calibri"/>
                <a:sym typeface="Calibri"/>
              </a:rPr>
              <a:t>Java Full Stack:</a:t>
            </a:r>
            <a:endParaRPr/>
          </a:p>
          <a:p>
            <a:pPr marL="342900" marR="0" lvl="0" indent="-342900" algn="l" rtl="0">
              <a:spcBef>
                <a:spcPts val="0"/>
              </a:spcBef>
              <a:spcAft>
                <a:spcPts val="0"/>
              </a:spcAft>
              <a:buClr>
                <a:srgbClr val="C00000"/>
              </a:buClr>
              <a:buSzPts val="1800"/>
              <a:buFont typeface="Calibri"/>
              <a:buAutoNum type="arabicPeriod"/>
            </a:pPr>
            <a:r>
              <a:rPr lang="en-US" sz="1800">
                <a:solidFill>
                  <a:srgbClr val="C00000"/>
                </a:solidFill>
                <a:latin typeface="Calibri"/>
                <a:ea typeface="Calibri"/>
                <a:cs typeface="Calibri"/>
                <a:sym typeface="Calibri"/>
              </a:rPr>
              <a:t>In a Java full-stack development environment, the primary programming language used for both the front-end and back-end development is Java. Here's a breakdown of the typical components in a Java full stack:</a:t>
            </a:r>
            <a:endParaRPr/>
          </a:p>
          <a:p>
            <a:pPr marL="342900" marR="0" lvl="0" indent="-228600" algn="l" rtl="0">
              <a:spcBef>
                <a:spcPts val="0"/>
              </a:spcBef>
              <a:spcAft>
                <a:spcPts val="0"/>
              </a:spcAft>
              <a:buClr>
                <a:schemeClr val="dk1"/>
              </a:buClr>
              <a:buSzPts val="1800"/>
              <a:buFont typeface="Calibri"/>
              <a:buNone/>
            </a:pPr>
            <a:endParaRPr sz="1800">
              <a:solidFill>
                <a:srgbClr val="C00000"/>
              </a:solidFill>
              <a:latin typeface="Calibri"/>
              <a:ea typeface="Calibri"/>
              <a:cs typeface="Calibri"/>
              <a:sym typeface="Calibri"/>
            </a:endParaRPr>
          </a:p>
          <a:p>
            <a:pPr marL="342900" marR="0" lvl="0" indent="-342900" algn="l" rtl="0">
              <a:spcBef>
                <a:spcPts val="0"/>
              </a:spcBef>
              <a:spcAft>
                <a:spcPts val="0"/>
              </a:spcAft>
              <a:buClr>
                <a:srgbClr val="C00000"/>
              </a:buClr>
              <a:buSzPts val="1800"/>
              <a:buFont typeface="Calibri"/>
              <a:buAutoNum type="arabicPeriod"/>
            </a:pPr>
            <a:r>
              <a:rPr lang="en-US" sz="1800">
                <a:solidFill>
                  <a:srgbClr val="C00000"/>
                </a:solidFill>
                <a:latin typeface="Calibri"/>
                <a:ea typeface="Calibri"/>
                <a:cs typeface="Calibri"/>
                <a:sym typeface="Calibri"/>
              </a:rPr>
              <a:t>Front-end (Client-Side): JavaServer Faces (JSF), Thymeleaf, or other Java-based templating engines can be used for building the user interface.</a:t>
            </a:r>
            <a:endParaRPr/>
          </a:p>
          <a:p>
            <a:pPr marL="342900" marR="0" lvl="0" indent="-228600" algn="l" rtl="0">
              <a:spcBef>
                <a:spcPts val="0"/>
              </a:spcBef>
              <a:spcAft>
                <a:spcPts val="0"/>
              </a:spcAft>
              <a:buClr>
                <a:schemeClr val="dk1"/>
              </a:buClr>
              <a:buSzPts val="1800"/>
              <a:buFont typeface="Calibri"/>
              <a:buNone/>
            </a:pPr>
            <a:endParaRPr sz="1800">
              <a:solidFill>
                <a:srgbClr val="C00000"/>
              </a:solidFill>
              <a:latin typeface="Calibri"/>
              <a:ea typeface="Calibri"/>
              <a:cs typeface="Calibri"/>
              <a:sym typeface="Calibri"/>
            </a:endParaRPr>
          </a:p>
          <a:p>
            <a:pPr marL="342900" marR="0" lvl="0" indent="-342900" algn="l" rtl="0">
              <a:spcBef>
                <a:spcPts val="0"/>
              </a:spcBef>
              <a:spcAft>
                <a:spcPts val="0"/>
              </a:spcAft>
              <a:buClr>
                <a:srgbClr val="C00000"/>
              </a:buClr>
              <a:buSzPts val="1800"/>
              <a:buFont typeface="Calibri"/>
              <a:buAutoNum type="arabicPeriod"/>
            </a:pPr>
            <a:r>
              <a:rPr lang="en-US" sz="1800">
                <a:solidFill>
                  <a:srgbClr val="C00000"/>
                </a:solidFill>
                <a:latin typeface="Calibri"/>
                <a:ea typeface="Calibri"/>
                <a:cs typeface="Calibri"/>
                <a:sym typeface="Calibri"/>
              </a:rPr>
              <a:t>Back-end (Server-Side): Java-based frameworks like Spring or Java EE (Enterprise Edition) are commonly used for server-side development. These frameworks provide tools and libraries for building robust and scalable applications.</a:t>
            </a:r>
            <a:endParaRPr/>
          </a:p>
          <a:p>
            <a:pPr marL="342900" marR="0" lvl="0" indent="-228600" algn="l" rtl="0">
              <a:spcBef>
                <a:spcPts val="0"/>
              </a:spcBef>
              <a:spcAft>
                <a:spcPts val="0"/>
              </a:spcAft>
              <a:buClr>
                <a:schemeClr val="dk1"/>
              </a:buClr>
              <a:buSzPts val="1800"/>
              <a:buFont typeface="Calibri"/>
              <a:buNone/>
            </a:pPr>
            <a:endParaRPr sz="1800">
              <a:solidFill>
                <a:srgbClr val="C00000"/>
              </a:solidFill>
              <a:latin typeface="Calibri"/>
              <a:ea typeface="Calibri"/>
              <a:cs typeface="Calibri"/>
              <a:sym typeface="Calibri"/>
            </a:endParaRPr>
          </a:p>
          <a:p>
            <a:pPr marL="342900" marR="0" lvl="0" indent="-342900" algn="l" rtl="0">
              <a:spcBef>
                <a:spcPts val="0"/>
              </a:spcBef>
              <a:spcAft>
                <a:spcPts val="0"/>
              </a:spcAft>
              <a:buClr>
                <a:srgbClr val="C00000"/>
              </a:buClr>
              <a:buSzPts val="1800"/>
              <a:buFont typeface="Calibri"/>
              <a:buAutoNum type="arabicPeriod"/>
            </a:pPr>
            <a:r>
              <a:rPr lang="en-US" sz="1800">
                <a:solidFill>
                  <a:srgbClr val="C00000"/>
                </a:solidFill>
                <a:latin typeface="Calibri"/>
                <a:ea typeface="Calibri"/>
                <a:cs typeface="Calibri"/>
                <a:sym typeface="Calibri"/>
              </a:rPr>
              <a:t>Database: Java applications often interact with relational databases using technologies like Java Database Connectivity (JDBC). Object-relational mapping (ORM) frameworks such as Hibernate may also be used.</a:t>
            </a:r>
            <a:endParaRPr/>
          </a:p>
          <a:p>
            <a:pPr marL="342900" marR="0" lvl="0" indent="-228600" algn="l" rtl="0">
              <a:spcBef>
                <a:spcPts val="0"/>
              </a:spcBef>
              <a:spcAft>
                <a:spcPts val="0"/>
              </a:spcAft>
              <a:buClr>
                <a:schemeClr val="dk1"/>
              </a:buClr>
              <a:buSzPts val="1800"/>
              <a:buFont typeface="Calibri"/>
              <a:buNone/>
            </a:pPr>
            <a:endParaRPr sz="1800">
              <a:solidFill>
                <a:srgbClr val="C00000"/>
              </a:solidFill>
              <a:latin typeface="Calibri"/>
              <a:ea typeface="Calibri"/>
              <a:cs typeface="Calibri"/>
              <a:sym typeface="Calibri"/>
            </a:endParaRPr>
          </a:p>
          <a:p>
            <a:pPr marL="342900" marR="0" lvl="0" indent="-342900" algn="l" rtl="0">
              <a:spcBef>
                <a:spcPts val="0"/>
              </a:spcBef>
              <a:spcAft>
                <a:spcPts val="0"/>
              </a:spcAft>
              <a:buClr>
                <a:srgbClr val="C00000"/>
              </a:buClr>
              <a:buSzPts val="1800"/>
              <a:buFont typeface="Calibri"/>
              <a:buAutoNum type="arabicPeriod"/>
            </a:pPr>
            <a:r>
              <a:rPr lang="en-US" sz="1800">
                <a:solidFill>
                  <a:srgbClr val="C00000"/>
                </a:solidFill>
                <a:latin typeface="Calibri"/>
                <a:ea typeface="Calibri"/>
                <a:cs typeface="Calibri"/>
                <a:sym typeface="Calibri"/>
              </a:rPr>
              <a:t>Middleware: Java applications might use middleware technologies like Apache Tomcat or other application servers to deploy and run applications.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49"/>
          <p:cNvSpPr/>
          <p:nvPr/>
        </p:nvSpPr>
        <p:spPr>
          <a:xfrm>
            <a:off x="0" y="-70507"/>
            <a:ext cx="12028868" cy="686341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a:solidFill>
                  <a:srgbClr val="FF0000"/>
                </a:solidFill>
                <a:latin typeface="Calibri"/>
                <a:ea typeface="Calibri"/>
                <a:cs typeface="Calibri"/>
                <a:sym typeface="Calibri"/>
              </a:rPr>
              <a:t>JavaScript Full Stack:</a:t>
            </a:r>
            <a:endParaRPr/>
          </a:p>
          <a:p>
            <a:pPr marL="285750" marR="0" lvl="0" indent="-285750" algn="l" rtl="0">
              <a:spcBef>
                <a:spcPts val="0"/>
              </a:spcBef>
              <a:spcAft>
                <a:spcPts val="0"/>
              </a:spcAft>
              <a:buClr>
                <a:srgbClr val="002060"/>
              </a:buClr>
              <a:buSzPts val="2400"/>
              <a:buFont typeface="Arial"/>
              <a:buChar char="•"/>
            </a:pPr>
            <a:r>
              <a:rPr lang="en-US" sz="2400">
                <a:solidFill>
                  <a:srgbClr val="002060"/>
                </a:solidFill>
                <a:latin typeface="Calibri"/>
                <a:ea typeface="Calibri"/>
                <a:cs typeface="Calibri"/>
                <a:sym typeface="Calibri"/>
              </a:rPr>
              <a:t>In a JavaScript full-stack development environment, JavaScript is the primary programming language used for both front-end and back-end development. Here's a breakdown of the typical components in a JavaScript full stack:</a:t>
            </a:r>
            <a:endParaRPr/>
          </a:p>
          <a:p>
            <a:pPr marL="285750" marR="0" lvl="0" indent="-133350" algn="l" rtl="0">
              <a:spcBef>
                <a:spcPts val="0"/>
              </a:spcBef>
              <a:spcAft>
                <a:spcPts val="0"/>
              </a:spcAft>
              <a:buClr>
                <a:schemeClr val="dk1"/>
              </a:buClr>
              <a:buSzPts val="2400"/>
              <a:buFont typeface="Arial"/>
              <a:buNone/>
            </a:pPr>
            <a:endParaRPr sz="2400">
              <a:solidFill>
                <a:srgbClr val="002060"/>
              </a:solidFill>
              <a:latin typeface="Calibri"/>
              <a:ea typeface="Calibri"/>
              <a:cs typeface="Calibri"/>
              <a:sym typeface="Calibri"/>
            </a:endParaRPr>
          </a:p>
          <a:p>
            <a:pPr marL="285750" marR="0" lvl="0" indent="-285750" algn="l" rtl="0">
              <a:spcBef>
                <a:spcPts val="0"/>
              </a:spcBef>
              <a:spcAft>
                <a:spcPts val="0"/>
              </a:spcAft>
              <a:buClr>
                <a:srgbClr val="002060"/>
              </a:buClr>
              <a:buSzPts val="2400"/>
              <a:buFont typeface="Arial"/>
              <a:buChar char="•"/>
            </a:pPr>
            <a:r>
              <a:rPr lang="en-US" sz="2400">
                <a:solidFill>
                  <a:srgbClr val="002060"/>
                </a:solidFill>
                <a:latin typeface="Calibri"/>
                <a:ea typeface="Calibri"/>
                <a:cs typeface="Calibri"/>
                <a:sym typeface="Calibri"/>
              </a:rPr>
              <a:t>Front-end (Client-Side): JavaScript is used along with HTML and CSS to build interactive and dynamic user interfaces. Popular front-end frameworks/libraries include React, Angular, or Vue.js.</a:t>
            </a:r>
            <a:endParaRPr/>
          </a:p>
          <a:p>
            <a:pPr marL="285750" marR="0" lvl="0" indent="-133350" algn="l" rtl="0">
              <a:spcBef>
                <a:spcPts val="0"/>
              </a:spcBef>
              <a:spcAft>
                <a:spcPts val="0"/>
              </a:spcAft>
              <a:buClr>
                <a:schemeClr val="dk1"/>
              </a:buClr>
              <a:buSzPts val="2400"/>
              <a:buFont typeface="Arial"/>
              <a:buNone/>
            </a:pPr>
            <a:endParaRPr sz="2400">
              <a:solidFill>
                <a:srgbClr val="002060"/>
              </a:solidFill>
              <a:latin typeface="Calibri"/>
              <a:ea typeface="Calibri"/>
              <a:cs typeface="Calibri"/>
              <a:sym typeface="Calibri"/>
            </a:endParaRPr>
          </a:p>
          <a:p>
            <a:pPr marL="285750" marR="0" lvl="0" indent="-285750" algn="l" rtl="0">
              <a:spcBef>
                <a:spcPts val="0"/>
              </a:spcBef>
              <a:spcAft>
                <a:spcPts val="0"/>
              </a:spcAft>
              <a:buClr>
                <a:srgbClr val="002060"/>
              </a:buClr>
              <a:buSzPts val="2400"/>
              <a:buFont typeface="Arial"/>
              <a:buChar char="•"/>
            </a:pPr>
            <a:r>
              <a:rPr lang="en-US" sz="2400">
                <a:solidFill>
                  <a:srgbClr val="002060"/>
                </a:solidFill>
                <a:latin typeface="Calibri"/>
                <a:ea typeface="Calibri"/>
                <a:cs typeface="Calibri"/>
                <a:sym typeface="Calibri"/>
              </a:rPr>
              <a:t>Back-end (Server-Side): JavaScript is used for server-side development with the help of Node.js. Express.js is a popular web application framework for building server-side applications with Node.js.</a:t>
            </a:r>
            <a:endParaRPr/>
          </a:p>
          <a:p>
            <a:pPr marL="285750" marR="0" lvl="0" indent="-133350" algn="l" rtl="0">
              <a:spcBef>
                <a:spcPts val="0"/>
              </a:spcBef>
              <a:spcAft>
                <a:spcPts val="0"/>
              </a:spcAft>
              <a:buClr>
                <a:schemeClr val="dk1"/>
              </a:buClr>
              <a:buSzPts val="2400"/>
              <a:buFont typeface="Arial"/>
              <a:buNone/>
            </a:pPr>
            <a:endParaRPr sz="2400">
              <a:solidFill>
                <a:srgbClr val="002060"/>
              </a:solidFill>
              <a:latin typeface="Calibri"/>
              <a:ea typeface="Calibri"/>
              <a:cs typeface="Calibri"/>
              <a:sym typeface="Calibri"/>
            </a:endParaRPr>
          </a:p>
          <a:p>
            <a:pPr marL="285750" marR="0" lvl="0" indent="-285750" algn="l" rtl="0">
              <a:spcBef>
                <a:spcPts val="0"/>
              </a:spcBef>
              <a:spcAft>
                <a:spcPts val="0"/>
              </a:spcAft>
              <a:buClr>
                <a:srgbClr val="002060"/>
              </a:buClr>
              <a:buSzPts val="2400"/>
              <a:buFont typeface="Arial"/>
              <a:buChar char="•"/>
            </a:pPr>
            <a:r>
              <a:rPr lang="en-US" sz="2400">
                <a:solidFill>
                  <a:srgbClr val="002060"/>
                </a:solidFill>
                <a:latin typeface="Calibri"/>
                <a:ea typeface="Calibri"/>
                <a:cs typeface="Calibri"/>
                <a:sym typeface="Calibri"/>
              </a:rPr>
              <a:t>Database: JavaScript applications can interact with various databases, both SQL and NoSQL. MongoDB, a NoSQL database, is commonly used in JavaScript full-stack development.</a:t>
            </a:r>
            <a:endParaRPr/>
          </a:p>
          <a:p>
            <a:pPr marL="285750" marR="0" lvl="0" indent="-133350" algn="l" rtl="0">
              <a:spcBef>
                <a:spcPts val="0"/>
              </a:spcBef>
              <a:spcAft>
                <a:spcPts val="0"/>
              </a:spcAft>
              <a:buClr>
                <a:schemeClr val="dk1"/>
              </a:buClr>
              <a:buSzPts val="2400"/>
              <a:buFont typeface="Arial"/>
              <a:buNone/>
            </a:pPr>
            <a:endParaRPr sz="2400">
              <a:solidFill>
                <a:srgbClr val="002060"/>
              </a:solidFill>
              <a:latin typeface="Calibri"/>
              <a:ea typeface="Calibri"/>
              <a:cs typeface="Calibri"/>
              <a:sym typeface="Calibri"/>
            </a:endParaRPr>
          </a:p>
          <a:p>
            <a:pPr marL="285750" marR="0" lvl="0" indent="-285750" algn="l" rtl="0">
              <a:spcBef>
                <a:spcPts val="0"/>
              </a:spcBef>
              <a:spcAft>
                <a:spcPts val="0"/>
              </a:spcAft>
              <a:buClr>
                <a:srgbClr val="002060"/>
              </a:buClr>
              <a:buSzPts val="2400"/>
              <a:buFont typeface="Arial"/>
              <a:buChar char="•"/>
            </a:pPr>
            <a:r>
              <a:rPr lang="en-US" sz="2400">
                <a:solidFill>
                  <a:srgbClr val="002060"/>
                </a:solidFill>
                <a:latin typeface="Calibri"/>
                <a:ea typeface="Calibri"/>
                <a:cs typeface="Calibri"/>
                <a:sym typeface="Calibri"/>
              </a:rPr>
              <a:t>Middleware: Node.js itself serves as middleware in JavaScript full-stack applications. It allows developers to build scalable network applications and handle concurrent connections.</a:t>
            </a:r>
            <a:endParaRPr sz="2400">
              <a:solidFill>
                <a:srgbClr val="002060"/>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50"/>
          <p:cNvSpPr/>
          <p:nvPr/>
        </p:nvSpPr>
        <p:spPr>
          <a:xfrm>
            <a:off x="0" y="244699"/>
            <a:ext cx="12192000" cy="50783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600">
                <a:solidFill>
                  <a:srgbClr val="C00000"/>
                </a:solidFill>
                <a:latin typeface="Calibri"/>
                <a:ea typeface="Calibri"/>
                <a:cs typeface="Calibri"/>
                <a:sym typeface="Calibri"/>
              </a:rPr>
              <a:t>Considerations which Full Stack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342900" marR="0" lvl="0" indent="-342900" algn="l" rtl="0">
              <a:spcBef>
                <a:spcPts val="0"/>
              </a:spcBef>
              <a:spcAft>
                <a:spcPts val="0"/>
              </a:spcAft>
              <a:buClr>
                <a:srgbClr val="C00000"/>
              </a:buClr>
              <a:buSzPts val="1800"/>
              <a:buFont typeface="Calibri"/>
              <a:buAutoNum type="arabicPeriod"/>
            </a:pPr>
            <a:r>
              <a:rPr lang="en-US" sz="1800">
                <a:solidFill>
                  <a:srgbClr val="C00000"/>
                </a:solidFill>
                <a:latin typeface="Calibri"/>
                <a:ea typeface="Calibri"/>
                <a:cs typeface="Calibri"/>
                <a:sym typeface="Calibri"/>
              </a:rPr>
              <a:t>Language Consistency: If consistency in programming language is a priority, Java full stack might be preferred since it uses Java for both front-end and back-end. In contrast, JavaScript full stack uses JavaScript on both ends.</a:t>
            </a:r>
            <a:endParaRPr/>
          </a:p>
          <a:p>
            <a:pPr marL="342900" marR="0" lvl="0" indent="-228600" algn="l" rtl="0">
              <a:spcBef>
                <a:spcPts val="0"/>
              </a:spcBef>
              <a:spcAft>
                <a:spcPts val="0"/>
              </a:spcAft>
              <a:buClr>
                <a:schemeClr val="dk1"/>
              </a:buClr>
              <a:buSzPts val="1800"/>
              <a:buFont typeface="Calibri"/>
              <a:buNone/>
            </a:pPr>
            <a:endParaRPr sz="1800">
              <a:solidFill>
                <a:srgbClr val="C00000"/>
              </a:solidFill>
              <a:latin typeface="Calibri"/>
              <a:ea typeface="Calibri"/>
              <a:cs typeface="Calibri"/>
              <a:sym typeface="Calibri"/>
            </a:endParaRPr>
          </a:p>
          <a:p>
            <a:pPr marL="342900" marR="0" lvl="0" indent="-342900" algn="l" rtl="0">
              <a:spcBef>
                <a:spcPts val="0"/>
              </a:spcBef>
              <a:spcAft>
                <a:spcPts val="0"/>
              </a:spcAft>
              <a:buClr>
                <a:srgbClr val="C00000"/>
              </a:buClr>
              <a:buSzPts val="1800"/>
              <a:buFont typeface="Calibri"/>
              <a:buAutoNum type="arabicPeriod"/>
            </a:pPr>
            <a:r>
              <a:rPr lang="en-US" sz="1800">
                <a:solidFill>
                  <a:srgbClr val="C00000"/>
                </a:solidFill>
                <a:latin typeface="Calibri"/>
                <a:ea typeface="Calibri"/>
                <a:cs typeface="Calibri"/>
                <a:sym typeface="Calibri"/>
              </a:rPr>
              <a:t>Ecosystem and Frameworks: Consider the ecosystems and frameworks associated with each stack. Java has a long-established ecosystem with frameworks like Spring, while JavaScript has a dynamic ecosystem with Node.js and various front-end frameworks.</a:t>
            </a:r>
            <a:endParaRPr/>
          </a:p>
          <a:p>
            <a:pPr marL="342900" marR="0" lvl="0" indent="-228600" algn="l" rtl="0">
              <a:spcBef>
                <a:spcPts val="0"/>
              </a:spcBef>
              <a:spcAft>
                <a:spcPts val="0"/>
              </a:spcAft>
              <a:buClr>
                <a:schemeClr val="dk1"/>
              </a:buClr>
              <a:buSzPts val="1800"/>
              <a:buFont typeface="Calibri"/>
              <a:buNone/>
            </a:pPr>
            <a:endParaRPr sz="1800">
              <a:solidFill>
                <a:srgbClr val="C00000"/>
              </a:solidFill>
              <a:latin typeface="Calibri"/>
              <a:ea typeface="Calibri"/>
              <a:cs typeface="Calibri"/>
              <a:sym typeface="Calibri"/>
            </a:endParaRPr>
          </a:p>
          <a:p>
            <a:pPr marL="342900" marR="0" lvl="0" indent="-342900" algn="l" rtl="0">
              <a:spcBef>
                <a:spcPts val="0"/>
              </a:spcBef>
              <a:spcAft>
                <a:spcPts val="0"/>
              </a:spcAft>
              <a:buClr>
                <a:srgbClr val="C00000"/>
              </a:buClr>
              <a:buSzPts val="1800"/>
              <a:buFont typeface="Calibri"/>
              <a:buAutoNum type="arabicPeriod"/>
            </a:pPr>
            <a:r>
              <a:rPr lang="en-US" sz="1800">
                <a:solidFill>
                  <a:srgbClr val="C00000"/>
                </a:solidFill>
                <a:latin typeface="Calibri"/>
                <a:ea typeface="Calibri"/>
                <a:cs typeface="Calibri"/>
                <a:sym typeface="Calibri"/>
              </a:rPr>
              <a:t>Community and Support: Both Java and JavaScript have large and active communities. Consider the community support, resources, and third-party libraries available for each stack.</a:t>
            </a:r>
            <a:endParaRPr/>
          </a:p>
          <a:p>
            <a:pPr marL="342900" marR="0" lvl="0" indent="-228600" algn="l" rtl="0">
              <a:spcBef>
                <a:spcPts val="0"/>
              </a:spcBef>
              <a:spcAft>
                <a:spcPts val="0"/>
              </a:spcAft>
              <a:buClr>
                <a:schemeClr val="dk1"/>
              </a:buClr>
              <a:buSzPts val="1800"/>
              <a:buFont typeface="Calibri"/>
              <a:buNone/>
            </a:pPr>
            <a:endParaRPr sz="1800">
              <a:solidFill>
                <a:srgbClr val="C00000"/>
              </a:solidFill>
              <a:latin typeface="Calibri"/>
              <a:ea typeface="Calibri"/>
              <a:cs typeface="Calibri"/>
              <a:sym typeface="Calibri"/>
            </a:endParaRPr>
          </a:p>
          <a:p>
            <a:pPr marL="342900" marR="0" lvl="0" indent="-342900" algn="l" rtl="0">
              <a:spcBef>
                <a:spcPts val="0"/>
              </a:spcBef>
              <a:spcAft>
                <a:spcPts val="0"/>
              </a:spcAft>
              <a:buClr>
                <a:srgbClr val="C00000"/>
              </a:buClr>
              <a:buSzPts val="1800"/>
              <a:buFont typeface="Calibri"/>
              <a:buAutoNum type="arabicPeriod"/>
            </a:pPr>
            <a:r>
              <a:rPr lang="en-US" sz="1800">
                <a:solidFill>
                  <a:srgbClr val="C00000"/>
                </a:solidFill>
                <a:latin typeface="Calibri"/>
                <a:ea typeface="Calibri"/>
                <a:cs typeface="Calibri"/>
                <a:sym typeface="Calibri"/>
              </a:rPr>
              <a:t>Scalability and Performance: Both stacks can be used to build scalable and high-performance applications. Consider specific requirements and benchmarks for your project.</a:t>
            </a:r>
            <a:endParaRPr/>
          </a:p>
          <a:p>
            <a:pPr marL="342900" marR="0" lvl="0" indent="-228600" algn="l" rtl="0">
              <a:spcBef>
                <a:spcPts val="0"/>
              </a:spcBef>
              <a:spcAft>
                <a:spcPts val="0"/>
              </a:spcAft>
              <a:buClr>
                <a:schemeClr val="dk1"/>
              </a:buClr>
              <a:buSzPts val="1800"/>
              <a:buFont typeface="Calibri"/>
              <a:buNone/>
            </a:pPr>
            <a:endParaRPr sz="1800">
              <a:solidFill>
                <a:srgbClr val="C00000"/>
              </a:solidFill>
              <a:latin typeface="Calibri"/>
              <a:ea typeface="Calibri"/>
              <a:cs typeface="Calibri"/>
              <a:sym typeface="Calibri"/>
            </a:endParaRPr>
          </a:p>
          <a:p>
            <a:pPr marL="342900" marR="0" lvl="0" indent="-342900" algn="l" rtl="0">
              <a:spcBef>
                <a:spcPts val="0"/>
              </a:spcBef>
              <a:spcAft>
                <a:spcPts val="0"/>
              </a:spcAft>
              <a:buClr>
                <a:srgbClr val="C00000"/>
              </a:buClr>
              <a:buSzPts val="1800"/>
              <a:buFont typeface="Calibri"/>
              <a:buAutoNum type="arabicPeriod"/>
            </a:pPr>
            <a:r>
              <a:rPr lang="en-US" sz="1800">
                <a:solidFill>
                  <a:srgbClr val="C00000"/>
                </a:solidFill>
                <a:latin typeface="Calibri"/>
                <a:ea typeface="Calibri"/>
                <a:cs typeface="Calibri"/>
                <a:sym typeface="Calibri"/>
              </a:rPr>
              <a:t>Ultimately, the choice between Java full stack and JavaScript full stack depends on your team's expertise, project requirements, and other factors specific to your development environment.</a:t>
            </a:r>
            <a:endParaRPr sz="1800">
              <a:solidFill>
                <a:srgbClr val="C00000"/>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51"/>
          <p:cNvSpPr/>
          <p:nvPr/>
        </p:nvSpPr>
        <p:spPr>
          <a:xfrm>
            <a:off x="0" y="0"/>
            <a:ext cx="12192000" cy="646330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Comparing Java Full Stack and JavaScript Full Stack involves looking at the languages, frameworks, ecosystems, and typical development stacks associated with each. Both Java and JavaScript are versatile and widely used in full-stack development, but they have some differences in terms of technology stacks and approaches. Here's a comparison between Java Full Stack and JavaScript Full Stack:</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rgbClr val="C00000"/>
                </a:solidFill>
                <a:latin typeface="Calibri"/>
                <a:ea typeface="Calibri"/>
                <a:cs typeface="Calibri"/>
                <a:sym typeface="Calibri"/>
              </a:rPr>
              <a:t>Java Full Stack:</a:t>
            </a:r>
            <a:endParaRPr/>
          </a:p>
          <a:p>
            <a:pPr marL="0" marR="0" lvl="0" indent="0" algn="l" rtl="0">
              <a:spcBef>
                <a:spcPts val="0"/>
              </a:spcBef>
              <a:spcAft>
                <a:spcPts val="0"/>
              </a:spcAft>
              <a:buNone/>
            </a:pPr>
            <a:endParaRPr sz="1800">
              <a:solidFill>
                <a:srgbClr val="C00000"/>
              </a:solidFill>
              <a:latin typeface="Calibri"/>
              <a:ea typeface="Calibri"/>
              <a:cs typeface="Calibri"/>
              <a:sym typeface="Calibri"/>
            </a:endParaRPr>
          </a:p>
          <a:p>
            <a:pPr marL="0" marR="0" lvl="0" indent="0" algn="l" rtl="0">
              <a:spcBef>
                <a:spcPts val="0"/>
              </a:spcBef>
              <a:spcAft>
                <a:spcPts val="0"/>
              </a:spcAft>
              <a:buNone/>
            </a:pPr>
            <a:r>
              <a:rPr lang="en-US" sz="1800">
                <a:solidFill>
                  <a:srgbClr val="C00000"/>
                </a:solidFill>
                <a:latin typeface="Calibri"/>
                <a:ea typeface="Calibri"/>
                <a:cs typeface="Calibri"/>
                <a:sym typeface="Calibri"/>
              </a:rPr>
              <a:t>Backend:</a:t>
            </a:r>
            <a:endParaRPr/>
          </a:p>
          <a:p>
            <a:pPr marL="285750" marR="0" lvl="0" indent="-285750" algn="l" rtl="0">
              <a:spcBef>
                <a:spcPts val="0"/>
              </a:spcBef>
              <a:spcAft>
                <a:spcPts val="0"/>
              </a:spcAft>
              <a:buClr>
                <a:srgbClr val="C00000"/>
              </a:buClr>
              <a:buSzPts val="1800"/>
              <a:buFont typeface="Arial"/>
              <a:buChar char="•"/>
            </a:pPr>
            <a:r>
              <a:rPr lang="en-US" sz="1800">
                <a:solidFill>
                  <a:srgbClr val="C00000"/>
                </a:solidFill>
                <a:latin typeface="Calibri"/>
                <a:ea typeface="Calibri"/>
                <a:cs typeface="Calibri"/>
                <a:sym typeface="Calibri"/>
              </a:rPr>
              <a:t>Language: Java</a:t>
            </a:r>
            <a:endParaRPr/>
          </a:p>
          <a:p>
            <a:pPr marL="285750" marR="0" lvl="0" indent="-285750" algn="l" rtl="0">
              <a:spcBef>
                <a:spcPts val="0"/>
              </a:spcBef>
              <a:spcAft>
                <a:spcPts val="0"/>
              </a:spcAft>
              <a:buClr>
                <a:srgbClr val="C00000"/>
              </a:buClr>
              <a:buSzPts val="1800"/>
              <a:buFont typeface="Arial"/>
              <a:buChar char="•"/>
            </a:pPr>
            <a:r>
              <a:rPr lang="en-US" sz="1800">
                <a:solidFill>
                  <a:srgbClr val="C00000"/>
                </a:solidFill>
                <a:latin typeface="Calibri"/>
                <a:ea typeface="Calibri"/>
                <a:cs typeface="Calibri"/>
                <a:sym typeface="Calibri"/>
              </a:rPr>
              <a:t>Frameworks: Spring (Spring Boot, Spring MVC), JavaServer Faces (JSF), Play Framework</a:t>
            </a:r>
            <a:endParaRPr/>
          </a:p>
          <a:p>
            <a:pPr marL="285750" marR="0" lvl="0" indent="-285750" algn="l" rtl="0">
              <a:spcBef>
                <a:spcPts val="0"/>
              </a:spcBef>
              <a:spcAft>
                <a:spcPts val="0"/>
              </a:spcAft>
              <a:buClr>
                <a:srgbClr val="C00000"/>
              </a:buClr>
              <a:buSzPts val="1800"/>
              <a:buFont typeface="Arial"/>
              <a:buChar char="•"/>
            </a:pPr>
            <a:r>
              <a:rPr lang="en-US" sz="1800">
                <a:solidFill>
                  <a:srgbClr val="C00000"/>
                </a:solidFill>
                <a:latin typeface="Calibri"/>
                <a:ea typeface="Calibri"/>
                <a:cs typeface="Calibri"/>
                <a:sym typeface="Calibri"/>
              </a:rPr>
              <a:t>Database: JDBC, Hibernate (ORM)</a:t>
            </a:r>
            <a:endParaRPr/>
          </a:p>
          <a:p>
            <a:pPr marL="285750" marR="0" lvl="0" indent="-285750" algn="l" rtl="0">
              <a:spcBef>
                <a:spcPts val="0"/>
              </a:spcBef>
              <a:spcAft>
                <a:spcPts val="0"/>
              </a:spcAft>
              <a:buClr>
                <a:srgbClr val="C00000"/>
              </a:buClr>
              <a:buSzPts val="1800"/>
              <a:buFont typeface="Arial"/>
              <a:buChar char="•"/>
            </a:pPr>
            <a:r>
              <a:rPr lang="en-US" sz="1800">
                <a:solidFill>
                  <a:srgbClr val="C00000"/>
                </a:solidFill>
                <a:latin typeface="Calibri"/>
                <a:ea typeface="Calibri"/>
                <a:cs typeface="Calibri"/>
                <a:sym typeface="Calibri"/>
              </a:rPr>
              <a:t>Build Tools: Maven, Gradle</a:t>
            </a:r>
            <a:endParaRPr sz="1800">
              <a:solidFill>
                <a:srgbClr val="C00000"/>
              </a:solidFill>
              <a:latin typeface="Calibri"/>
              <a:ea typeface="Calibri"/>
              <a:cs typeface="Calibri"/>
              <a:sym typeface="Calibri"/>
            </a:endParaRPr>
          </a:p>
          <a:p>
            <a:pPr marL="285750" marR="0" lvl="0" indent="-285750" algn="l" rtl="0">
              <a:spcBef>
                <a:spcPts val="0"/>
              </a:spcBef>
              <a:spcAft>
                <a:spcPts val="0"/>
              </a:spcAft>
              <a:buClr>
                <a:srgbClr val="C00000"/>
              </a:buClr>
              <a:buSzPts val="1800"/>
              <a:buFont typeface="Arial"/>
              <a:buChar char="•"/>
            </a:pPr>
            <a:r>
              <a:rPr lang="en-US" sz="1800">
                <a:solidFill>
                  <a:srgbClr val="C00000"/>
                </a:solidFill>
                <a:latin typeface="Calibri"/>
                <a:ea typeface="Calibri"/>
                <a:cs typeface="Calibri"/>
                <a:sym typeface="Calibri"/>
              </a:rPr>
              <a:t>Server: Apache Tomcat, Jetty</a:t>
            </a:r>
            <a:endParaRPr/>
          </a:p>
          <a:p>
            <a:pPr marL="0" marR="0" lvl="0" indent="0" algn="l" rtl="0">
              <a:spcBef>
                <a:spcPts val="0"/>
              </a:spcBef>
              <a:spcAft>
                <a:spcPts val="0"/>
              </a:spcAft>
              <a:buNone/>
            </a:pPr>
            <a:endParaRPr sz="1800">
              <a:solidFill>
                <a:srgbClr val="C00000"/>
              </a:solidFill>
              <a:latin typeface="Calibri"/>
              <a:ea typeface="Calibri"/>
              <a:cs typeface="Calibri"/>
              <a:sym typeface="Calibri"/>
            </a:endParaRPr>
          </a:p>
          <a:p>
            <a:pPr marL="0" marR="0" lvl="0" indent="0" algn="l" rtl="0">
              <a:spcBef>
                <a:spcPts val="0"/>
              </a:spcBef>
              <a:spcAft>
                <a:spcPts val="0"/>
              </a:spcAft>
              <a:buNone/>
            </a:pPr>
            <a:r>
              <a:rPr lang="en-US" sz="1800">
                <a:solidFill>
                  <a:srgbClr val="C00000"/>
                </a:solidFill>
                <a:latin typeface="Calibri"/>
                <a:ea typeface="Calibri"/>
                <a:cs typeface="Calibri"/>
                <a:sym typeface="Calibri"/>
              </a:rPr>
              <a:t>Frontend:</a:t>
            </a:r>
            <a:endParaRPr/>
          </a:p>
          <a:p>
            <a:pPr marL="285750" marR="0" lvl="0" indent="-285750" algn="l" rtl="0">
              <a:spcBef>
                <a:spcPts val="0"/>
              </a:spcBef>
              <a:spcAft>
                <a:spcPts val="0"/>
              </a:spcAft>
              <a:buClr>
                <a:srgbClr val="C00000"/>
              </a:buClr>
              <a:buSzPts val="1800"/>
              <a:buFont typeface="Arial"/>
              <a:buChar char="•"/>
            </a:pPr>
            <a:r>
              <a:rPr lang="en-US" sz="1800">
                <a:solidFill>
                  <a:srgbClr val="C00000"/>
                </a:solidFill>
                <a:latin typeface="Calibri"/>
                <a:ea typeface="Calibri"/>
                <a:cs typeface="Calibri"/>
                <a:sym typeface="Calibri"/>
              </a:rPr>
              <a:t>Languages: HTML, CSS, JavaScript (often with Java-generated content)</a:t>
            </a:r>
            <a:endParaRPr/>
          </a:p>
          <a:p>
            <a:pPr marL="285750" marR="0" lvl="0" indent="-285750" algn="l" rtl="0">
              <a:spcBef>
                <a:spcPts val="0"/>
              </a:spcBef>
              <a:spcAft>
                <a:spcPts val="0"/>
              </a:spcAft>
              <a:buClr>
                <a:srgbClr val="C00000"/>
              </a:buClr>
              <a:buSzPts val="1800"/>
              <a:buFont typeface="Arial"/>
              <a:buChar char="•"/>
            </a:pPr>
            <a:r>
              <a:rPr lang="en-US" sz="1800">
                <a:solidFill>
                  <a:srgbClr val="C00000"/>
                </a:solidFill>
                <a:latin typeface="Calibri"/>
                <a:ea typeface="Calibri"/>
                <a:cs typeface="Calibri"/>
                <a:sym typeface="Calibri"/>
              </a:rPr>
              <a:t>Frameworks: JavaServer Faces (JSF) for server-side rendering, Thymeleaf</a:t>
            </a:r>
            <a:endParaRPr sz="1800">
              <a:solidFill>
                <a:srgbClr val="C00000"/>
              </a:solidFill>
              <a:latin typeface="Calibri"/>
              <a:ea typeface="Calibri"/>
              <a:cs typeface="Calibri"/>
              <a:sym typeface="Calibri"/>
            </a:endParaRPr>
          </a:p>
          <a:p>
            <a:pPr marL="285750" marR="0" lvl="0" indent="-285750" algn="l" rtl="0">
              <a:spcBef>
                <a:spcPts val="0"/>
              </a:spcBef>
              <a:spcAft>
                <a:spcPts val="0"/>
              </a:spcAft>
              <a:buClr>
                <a:srgbClr val="C00000"/>
              </a:buClr>
              <a:buSzPts val="1800"/>
              <a:buFont typeface="Arial"/>
              <a:buChar char="•"/>
            </a:pPr>
            <a:r>
              <a:rPr lang="en-US" sz="1800">
                <a:solidFill>
                  <a:srgbClr val="C00000"/>
                </a:solidFill>
                <a:latin typeface="Calibri"/>
                <a:ea typeface="Calibri"/>
                <a:cs typeface="Calibri"/>
                <a:sym typeface="Calibri"/>
              </a:rPr>
              <a:t>AJAX Libraries: jQuery</a:t>
            </a:r>
            <a:endParaRPr sz="1800">
              <a:solidFill>
                <a:srgbClr val="C00000"/>
              </a:solidFill>
              <a:latin typeface="Calibri"/>
              <a:ea typeface="Calibri"/>
              <a:cs typeface="Calibri"/>
              <a:sym typeface="Calibri"/>
            </a:endParaRPr>
          </a:p>
          <a:p>
            <a:pPr marL="285750" marR="0" lvl="0" indent="-285750" algn="l" rtl="0">
              <a:spcBef>
                <a:spcPts val="0"/>
              </a:spcBef>
              <a:spcAft>
                <a:spcPts val="0"/>
              </a:spcAft>
              <a:buClr>
                <a:srgbClr val="C00000"/>
              </a:buClr>
              <a:buSzPts val="1800"/>
              <a:buFont typeface="Arial"/>
              <a:buChar char="•"/>
            </a:pPr>
            <a:r>
              <a:rPr lang="en-US" sz="1800">
                <a:solidFill>
                  <a:srgbClr val="C00000"/>
                </a:solidFill>
                <a:latin typeface="Calibri"/>
                <a:ea typeface="Calibri"/>
                <a:cs typeface="Calibri"/>
                <a:sym typeface="Calibri"/>
              </a:rPr>
              <a:t>Build Tools: Maven, Gradle</a:t>
            </a:r>
            <a:endParaRPr sz="1800">
              <a:solidFill>
                <a:srgbClr val="C00000"/>
              </a:solidFill>
              <a:latin typeface="Calibri"/>
              <a:ea typeface="Calibri"/>
              <a:cs typeface="Calibri"/>
              <a:sym typeface="Calibri"/>
            </a:endParaRPr>
          </a:p>
          <a:p>
            <a:pPr marL="0" marR="0" lvl="0" indent="0" algn="l" rtl="0">
              <a:spcBef>
                <a:spcPts val="0"/>
              </a:spcBef>
              <a:spcAft>
                <a:spcPts val="0"/>
              </a:spcAft>
              <a:buNone/>
            </a:pPr>
            <a:endParaRPr sz="1800">
              <a:solidFill>
                <a:srgbClr val="C00000"/>
              </a:solidFill>
              <a:latin typeface="Calibri"/>
              <a:ea typeface="Calibri"/>
              <a:cs typeface="Calibri"/>
              <a:sym typeface="Calibri"/>
            </a:endParaRPr>
          </a:p>
          <a:p>
            <a:pPr marL="0" marR="0" lvl="0" indent="0" algn="l" rtl="0">
              <a:spcBef>
                <a:spcPts val="0"/>
              </a:spcBef>
              <a:spcAft>
                <a:spcPts val="0"/>
              </a:spcAft>
              <a:buNone/>
            </a:pPr>
            <a:r>
              <a:rPr lang="en-US" sz="1800">
                <a:solidFill>
                  <a:srgbClr val="C00000"/>
                </a:solidFill>
                <a:latin typeface="Calibri"/>
                <a:ea typeface="Calibri"/>
                <a:cs typeface="Calibri"/>
                <a:sym typeface="Calibri"/>
              </a:rPr>
              <a:t>Full-Stack Frameworks:</a:t>
            </a:r>
            <a:endParaRPr/>
          </a:p>
          <a:p>
            <a:pPr marL="285750" marR="0" lvl="0" indent="-285750" algn="l" rtl="0">
              <a:spcBef>
                <a:spcPts val="0"/>
              </a:spcBef>
              <a:spcAft>
                <a:spcPts val="0"/>
              </a:spcAft>
              <a:buClr>
                <a:srgbClr val="C00000"/>
              </a:buClr>
              <a:buSzPts val="1800"/>
              <a:buFont typeface="Arial"/>
              <a:buChar char="•"/>
            </a:pPr>
            <a:r>
              <a:rPr lang="en-US" sz="1800">
                <a:solidFill>
                  <a:srgbClr val="C00000"/>
                </a:solidFill>
                <a:latin typeface="Calibri"/>
                <a:ea typeface="Calibri"/>
                <a:cs typeface="Calibri"/>
                <a:sym typeface="Calibri"/>
              </a:rPr>
              <a:t>Spring Boot: A popular choice for building Java-based microservices and web applications.</a:t>
            </a:r>
            <a:endParaRPr/>
          </a:p>
          <a:p>
            <a:pPr marL="285750" marR="0" lvl="0" indent="-285750" algn="l" rtl="0">
              <a:spcBef>
                <a:spcPts val="0"/>
              </a:spcBef>
              <a:spcAft>
                <a:spcPts val="0"/>
              </a:spcAft>
              <a:buClr>
                <a:srgbClr val="C00000"/>
              </a:buClr>
              <a:buSzPts val="1800"/>
              <a:buFont typeface="Arial"/>
              <a:buChar char="•"/>
            </a:pPr>
            <a:r>
              <a:rPr lang="en-US" sz="1800">
                <a:solidFill>
                  <a:srgbClr val="C00000"/>
                </a:solidFill>
                <a:latin typeface="Calibri"/>
                <a:ea typeface="Calibri"/>
                <a:cs typeface="Calibri"/>
                <a:sym typeface="Calibri"/>
              </a:rPr>
              <a:t>Play Framework: A reactive web application framework for Java and Scala.</a:t>
            </a:r>
            <a:endParaRPr sz="1800">
              <a:solidFill>
                <a:srgbClr val="C00000"/>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55"/>
          <p:cNvSpPr/>
          <p:nvPr/>
        </p:nvSpPr>
        <p:spPr>
          <a:xfrm>
            <a:off x="115910" y="58847"/>
            <a:ext cx="11964473" cy="6001643"/>
          </a:xfrm>
          <a:prstGeom prst="rect">
            <a:avLst/>
          </a:prstGeom>
          <a:noFill/>
          <a:ln>
            <a:noFill/>
          </a:ln>
        </p:spPr>
        <p:txBody>
          <a:bodyPr spcFirstLastPara="1" wrap="square" lIns="91425" tIns="45700" rIns="91425" bIns="45700" anchor="t" anchorCtr="0">
            <a:noAutofit/>
          </a:bodyPr>
          <a:lstStyle/>
          <a:p>
            <a:pPr marL="285750" marR="0" lvl="0" indent="-285750" algn="l" rtl="0">
              <a:spcBef>
                <a:spcPts val="0"/>
              </a:spcBef>
              <a:spcAft>
                <a:spcPts val="0"/>
              </a:spcAft>
              <a:buClr>
                <a:srgbClr val="002060"/>
              </a:buClr>
              <a:buSzPts val="2400"/>
              <a:buFont typeface="Arial"/>
              <a:buChar char="•"/>
            </a:pPr>
            <a:r>
              <a:rPr lang="en-US" sz="2400">
                <a:solidFill>
                  <a:srgbClr val="002060"/>
                </a:solidFill>
                <a:latin typeface="Calibri"/>
                <a:ea typeface="Calibri"/>
                <a:cs typeface="Calibri"/>
                <a:sym typeface="Calibri"/>
              </a:rPr>
              <a:t>Java based enterprise applications are synonymous with renowned multinationals, including Amazon, Oracle, and IBM. Other organizations that run their </a:t>
            </a:r>
            <a:r>
              <a:rPr lang="en-US" sz="2400">
                <a:solidFill>
                  <a:srgbClr val="FF0000"/>
                </a:solidFill>
                <a:latin typeface="Calibri"/>
                <a:ea typeface="Calibri"/>
                <a:cs typeface="Calibri"/>
                <a:sym typeface="Calibri"/>
              </a:rPr>
              <a:t>day-to-day business operations </a:t>
            </a:r>
            <a:r>
              <a:rPr lang="en-US" sz="2400">
                <a:solidFill>
                  <a:srgbClr val="002060"/>
                </a:solidFill>
                <a:latin typeface="Calibri"/>
                <a:ea typeface="Calibri"/>
                <a:cs typeface="Calibri"/>
                <a:sym typeface="Calibri"/>
              </a:rPr>
              <a:t>on systems built by Java include: </a:t>
            </a:r>
            <a:endParaRPr/>
          </a:p>
          <a:p>
            <a:pPr marL="285750" marR="0" lvl="0" indent="-285750" algn="l" rtl="0">
              <a:spcBef>
                <a:spcPts val="0"/>
              </a:spcBef>
              <a:spcAft>
                <a:spcPts val="0"/>
              </a:spcAft>
              <a:buClr>
                <a:srgbClr val="002060"/>
              </a:buClr>
              <a:buSzPts val="2400"/>
              <a:buFont typeface="Arial"/>
              <a:buChar char="•"/>
            </a:pPr>
            <a:r>
              <a:rPr lang="en-US" sz="2400">
                <a:solidFill>
                  <a:srgbClr val="002060"/>
                </a:solidFill>
                <a:latin typeface="Calibri"/>
                <a:ea typeface="Calibri"/>
                <a:cs typeface="Calibri"/>
                <a:sym typeface="Calibri"/>
              </a:rPr>
              <a:t>Microsoft: the company has been leveraging Java for decades to build server-side applications, a good example being the Azure cloud platform. </a:t>
            </a:r>
            <a:endParaRPr/>
          </a:p>
          <a:p>
            <a:pPr marL="285750" marR="0" lvl="0" indent="-285750" algn="l" rtl="0">
              <a:spcBef>
                <a:spcPts val="0"/>
              </a:spcBef>
              <a:spcAft>
                <a:spcPts val="0"/>
              </a:spcAft>
              <a:buClr>
                <a:srgbClr val="002060"/>
              </a:buClr>
              <a:buSzPts val="2400"/>
              <a:buFont typeface="Arial"/>
              <a:buChar char="•"/>
            </a:pPr>
            <a:r>
              <a:rPr lang="en-US" sz="2400">
                <a:solidFill>
                  <a:srgbClr val="002060"/>
                </a:solidFill>
                <a:latin typeface="Calibri"/>
                <a:ea typeface="Calibri"/>
                <a:cs typeface="Calibri"/>
                <a:sym typeface="Calibri"/>
              </a:rPr>
              <a:t>PayPal: the global payment solution, uses Java for various needs, including the development of payment processing system, fraud detection system, and other key services.</a:t>
            </a:r>
            <a:endParaRPr/>
          </a:p>
          <a:p>
            <a:pPr marL="285750" marR="0" lvl="0" indent="-285750" algn="l" rtl="0">
              <a:spcBef>
                <a:spcPts val="0"/>
              </a:spcBef>
              <a:spcAft>
                <a:spcPts val="0"/>
              </a:spcAft>
              <a:buClr>
                <a:srgbClr val="002060"/>
              </a:buClr>
              <a:buSzPts val="2400"/>
              <a:buFont typeface="Arial"/>
              <a:buChar char="•"/>
            </a:pPr>
            <a:r>
              <a:rPr lang="en-US" sz="2400">
                <a:solidFill>
                  <a:srgbClr val="002060"/>
                </a:solidFill>
                <a:latin typeface="Calibri"/>
                <a:ea typeface="Calibri"/>
                <a:cs typeface="Calibri"/>
                <a:sym typeface="Calibri"/>
              </a:rPr>
              <a:t>Netflix: Netflix’s entire streaming platform is built on Java. They use Java to develop the backend services powering the streaming platform.</a:t>
            </a:r>
            <a:endParaRPr/>
          </a:p>
          <a:p>
            <a:pPr marL="285750" marR="0" lvl="0" indent="-285750" algn="l" rtl="0">
              <a:spcBef>
                <a:spcPts val="0"/>
              </a:spcBef>
              <a:spcAft>
                <a:spcPts val="0"/>
              </a:spcAft>
              <a:buClr>
                <a:srgbClr val="002060"/>
              </a:buClr>
              <a:buSzPts val="2400"/>
              <a:buFont typeface="Arial"/>
              <a:buChar char="•"/>
            </a:pPr>
            <a:r>
              <a:rPr lang="en-US" sz="2400">
                <a:solidFill>
                  <a:srgbClr val="002060"/>
                </a:solidFill>
                <a:latin typeface="Calibri"/>
                <a:ea typeface="Calibri"/>
                <a:cs typeface="Calibri"/>
                <a:sym typeface="Calibri"/>
              </a:rPr>
              <a:t>Uber: Uber, the ride-hailing giant, uses Java for developing their backend services. They use Java to build their payment system, surge pricing algorithm, and other critical services.</a:t>
            </a:r>
            <a:endParaRPr/>
          </a:p>
          <a:p>
            <a:pPr marL="285750" marR="0" lvl="0" indent="-285750" algn="l" rtl="0">
              <a:spcBef>
                <a:spcPts val="0"/>
              </a:spcBef>
              <a:spcAft>
                <a:spcPts val="0"/>
              </a:spcAft>
              <a:buClr>
                <a:srgbClr val="002060"/>
              </a:buClr>
              <a:buSzPts val="2400"/>
              <a:buFont typeface="Arial"/>
              <a:buChar char="•"/>
            </a:pPr>
            <a:r>
              <a:rPr lang="en-US" sz="2400">
                <a:solidFill>
                  <a:srgbClr val="002060"/>
                </a:solidFill>
                <a:latin typeface="Calibri"/>
                <a:ea typeface="Calibri"/>
                <a:cs typeface="Calibri"/>
                <a:sym typeface="Calibri"/>
              </a:rPr>
              <a:t>Salesforce: Salesforce offers cloud-based customer relationship management (CRM) software as a service. Java is the main framework behind the platform’s database, security features, and other client-facing functionalities. </a:t>
            </a:r>
            <a:endParaRPr/>
          </a:p>
          <a:p>
            <a:pPr marL="285750" marR="0" lvl="0" indent="-285750" algn="l" rtl="0">
              <a:spcBef>
                <a:spcPts val="0"/>
              </a:spcBef>
              <a:spcAft>
                <a:spcPts val="0"/>
              </a:spcAft>
              <a:buClr>
                <a:srgbClr val="002060"/>
              </a:buClr>
              <a:buSzPts val="2400"/>
              <a:buFont typeface="Arial"/>
              <a:buChar char="•"/>
            </a:pPr>
            <a:r>
              <a:rPr lang="en-US" sz="2400">
                <a:solidFill>
                  <a:srgbClr val="002060"/>
                </a:solidFill>
                <a:latin typeface="Calibri"/>
                <a:ea typeface="Calibri"/>
                <a:cs typeface="Calibri"/>
                <a:sym typeface="Calibri"/>
              </a:rPr>
              <a:t>Airbnb: Airbnb’s backend services are powered by Java, including a surge pricing algorithm, payment system, and messaging.</a:t>
            </a:r>
            <a:endParaRPr sz="2400">
              <a:solidFill>
                <a:srgbClr val="002060"/>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56"/>
          <p:cNvSpPr/>
          <p:nvPr/>
        </p:nvSpPr>
        <p:spPr>
          <a:xfrm>
            <a:off x="115910" y="342890"/>
            <a:ext cx="12192000" cy="529375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rgbClr val="00B050"/>
                </a:solidFill>
                <a:latin typeface="Calibri"/>
                <a:ea typeface="Calibri"/>
                <a:cs typeface="Calibri"/>
                <a:sym typeface="Calibri"/>
              </a:rPr>
              <a:t>JavaScript Full Stack:</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rgbClr val="FF0000"/>
                </a:solidFill>
                <a:latin typeface="Calibri"/>
                <a:ea typeface="Calibri"/>
                <a:cs typeface="Calibri"/>
                <a:sym typeface="Calibri"/>
              </a:rPr>
              <a:t>Backend:</a:t>
            </a:r>
            <a:endParaRPr/>
          </a:p>
          <a:p>
            <a:pPr marL="285750" marR="0" lvl="0" indent="-285750" algn="l" rtl="0">
              <a:spcBef>
                <a:spcPts val="0"/>
              </a:spcBef>
              <a:spcAft>
                <a:spcPts val="0"/>
              </a:spcAft>
              <a:buClr>
                <a:srgbClr val="FF0000"/>
              </a:buClr>
              <a:buSzPts val="1800"/>
              <a:buFont typeface="Arial"/>
              <a:buChar char="•"/>
            </a:pPr>
            <a:r>
              <a:rPr lang="en-US" sz="1800">
                <a:solidFill>
                  <a:srgbClr val="FF0000"/>
                </a:solidFill>
                <a:latin typeface="Calibri"/>
                <a:ea typeface="Calibri"/>
                <a:cs typeface="Calibri"/>
                <a:sym typeface="Calibri"/>
              </a:rPr>
              <a:t>Language: JavaScript (Node.js)</a:t>
            </a:r>
            <a:endParaRPr/>
          </a:p>
          <a:p>
            <a:pPr marL="285750" marR="0" lvl="0" indent="-285750" algn="l" rtl="0">
              <a:spcBef>
                <a:spcPts val="0"/>
              </a:spcBef>
              <a:spcAft>
                <a:spcPts val="0"/>
              </a:spcAft>
              <a:buClr>
                <a:srgbClr val="FF0000"/>
              </a:buClr>
              <a:buSzPts val="1800"/>
              <a:buFont typeface="Arial"/>
              <a:buChar char="•"/>
            </a:pPr>
            <a:r>
              <a:rPr lang="en-US" sz="1800">
                <a:solidFill>
                  <a:srgbClr val="FF0000"/>
                </a:solidFill>
                <a:latin typeface="Calibri"/>
                <a:ea typeface="Calibri"/>
                <a:cs typeface="Calibri"/>
                <a:sym typeface="Calibri"/>
              </a:rPr>
              <a:t>Frameworks: Express.js, Nest.js, Koa.js</a:t>
            </a:r>
            <a:endParaRPr/>
          </a:p>
          <a:p>
            <a:pPr marL="285750" marR="0" lvl="0" indent="-285750" algn="l" rtl="0">
              <a:spcBef>
                <a:spcPts val="0"/>
              </a:spcBef>
              <a:spcAft>
                <a:spcPts val="0"/>
              </a:spcAft>
              <a:buClr>
                <a:srgbClr val="FF0000"/>
              </a:buClr>
              <a:buSzPts val="1800"/>
              <a:buFont typeface="Arial"/>
              <a:buChar char="•"/>
            </a:pPr>
            <a:r>
              <a:rPr lang="en-US" sz="1800">
                <a:solidFill>
                  <a:srgbClr val="FF0000"/>
                </a:solidFill>
                <a:latin typeface="Calibri"/>
                <a:ea typeface="Calibri"/>
                <a:cs typeface="Calibri"/>
                <a:sym typeface="Calibri"/>
              </a:rPr>
              <a:t>Database: MongoDB (NoSQL), PostgreSQL (SQL)</a:t>
            </a:r>
            <a:endParaRPr/>
          </a:p>
          <a:p>
            <a:pPr marL="285750" marR="0" lvl="0" indent="-285750" algn="l" rtl="0">
              <a:spcBef>
                <a:spcPts val="0"/>
              </a:spcBef>
              <a:spcAft>
                <a:spcPts val="0"/>
              </a:spcAft>
              <a:buClr>
                <a:srgbClr val="FF0000"/>
              </a:buClr>
              <a:buSzPts val="1800"/>
              <a:buFont typeface="Arial"/>
              <a:buChar char="•"/>
            </a:pPr>
            <a:r>
              <a:rPr lang="en-US" sz="1800">
                <a:solidFill>
                  <a:srgbClr val="FF0000"/>
                </a:solidFill>
                <a:latin typeface="Calibri"/>
                <a:ea typeface="Calibri"/>
                <a:cs typeface="Calibri"/>
                <a:sym typeface="Calibri"/>
              </a:rPr>
              <a:t>Build Tools: npm, Yarn</a:t>
            </a:r>
            <a:endParaRPr/>
          </a:p>
          <a:p>
            <a:pPr marL="285750" marR="0" lvl="0" indent="-285750" algn="l" rtl="0">
              <a:spcBef>
                <a:spcPts val="0"/>
              </a:spcBef>
              <a:spcAft>
                <a:spcPts val="0"/>
              </a:spcAft>
              <a:buClr>
                <a:srgbClr val="FF0000"/>
              </a:buClr>
              <a:buSzPts val="1800"/>
              <a:buFont typeface="Arial"/>
              <a:buChar char="•"/>
            </a:pPr>
            <a:r>
              <a:rPr lang="en-US" sz="1800">
                <a:solidFill>
                  <a:srgbClr val="FF0000"/>
                </a:solidFill>
                <a:latin typeface="Calibri"/>
                <a:ea typeface="Calibri"/>
                <a:cs typeface="Calibri"/>
                <a:sym typeface="Calibri"/>
              </a:rPr>
              <a:t>Server: Express.js, Hapi.js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rgbClr val="002060"/>
                </a:solidFill>
                <a:latin typeface="Calibri"/>
                <a:ea typeface="Calibri"/>
                <a:cs typeface="Calibri"/>
                <a:sym typeface="Calibri"/>
              </a:rPr>
              <a:t>Frontend:</a:t>
            </a:r>
            <a:endParaRPr/>
          </a:p>
          <a:p>
            <a:pPr marL="285750" marR="0" lvl="0" indent="-285750" algn="l" rtl="0">
              <a:spcBef>
                <a:spcPts val="0"/>
              </a:spcBef>
              <a:spcAft>
                <a:spcPts val="0"/>
              </a:spcAft>
              <a:buClr>
                <a:srgbClr val="002060"/>
              </a:buClr>
              <a:buSzPts val="1800"/>
              <a:buFont typeface="Arial"/>
              <a:buChar char="•"/>
            </a:pPr>
            <a:r>
              <a:rPr lang="en-US" sz="1800">
                <a:solidFill>
                  <a:srgbClr val="002060"/>
                </a:solidFill>
                <a:latin typeface="Calibri"/>
                <a:ea typeface="Calibri"/>
                <a:cs typeface="Calibri"/>
                <a:sym typeface="Calibri"/>
              </a:rPr>
              <a:t>Languages: HTML, CSS, JavaScript (ES6+)</a:t>
            </a:r>
            <a:endParaRPr/>
          </a:p>
          <a:p>
            <a:pPr marL="285750" marR="0" lvl="0" indent="-285750" algn="l" rtl="0">
              <a:spcBef>
                <a:spcPts val="0"/>
              </a:spcBef>
              <a:spcAft>
                <a:spcPts val="0"/>
              </a:spcAft>
              <a:buClr>
                <a:srgbClr val="002060"/>
              </a:buClr>
              <a:buSzPts val="1800"/>
              <a:buFont typeface="Arial"/>
              <a:buChar char="•"/>
            </a:pPr>
            <a:r>
              <a:rPr lang="en-US" sz="1800">
                <a:solidFill>
                  <a:srgbClr val="002060"/>
                </a:solidFill>
                <a:latin typeface="Calibri"/>
                <a:ea typeface="Calibri"/>
                <a:cs typeface="Calibri"/>
                <a:sym typeface="Calibri"/>
              </a:rPr>
              <a:t>Frameworks: React, Angular, Vue.js</a:t>
            </a:r>
            <a:endParaRPr/>
          </a:p>
          <a:p>
            <a:pPr marL="285750" marR="0" lvl="0" indent="-285750" algn="l" rtl="0">
              <a:spcBef>
                <a:spcPts val="0"/>
              </a:spcBef>
              <a:spcAft>
                <a:spcPts val="0"/>
              </a:spcAft>
              <a:buClr>
                <a:srgbClr val="002060"/>
              </a:buClr>
              <a:buSzPts val="1800"/>
              <a:buFont typeface="Arial"/>
              <a:buChar char="•"/>
            </a:pPr>
            <a:r>
              <a:rPr lang="en-US" sz="1800">
                <a:solidFill>
                  <a:srgbClr val="002060"/>
                </a:solidFill>
                <a:latin typeface="Calibri"/>
                <a:ea typeface="Calibri"/>
                <a:cs typeface="Calibri"/>
                <a:sym typeface="Calibri"/>
              </a:rPr>
              <a:t>AJAX Libraries: Axios, Fetch API</a:t>
            </a:r>
            <a:endParaRPr/>
          </a:p>
          <a:p>
            <a:pPr marL="285750" marR="0" lvl="0" indent="-285750" algn="l" rtl="0">
              <a:spcBef>
                <a:spcPts val="0"/>
              </a:spcBef>
              <a:spcAft>
                <a:spcPts val="0"/>
              </a:spcAft>
              <a:buClr>
                <a:srgbClr val="002060"/>
              </a:buClr>
              <a:buSzPts val="1800"/>
              <a:buFont typeface="Arial"/>
              <a:buChar char="•"/>
            </a:pPr>
            <a:r>
              <a:rPr lang="en-US" sz="1800">
                <a:solidFill>
                  <a:srgbClr val="002060"/>
                </a:solidFill>
                <a:latin typeface="Calibri"/>
                <a:ea typeface="Calibri"/>
                <a:cs typeface="Calibri"/>
                <a:sym typeface="Calibri"/>
              </a:rPr>
              <a:t>Build Tools: Webpack, Babel</a:t>
            </a:r>
            <a:endParaRPr/>
          </a:p>
          <a:p>
            <a:pPr marL="285750" marR="0" lvl="0" indent="-285750" algn="l" rtl="0">
              <a:spcBef>
                <a:spcPts val="0"/>
              </a:spcBef>
              <a:spcAft>
                <a:spcPts val="0"/>
              </a:spcAft>
              <a:buClr>
                <a:srgbClr val="002060"/>
              </a:buClr>
              <a:buSzPts val="1800"/>
              <a:buFont typeface="Arial"/>
              <a:buChar char="•"/>
            </a:pPr>
            <a:r>
              <a:rPr lang="en-US" sz="1800">
                <a:solidFill>
                  <a:srgbClr val="002060"/>
                </a:solidFill>
                <a:latin typeface="Calibri"/>
                <a:ea typeface="Calibri"/>
                <a:cs typeface="Calibri"/>
                <a:sym typeface="Calibri"/>
              </a:rPr>
              <a:t>Full-Stack Frameworks</a:t>
            </a: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285750" marR="0" lvl="0" indent="-285750" algn="l" rtl="0">
              <a:spcBef>
                <a:spcPts val="0"/>
              </a:spcBef>
              <a:spcAft>
                <a:spcPts val="0"/>
              </a:spcAft>
              <a:buClr>
                <a:srgbClr val="7030A0"/>
              </a:buClr>
              <a:buSzPts val="2000"/>
              <a:buFont typeface="Arial"/>
              <a:buChar char="•"/>
            </a:pPr>
            <a:r>
              <a:rPr lang="en-US" sz="2000">
                <a:solidFill>
                  <a:srgbClr val="7030A0"/>
                </a:solidFill>
                <a:latin typeface="Calibri"/>
                <a:ea typeface="Calibri"/>
                <a:cs typeface="Calibri"/>
                <a:sym typeface="Calibri"/>
              </a:rPr>
              <a:t>MEAN Stack (MongoDB, Express.js, Angular, Node.js): A popular JavaScript-based full-stack solution.</a:t>
            </a:r>
            <a:endParaRPr/>
          </a:p>
          <a:p>
            <a:pPr marL="285750" marR="0" lvl="0" indent="-285750" algn="l" rtl="0">
              <a:spcBef>
                <a:spcPts val="0"/>
              </a:spcBef>
              <a:spcAft>
                <a:spcPts val="0"/>
              </a:spcAft>
              <a:buClr>
                <a:srgbClr val="7030A0"/>
              </a:buClr>
              <a:buSzPts val="2000"/>
              <a:buFont typeface="Arial"/>
              <a:buChar char="•"/>
            </a:pPr>
            <a:r>
              <a:rPr lang="en-US" sz="2000">
                <a:solidFill>
                  <a:srgbClr val="7030A0"/>
                </a:solidFill>
                <a:latin typeface="Calibri"/>
                <a:ea typeface="Calibri"/>
                <a:cs typeface="Calibri"/>
                <a:sym typeface="Calibri"/>
              </a:rPr>
              <a:t>MERN Stack (MongoDB, Express.js, React, Node.js): Another variant with React as the frontend library.</a:t>
            </a:r>
            <a:endParaRPr sz="2000">
              <a:solidFill>
                <a:srgbClr val="7030A0"/>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57"/>
          <p:cNvSpPr/>
          <p:nvPr/>
        </p:nvSpPr>
        <p:spPr>
          <a:xfrm>
            <a:off x="0" y="137845"/>
            <a:ext cx="11882907" cy="600164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rgbClr val="FF0000"/>
                </a:solidFill>
                <a:latin typeface="Calibri"/>
                <a:ea typeface="Calibri"/>
                <a:cs typeface="Calibri"/>
                <a:sym typeface="Calibri"/>
              </a:rPr>
              <a:t>Comparison Java Full Stack vs. Java Script Full stack:</a:t>
            </a:r>
            <a:endParaRPr sz="2400">
              <a:solidFill>
                <a:srgbClr val="FF0000"/>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Language Consistency:</a:t>
            </a:r>
            <a:endParaRPr/>
          </a:p>
          <a:p>
            <a:pPr marL="800100" marR="0" lvl="1" indent="-342900" algn="l" rtl="0">
              <a:spcBef>
                <a:spcPts val="0"/>
              </a:spcBef>
              <a:spcAft>
                <a:spcPts val="0"/>
              </a:spcAft>
              <a:buClr>
                <a:schemeClr val="dk1"/>
              </a:buClr>
              <a:buSzPts val="1800"/>
              <a:buFont typeface="Calibri"/>
              <a:buAutoNum type="arabicPeriod"/>
            </a:pPr>
            <a:r>
              <a:rPr lang="en-US" sz="1800" b="0" i="0" u="none" strike="noStrike" cap="none">
                <a:solidFill>
                  <a:schemeClr val="dk1"/>
                </a:solidFill>
                <a:latin typeface="Calibri"/>
                <a:ea typeface="Calibri"/>
                <a:cs typeface="Calibri"/>
                <a:sym typeface="Calibri"/>
              </a:rPr>
              <a:t>Java Full Stack: Consistent use of Java throughout the stack.</a:t>
            </a:r>
            <a:endParaRPr/>
          </a:p>
          <a:p>
            <a:pPr marL="800100" marR="0" lvl="1" indent="-342900" algn="l" rtl="0">
              <a:spcBef>
                <a:spcPts val="0"/>
              </a:spcBef>
              <a:spcAft>
                <a:spcPts val="0"/>
              </a:spcAft>
              <a:buClr>
                <a:schemeClr val="dk1"/>
              </a:buClr>
              <a:buSzPts val="1800"/>
              <a:buFont typeface="Calibri"/>
              <a:buAutoNum type="arabicPeriod"/>
            </a:pPr>
            <a:r>
              <a:rPr lang="en-US" sz="1800" b="0" i="0" u="none" strike="noStrike" cap="none">
                <a:solidFill>
                  <a:schemeClr val="dk1"/>
                </a:solidFill>
                <a:latin typeface="Calibri"/>
                <a:ea typeface="Calibri"/>
                <a:cs typeface="Calibri"/>
                <a:sym typeface="Calibri"/>
              </a:rPr>
              <a:t>JavaScript Full Stack: Use of JavaScript both on the frontend and, with Node.js, on the backend.</a:t>
            </a:r>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Ecosystem and Libraries:</a:t>
            </a:r>
            <a:endParaRPr/>
          </a:p>
          <a:p>
            <a:pPr marL="800100" marR="0" lvl="1" indent="-342900" algn="l" rtl="0">
              <a:spcBef>
                <a:spcPts val="0"/>
              </a:spcBef>
              <a:spcAft>
                <a:spcPts val="0"/>
              </a:spcAft>
              <a:buClr>
                <a:schemeClr val="dk1"/>
              </a:buClr>
              <a:buSzPts val="1800"/>
              <a:buFont typeface="Calibri"/>
              <a:buAutoNum type="arabicPeriod"/>
            </a:pPr>
            <a:r>
              <a:rPr lang="en-US" sz="1800" b="0" i="0" u="none" strike="noStrike" cap="none">
                <a:solidFill>
                  <a:schemeClr val="dk1"/>
                </a:solidFill>
                <a:latin typeface="Calibri"/>
                <a:ea typeface="Calibri"/>
                <a:cs typeface="Calibri"/>
                <a:sym typeface="Calibri"/>
              </a:rPr>
              <a:t>Java Full Stack: Rich ecosystem with a wide range of libraries and frameworks, especially in enterprise settings.</a:t>
            </a:r>
            <a:endParaRPr/>
          </a:p>
          <a:p>
            <a:pPr marL="800100" marR="0" lvl="1" indent="-342900" algn="l" rtl="0">
              <a:spcBef>
                <a:spcPts val="0"/>
              </a:spcBef>
              <a:spcAft>
                <a:spcPts val="0"/>
              </a:spcAft>
              <a:buClr>
                <a:schemeClr val="dk1"/>
              </a:buClr>
              <a:buSzPts val="1800"/>
              <a:buFont typeface="Calibri"/>
              <a:buAutoNum type="arabicPeriod"/>
            </a:pPr>
            <a:r>
              <a:rPr lang="en-US" sz="1800" b="0" i="0" u="none" strike="noStrike" cap="none">
                <a:solidFill>
                  <a:schemeClr val="dk1"/>
                </a:solidFill>
                <a:latin typeface="Calibri"/>
                <a:ea typeface="Calibri"/>
                <a:cs typeface="Calibri"/>
                <a:sym typeface="Calibri"/>
              </a:rPr>
              <a:t>JavaScript Full Stack: Large and vibrant ecosystem with a focus on web development. Extensive npm package registry.</a:t>
            </a:r>
            <a:endParaRPr/>
          </a:p>
          <a:p>
            <a:pPr marL="800100" marR="0" lvl="1" indent="-22860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Frameworks:</a:t>
            </a:r>
            <a:endParaRPr/>
          </a:p>
          <a:p>
            <a:pPr marL="800100" marR="0" lvl="1" indent="-342900" algn="l" rtl="0">
              <a:spcBef>
                <a:spcPts val="0"/>
              </a:spcBef>
              <a:spcAft>
                <a:spcPts val="0"/>
              </a:spcAft>
              <a:buClr>
                <a:schemeClr val="dk1"/>
              </a:buClr>
              <a:buSzPts val="1800"/>
              <a:buFont typeface="Calibri"/>
              <a:buAutoNum type="arabicPeriod"/>
            </a:pPr>
            <a:r>
              <a:rPr lang="en-US" sz="1800" b="0" i="0" u="none" strike="noStrike" cap="none">
                <a:solidFill>
                  <a:schemeClr val="dk1"/>
                </a:solidFill>
                <a:latin typeface="Calibri"/>
                <a:ea typeface="Calibri"/>
                <a:cs typeface="Calibri"/>
                <a:sym typeface="Calibri"/>
              </a:rPr>
              <a:t>Java Full Stack: Spring Boot is widely used for building robust and scalable applications.</a:t>
            </a:r>
            <a:endParaRPr/>
          </a:p>
          <a:p>
            <a:pPr marL="800100" marR="0" lvl="1" indent="-342900" algn="l" rtl="0">
              <a:spcBef>
                <a:spcPts val="0"/>
              </a:spcBef>
              <a:spcAft>
                <a:spcPts val="0"/>
              </a:spcAft>
              <a:buClr>
                <a:schemeClr val="dk1"/>
              </a:buClr>
              <a:buSzPts val="1800"/>
              <a:buFont typeface="Calibri"/>
              <a:buAutoNum type="arabicPeriod"/>
            </a:pPr>
            <a:r>
              <a:rPr lang="en-US" sz="1800" b="0" i="0" u="none" strike="noStrike" cap="none">
                <a:solidFill>
                  <a:schemeClr val="dk1"/>
                </a:solidFill>
                <a:latin typeface="Calibri"/>
                <a:ea typeface="Calibri"/>
                <a:cs typeface="Calibri"/>
                <a:sym typeface="Calibri"/>
              </a:rPr>
              <a:t>JavaScript Full Stack: Various frameworks like Express.js (Node.js) and React, Angular, or Vue.js for the frontend.</a:t>
            </a:r>
            <a:endParaRPr/>
          </a:p>
          <a:p>
            <a:pPr marL="800100" marR="0" lvl="1" indent="-22860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Database Connectivity:</a:t>
            </a:r>
            <a:endParaRPr/>
          </a:p>
          <a:p>
            <a:pPr marL="800100" marR="0" lvl="1" indent="-342900" algn="l" rtl="0">
              <a:spcBef>
                <a:spcPts val="0"/>
              </a:spcBef>
              <a:spcAft>
                <a:spcPts val="0"/>
              </a:spcAft>
              <a:buClr>
                <a:schemeClr val="dk1"/>
              </a:buClr>
              <a:buSzPts val="1800"/>
              <a:buFont typeface="Calibri"/>
              <a:buAutoNum type="arabicPeriod"/>
            </a:pPr>
            <a:r>
              <a:rPr lang="en-US" sz="1800" b="0" i="0" u="none" strike="noStrike" cap="none">
                <a:solidFill>
                  <a:schemeClr val="dk1"/>
                </a:solidFill>
                <a:latin typeface="Calibri"/>
                <a:ea typeface="Calibri"/>
                <a:cs typeface="Calibri"/>
                <a:sym typeface="Calibri"/>
              </a:rPr>
              <a:t>Java Full Stack: Typically uses relational databases with JDBC or Hibernate for ORM.</a:t>
            </a:r>
            <a:endParaRPr/>
          </a:p>
          <a:p>
            <a:pPr marL="800100" marR="0" lvl="1" indent="-342900" algn="l" rtl="0">
              <a:spcBef>
                <a:spcPts val="0"/>
              </a:spcBef>
              <a:spcAft>
                <a:spcPts val="0"/>
              </a:spcAft>
              <a:buClr>
                <a:schemeClr val="dk1"/>
              </a:buClr>
              <a:buSzPts val="1800"/>
              <a:buFont typeface="Calibri"/>
              <a:buAutoNum type="arabicPeriod"/>
            </a:pPr>
            <a:r>
              <a:rPr lang="en-US" sz="1800" b="0" i="0" u="none" strike="noStrike" cap="none">
                <a:solidFill>
                  <a:schemeClr val="dk1"/>
                </a:solidFill>
                <a:latin typeface="Calibri"/>
                <a:ea typeface="Calibri"/>
                <a:cs typeface="Calibri"/>
                <a:sym typeface="Calibri"/>
              </a:rPr>
              <a:t>JavaScript Full Stack: Often uses NoSQL databases like MongoDB, especially in conjunction with Node.js.</a:t>
            </a:r>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Build Tools:</a:t>
            </a:r>
            <a:endParaRPr/>
          </a:p>
          <a:p>
            <a:pPr marL="800100" marR="0" lvl="1" indent="-342900" algn="l" rtl="0">
              <a:spcBef>
                <a:spcPts val="0"/>
              </a:spcBef>
              <a:spcAft>
                <a:spcPts val="0"/>
              </a:spcAft>
              <a:buClr>
                <a:schemeClr val="dk1"/>
              </a:buClr>
              <a:buSzPts val="1800"/>
              <a:buFont typeface="Calibri"/>
              <a:buAutoNum type="arabicPeriod"/>
            </a:pPr>
            <a:r>
              <a:rPr lang="en-US" sz="1800" b="0" i="0" u="none" strike="noStrike" cap="none">
                <a:solidFill>
                  <a:schemeClr val="dk1"/>
                </a:solidFill>
                <a:latin typeface="Calibri"/>
                <a:ea typeface="Calibri"/>
                <a:cs typeface="Calibri"/>
                <a:sym typeface="Calibri"/>
              </a:rPr>
              <a:t>Java Full Stack: Maven and Gradle are popular build tools.</a:t>
            </a:r>
            <a:endParaRPr/>
          </a:p>
          <a:p>
            <a:pPr marL="800100" marR="0" lvl="1" indent="-342900" algn="l" rtl="0">
              <a:spcBef>
                <a:spcPts val="0"/>
              </a:spcBef>
              <a:spcAft>
                <a:spcPts val="0"/>
              </a:spcAft>
              <a:buClr>
                <a:schemeClr val="dk1"/>
              </a:buClr>
              <a:buSzPts val="1800"/>
              <a:buFont typeface="Calibri"/>
              <a:buAutoNum type="arabicPeriod"/>
            </a:pPr>
            <a:r>
              <a:rPr lang="en-US" sz="1800" b="0" i="0" u="none" strike="noStrike" cap="none">
                <a:solidFill>
                  <a:schemeClr val="dk1"/>
                </a:solidFill>
                <a:latin typeface="Calibri"/>
                <a:ea typeface="Calibri"/>
                <a:cs typeface="Calibri"/>
                <a:sym typeface="Calibri"/>
              </a:rPr>
              <a:t>JavaScript Full Stack: npm and Yarn are common for managing dependencies and running scripts.</a:t>
            </a:r>
            <a:endParaRPr/>
          </a:p>
          <a:p>
            <a:pPr marL="800100" marR="0" lvl="1" indent="-342900" algn="l" rtl="0">
              <a:spcBef>
                <a:spcPts val="0"/>
              </a:spcBef>
              <a:spcAft>
                <a:spcPts val="0"/>
              </a:spcAft>
              <a:buClr>
                <a:schemeClr val="dk1"/>
              </a:buClr>
              <a:buSzPts val="1800"/>
              <a:buFont typeface="Calibri"/>
              <a:buAutoNum type="arabicPeriod"/>
            </a:pPr>
            <a:r>
              <a:rPr lang="en-US" sz="1800" b="0" i="0" u="none" strike="noStrike" cap="none">
                <a:solidFill>
                  <a:schemeClr val="dk1"/>
                </a:solidFill>
                <a:latin typeface="Calibri"/>
                <a:ea typeface="Calibri"/>
                <a:cs typeface="Calibri"/>
                <a:sym typeface="Calibri"/>
              </a:rPr>
              <a:t>on may be influenced by the specific needs of a given project or organization.</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58"/>
          <p:cNvSpPr/>
          <p:nvPr/>
        </p:nvSpPr>
        <p:spPr>
          <a:xfrm>
            <a:off x="34344" y="154243"/>
            <a:ext cx="12157656" cy="6524863"/>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Server:</a:t>
            </a:r>
            <a:endParaRPr/>
          </a:p>
          <a:p>
            <a:pPr marL="914400" marR="0" lvl="1" indent="-457200" algn="l" rtl="0">
              <a:spcBef>
                <a:spcPts val="0"/>
              </a:spcBef>
              <a:spcAft>
                <a:spcPts val="0"/>
              </a:spcAft>
              <a:buClr>
                <a:schemeClr val="dk1"/>
              </a:buClr>
              <a:buSzPts val="2000"/>
              <a:buFont typeface="Calibri"/>
              <a:buAutoNum type="arabicPeriod"/>
            </a:pPr>
            <a:r>
              <a:rPr lang="en-US" sz="2000" b="0" i="0" u="none" strike="noStrike" cap="none">
                <a:solidFill>
                  <a:schemeClr val="dk1"/>
                </a:solidFill>
                <a:latin typeface="Calibri"/>
                <a:ea typeface="Calibri"/>
                <a:cs typeface="Calibri"/>
                <a:sym typeface="Calibri"/>
              </a:rPr>
              <a:t>Java Full Stack: Apache Tomcat and Jetty are popular servers.</a:t>
            </a:r>
            <a:endParaRPr/>
          </a:p>
          <a:p>
            <a:pPr marL="914400" marR="0" lvl="1" indent="-457200" algn="l" rtl="0">
              <a:spcBef>
                <a:spcPts val="0"/>
              </a:spcBef>
              <a:spcAft>
                <a:spcPts val="0"/>
              </a:spcAft>
              <a:buClr>
                <a:schemeClr val="dk1"/>
              </a:buClr>
              <a:buSzPts val="2000"/>
              <a:buFont typeface="Calibri"/>
              <a:buAutoNum type="arabicPeriod"/>
            </a:pPr>
            <a:r>
              <a:rPr lang="en-US" sz="2000" b="0" i="0" u="none" strike="noStrike" cap="none">
                <a:solidFill>
                  <a:schemeClr val="dk1"/>
                </a:solidFill>
                <a:latin typeface="Calibri"/>
                <a:ea typeface="Calibri"/>
                <a:cs typeface="Calibri"/>
                <a:sym typeface="Calibri"/>
              </a:rPr>
              <a:t>JavaScript Full Stack: Node.js serves as a server on the backend.</a:t>
            </a:r>
            <a:endParaRPr/>
          </a:p>
          <a:p>
            <a:pPr marL="342900" marR="0" lvl="0" indent="-215900" algn="l" rtl="0">
              <a:spcBef>
                <a:spcPts val="0"/>
              </a:spcBef>
              <a:spcAft>
                <a:spcPts val="0"/>
              </a:spcAft>
              <a:buClr>
                <a:schemeClr val="dk1"/>
              </a:buClr>
              <a:buSzPts val="2000"/>
              <a:buFont typeface="Arial"/>
              <a:buNone/>
            </a:pP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Concurrency and Scaling:</a:t>
            </a:r>
            <a:endParaRPr/>
          </a:p>
          <a:p>
            <a:pPr marL="914400" marR="0" lvl="1" indent="-457200" algn="l" rtl="0">
              <a:spcBef>
                <a:spcPts val="0"/>
              </a:spcBef>
              <a:spcAft>
                <a:spcPts val="0"/>
              </a:spcAft>
              <a:buClr>
                <a:schemeClr val="dk1"/>
              </a:buClr>
              <a:buSzPts val="2000"/>
              <a:buFont typeface="Calibri"/>
              <a:buAutoNum type="arabicPeriod"/>
            </a:pPr>
            <a:r>
              <a:rPr lang="en-US" sz="2000" b="0" i="0" u="none" strike="noStrike" cap="none">
                <a:solidFill>
                  <a:schemeClr val="dk1"/>
                </a:solidFill>
                <a:latin typeface="Calibri"/>
                <a:ea typeface="Calibri"/>
                <a:cs typeface="Calibri"/>
                <a:sym typeface="Calibri"/>
              </a:rPr>
              <a:t>Java Full Stack: Java is known for its robust support for concurrency, making it suitable for large-scale applications.</a:t>
            </a:r>
            <a:endParaRPr/>
          </a:p>
          <a:p>
            <a:pPr marL="914400" marR="0" lvl="1" indent="-457200" algn="l" rtl="0">
              <a:spcBef>
                <a:spcPts val="0"/>
              </a:spcBef>
              <a:spcAft>
                <a:spcPts val="0"/>
              </a:spcAft>
              <a:buClr>
                <a:schemeClr val="dk1"/>
              </a:buClr>
              <a:buSzPts val="2000"/>
              <a:buFont typeface="Calibri"/>
              <a:buAutoNum type="arabicPeriod"/>
            </a:pPr>
            <a:r>
              <a:rPr lang="en-US" sz="2000" b="0" i="0" u="none" strike="noStrike" cap="none">
                <a:solidFill>
                  <a:schemeClr val="dk1"/>
                </a:solidFill>
                <a:latin typeface="Calibri"/>
                <a:ea typeface="Calibri"/>
                <a:cs typeface="Calibri"/>
                <a:sym typeface="Calibri"/>
              </a:rPr>
              <a:t>JavaScript Full Stack: Node.js is designed for handling a large number of simultaneous connections.</a:t>
            </a:r>
            <a:endParaRPr/>
          </a:p>
          <a:p>
            <a:pPr marL="342900" marR="0" lvl="0" indent="-215900" algn="l" rtl="0">
              <a:spcBef>
                <a:spcPts val="0"/>
              </a:spcBef>
              <a:spcAft>
                <a:spcPts val="0"/>
              </a:spcAft>
              <a:buClr>
                <a:schemeClr val="dk1"/>
              </a:buClr>
              <a:buSzPts val="2000"/>
              <a:buFont typeface="Arial"/>
              <a:buNone/>
            </a:pP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Community and Job Market:</a:t>
            </a:r>
            <a:endParaRPr/>
          </a:p>
          <a:p>
            <a:pPr marL="914400" marR="0" lvl="1" indent="-457200" algn="l" rtl="0">
              <a:spcBef>
                <a:spcPts val="0"/>
              </a:spcBef>
              <a:spcAft>
                <a:spcPts val="0"/>
              </a:spcAft>
              <a:buClr>
                <a:schemeClr val="dk1"/>
              </a:buClr>
              <a:buSzPts val="2000"/>
              <a:buFont typeface="Calibri"/>
              <a:buAutoNum type="arabicPeriod"/>
            </a:pPr>
            <a:r>
              <a:rPr lang="en-US" sz="2000" b="0" i="0" u="none" strike="noStrike" cap="none">
                <a:solidFill>
                  <a:schemeClr val="dk1"/>
                </a:solidFill>
                <a:latin typeface="Calibri"/>
                <a:ea typeface="Calibri"/>
                <a:cs typeface="Calibri"/>
                <a:sym typeface="Calibri"/>
              </a:rPr>
              <a:t>Java Full Stack: Established in enterprise environments with a large community. Many job opportunities.</a:t>
            </a:r>
            <a:endParaRPr/>
          </a:p>
          <a:p>
            <a:pPr marL="914400" marR="0" lvl="1" indent="-457200" algn="l" rtl="0">
              <a:spcBef>
                <a:spcPts val="0"/>
              </a:spcBef>
              <a:spcAft>
                <a:spcPts val="0"/>
              </a:spcAft>
              <a:buClr>
                <a:schemeClr val="dk1"/>
              </a:buClr>
              <a:buSzPts val="2000"/>
              <a:buFont typeface="Calibri"/>
              <a:buAutoNum type="arabicPeriod"/>
            </a:pPr>
            <a:r>
              <a:rPr lang="en-US" sz="2000" b="0" i="0" u="none" strike="noStrike" cap="none">
                <a:solidFill>
                  <a:schemeClr val="dk1"/>
                </a:solidFill>
                <a:latin typeface="Calibri"/>
                <a:ea typeface="Calibri"/>
                <a:cs typeface="Calibri"/>
                <a:sym typeface="Calibri"/>
              </a:rPr>
              <a:t>JavaScript Full Stack: Extremely popular in web development, especially in startups and smaller teams. High demand for developers.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just" rtl="0">
              <a:spcBef>
                <a:spcPts val="0"/>
              </a:spcBef>
              <a:spcAft>
                <a:spcPts val="0"/>
              </a:spcAft>
              <a:buNone/>
            </a:pPr>
            <a:r>
              <a:rPr lang="en-US" sz="2800">
                <a:solidFill>
                  <a:srgbClr val="C00000"/>
                </a:solidFill>
                <a:latin typeface="Calibri"/>
                <a:ea typeface="Calibri"/>
                <a:cs typeface="Calibri"/>
                <a:sym typeface="Calibri"/>
              </a:rPr>
              <a:t>In summary, the choice between Java Full Stack and JavaScript Full Stack often depends on factors such as existing infrastructure, team expertise, project requirements, and personal preferences.</a:t>
            </a:r>
            <a:endParaRPr/>
          </a:p>
          <a:p>
            <a:pPr marL="0" marR="0" lvl="0" indent="0" algn="just" rtl="0">
              <a:spcBef>
                <a:spcPts val="0"/>
              </a:spcBef>
              <a:spcAft>
                <a:spcPts val="0"/>
              </a:spcAft>
              <a:buNone/>
            </a:pPr>
            <a:r>
              <a:rPr lang="en-US" sz="2800">
                <a:solidFill>
                  <a:srgbClr val="C00000"/>
                </a:solidFill>
                <a:latin typeface="Calibri"/>
                <a:ea typeface="Calibri"/>
                <a:cs typeface="Calibri"/>
                <a:sym typeface="Calibri"/>
              </a:rPr>
              <a:t>Both stacks are capable of building powerful and scalable applications, and decision may be influenced by the specific needs of a given project or organization.</a:t>
            </a:r>
            <a:endParaRPr sz="2800">
              <a:solidFill>
                <a:srgbClr val="C00000"/>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59"/>
          <p:cNvSpPr/>
          <p:nvPr/>
        </p:nvSpPr>
        <p:spPr>
          <a:xfrm>
            <a:off x="0" y="159910"/>
            <a:ext cx="11874321" cy="732508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rgbClr val="C00000"/>
                </a:solidFill>
                <a:latin typeface="Calibri"/>
                <a:ea typeface="Calibri"/>
                <a:cs typeface="Calibri"/>
                <a:sym typeface="Calibri"/>
              </a:rPr>
              <a:t>List possible full stack technology for enterprise computing</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For enterprise computing, where the development of large-scale, mission-critical applications is common, a full-stack technology stack should be robust, scalable, and capable of handling complex business requirements. Here is a list of possible full-stack technologies suitable for enterprise computing:</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Backend Technologies: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Java Full Stack:</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Backend Language: Java</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Frameworks: Spring Boot, Java EE, Play Framework</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Database: MySQL, PostgreSQL, Oracle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ORM: Hibernate</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JavaScript Full Stack (Node.js):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Backend Language: JavaScript (Node.js)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Frameworks: Express.js, Nest.js, Koa.js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Database: MongoDB (NoSQL), PostgreSQL</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ORM: Mongoose (for MongoDB)</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Python Full Stack:</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Backend Language: Python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Frameworks: Django, Flask</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Database: PostgreSQL, MySQL, SQLite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ORM: Django ORM</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60"/>
          <p:cNvSpPr/>
          <p:nvPr/>
        </p:nvSpPr>
        <p:spPr>
          <a:xfrm>
            <a:off x="154546" y="444884"/>
            <a:ext cx="11874322" cy="590931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.NET Full Stack:</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Backend Language: C# (ASP.NET)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Frameworks: ASP.NET MVC, ASP.NET Core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Database: Microsoft SQL Server</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ORM: Entity Framework</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Frontend Technologies: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React Full Stack:</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Frontend Library: React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Backend Language: JavaScript (Node.js)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Frameworks: Express.js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Database: MongoDB, PostgreSQL</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Build Tools: Webpack, Babel</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Angular Full Stack:</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Frontend Framework: Angular</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Backend Language: TypeScript (Node.js)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Frameworks: Express.js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Database: MongoDB, PostgreSQL</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Build Tools: Angular CLI</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61"/>
          <p:cNvSpPr/>
          <p:nvPr/>
        </p:nvSpPr>
        <p:spPr>
          <a:xfrm>
            <a:off x="343438" y="1691"/>
            <a:ext cx="11848562" cy="590931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Vue.js Full Stack:</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Frontend Framework: Vue.js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Backend Language: JavaScript (Node.js)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Frameworks: Express.js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Database: MongoDB, PostgreSQL</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Build Tools: Webpack, Babel</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Full-Stack Frameworks: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MEAN Stack:</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Frontend Framework: Angular</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Backend Language: JavaScript (Node.js)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Backend Framework: Express.js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Database: MongoDB</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Build Tools: Angular CLI</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MERN Stack:</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Frontend Framework: React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Backend Language: JavaScript (Node.js)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Backend Framework: Express.js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Database: MongoDB</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Build Tools: Webpack, Babel</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62"/>
          <p:cNvSpPr/>
          <p:nvPr/>
        </p:nvSpPr>
        <p:spPr>
          <a:xfrm>
            <a:off x="154546" y="461879"/>
            <a:ext cx="12037454" cy="53553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Django Full Stack:</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Frontend Language: HTML, CSS, JavaScript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Backend Language: Python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Backend Framework: Django</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Database: PostgreSQL, MySQL</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Spring Full Stack:</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Frontend Language: HTML, CSS, JavaScript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Backend Language: Java</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Backend Framework: Spring Boot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Database: MySQL, PostgreSQL, Oracle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ORM: Hibernate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Database and Infrastructure: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Relational Database Systems: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MySQL, PostgreSQL, Microsoft SQL Server, Oracle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NoSQL Database Systems: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MongoDB, Cassandra, Redis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Containerization and Orchestration: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Docker for containerization, Kubernetes for orchestration</a:t>
            </a:r>
            <a:endParaRPr sz="1800">
              <a:solidFill>
                <a:schemeClr val="dk1"/>
              </a:solidFill>
              <a:latin typeface="Calibri"/>
              <a:ea typeface="Calibri"/>
              <a:cs typeface="Calibri"/>
              <a:sym typeface="Calibri"/>
            </a:endParaRPr>
          </a:p>
        </p:txBody>
      </p:sp>
      <p:sp>
        <p:nvSpPr>
          <p:cNvPr id="356" name="Google Shape;356;p62"/>
          <p:cNvSpPr/>
          <p:nvPr/>
        </p:nvSpPr>
        <p:spPr>
          <a:xfrm>
            <a:off x="5495637" y="646545"/>
            <a:ext cx="6567054" cy="517064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Cloud Platforms: Amazon Web Services (AWS), Microsoft Azure, Google Cloud Platform (GCP)</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Message Brokers: Apache Kafka, RabbitMQ</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Monitoring and Logging:  ELK Stack (Elasticsearch, Logstash, Kibana), Prometheus, Grafana</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CI/CD Tools:  Jenkins, GitLab CI, Travis CI</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Authentication and Authorization:  OAuth, OpenID Connect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Micro services and Service Mesh:   Spring Cloud (for Java), Istio</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rgbClr val="C00000"/>
                </a:solidFill>
                <a:latin typeface="Calibri"/>
                <a:ea typeface="Calibri"/>
                <a:cs typeface="Calibri"/>
                <a:sym typeface="Calibri"/>
              </a:rPr>
              <a:t>Choosing the right technology stack for enterprise computing depends on factors such as project requirements, team expertise, scalability needs, and the organization's existing infrastructure. It's important to carefully evaluate and select technologies that align with the specific goals and challenges of enterprise applications.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63"/>
          <p:cNvSpPr/>
          <p:nvPr/>
        </p:nvSpPr>
        <p:spPr>
          <a:xfrm>
            <a:off x="0" y="0"/>
            <a:ext cx="12192000" cy="674030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rgbClr val="FF0000"/>
                </a:solidFill>
                <a:latin typeface="Calibri"/>
                <a:ea typeface="Calibri"/>
                <a:cs typeface="Calibri"/>
                <a:sym typeface="Calibri"/>
              </a:rPr>
              <a:t>JavaScript is a versatile programming language that is commonly used in various layers or tiers of enterprise applications. Here are some pros and cons of using JavaScript in different layers of enterprise applications: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Pros: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1. Versatility: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Pros in Presentation Layer (Client-Side): JavaScript is primarily known for its use in the browser, enabling dynamic and interactive user interfaces. It allows for responsive and engaging client-side applications.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Pros in Server-Side (Node.js): JavaScript can be used on the server-side with technologies like Node.js, providing a unified language stack across both client and server. This can simplify development and maintenance.</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2. Large Developer Community: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Pros in all Layers: JavaScript has a massive and active developer community, which means extensive resources, libraries, and frameworks are available. This can accelerate development and troubleshooting.</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3. Asynchronous Programming:</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Pros in Server-Side: Asynchronous programming in JavaScript, especially with Node.js, can lead to efficient handling of concurrent requests, making it suitable for building scalable server applications.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4. Cross-Browser Compatibility: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Pros in Presentation Layer: JavaScript helps in achieving cross-browser compatibility, ensuring a consistent user experience across different web browsers.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5. Open Source Ecosystem:</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Pros in all Layers: There is a rich ecosystem of open-source libraries and frameworks (e.g., React, Angular, Vue.js) that can be leveraged for rapid development and maintenance.</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64"/>
          <p:cNvSpPr/>
          <p:nvPr/>
        </p:nvSpPr>
        <p:spPr>
          <a:xfrm>
            <a:off x="0" y="128789"/>
            <a:ext cx="11694018" cy="618630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rgbClr val="FF0000"/>
                </a:solidFill>
                <a:latin typeface="Calibri"/>
                <a:ea typeface="Calibri"/>
                <a:cs typeface="Calibri"/>
                <a:sym typeface="Calibri"/>
              </a:rPr>
              <a:t>Cons of Java Script:</a:t>
            </a:r>
            <a:endParaRPr sz="2000">
              <a:solidFill>
                <a:srgbClr val="FF0000"/>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1. Security Concerns: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Cons in all Layers: JavaScript being executed on the client-side poses security risks, such as Cross-Site Scripting (XSS) attacks. Proper security measures need to be implemented to mitigate these risks.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2. Performance Challenges: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Cons in Server-Side: While Node.js is efficient for handling a large number of concurrent connections, it may not be the best choice for computationally intensive tasks. In some cases, traditional server-side languages might offer better performance.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3. Dependency Management: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Cons in all Layers: Managing dependencies, especially in large projects with numerous third-party libraries and frameworks, can be challenging. Version conflicts and updates may lead to compatibility issues.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4. Single-Threaded Nature: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Cons in Server-Side: Node.js operates on a single thread, which can limit performance in certain scenarios. CPU-intensive tasks may block the event loop, affecting responsiveness.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5. Learning Curve: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Cons in all Layers: JavaScript has evolved over the years, and keeping up with the latest features and best practices can be demanding. Additionally, choosing the right combination of frameworks and libraries may require a significant learning curve.</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rgbClr val="C00000"/>
                </a:solidFill>
                <a:latin typeface="Calibri"/>
                <a:ea typeface="Calibri"/>
                <a:cs typeface="Calibri"/>
                <a:sym typeface="Calibri"/>
              </a:rPr>
              <a:t>In conclusion, while JavaScript is widely used in various layers of enterprise applications and offers several advantages, it is essential to carefully consider the specific requirements and challenges of each layer to make informed decisions about its usage.</a:t>
            </a:r>
            <a:endParaRPr sz="2400">
              <a:solidFill>
                <a:srgbClr val="C00000"/>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65"/>
          <p:cNvSpPr/>
          <p:nvPr/>
        </p:nvSpPr>
        <p:spPr>
          <a:xfrm>
            <a:off x="141668" y="-48593"/>
            <a:ext cx="11951594" cy="729430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Cons: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Security Concerns: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Client-Side Security Risks: Since JavaScript code is executed on the client side, it may expose vulnerabilities, and developers need to implement security measures to protect against cross-site scripting (XSS) attacks.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Performance Challenges: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Single-Threaded Execution: JavaScript is single-threaded, which may lead to performance bottlenecks in CPU-bound tasks. Although asynchronous programming helps mitigate this, computationally intensive tasks can still be a challenge.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Dependency Management: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Overreliance on Frameworks: Depending heavily on frameworks and libraries may lead to issues related to dependency management, version compatibility, and potential future obsolescence.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SEO Concerns: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Search Engine Optimization (SEO): Client-side rendering (CSR) may have implications for SEO, as search engines might struggle to index content that is dynamically loaded using JavaScript.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Learning Curve: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Complexity of Frameworks: Some JavaScript frameworks can have a steep learning curve, especially for beginners. Developers need to invest time in understanding and mastering the chosen tools.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Limited Offline Capabilities: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Dependency on Internet: JavaScript-heavy applications may have limited functionality when offline, as they often rely on fetching data dynamically from servers.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Tooling Overhead:</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Build Tools and Bundlers: Modern JavaScript development often involves complex build tools and bundlers, which can add overhead to the development process.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In conclusion, while JavaScript is a powerful and widely adopted language, its usage across all layers of enterprise applications requires careful consideration of the specific needs and challenges of the project. It's essential to weigh the pros and cons based on factors such as security, performance, and the expertise of the development team.</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66"/>
          <p:cNvSpPr/>
          <p:nvPr/>
        </p:nvSpPr>
        <p:spPr>
          <a:xfrm>
            <a:off x="0" y="49224"/>
            <a:ext cx="12093262" cy="624786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rgbClr val="FF0000"/>
                </a:solidFill>
                <a:latin typeface="Calibri"/>
                <a:ea typeface="Calibri"/>
                <a:cs typeface="Calibri"/>
                <a:sym typeface="Calibri"/>
              </a:rPr>
              <a:t>JavaScript is a versatile and widely used programming language, and its usage across all layers or tiers of enterprise applications comes with both advantages and disadvantages. Here are some pros and cons: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Pros: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Versatility: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Client-Side and Server-Side Development: JavaScript can be used for both client-side (browser) and server-side (Node.js) development, providing a unified language across different layers.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Large Ecosystem:</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Rich Libraries and Frameworks: JavaScript has a vast ecosystem with numerous libraries and frameworks (e.g., React, Angular, Vue.js) that facilitate rapid development and enhance functionality.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Cross-Browser Compatibility: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Widespread Browser Support: JavaScript is supported by all major web browsers, ensuring cross-browser compatibility and a consistent user experience.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Asynchronous Programming:</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Event-Driven Model: JavaScript's asynchronous nature is beneficial for handling concurrent operations, making it suitable for handling a large number of requests simultaneously.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Community and Support: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Active Community: There is a large and active JavaScript community, providing support, sharing knowledge, and contributing to the improvement of tools and frameworks.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Fast Development: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Rapid Prototyping: JavaScript allows for quick prototyping and development, contributing to faster time-to-market for applications.</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67"/>
          <p:cNvSpPr/>
          <p:nvPr/>
        </p:nvSpPr>
        <p:spPr>
          <a:xfrm>
            <a:off x="141668" y="10377"/>
            <a:ext cx="11951594" cy="683264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rgbClr val="FF0000"/>
                </a:solidFill>
                <a:latin typeface="Calibri"/>
                <a:ea typeface="Calibri"/>
                <a:cs typeface="Calibri"/>
                <a:sym typeface="Calibri"/>
              </a:rPr>
              <a:t>Java is a popular and versatile programming language that has been widely used in the development of enterprise applications across various layers and tiers. Here are some pros and cons of using Java in different layers of enterprise applications: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Pros: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Portability: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Write Once, Run Anywhere (WORA): Java's platform independence allows applications to run on any device with a Java Virtual Machine (JVM), promoting portability across different operating systems.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Strong Ecosystem:</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Rich Set of Libraries and Frameworks: Java has a vast ecosystem with libraries (e.g., Apache Commons, Guava) and frameworks (e.g., Spring, Hibernate) that expedite development and enhance functionality.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Enterprise-Level Support: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Mature for Enterprise Development: Java is well-established in enterprise environments, providing stability, reliability, and strong support from the community and vendors.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Scalability: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Suitable for Large-Scale Applications: Java's architecture and tools make it well-suited for building scalable and robust applications, handling increased loads and concurrent users.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Multithreading Support: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Concurrent Programming: Java's built-in support for multithreading makes it suitable for developing applications that require efficient concurrent processing.</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Security Features: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Security Measures: Java incorporates security features, such as a robust security model, which helps protect against common security threats.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Community and Documentation: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Active Community: Java has a large and active developer community, providing ample resources, documentation, and support.</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68"/>
          <p:cNvSpPr/>
          <p:nvPr/>
        </p:nvSpPr>
        <p:spPr>
          <a:xfrm>
            <a:off x="0" y="-284750"/>
            <a:ext cx="12191999" cy="701730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Cons: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Verbose Syntax:</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Boilerplate Code: Java is often criticized for its verbosity, requiring more lines of code for certain tasks compared to other modern languages. This can slow down development.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Memory Consumption: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Higher Memory Usage: Java applications can have higher memory consumption due to the overhead of the JVM. While improvements have been made, memory efficiency remains a consideration.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Slower Startup Times: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Cold Start Performance: Java applications might have slower startup times compared to some other languages, especially in scenarios where quick initialization is crucial.</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Learning Curve: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Complexity for Beginners: Java, with its extensive libraries and frameworks, can have a steeper learning curve for beginners compared to simpler languages.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Mobile Development Challenges: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Mobile Application Development: While Java is commonly used for Android development, its role in cross-platform mobile development is limited compared to languages like Swift or Kotlin.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Lack of Modern Language Features: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Late Adoption of Modern Language Features: Java's release cycle historically led to a slower adoption of some modern language features, although recent versions have addressed this to some extent.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Limited Support for Functional Programming:</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Functional Programming Limitations: While Java has introduced functional programming features in recent versions, it may not be as expressive as some other languages designed with functional programming in mind.</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In conclusion, Java has been a cornerstone in enterprise development for many years, offering stability, portability, and a robust ecosystem. However, developers should be mindful of potential downsides, such as verbosity and slower startup times, and consider specific project requirements when choosing Java for different layers of an enterprise application.</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69"/>
          <p:cNvSpPr/>
          <p:nvPr/>
        </p:nvSpPr>
        <p:spPr>
          <a:xfrm>
            <a:off x="1" y="319493"/>
            <a:ext cx="12265890" cy="544764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rgbClr val="FF0000"/>
                </a:solidFill>
                <a:latin typeface="Calibri"/>
                <a:ea typeface="Calibri"/>
                <a:cs typeface="Calibri"/>
                <a:sym typeface="Calibri"/>
              </a:rPr>
              <a:t>Choosing the right full stack for enterprise applications depends on various factors, including the specific requirements of your project, the scalability needs, team expertise, and other considerations. Here are some popular full-stack combinations that are often considered suitable for building enterprise applications</a:t>
            </a: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Java Spring Boot + React: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Backend: Java Spring Boot provides a robust and scalable backend with a wide range of features for enterprise applications.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Frontend: React is a powerful JavaScript library for building user interfaces, and it can be integrated with Java Spring Boot through RESTful APIs.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.NET Core + Angular:</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Backend: .NET Core is a cross-platform, high-performance framework that is well-suited for building scalable and secure enterprise applications.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Frontend: Angular, developed and maintained by Google, offers a comprehensive framework for building dynamic and responsive web applications.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Node.js + Express + React or Vue.js: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Backend: Node.js with Express is a popular choice for building lightweight, fast, and scalable server-side applications.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Frontend: React or Vue.js can be used for building dynamic and interactive user interfaces that communicate with the Node.js backend.</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70"/>
          <p:cNvSpPr/>
          <p:nvPr/>
        </p:nvSpPr>
        <p:spPr>
          <a:xfrm>
            <a:off x="92365" y="160903"/>
            <a:ext cx="11970326" cy="661719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Python Django + Vue.js: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Backend: Django is a high-level Python web framework known for its simplicity and rapid development capabilities.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Frontend: Vue.js is a progressive JavaScript framework that can be easily integrated with Django for building modern and efficient user interfaces.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Ruby on Rails + React or Angular:</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Backend: Ruby on Rails is a web application framework written in Ruby, known for its simplicity and convention over configuration.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Frontend: React or Angular can be integrated with Ruby on Rails to build feature-rich and interactive user interfaces.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MEAN Stack (MongoDB, Express.js, Angular, Node.js):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Backend: MongoDB (NoSQL) for the database, Express.js for the server, and Node.js for server-side JavaScript.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Frontend: Angular for building dynamic and single-page applications.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MERN Stack (MongoDB, Express.js, React, Node.js):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Backend: MongoDB, Express.js, and Node.js.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Frontend: React for building modern and responsive user interfaces.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rgbClr val="C00000"/>
                </a:solidFill>
                <a:latin typeface="Calibri"/>
                <a:ea typeface="Calibri"/>
                <a:cs typeface="Calibri"/>
                <a:sym typeface="Calibri"/>
              </a:rPr>
              <a:t>When choosing a full stack for enterprise applications, consider factors such as development speed, scalability, maintainability, community support, and the availability of relevant libraries and tools. Additionally, ensure that your team has expertise in the selected stack to ensure efficient development and long-term maintainability. Ultimately, the suitability of a full stack for enterprise applications depends on the specific needs and constraints of your project.</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71"/>
          <p:cNvSpPr/>
          <p:nvPr/>
        </p:nvSpPr>
        <p:spPr>
          <a:xfrm>
            <a:off x="0" y="0"/>
            <a:ext cx="12101848" cy="243143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a:solidFill>
                  <a:srgbClr val="C00000"/>
                </a:solidFill>
                <a:latin typeface="Calibri"/>
                <a:ea typeface="Calibri"/>
                <a:cs typeface="Calibri"/>
                <a:sym typeface="Calibri"/>
              </a:rPr>
              <a:t>Definition of Frontend</a:t>
            </a:r>
            <a:endParaRPr/>
          </a:p>
          <a:p>
            <a:pPr marL="285750" marR="0" lvl="0" indent="-28575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Frontend refers to the part of web development that involves designing and creating the UI &amp; UX of a website or application.</a:t>
            </a:r>
            <a:endParaRPr/>
          </a:p>
          <a:p>
            <a:pPr marL="285750" marR="0" lvl="0" indent="-28575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It encompasses the visual elements, layout, and interactive components that users directly interact with. </a:t>
            </a:r>
            <a:endParaRPr sz="2400">
              <a:solidFill>
                <a:schemeClr val="dk1"/>
              </a:solidFill>
              <a:latin typeface="Calibri"/>
              <a:ea typeface="Calibri"/>
              <a:cs typeface="Calibri"/>
              <a:sym typeface="Calibri"/>
            </a:endParaRPr>
          </a:p>
          <a:p>
            <a:pPr marL="285750" marR="0" lvl="0" indent="-28575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It is the part of the website which is visible to us.</a:t>
            </a:r>
            <a:endParaRPr sz="2400">
              <a:solidFill>
                <a:schemeClr val="dk1"/>
              </a:solidFill>
              <a:latin typeface="Calibri"/>
              <a:ea typeface="Calibri"/>
              <a:cs typeface="Calibri"/>
              <a:sym typeface="Calibri"/>
            </a:endParaRPr>
          </a:p>
        </p:txBody>
      </p:sp>
      <p:pic>
        <p:nvPicPr>
          <p:cNvPr id="402" name="Google Shape;402;p71"/>
          <p:cNvPicPr preferRelativeResize="0"/>
          <p:nvPr/>
        </p:nvPicPr>
        <p:blipFill rotWithShape="1">
          <a:blip r:embed="rId3">
            <a:alphaModFix/>
          </a:blip>
          <a:srcRect l="3387" t="18889" r="2220" b="21111"/>
          <a:stretch/>
        </p:blipFill>
        <p:spPr>
          <a:xfrm>
            <a:off x="775855" y="2644050"/>
            <a:ext cx="10670217" cy="413534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graphicFrame>
        <p:nvGraphicFramePr>
          <p:cNvPr id="407" name="Google Shape;407;p72"/>
          <p:cNvGraphicFramePr/>
          <p:nvPr/>
        </p:nvGraphicFramePr>
        <p:xfrm>
          <a:off x="103029" y="244699"/>
          <a:ext cx="12028875" cy="6064175"/>
        </p:xfrm>
        <a:graphic>
          <a:graphicData uri="http://schemas.openxmlformats.org/drawingml/2006/table">
            <a:tbl>
              <a:tblPr>
                <a:noFill/>
                <a:tableStyleId>{FC9120A8-5EFD-48D4-9EBC-27F31F236AB9}</a:tableStyleId>
              </a:tblPr>
              <a:tblGrid>
                <a:gridCol w="2474150"/>
                <a:gridCol w="9554725"/>
              </a:tblGrid>
              <a:tr h="376300">
                <a:tc>
                  <a:txBody>
                    <a:bodyPr/>
                    <a:lstStyle/>
                    <a:p>
                      <a:pPr marL="0" marR="0" lvl="0" indent="0" algn="ctr" rtl="0">
                        <a:spcBef>
                          <a:spcPts val="0"/>
                        </a:spcBef>
                        <a:spcAft>
                          <a:spcPts val="0"/>
                        </a:spcAft>
                        <a:buNone/>
                      </a:pPr>
                      <a:r>
                        <a:rPr lang="en-US" sz="2000" b="1" u="none" strike="noStrike" cap="none">
                          <a:solidFill>
                            <a:srgbClr val="FFFFFF"/>
                          </a:solidFill>
                        </a:rPr>
                        <a:t>Feature</a:t>
                      </a:r>
                      <a:endParaRPr/>
                    </a:p>
                  </a:txBody>
                  <a:tcPr marL="44325" marR="44325" marT="22175" marB="221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306AAF"/>
                    </a:solidFill>
                  </a:tcPr>
                </a:tc>
                <a:tc>
                  <a:txBody>
                    <a:bodyPr/>
                    <a:lstStyle/>
                    <a:p>
                      <a:pPr marL="0" marR="0" lvl="0" indent="0" algn="ctr" rtl="0">
                        <a:spcBef>
                          <a:spcPts val="0"/>
                        </a:spcBef>
                        <a:spcAft>
                          <a:spcPts val="0"/>
                        </a:spcAft>
                        <a:buNone/>
                      </a:pPr>
                      <a:r>
                        <a:rPr lang="en-US" sz="2000" b="1" u="none" strike="noStrike" cap="none">
                          <a:solidFill>
                            <a:srgbClr val="FFFFFF"/>
                          </a:solidFill>
                        </a:rPr>
                        <a:t>Explanation</a:t>
                      </a:r>
                      <a:endParaRPr/>
                    </a:p>
                  </a:txBody>
                  <a:tcPr marL="44325" marR="44325" marT="22175" marB="221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306AAF"/>
                    </a:solidFill>
                  </a:tcPr>
                </a:tc>
              </a:tr>
              <a:tr h="1102825">
                <a:tc>
                  <a:txBody>
                    <a:bodyPr/>
                    <a:lstStyle/>
                    <a:p>
                      <a:pPr marL="0" marR="0" lvl="0" indent="0" algn="ctr" rtl="0">
                        <a:spcBef>
                          <a:spcPts val="0"/>
                        </a:spcBef>
                        <a:spcAft>
                          <a:spcPts val="0"/>
                        </a:spcAft>
                        <a:buNone/>
                      </a:pPr>
                      <a:r>
                        <a:rPr lang="en-US" sz="2000" b="1" u="none" strike="noStrike" cap="none"/>
                        <a:t>User Interface Design</a:t>
                      </a:r>
                      <a:endParaRPr sz="2000" u="none" strike="noStrike" cap="none"/>
                    </a:p>
                  </a:txBody>
                  <a:tcPr marL="44325" marR="44325" marT="22175" marB="221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cap="none"/>
                        <a:t>Frontend developers design visually appealing and intuitive layouts, ensuring a positive user experience through well-organized content, navigation, and interactive elements.</a:t>
                      </a:r>
                      <a:endParaRPr/>
                    </a:p>
                  </a:txBody>
                  <a:tcPr marL="44325" marR="44325" marT="22175" marB="221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r>
              <a:tr h="1102825">
                <a:tc>
                  <a:txBody>
                    <a:bodyPr/>
                    <a:lstStyle/>
                    <a:p>
                      <a:pPr marL="0" marR="0" lvl="0" indent="0" algn="ctr" rtl="0">
                        <a:spcBef>
                          <a:spcPts val="0"/>
                        </a:spcBef>
                        <a:spcAft>
                          <a:spcPts val="0"/>
                        </a:spcAft>
                        <a:buNone/>
                      </a:pPr>
                      <a:r>
                        <a:rPr lang="en-US" sz="2000" b="1" u="none" strike="noStrike"/>
                        <a:t>Responsive Design</a:t>
                      </a:r>
                      <a:endParaRPr sz="2000" u="none" strike="noStrike"/>
                    </a:p>
                  </a:txBody>
                  <a:tcPr marL="44325" marR="44325" marT="22175" marB="221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Frontend makes applications adaptable to various screen sizes and devices, ensuring consistent performance and usability across desktops, tablets, and mobile phones.</a:t>
                      </a:r>
                      <a:endParaRPr/>
                    </a:p>
                  </a:txBody>
                  <a:tcPr marL="44325" marR="44325" marT="22175" marB="221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r>
              <a:tr h="1102825">
                <a:tc>
                  <a:txBody>
                    <a:bodyPr/>
                    <a:lstStyle/>
                    <a:p>
                      <a:pPr marL="0" marR="0" lvl="0" indent="0" algn="ctr" rtl="0">
                        <a:spcBef>
                          <a:spcPts val="0"/>
                        </a:spcBef>
                        <a:spcAft>
                          <a:spcPts val="0"/>
                        </a:spcAft>
                        <a:buNone/>
                      </a:pPr>
                      <a:r>
                        <a:rPr lang="en-US" sz="2000" b="1" u="none" strike="noStrike"/>
                        <a:t>HTML Structure</a:t>
                      </a:r>
                      <a:endParaRPr sz="2000" u="none" strike="noStrike"/>
                    </a:p>
                  </a:txBody>
                  <a:tcPr marL="44325" marR="44325" marT="22175" marB="221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HyperText Markup Language (</a:t>
                      </a:r>
                      <a:r>
                        <a:rPr lang="en-US" sz="2000" u="sng" strike="noStrike">
                          <a:solidFill>
                            <a:schemeClr val="hlink"/>
                          </a:solidFill>
                          <a:hlinkClick r:id="rId3"/>
                        </a:rPr>
                        <a:t>HTML</a:t>
                      </a:r>
                      <a:r>
                        <a:rPr lang="en-US" sz="2000" u="none" strike="noStrike"/>
                        <a:t>) forms the structural foundation of web content, defining headings, paragraphs, lists, and other elements to present information logically.</a:t>
                      </a:r>
                      <a:endParaRPr/>
                    </a:p>
                  </a:txBody>
                  <a:tcPr marL="44325" marR="44325" marT="22175" marB="221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r>
              <a:tr h="1102825">
                <a:tc>
                  <a:txBody>
                    <a:bodyPr/>
                    <a:lstStyle/>
                    <a:p>
                      <a:pPr marL="0" marR="0" lvl="0" indent="0" algn="ctr" rtl="0">
                        <a:spcBef>
                          <a:spcPts val="0"/>
                        </a:spcBef>
                        <a:spcAft>
                          <a:spcPts val="0"/>
                        </a:spcAft>
                        <a:buNone/>
                      </a:pPr>
                      <a:r>
                        <a:rPr lang="en-US" sz="2000" b="1" u="none" strike="noStrike"/>
                        <a:t>Accessibility</a:t>
                      </a:r>
                      <a:endParaRPr sz="2000" u="none" strike="noStrike"/>
                    </a:p>
                  </a:txBody>
                  <a:tcPr marL="44325" marR="44325" marT="22175" marB="221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Implementing accessible design practices ensures that web content is usable by individuals with disabilities, adhering to </a:t>
                      </a:r>
                      <a:r>
                        <a:rPr lang="en-US" sz="2000" u="sng" strike="noStrike">
                          <a:solidFill>
                            <a:schemeClr val="hlink"/>
                          </a:solidFill>
                          <a:hlinkClick r:id="rId4"/>
                        </a:rPr>
                        <a:t>web accessibility guidelines and standards</a:t>
                      </a:r>
                      <a:r>
                        <a:rPr lang="en-US" sz="2000" u="none" strike="noStrike"/>
                        <a:t>.</a:t>
                      </a:r>
                      <a:endParaRPr/>
                    </a:p>
                  </a:txBody>
                  <a:tcPr marL="44325" marR="44325" marT="22175" marB="221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r>
              <a:tr h="1276575">
                <a:tc>
                  <a:txBody>
                    <a:bodyPr/>
                    <a:lstStyle/>
                    <a:p>
                      <a:pPr marL="0" marR="0" lvl="0" indent="0" algn="ctr" rtl="0">
                        <a:spcBef>
                          <a:spcPts val="0"/>
                        </a:spcBef>
                        <a:spcAft>
                          <a:spcPts val="0"/>
                        </a:spcAft>
                        <a:buNone/>
                      </a:pPr>
                      <a:r>
                        <a:rPr lang="en-US" sz="2000" b="1" u="none" strike="noStrike"/>
                        <a:t>Integration</a:t>
                      </a:r>
                      <a:endParaRPr sz="2000" u="none" strike="noStrike"/>
                    </a:p>
                  </a:txBody>
                  <a:tcPr marL="44325" marR="44325" marT="22175" marB="221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Frontend components often integrate with backend systems through APIs (Application Programming Interfaces) to fetch and display dynamic data, enhancing the application’s functionality.</a:t>
                      </a:r>
                      <a:endParaRPr/>
                    </a:p>
                  </a:txBody>
                  <a:tcPr marL="44325" marR="44325" marT="22175" marB="221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pic>
        <p:nvPicPr>
          <p:cNvPr id="412" name="Google Shape;412;p73"/>
          <p:cNvPicPr preferRelativeResize="0"/>
          <p:nvPr/>
        </p:nvPicPr>
        <p:blipFill rotWithShape="1">
          <a:blip r:embed="rId3">
            <a:alphaModFix/>
          </a:blip>
          <a:srcRect l="4129" t="13869" r="8584" b="14619"/>
          <a:stretch/>
        </p:blipFill>
        <p:spPr>
          <a:xfrm>
            <a:off x="1368634" y="2770375"/>
            <a:ext cx="9720076" cy="3981719"/>
          </a:xfrm>
          <a:prstGeom prst="rect">
            <a:avLst/>
          </a:prstGeom>
          <a:noFill/>
          <a:ln>
            <a:noFill/>
          </a:ln>
        </p:spPr>
      </p:pic>
      <p:sp>
        <p:nvSpPr>
          <p:cNvPr id="413" name="Google Shape;413;p73"/>
          <p:cNvSpPr/>
          <p:nvPr/>
        </p:nvSpPr>
        <p:spPr>
          <a:xfrm>
            <a:off x="0" y="68094"/>
            <a:ext cx="12192000" cy="2739211"/>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2800">
                <a:solidFill>
                  <a:srgbClr val="FF0000"/>
                </a:solidFill>
                <a:latin typeface="Calibri"/>
                <a:ea typeface="Calibri"/>
                <a:cs typeface="Calibri"/>
                <a:sym typeface="Calibri"/>
              </a:rPr>
              <a:t>What is Backend?</a:t>
            </a:r>
            <a:endParaRPr/>
          </a:p>
          <a:p>
            <a:pPr marL="457200" marR="0" lvl="0" indent="-457200" algn="just" rtl="0">
              <a:spcBef>
                <a:spcPts val="0"/>
              </a:spcBef>
              <a:spcAft>
                <a:spcPts val="0"/>
              </a:spcAft>
              <a:buClr>
                <a:srgbClr val="00B050"/>
              </a:buClr>
              <a:buSzPts val="2400"/>
              <a:buFont typeface="Arial"/>
              <a:buChar char="•"/>
            </a:pPr>
            <a:r>
              <a:rPr lang="en-US" sz="2400">
                <a:solidFill>
                  <a:srgbClr val="00B050"/>
                </a:solidFill>
                <a:latin typeface="Calibri"/>
                <a:ea typeface="Calibri"/>
                <a:cs typeface="Calibri"/>
                <a:sym typeface="Calibri"/>
              </a:rPr>
              <a:t>Backend refers to the technical foundation of a software application or website that operates behind the scenes. </a:t>
            </a:r>
            <a:endParaRPr sz="2400">
              <a:solidFill>
                <a:srgbClr val="00B050"/>
              </a:solidFill>
              <a:latin typeface="Calibri"/>
              <a:ea typeface="Calibri"/>
              <a:cs typeface="Calibri"/>
              <a:sym typeface="Calibri"/>
            </a:endParaRPr>
          </a:p>
          <a:p>
            <a:pPr marL="457200" marR="0" lvl="0" indent="-457200" algn="just" rtl="0">
              <a:spcBef>
                <a:spcPts val="0"/>
              </a:spcBef>
              <a:spcAft>
                <a:spcPts val="0"/>
              </a:spcAft>
              <a:buClr>
                <a:srgbClr val="00B050"/>
              </a:buClr>
              <a:buSzPts val="2400"/>
              <a:buFont typeface="Arial"/>
              <a:buChar char="•"/>
            </a:pPr>
            <a:r>
              <a:rPr lang="en-US" sz="2400">
                <a:solidFill>
                  <a:srgbClr val="00B050"/>
                </a:solidFill>
                <a:latin typeface="Calibri"/>
                <a:ea typeface="Calibri"/>
                <a:cs typeface="Calibri"/>
                <a:sym typeface="Calibri"/>
              </a:rPr>
              <a:t>The code that enables an application or software to run and cannot be viewed by a user is known as the back end. </a:t>
            </a:r>
            <a:endParaRPr sz="2400">
              <a:solidFill>
                <a:srgbClr val="00B050"/>
              </a:solidFill>
              <a:latin typeface="Calibri"/>
              <a:ea typeface="Calibri"/>
              <a:cs typeface="Calibri"/>
              <a:sym typeface="Calibri"/>
            </a:endParaRPr>
          </a:p>
          <a:p>
            <a:pPr marL="457200" marR="0" lvl="0" indent="-457200" algn="just" rtl="0">
              <a:spcBef>
                <a:spcPts val="0"/>
              </a:spcBef>
              <a:spcAft>
                <a:spcPts val="0"/>
              </a:spcAft>
              <a:buClr>
                <a:srgbClr val="00B050"/>
              </a:buClr>
              <a:buSzPts val="2400"/>
              <a:buFont typeface="Arial"/>
              <a:buChar char="•"/>
            </a:pPr>
            <a:r>
              <a:rPr lang="en-US" sz="2400">
                <a:solidFill>
                  <a:srgbClr val="00B050"/>
                </a:solidFill>
                <a:latin typeface="Calibri"/>
                <a:ea typeface="Calibri"/>
                <a:cs typeface="Calibri"/>
                <a:sym typeface="Calibri"/>
              </a:rPr>
              <a:t>The backend of a computer system is where most data and operating syntax are kept and accessed.</a:t>
            </a:r>
            <a:endParaRPr sz="2400">
              <a:solidFill>
                <a:srgbClr val="00B050"/>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graphicFrame>
        <p:nvGraphicFramePr>
          <p:cNvPr id="418" name="Google Shape;418;p74"/>
          <p:cNvGraphicFramePr/>
          <p:nvPr/>
        </p:nvGraphicFramePr>
        <p:xfrm>
          <a:off x="51516" y="0"/>
          <a:ext cx="12063200" cy="6399850"/>
        </p:xfrm>
        <a:graphic>
          <a:graphicData uri="http://schemas.openxmlformats.org/drawingml/2006/table">
            <a:tbl>
              <a:tblPr>
                <a:noFill/>
                <a:tableStyleId>{FC9120A8-5EFD-48D4-9EBC-27F31F236AB9}</a:tableStyleId>
              </a:tblPr>
              <a:tblGrid>
                <a:gridCol w="3750875"/>
                <a:gridCol w="8312325"/>
              </a:tblGrid>
              <a:tr h="201800">
                <a:tc>
                  <a:txBody>
                    <a:bodyPr/>
                    <a:lstStyle/>
                    <a:p>
                      <a:pPr marL="0" marR="0" lvl="0" indent="0" algn="ctr" rtl="0">
                        <a:spcBef>
                          <a:spcPts val="0"/>
                        </a:spcBef>
                        <a:spcAft>
                          <a:spcPts val="0"/>
                        </a:spcAft>
                        <a:buNone/>
                      </a:pPr>
                      <a:r>
                        <a:rPr lang="en-US" sz="2000" b="1" u="none" strike="noStrike">
                          <a:solidFill>
                            <a:srgbClr val="FFFFFF"/>
                          </a:solidFill>
                        </a:rPr>
                        <a:t>Feature</a:t>
                      </a:r>
                      <a:endParaRPr/>
                    </a:p>
                  </a:txBody>
                  <a:tcPr marL="37050" marR="37050" marT="18525" marB="185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306AAF"/>
                    </a:solidFill>
                  </a:tcPr>
                </a:tc>
                <a:tc>
                  <a:txBody>
                    <a:bodyPr/>
                    <a:lstStyle/>
                    <a:p>
                      <a:pPr marL="0" marR="0" lvl="0" indent="0" algn="ctr" rtl="0">
                        <a:spcBef>
                          <a:spcPts val="0"/>
                        </a:spcBef>
                        <a:spcAft>
                          <a:spcPts val="0"/>
                        </a:spcAft>
                        <a:buNone/>
                      </a:pPr>
                      <a:r>
                        <a:rPr lang="en-US" sz="2000" b="1" u="none" strike="noStrike">
                          <a:solidFill>
                            <a:srgbClr val="FFFFFF"/>
                          </a:solidFill>
                        </a:rPr>
                        <a:t>Explanation</a:t>
                      </a:r>
                      <a:endParaRPr/>
                    </a:p>
                  </a:txBody>
                  <a:tcPr marL="37050" marR="37050" marT="18525" marB="185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306AAF"/>
                    </a:solidFill>
                  </a:tcPr>
                </a:tc>
              </a:tr>
              <a:tr h="950700">
                <a:tc>
                  <a:txBody>
                    <a:bodyPr/>
                    <a:lstStyle/>
                    <a:p>
                      <a:pPr marL="0" marR="0" lvl="0" indent="0" algn="ctr" rtl="0">
                        <a:spcBef>
                          <a:spcPts val="0"/>
                        </a:spcBef>
                        <a:spcAft>
                          <a:spcPts val="0"/>
                        </a:spcAft>
                        <a:buNone/>
                      </a:pPr>
                      <a:r>
                        <a:rPr lang="en-US" sz="2000" b="1" u="none" strike="noStrike"/>
                        <a:t>Database Management</a:t>
                      </a:r>
                      <a:endParaRPr sz="2000" u="none" strike="noStrike"/>
                    </a:p>
                  </a:txBody>
                  <a:tcPr marL="37050" marR="37050" marT="18525" marB="185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sng" strike="noStrike">
                          <a:solidFill>
                            <a:schemeClr val="hlink"/>
                          </a:solidFill>
                          <a:hlinkClick r:id="rId3"/>
                        </a:rPr>
                        <a:t>Backend developers</a:t>
                      </a:r>
                      <a:r>
                        <a:rPr lang="en-US" sz="2000" u="none" strike="noStrike"/>
                        <a:t> design and manage databases where application data is stored. This involves creating efficient data schemas, optimizing queries, and ensuring data integrity.</a:t>
                      </a:r>
                      <a:endParaRPr/>
                    </a:p>
                  </a:txBody>
                  <a:tcPr marL="37050" marR="37050" marT="18525" marB="185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r>
              <a:tr h="651125">
                <a:tc>
                  <a:txBody>
                    <a:bodyPr/>
                    <a:lstStyle/>
                    <a:p>
                      <a:pPr marL="0" marR="0" lvl="0" indent="0" algn="ctr" rtl="0">
                        <a:spcBef>
                          <a:spcPts val="0"/>
                        </a:spcBef>
                        <a:spcAft>
                          <a:spcPts val="0"/>
                        </a:spcAft>
                        <a:buNone/>
                      </a:pPr>
                      <a:r>
                        <a:rPr lang="en-US" sz="2000" b="1" u="none" strike="noStrike"/>
                        <a:t>Server Management</a:t>
                      </a:r>
                      <a:endParaRPr sz="2000" u="none" strike="noStrike"/>
                    </a:p>
                  </a:txBody>
                  <a:tcPr marL="37050" marR="37050" marT="18525" marB="185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The backend includes the management of servers responsible for hosting the application and handling incoming user requests.</a:t>
                      </a:r>
                      <a:endParaRPr/>
                    </a:p>
                  </a:txBody>
                  <a:tcPr marL="37050" marR="37050" marT="18525" marB="185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r>
              <a:tr h="1100475">
                <a:tc>
                  <a:txBody>
                    <a:bodyPr/>
                    <a:lstStyle/>
                    <a:p>
                      <a:pPr marL="0" marR="0" lvl="0" indent="0" algn="ctr" rtl="0">
                        <a:spcBef>
                          <a:spcPts val="0"/>
                        </a:spcBef>
                        <a:spcAft>
                          <a:spcPts val="0"/>
                        </a:spcAft>
                        <a:buNone/>
                      </a:pPr>
                      <a:r>
                        <a:rPr lang="en-US" sz="2000" b="1" u="none" strike="noStrike"/>
                        <a:t>Authentication and Authorization</a:t>
                      </a:r>
                      <a:endParaRPr sz="2000" u="none" strike="noStrike"/>
                    </a:p>
                  </a:txBody>
                  <a:tcPr marL="37050" marR="37050" marT="18525" marB="185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Security is a fundamental concern for backend development. Backend systems manage user authentication (verifying user identities) and authorization (determining what actions users can perform).</a:t>
                      </a:r>
                      <a:endParaRPr/>
                    </a:p>
                  </a:txBody>
                  <a:tcPr marL="37050" marR="37050" marT="18525" marB="185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r>
              <a:tr h="950700">
                <a:tc>
                  <a:txBody>
                    <a:bodyPr/>
                    <a:lstStyle/>
                    <a:p>
                      <a:pPr marL="0" marR="0" lvl="0" indent="0" algn="ctr" rtl="0">
                        <a:spcBef>
                          <a:spcPts val="0"/>
                        </a:spcBef>
                        <a:spcAft>
                          <a:spcPts val="0"/>
                        </a:spcAft>
                        <a:buNone/>
                      </a:pPr>
                      <a:r>
                        <a:rPr lang="en-US" sz="2000" b="1" u="none" strike="noStrike"/>
                        <a:t>Data Processing</a:t>
                      </a:r>
                      <a:endParaRPr sz="2000" u="none" strike="noStrike"/>
                    </a:p>
                  </a:txBody>
                  <a:tcPr marL="37050" marR="37050" marT="18525" marB="185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Backend components process data from various sources. This could involve analyzing user inputs, performing calculations, aggregating data, and generating reports.</a:t>
                      </a:r>
                      <a:endParaRPr/>
                    </a:p>
                  </a:txBody>
                  <a:tcPr marL="37050" marR="37050" marT="18525" marB="185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r>
              <a:tr h="800925">
                <a:tc>
                  <a:txBody>
                    <a:bodyPr/>
                    <a:lstStyle/>
                    <a:p>
                      <a:pPr marL="0" marR="0" lvl="0" indent="0" algn="ctr" rtl="0">
                        <a:spcBef>
                          <a:spcPts val="0"/>
                        </a:spcBef>
                        <a:spcAft>
                          <a:spcPts val="0"/>
                        </a:spcAft>
                        <a:buNone/>
                      </a:pPr>
                      <a:r>
                        <a:rPr lang="en-US" sz="2000" b="1" u="none" strike="noStrike"/>
                        <a:t>API (Application Programming Interface)</a:t>
                      </a:r>
                      <a:endParaRPr sz="2000" u="none" strike="noStrike"/>
                    </a:p>
                  </a:txBody>
                  <a:tcPr marL="37050" marR="37050" marT="18525" marB="185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Backend developers design APIs that enable the frontend and external services to interact with the application’s data and functionality.</a:t>
                      </a:r>
                      <a:endParaRPr/>
                    </a:p>
                  </a:txBody>
                  <a:tcPr marL="37050" marR="37050" marT="18525" marB="185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r>
              <a:tr h="651125">
                <a:tc>
                  <a:txBody>
                    <a:bodyPr/>
                    <a:lstStyle/>
                    <a:p>
                      <a:pPr marL="0" marR="0" lvl="0" indent="0" algn="ctr" rtl="0">
                        <a:spcBef>
                          <a:spcPts val="0"/>
                        </a:spcBef>
                        <a:spcAft>
                          <a:spcPts val="0"/>
                        </a:spcAft>
                        <a:buNone/>
                      </a:pPr>
                      <a:r>
                        <a:rPr lang="en-US" sz="2000" b="1" u="none" strike="noStrike"/>
                        <a:t>Version Control and Deployment</a:t>
                      </a:r>
                      <a:endParaRPr sz="2000" u="none" strike="noStrike"/>
                    </a:p>
                  </a:txBody>
                  <a:tcPr marL="37050" marR="37050" marT="18525" marB="185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Backend developers use version control systems (e.g., Git) to manage code changes and collaborate effectively.</a:t>
                      </a:r>
                      <a:endParaRPr/>
                    </a:p>
                  </a:txBody>
                  <a:tcPr marL="37050" marR="37050" marT="18525" marB="185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r>
              <a:tr h="800925">
                <a:tc>
                  <a:txBody>
                    <a:bodyPr/>
                    <a:lstStyle/>
                    <a:p>
                      <a:pPr marL="0" marR="0" lvl="0" indent="0" algn="ctr" rtl="0">
                        <a:spcBef>
                          <a:spcPts val="0"/>
                        </a:spcBef>
                        <a:spcAft>
                          <a:spcPts val="0"/>
                        </a:spcAft>
                        <a:buNone/>
                      </a:pPr>
                      <a:r>
                        <a:rPr lang="en-US" sz="2000" b="1" u="none" strike="noStrike"/>
                        <a:t>Caching</a:t>
                      </a:r>
                      <a:endParaRPr sz="2000" u="none" strike="noStrike"/>
                    </a:p>
                  </a:txBody>
                  <a:tcPr marL="37050" marR="37050" marT="18525" marB="185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Caching involves storing frequently accessed data in a faster storage medium (like memory) to reduce the need to retrieve it from slower storage (like a database).</a:t>
                      </a:r>
                      <a:endParaRPr/>
                    </a:p>
                  </a:txBody>
                  <a:tcPr marL="37050" marR="37050" marT="18525" marB="185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graphicFrame>
        <p:nvGraphicFramePr>
          <p:cNvPr id="423" name="Google Shape;423;p75"/>
          <p:cNvGraphicFramePr/>
          <p:nvPr/>
        </p:nvGraphicFramePr>
        <p:xfrm>
          <a:off x="1" y="858013"/>
          <a:ext cx="12192000" cy="6288725"/>
        </p:xfrm>
        <a:graphic>
          <a:graphicData uri="http://schemas.openxmlformats.org/drawingml/2006/table">
            <a:tbl>
              <a:tblPr>
                <a:noFill/>
                <a:tableStyleId>{FC9120A8-5EFD-48D4-9EBC-27F31F236AB9}</a:tableStyleId>
              </a:tblPr>
              <a:tblGrid>
                <a:gridCol w="3462725"/>
                <a:gridCol w="4664925"/>
                <a:gridCol w="4064350"/>
              </a:tblGrid>
              <a:tr h="351575">
                <a:tc>
                  <a:txBody>
                    <a:bodyPr/>
                    <a:lstStyle/>
                    <a:p>
                      <a:pPr marL="0" marR="0" lvl="0" indent="0" algn="ctr" rtl="0">
                        <a:spcBef>
                          <a:spcPts val="0"/>
                        </a:spcBef>
                        <a:spcAft>
                          <a:spcPts val="0"/>
                        </a:spcAft>
                        <a:buNone/>
                      </a:pPr>
                      <a:r>
                        <a:rPr lang="en-US" sz="2000" b="1" u="none" strike="noStrike">
                          <a:solidFill>
                            <a:srgbClr val="FFFFFF"/>
                          </a:solidFill>
                        </a:rPr>
                        <a:t>Aspect</a:t>
                      </a:r>
                      <a:endParaRPr/>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306AAF"/>
                    </a:solidFill>
                  </a:tcPr>
                </a:tc>
                <a:tc>
                  <a:txBody>
                    <a:bodyPr/>
                    <a:lstStyle/>
                    <a:p>
                      <a:pPr marL="0" marR="0" lvl="0" indent="0" algn="ctr" rtl="0">
                        <a:spcBef>
                          <a:spcPts val="0"/>
                        </a:spcBef>
                        <a:spcAft>
                          <a:spcPts val="0"/>
                        </a:spcAft>
                        <a:buNone/>
                      </a:pPr>
                      <a:r>
                        <a:rPr lang="en-US" sz="2000" b="1" u="none" strike="noStrike">
                          <a:solidFill>
                            <a:srgbClr val="FFFFFF"/>
                          </a:solidFill>
                        </a:rPr>
                        <a:t>Frontend Development</a:t>
                      </a:r>
                      <a:endParaRPr/>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306AAF"/>
                    </a:solidFill>
                  </a:tcPr>
                </a:tc>
                <a:tc>
                  <a:txBody>
                    <a:bodyPr/>
                    <a:lstStyle/>
                    <a:p>
                      <a:pPr marL="0" marR="0" lvl="0" indent="0" algn="ctr" rtl="0">
                        <a:spcBef>
                          <a:spcPts val="0"/>
                        </a:spcBef>
                        <a:spcAft>
                          <a:spcPts val="0"/>
                        </a:spcAft>
                        <a:buNone/>
                      </a:pPr>
                      <a:r>
                        <a:rPr lang="en-US" sz="2000" b="1" u="none" strike="noStrike">
                          <a:solidFill>
                            <a:srgbClr val="FFFFFF"/>
                          </a:solidFill>
                        </a:rPr>
                        <a:t>Backend Development</a:t>
                      </a:r>
                      <a:endParaRPr/>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306AAF"/>
                    </a:solidFill>
                  </a:tcPr>
                </a:tc>
              </a:tr>
              <a:tr h="634450">
                <a:tc>
                  <a:txBody>
                    <a:bodyPr/>
                    <a:lstStyle/>
                    <a:p>
                      <a:pPr marL="0" marR="0" lvl="0" indent="0" algn="ctr" rtl="0">
                        <a:spcBef>
                          <a:spcPts val="0"/>
                        </a:spcBef>
                        <a:spcAft>
                          <a:spcPts val="0"/>
                        </a:spcAft>
                        <a:buNone/>
                      </a:pPr>
                      <a:r>
                        <a:rPr lang="en-US" sz="2000" b="1" u="none" strike="noStrike"/>
                        <a:t>Focus</a:t>
                      </a:r>
                      <a:endParaRPr sz="2000" u="none" strike="noStrike"/>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User interface and user experience.</a:t>
                      </a:r>
                      <a:endParaRPr/>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Server-side logic, data processing, and storage.</a:t>
                      </a:r>
                      <a:endParaRPr/>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r>
              <a:tr h="351575">
                <a:tc>
                  <a:txBody>
                    <a:bodyPr/>
                    <a:lstStyle/>
                    <a:p>
                      <a:pPr marL="0" marR="0" lvl="0" indent="0" algn="ctr" rtl="0">
                        <a:spcBef>
                          <a:spcPts val="0"/>
                        </a:spcBef>
                        <a:spcAft>
                          <a:spcPts val="0"/>
                        </a:spcAft>
                        <a:buNone/>
                      </a:pPr>
                      <a:r>
                        <a:rPr lang="en-US" sz="2000" b="1" u="none" strike="noStrike"/>
                        <a:t>Independency</a:t>
                      </a:r>
                      <a:endParaRPr sz="2000" u="none" strike="noStrike"/>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Cannot work without backend support</a:t>
                      </a:r>
                      <a:endParaRPr/>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Work independently of the frontend</a:t>
                      </a:r>
                      <a:endParaRPr/>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r>
              <a:tr h="634450">
                <a:tc>
                  <a:txBody>
                    <a:bodyPr/>
                    <a:lstStyle/>
                    <a:p>
                      <a:pPr marL="0" marR="0" lvl="0" indent="0" algn="ctr" rtl="0">
                        <a:spcBef>
                          <a:spcPts val="0"/>
                        </a:spcBef>
                        <a:spcAft>
                          <a:spcPts val="0"/>
                        </a:spcAft>
                        <a:buNone/>
                      </a:pPr>
                      <a:r>
                        <a:rPr lang="en-US" sz="2000" b="1" u="none" strike="noStrike"/>
                        <a:t>Responsibilities</a:t>
                      </a:r>
                      <a:endParaRPr sz="2000" u="none" strike="noStrike"/>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Designing, styling, and interactivity of UI.</a:t>
                      </a:r>
                      <a:endParaRPr/>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Handling server requests, data storage, and security.</a:t>
                      </a:r>
                      <a:endParaRPr/>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r>
              <a:tr h="351575">
                <a:tc>
                  <a:txBody>
                    <a:bodyPr/>
                    <a:lstStyle/>
                    <a:p>
                      <a:pPr marL="0" marR="0" lvl="0" indent="0" algn="ctr" rtl="0">
                        <a:spcBef>
                          <a:spcPts val="0"/>
                        </a:spcBef>
                        <a:spcAft>
                          <a:spcPts val="0"/>
                        </a:spcAft>
                        <a:buNone/>
                      </a:pPr>
                      <a:r>
                        <a:rPr lang="en-US" sz="2000" b="1" u="none" strike="noStrike"/>
                        <a:t>Skills Required</a:t>
                      </a:r>
                      <a:endParaRPr sz="2000" u="none" strike="noStrike"/>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HTML, CSS, SASS, and JavaScript</a:t>
                      </a:r>
                      <a:endParaRPr/>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Python, Ruby, Java, and PHP</a:t>
                      </a:r>
                      <a:endParaRPr/>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r>
              <a:tr h="634450">
                <a:tc>
                  <a:txBody>
                    <a:bodyPr/>
                    <a:lstStyle/>
                    <a:p>
                      <a:pPr marL="0" marR="0" lvl="0" indent="0" algn="ctr" rtl="0">
                        <a:spcBef>
                          <a:spcPts val="0"/>
                        </a:spcBef>
                        <a:spcAft>
                          <a:spcPts val="0"/>
                        </a:spcAft>
                        <a:buNone/>
                      </a:pPr>
                      <a:r>
                        <a:rPr lang="en-US" sz="2000" b="1" u="none" strike="noStrike"/>
                        <a:t>User Interaction</a:t>
                      </a:r>
                      <a:endParaRPr sz="2000" u="none" strike="noStrike"/>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Direct interaction with users.</a:t>
                      </a:r>
                      <a:endParaRPr/>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Indirect interaction via APIs and data exchange.</a:t>
                      </a:r>
                      <a:endParaRPr/>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r>
              <a:tr h="634450">
                <a:tc>
                  <a:txBody>
                    <a:bodyPr/>
                    <a:lstStyle/>
                    <a:p>
                      <a:pPr marL="0" marR="0" lvl="0" indent="0" algn="ctr" rtl="0">
                        <a:spcBef>
                          <a:spcPts val="0"/>
                        </a:spcBef>
                        <a:spcAft>
                          <a:spcPts val="0"/>
                        </a:spcAft>
                        <a:buNone/>
                      </a:pPr>
                      <a:r>
                        <a:rPr lang="en-US" sz="2000" b="1" u="none" strike="noStrike"/>
                        <a:t>Performance</a:t>
                      </a:r>
                      <a:endParaRPr sz="2000" u="none" strike="noStrike"/>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User interface responsiveness and smooth interactions.</a:t>
                      </a:r>
                      <a:endParaRPr/>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Server performance, response times, scalability</a:t>
                      </a:r>
                      <a:endParaRPr/>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r>
              <a:tr h="634450">
                <a:tc>
                  <a:txBody>
                    <a:bodyPr/>
                    <a:lstStyle/>
                    <a:p>
                      <a:pPr marL="0" marR="0" lvl="0" indent="0" algn="ctr" rtl="0">
                        <a:spcBef>
                          <a:spcPts val="0"/>
                        </a:spcBef>
                        <a:spcAft>
                          <a:spcPts val="0"/>
                        </a:spcAft>
                        <a:buNone/>
                      </a:pPr>
                      <a:r>
                        <a:rPr lang="en-US" sz="2000" b="1" u="none" strike="noStrike"/>
                        <a:t>Browser Compatibility</a:t>
                      </a:r>
                      <a:endParaRPr sz="2000" u="none" strike="noStrike"/>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Ensuring compatibility across various browsers.</a:t>
                      </a:r>
                      <a:endParaRPr/>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Browser-independent APIs ensure compatibility.</a:t>
                      </a:r>
                      <a:endParaRPr/>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r>
              <a:tr h="634450">
                <a:tc>
                  <a:txBody>
                    <a:bodyPr/>
                    <a:lstStyle/>
                    <a:p>
                      <a:pPr marL="0" marR="0" lvl="0" indent="0" algn="ctr" rtl="0">
                        <a:spcBef>
                          <a:spcPts val="0"/>
                        </a:spcBef>
                        <a:spcAft>
                          <a:spcPts val="0"/>
                        </a:spcAft>
                        <a:buNone/>
                      </a:pPr>
                      <a:r>
                        <a:rPr lang="en-US" sz="2000" b="1" u="none" strike="noStrike"/>
                        <a:t>Data Handling</a:t>
                      </a:r>
                      <a:endParaRPr sz="2000" u="none" strike="noStrike"/>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Limited data processing and validation.</a:t>
                      </a:r>
                      <a:endParaRPr/>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Complex data processing, database interactions.</a:t>
                      </a:r>
                      <a:endParaRPr/>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r>
              <a:tr h="634450">
                <a:tc>
                  <a:txBody>
                    <a:bodyPr/>
                    <a:lstStyle/>
                    <a:p>
                      <a:pPr marL="0" marR="0" lvl="0" indent="0" algn="ctr" rtl="0">
                        <a:spcBef>
                          <a:spcPts val="0"/>
                        </a:spcBef>
                        <a:spcAft>
                          <a:spcPts val="0"/>
                        </a:spcAft>
                        <a:buNone/>
                      </a:pPr>
                      <a:r>
                        <a:rPr lang="en-US" sz="2000" b="1" u="none" strike="noStrike"/>
                        <a:t>Security</a:t>
                      </a:r>
                      <a:endParaRPr sz="2000" u="none" strike="noStrike"/>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Limited user interaction, some input validation.</a:t>
                      </a:r>
                      <a:endParaRPr/>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Authentication, data encryption, access control.</a:t>
                      </a:r>
                      <a:endParaRPr/>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r>
              <a:tr h="634450">
                <a:tc>
                  <a:txBody>
                    <a:bodyPr/>
                    <a:lstStyle/>
                    <a:p>
                      <a:pPr marL="0" marR="0" lvl="0" indent="0" algn="ctr" rtl="0">
                        <a:spcBef>
                          <a:spcPts val="0"/>
                        </a:spcBef>
                        <a:spcAft>
                          <a:spcPts val="0"/>
                        </a:spcAft>
                        <a:buNone/>
                      </a:pPr>
                      <a:r>
                        <a:rPr lang="en-US" sz="2000" b="1" u="none" strike="noStrike"/>
                        <a:t>Example</a:t>
                      </a:r>
                      <a:endParaRPr sz="2000" u="none" strike="noStrike"/>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Displaying a dynamic news feed on a social media app.</a:t>
                      </a:r>
                      <a:endParaRPr/>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Processing and storing user registration data.</a:t>
                      </a:r>
                      <a:endParaRPr/>
                    </a:p>
                  </a:txBody>
                  <a:tcPr marL="44675" marR="44675" marT="22325" marB="2232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r>
            </a:tbl>
          </a:graphicData>
        </a:graphic>
      </p:graphicFrame>
      <p:sp>
        <p:nvSpPr>
          <p:cNvPr id="424" name="Google Shape;424;p75"/>
          <p:cNvSpPr/>
          <p:nvPr/>
        </p:nvSpPr>
        <p:spPr>
          <a:xfrm>
            <a:off x="490059" y="365570"/>
            <a:ext cx="10858743" cy="492443"/>
          </a:xfrm>
          <a:prstGeom prst="rect">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0000"/>
              </a:buClr>
              <a:buSzPts val="3200"/>
              <a:buFont typeface="Inter"/>
              <a:buNone/>
            </a:pPr>
            <a:r>
              <a:rPr lang="en-US" sz="3200" b="1" i="0" u="none" strike="noStrike" cap="none">
                <a:solidFill>
                  <a:srgbClr val="FF0000"/>
                </a:solidFill>
                <a:latin typeface="Inter"/>
                <a:ea typeface="Inter"/>
                <a:cs typeface="Inter"/>
                <a:sym typeface="Inter"/>
              </a:rPr>
              <a:t>Frontend vs. Backend Development: Quick Comparison</a:t>
            </a:r>
            <a:endParaRPr sz="3200" b="0" i="0" u="none" strike="noStrike" cap="none">
              <a:solidFill>
                <a:srgbClr val="FF0000"/>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pic>
        <p:nvPicPr>
          <p:cNvPr id="429" name="Google Shape;429;p76"/>
          <p:cNvPicPr preferRelativeResize="0"/>
          <p:nvPr/>
        </p:nvPicPr>
        <p:blipFill rotWithShape="1">
          <a:blip r:embed="rId3">
            <a:alphaModFix/>
          </a:blip>
          <a:srcRect l="10352" t="8262" r="8930" b="12015"/>
          <a:stretch/>
        </p:blipFill>
        <p:spPr>
          <a:xfrm>
            <a:off x="129310" y="267855"/>
            <a:ext cx="11810900" cy="6450997"/>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graphicFrame>
        <p:nvGraphicFramePr>
          <p:cNvPr id="434" name="Google Shape;434;p77"/>
          <p:cNvGraphicFramePr/>
          <p:nvPr/>
        </p:nvGraphicFramePr>
        <p:xfrm>
          <a:off x="180304" y="618185"/>
          <a:ext cx="11011450" cy="6226750"/>
        </p:xfrm>
        <a:graphic>
          <a:graphicData uri="http://schemas.openxmlformats.org/drawingml/2006/table">
            <a:tbl>
              <a:tblPr>
                <a:noFill/>
                <a:tableStyleId>{FC9120A8-5EFD-48D4-9EBC-27F31F236AB9}</a:tableStyleId>
              </a:tblPr>
              <a:tblGrid>
                <a:gridCol w="2752800"/>
                <a:gridCol w="2752800"/>
                <a:gridCol w="2752800"/>
                <a:gridCol w="2753050"/>
              </a:tblGrid>
              <a:tr h="689800">
                <a:tc>
                  <a:txBody>
                    <a:bodyPr/>
                    <a:lstStyle/>
                    <a:p>
                      <a:pPr marL="0" marR="0" lvl="0" indent="0" algn="l" rtl="0">
                        <a:spcBef>
                          <a:spcPts val="0"/>
                        </a:spcBef>
                        <a:spcAft>
                          <a:spcPts val="0"/>
                        </a:spcAft>
                        <a:buNone/>
                      </a:pPr>
                      <a:r>
                        <a:rPr lang="en-US" sz="2000" b="1" u="none" strike="noStrike">
                          <a:solidFill>
                            <a:srgbClr val="FFFFFF"/>
                          </a:solidFill>
                        </a:rPr>
                        <a:t>Parameter</a:t>
                      </a:r>
                      <a:endParaRPr/>
                    </a:p>
                  </a:txBody>
                  <a:tcPr marL="67350" marR="67350" marT="33675" marB="336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306AAF"/>
                    </a:solidFill>
                  </a:tcPr>
                </a:tc>
                <a:tc>
                  <a:txBody>
                    <a:bodyPr/>
                    <a:lstStyle/>
                    <a:p>
                      <a:pPr marL="0" marR="0" lvl="0" indent="0" algn="l" rtl="0">
                        <a:spcBef>
                          <a:spcPts val="0"/>
                        </a:spcBef>
                        <a:spcAft>
                          <a:spcPts val="0"/>
                        </a:spcAft>
                        <a:buNone/>
                      </a:pPr>
                      <a:r>
                        <a:rPr lang="en-US" sz="2000" b="1" u="none" strike="noStrike">
                          <a:solidFill>
                            <a:srgbClr val="FFFFFF"/>
                          </a:solidFill>
                        </a:rPr>
                        <a:t>Frontend Development</a:t>
                      </a:r>
                      <a:endParaRPr/>
                    </a:p>
                  </a:txBody>
                  <a:tcPr marL="67350" marR="67350" marT="33675" marB="336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306AAF"/>
                    </a:solidFill>
                  </a:tcPr>
                </a:tc>
                <a:tc>
                  <a:txBody>
                    <a:bodyPr/>
                    <a:lstStyle/>
                    <a:p>
                      <a:pPr marL="0" marR="0" lvl="0" indent="0" algn="l" rtl="0">
                        <a:spcBef>
                          <a:spcPts val="0"/>
                        </a:spcBef>
                        <a:spcAft>
                          <a:spcPts val="0"/>
                        </a:spcAft>
                        <a:buNone/>
                      </a:pPr>
                      <a:r>
                        <a:rPr lang="en-US" sz="2000" b="1" u="none" strike="noStrike">
                          <a:solidFill>
                            <a:srgbClr val="FFFFFF"/>
                          </a:solidFill>
                        </a:rPr>
                        <a:t>Backend Development</a:t>
                      </a:r>
                      <a:endParaRPr/>
                    </a:p>
                  </a:txBody>
                  <a:tcPr marL="67350" marR="67350" marT="33675" marB="336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306AAF"/>
                    </a:solidFill>
                  </a:tcPr>
                </a:tc>
                <a:tc>
                  <a:txBody>
                    <a:bodyPr/>
                    <a:lstStyle/>
                    <a:p>
                      <a:pPr marL="0" marR="0" lvl="0" indent="0" algn="l" rtl="0">
                        <a:spcBef>
                          <a:spcPts val="0"/>
                        </a:spcBef>
                        <a:spcAft>
                          <a:spcPts val="0"/>
                        </a:spcAft>
                        <a:buNone/>
                      </a:pPr>
                      <a:r>
                        <a:rPr lang="en-US" sz="2000" b="1" u="none" strike="noStrike">
                          <a:solidFill>
                            <a:srgbClr val="FFFFFF"/>
                          </a:solidFill>
                        </a:rPr>
                        <a:t>Fullstack Development</a:t>
                      </a:r>
                      <a:endParaRPr/>
                    </a:p>
                  </a:txBody>
                  <a:tcPr marL="67350" marR="67350" marT="33675" marB="336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306AAF"/>
                    </a:solidFill>
                  </a:tcPr>
                </a:tc>
              </a:tr>
              <a:tr h="767725">
                <a:tc>
                  <a:txBody>
                    <a:bodyPr/>
                    <a:lstStyle/>
                    <a:p>
                      <a:pPr marL="0" marR="0" lvl="0" indent="0" algn="l" rtl="0">
                        <a:spcBef>
                          <a:spcPts val="0"/>
                        </a:spcBef>
                        <a:spcAft>
                          <a:spcPts val="0"/>
                        </a:spcAft>
                        <a:buNone/>
                      </a:pPr>
                      <a:r>
                        <a:rPr lang="en-US" sz="2000" u="none" strike="noStrike"/>
                        <a:t>Responsibilities</a:t>
                      </a:r>
                      <a:endParaRPr/>
                    </a:p>
                  </a:txBody>
                  <a:tcPr marL="67350" marR="67350" marT="33675" marB="336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UI/UX design, user interaction</a:t>
                      </a:r>
                      <a:endParaRPr/>
                    </a:p>
                  </a:txBody>
                  <a:tcPr marL="67350" marR="67350" marT="33675" marB="336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Server logic, databases, APIs</a:t>
                      </a:r>
                      <a:endParaRPr/>
                    </a:p>
                  </a:txBody>
                  <a:tcPr marL="67350" marR="67350" marT="33675" marB="336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Both frontend and backend development</a:t>
                      </a:r>
                      <a:endParaRPr/>
                    </a:p>
                  </a:txBody>
                  <a:tcPr marL="67350" marR="67350" marT="33675" marB="336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r>
              <a:tr h="1000375">
                <a:tc>
                  <a:txBody>
                    <a:bodyPr/>
                    <a:lstStyle/>
                    <a:p>
                      <a:pPr marL="0" marR="0" lvl="0" indent="0" algn="l" rtl="0">
                        <a:spcBef>
                          <a:spcPts val="0"/>
                        </a:spcBef>
                        <a:spcAft>
                          <a:spcPts val="0"/>
                        </a:spcAft>
                        <a:buNone/>
                      </a:pPr>
                      <a:r>
                        <a:rPr lang="en-US" sz="2000" u="none" strike="noStrike"/>
                        <a:t>User Experience</a:t>
                      </a:r>
                      <a:endParaRPr/>
                    </a:p>
                  </a:txBody>
                  <a:tcPr marL="67350" marR="67350" marT="33675" marB="336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Focuses on visual presentation</a:t>
                      </a:r>
                      <a:endParaRPr/>
                    </a:p>
                  </a:txBody>
                  <a:tcPr marL="67350" marR="67350" marT="33675" marB="336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Influences app performance</a:t>
                      </a:r>
                      <a:endParaRPr/>
                    </a:p>
                  </a:txBody>
                  <a:tcPr marL="67350" marR="67350" marT="33675" marB="336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Balances user interface and functionality</a:t>
                      </a:r>
                      <a:endParaRPr/>
                    </a:p>
                  </a:txBody>
                  <a:tcPr marL="67350" marR="67350" marT="33675" marB="336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r>
              <a:tr h="1000375">
                <a:tc>
                  <a:txBody>
                    <a:bodyPr/>
                    <a:lstStyle/>
                    <a:p>
                      <a:pPr marL="0" marR="0" lvl="0" indent="0" algn="l" rtl="0">
                        <a:spcBef>
                          <a:spcPts val="0"/>
                        </a:spcBef>
                        <a:spcAft>
                          <a:spcPts val="0"/>
                        </a:spcAft>
                        <a:buNone/>
                      </a:pPr>
                      <a:r>
                        <a:rPr lang="en-US" sz="2000" u="none" strike="noStrike"/>
                        <a:t>Scope</a:t>
                      </a:r>
                      <a:endParaRPr/>
                    </a:p>
                  </a:txBody>
                  <a:tcPr marL="67350" marR="67350" marT="33675" marB="336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User interface and design</a:t>
                      </a:r>
                      <a:endParaRPr/>
                    </a:p>
                  </a:txBody>
                  <a:tcPr marL="67350" marR="67350" marT="33675" marB="336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Database management, data processing</a:t>
                      </a:r>
                      <a:endParaRPr/>
                    </a:p>
                  </a:txBody>
                  <a:tcPr marL="67350" marR="67350" marT="33675" marB="336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Complete app development lifecycle</a:t>
                      </a:r>
                      <a:endParaRPr/>
                    </a:p>
                  </a:txBody>
                  <a:tcPr marL="67350" marR="67350" marT="33675" marB="336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r>
              <a:tr h="767725">
                <a:tc>
                  <a:txBody>
                    <a:bodyPr/>
                    <a:lstStyle/>
                    <a:p>
                      <a:pPr marL="0" marR="0" lvl="0" indent="0" algn="l" rtl="0">
                        <a:spcBef>
                          <a:spcPts val="0"/>
                        </a:spcBef>
                        <a:spcAft>
                          <a:spcPts val="0"/>
                        </a:spcAft>
                        <a:buNone/>
                      </a:pPr>
                      <a:r>
                        <a:rPr lang="en-US" sz="2000" u="none" strike="noStrike"/>
                        <a:t>Skills Requirement</a:t>
                      </a:r>
                      <a:endParaRPr/>
                    </a:p>
                  </a:txBody>
                  <a:tcPr marL="67350" marR="67350" marT="33675" marB="336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HTML/CSS/JS proficiency</a:t>
                      </a:r>
                      <a:endParaRPr/>
                    </a:p>
                  </a:txBody>
                  <a:tcPr marL="67350" marR="67350" marT="33675" marB="336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Backend programming expertise</a:t>
                      </a:r>
                      <a:endParaRPr/>
                    </a:p>
                  </a:txBody>
                  <a:tcPr marL="67350" marR="67350" marT="33675" marB="336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Proficiency in both frontend and backend</a:t>
                      </a:r>
                      <a:endParaRPr/>
                    </a:p>
                  </a:txBody>
                  <a:tcPr marL="67350" marR="67350" marT="33675" marB="336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r>
              <a:tr h="1000375">
                <a:tc>
                  <a:txBody>
                    <a:bodyPr/>
                    <a:lstStyle/>
                    <a:p>
                      <a:pPr marL="0" marR="0" lvl="0" indent="0" algn="l" rtl="0">
                        <a:spcBef>
                          <a:spcPts val="0"/>
                        </a:spcBef>
                        <a:spcAft>
                          <a:spcPts val="0"/>
                        </a:spcAft>
                        <a:buNone/>
                      </a:pPr>
                      <a:r>
                        <a:rPr lang="en-US" sz="2000" u="none" strike="noStrike"/>
                        <a:t>Interaction</a:t>
                      </a:r>
                      <a:endParaRPr/>
                    </a:p>
                  </a:txBody>
                  <a:tcPr marL="67350" marR="67350" marT="33675" marB="336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Direct interaction with users</a:t>
                      </a:r>
                      <a:endParaRPr/>
                    </a:p>
                  </a:txBody>
                  <a:tcPr marL="67350" marR="67350" marT="33675" marB="336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Indirect interactions through server</a:t>
                      </a:r>
                      <a:endParaRPr/>
                    </a:p>
                  </a:txBody>
                  <a:tcPr marL="67350" marR="67350" marT="33675" marB="336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Manages user interactions and server logic</a:t>
                      </a:r>
                      <a:endParaRPr/>
                    </a:p>
                  </a:txBody>
                  <a:tcPr marL="67350" marR="67350" marT="33675" marB="336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r>
              <a:tr h="1000375">
                <a:tc>
                  <a:txBody>
                    <a:bodyPr/>
                    <a:lstStyle/>
                    <a:p>
                      <a:pPr marL="0" marR="0" lvl="0" indent="0" algn="l" rtl="0">
                        <a:spcBef>
                          <a:spcPts val="0"/>
                        </a:spcBef>
                        <a:spcAft>
                          <a:spcPts val="0"/>
                        </a:spcAft>
                        <a:buNone/>
                      </a:pPr>
                      <a:r>
                        <a:rPr lang="en-US" sz="2000" u="none" strike="noStrike"/>
                        <a:t>Technologies</a:t>
                      </a:r>
                      <a:endParaRPr/>
                    </a:p>
                  </a:txBody>
                  <a:tcPr marL="67350" marR="67350" marT="33675" marB="336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HTML, CSS, JavaScript</a:t>
                      </a:r>
                      <a:endParaRPr/>
                    </a:p>
                  </a:txBody>
                  <a:tcPr marL="67350" marR="67350" marT="33675" marB="336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Python, Java, PHP, databases</a:t>
                      </a:r>
                      <a:endParaRPr/>
                    </a:p>
                  </a:txBody>
                  <a:tcPr marL="67350" marR="67350" marT="33675" marB="336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2000" u="none" strike="noStrike"/>
                        <a:t>Combination of frontend and backend tools</a:t>
                      </a:r>
                      <a:endParaRPr/>
                    </a:p>
                  </a:txBody>
                  <a:tcPr marL="67350" marR="67350" marT="33675" marB="33675" anchor="ctr">
                    <a:lnL w="12700" cap="flat" cmpd="sng">
                      <a:solidFill>
                        <a:srgbClr val="D6D6D6"/>
                      </a:solidFill>
                      <a:prstDash val="solid"/>
                      <a:round/>
                      <a:headEnd type="none" w="sm" len="sm"/>
                      <a:tailEnd type="none" w="sm" len="sm"/>
                    </a:lnL>
                    <a:lnR w="12700" cap="flat" cmpd="sng">
                      <a:solidFill>
                        <a:srgbClr val="D6D6D6"/>
                      </a:solidFill>
                      <a:prstDash val="solid"/>
                      <a:round/>
                      <a:headEnd type="none" w="sm" len="sm"/>
                      <a:tailEnd type="none" w="sm" len="sm"/>
                    </a:lnR>
                    <a:lnT w="12700" cap="flat" cmpd="sng">
                      <a:solidFill>
                        <a:srgbClr val="D6D6D6"/>
                      </a:solidFill>
                      <a:prstDash val="solid"/>
                      <a:round/>
                      <a:headEnd type="none" w="sm" len="sm"/>
                      <a:tailEnd type="none" w="sm" len="sm"/>
                    </a:lnT>
                    <a:lnB w="12700" cap="flat" cmpd="sng">
                      <a:solidFill>
                        <a:srgbClr val="D6D6D6"/>
                      </a:solidFill>
                      <a:prstDash val="solid"/>
                      <a:round/>
                      <a:headEnd type="none" w="sm" len="sm"/>
                      <a:tailEnd type="none" w="sm" len="sm"/>
                    </a:lnB>
                    <a:solidFill>
                      <a:srgbClr val="FFFFFF"/>
                    </a:solidFill>
                  </a:tcPr>
                </a:tc>
              </a:tr>
            </a:tbl>
          </a:graphicData>
        </a:graphic>
      </p:graphicFrame>
      <p:sp>
        <p:nvSpPr>
          <p:cNvPr id="435" name="Google Shape;435;p77"/>
          <p:cNvSpPr/>
          <p:nvPr/>
        </p:nvSpPr>
        <p:spPr>
          <a:xfrm>
            <a:off x="1157892" y="0"/>
            <a:ext cx="9650078" cy="492443"/>
          </a:xfrm>
          <a:prstGeom prst="rect">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0000"/>
              </a:buClr>
              <a:buSzPts val="3200"/>
              <a:buFont typeface="Inter"/>
              <a:buNone/>
            </a:pPr>
            <a:r>
              <a:rPr lang="en-US" sz="3200" b="1" i="0" u="none" strike="noStrike" cap="none">
                <a:solidFill>
                  <a:srgbClr val="FF0000"/>
                </a:solidFill>
                <a:latin typeface="Inter"/>
                <a:ea typeface="Inter"/>
                <a:cs typeface="Inter"/>
                <a:sym typeface="Inter"/>
              </a:rPr>
              <a:t>Frontend vs. Backend vs. Full stack Development</a:t>
            </a:r>
            <a:endParaRPr sz="3200" b="0" i="0" u="none" strike="noStrike" cap="none">
              <a:solidFill>
                <a:srgbClr val="FF000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78"/>
          <p:cNvSpPr/>
          <p:nvPr/>
        </p:nvSpPr>
        <p:spPr>
          <a:xfrm>
            <a:off x="0" y="0"/>
            <a:ext cx="12295031" cy="646330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A Full Stack Product Engineer is a professional who possesses expertise in both frontend and backend development, allowing them to work on all layers of a software application. This includes designing, implementing, and maintaining both the user interface and the server-side components. Here are the key aspects of a Full Stack Product Engineer's role:</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Frontend Development: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User Interface (UI): They are proficient in building responsive and user-friendly interfaces using technologies like HTML, CSS, and JavaScript.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Client-Side Frameworks: They may be skilled in using frontend frameworks and libraries such as React.js, Angular, or Vue.js to create dynamic and interactive user interfaces.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Backend Development: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Server-Side Logic: They are experienced in developing server-side logic, handling databases, and implementing business logic. Common backend technologies include Node.js, Python (Django, Flask), Ruby on Rails, Java (Spring Boot), or ASP.NET Core.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Database Management: They are familiar with working with databases, both relational (like MySQL, PostgreSQL) and NoSQL (like MongoDB), and can design efficient database structures.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API Development: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RESTful APIs: They can design and implement RESTful APIs for communication between the frontend and backend components, ensuring efficient data transfer and interaction.</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Product Development: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Full Product Lifecycle: They are involved in all stages of the product development lifecycle, from understanding requirements and designing solutions to implementing features and maintaining the product.</a:t>
            </a:r>
            <a:endParaRPr sz="1800">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79"/>
          <p:cNvSpPr/>
          <p:nvPr/>
        </p:nvSpPr>
        <p:spPr>
          <a:xfrm>
            <a:off x="73893" y="151713"/>
            <a:ext cx="11970326" cy="674030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User Experience (UX): They may be involved in improving the overall user experience by collaborating with UX/UI designers and implementing design principles.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DevOps and Deployment: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Deployment and Hosting: They are knowledgeable about deployment processes and may use tools like Docker, Kubernetes, or cloud services (AWS, Azure, Google Cloud) to deploy and host applications.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Continuous Integration/Continuous Deployment (CI/CD): They may implement CI/CD pipelines to automate testing and deployment processes.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Version Control:</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Git: Proficiency in using version control systems, especially Git, to manage and track changes in the codebase.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Collaboration and Communication:</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Team Collaboration: Full Stack Product Engineers often work in cross-functional teams, collaborating with designers, product managers, and other developers to deliver a cohesive product.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Communication Skills: Effective communication skills are crucial for understanding project requirements, providing updates, and collaborating with team members.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Problem-Solving and Critical Thinking:</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Analytical Skills: The ability to analyze and solve complex problems, whether they involve frontend user experience challenges or backend data processing issues.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In summary, a Full Stack Product Engineer is a versatile professional capable of contributing to all aspects of software development, from the user interface to the server-side logic and everything in between. Their role is crucial in creating end-to-end solutions that meet both user needs and business requirements.</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80"/>
          <p:cNvSpPr/>
          <p:nvPr/>
        </p:nvSpPr>
        <p:spPr>
          <a:xfrm>
            <a:off x="0" y="618186"/>
            <a:ext cx="6568225" cy="517064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rgbClr val="FF0000"/>
                </a:solidFill>
                <a:latin typeface="Calibri"/>
                <a:ea typeface="Calibri"/>
                <a:cs typeface="Calibri"/>
                <a:sym typeface="Calibri"/>
              </a:rPr>
              <a:t>Core Java</a:t>
            </a:r>
            <a:endParaRPr/>
          </a:p>
          <a:p>
            <a:pPr marL="285750" marR="0" lvl="0" indent="-285750" algn="l" rtl="0">
              <a:spcBef>
                <a:spcPts val="0"/>
              </a:spcBef>
              <a:spcAft>
                <a:spcPts val="0"/>
              </a:spcAft>
              <a:buClr>
                <a:srgbClr val="7030A0"/>
              </a:buClr>
              <a:buSzPts val="1800"/>
              <a:buFont typeface="Arial"/>
              <a:buChar char="•"/>
            </a:pPr>
            <a:r>
              <a:rPr lang="en-US" sz="1800">
                <a:solidFill>
                  <a:srgbClr val="7030A0"/>
                </a:solidFill>
                <a:latin typeface="Calibri"/>
                <a:ea typeface="Calibri"/>
                <a:cs typeface="Calibri"/>
                <a:sym typeface="Calibri"/>
              </a:rPr>
              <a:t>Core Java refers to the fundamental and essential parts of the Java programming language that form the building blocks of Java development. </a:t>
            </a:r>
            <a:endParaRPr/>
          </a:p>
          <a:p>
            <a:pPr marL="285750" marR="0" lvl="0" indent="-285750" algn="l" rtl="0">
              <a:spcBef>
                <a:spcPts val="0"/>
              </a:spcBef>
              <a:spcAft>
                <a:spcPts val="0"/>
              </a:spcAft>
              <a:buClr>
                <a:srgbClr val="7030A0"/>
              </a:buClr>
              <a:buSzPts val="1800"/>
              <a:buFont typeface="Arial"/>
              <a:buChar char="•"/>
            </a:pPr>
            <a:r>
              <a:rPr lang="en-US" sz="1800">
                <a:solidFill>
                  <a:srgbClr val="7030A0"/>
                </a:solidFill>
                <a:latin typeface="Calibri"/>
                <a:ea typeface="Calibri"/>
                <a:cs typeface="Calibri"/>
                <a:sym typeface="Calibri"/>
              </a:rPr>
              <a:t>Concepts: Includes the basic principles of object-oriented programming (OOP), such as classes, objects, inheritance, encapsulation, polymorphism, etc.</a:t>
            </a:r>
            <a:endParaRPr/>
          </a:p>
          <a:p>
            <a:pPr marL="285750" marR="0" lvl="0" indent="-285750" algn="l" rtl="0">
              <a:spcBef>
                <a:spcPts val="0"/>
              </a:spcBef>
              <a:spcAft>
                <a:spcPts val="0"/>
              </a:spcAft>
              <a:buClr>
                <a:srgbClr val="7030A0"/>
              </a:buClr>
              <a:buSzPts val="1800"/>
              <a:buFont typeface="Arial"/>
              <a:buChar char="•"/>
            </a:pPr>
            <a:r>
              <a:rPr lang="en-US" sz="1800">
                <a:solidFill>
                  <a:srgbClr val="7030A0"/>
                </a:solidFill>
                <a:latin typeface="Calibri"/>
                <a:ea typeface="Calibri"/>
                <a:cs typeface="Calibri"/>
                <a:sym typeface="Calibri"/>
              </a:rPr>
              <a:t>Syntax: Understanding the basic syntax, data types, control structures, loops, etc.</a:t>
            </a:r>
            <a:endParaRPr/>
          </a:p>
          <a:p>
            <a:pPr marL="285750" marR="0" lvl="0" indent="-285750" algn="l" rtl="0">
              <a:spcBef>
                <a:spcPts val="0"/>
              </a:spcBef>
              <a:spcAft>
                <a:spcPts val="0"/>
              </a:spcAft>
              <a:buClr>
                <a:srgbClr val="7030A0"/>
              </a:buClr>
              <a:buSzPts val="1800"/>
              <a:buFont typeface="Arial"/>
              <a:buChar char="•"/>
            </a:pPr>
            <a:r>
              <a:rPr lang="en-US" sz="1800">
                <a:solidFill>
                  <a:srgbClr val="7030A0"/>
                </a:solidFill>
                <a:latin typeface="Calibri"/>
                <a:ea typeface="Calibri"/>
                <a:cs typeface="Calibri"/>
                <a:sym typeface="Calibri"/>
              </a:rPr>
              <a:t>Libraries: Utilizes core libraries, mainly those within java.lang, java.util, and similar basic packages.</a:t>
            </a:r>
            <a:endParaRPr/>
          </a:p>
          <a:p>
            <a:pPr marL="285750" marR="0" lvl="0" indent="-285750" algn="l" rtl="0">
              <a:spcBef>
                <a:spcPts val="0"/>
              </a:spcBef>
              <a:spcAft>
                <a:spcPts val="0"/>
              </a:spcAft>
              <a:buClr>
                <a:srgbClr val="7030A0"/>
              </a:buClr>
              <a:buSzPts val="1800"/>
              <a:buFont typeface="Arial"/>
              <a:buChar char="•"/>
            </a:pPr>
            <a:r>
              <a:rPr lang="en-US" sz="1800">
                <a:solidFill>
                  <a:srgbClr val="7030A0"/>
                </a:solidFill>
                <a:latin typeface="Calibri"/>
                <a:ea typeface="Calibri"/>
                <a:cs typeface="Calibri"/>
                <a:sym typeface="Calibri"/>
              </a:rPr>
              <a:t>JVM Understanding: Understanding how Java code is compiled into bytecode, and how it runs on the Java Virtual Machine (JVM).</a:t>
            </a:r>
            <a:endParaRPr/>
          </a:p>
          <a:p>
            <a:pPr marL="285750" marR="0" lvl="0" indent="-285750" algn="l" rtl="0">
              <a:spcBef>
                <a:spcPts val="0"/>
              </a:spcBef>
              <a:spcAft>
                <a:spcPts val="0"/>
              </a:spcAft>
              <a:buClr>
                <a:srgbClr val="7030A0"/>
              </a:buClr>
              <a:buSzPts val="1800"/>
              <a:buFont typeface="Arial"/>
              <a:buChar char="•"/>
            </a:pPr>
            <a:r>
              <a:rPr lang="en-US" sz="1800">
                <a:solidFill>
                  <a:srgbClr val="7030A0"/>
                </a:solidFill>
                <a:latin typeface="Calibri"/>
                <a:ea typeface="Calibri"/>
                <a:cs typeface="Calibri"/>
                <a:sym typeface="Calibri"/>
              </a:rPr>
              <a:t>Usage: Suitable for building fundamental applications and forms the base for all Java development.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1" name="Google Shape;451;p80"/>
          <p:cNvSpPr/>
          <p:nvPr/>
        </p:nvSpPr>
        <p:spPr>
          <a:xfrm>
            <a:off x="6357870" y="-28145"/>
            <a:ext cx="5834130" cy="701730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rgbClr val="00B050"/>
                </a:solidFill>
                <a:latin typeface="Calibri"/>
                <a:ea typeface="Calibri"/>
                <a:cs typeface="Calibri"/>
                <a:sym typeface="Calibri"/>
              </a:rPr>
              <a:t>Core Java Important Topics for your reference:</a:t>
            </a:r>
            <a:endParaRPr/>
          </a:p>
          <a:p>
            <a:pPr marL="342900" marR="0" lvl="0" indent="-342900" algn="l" rtl="0">
              <a:spcBef>
                <a:spcPts val="0"/>
              </a:spcBef>
              <a:spcAft>
                <a:spcPts val="0"/>
              </a:spcAft>
              <a:buClr>
                <a:srgbClr val="00B050"/>
              </a:buClr>
              <a:buSzPts val="1800"/>
              <a:buFont typeface="Calibri"/>
              <a:buAutoNum type="arabicPeriod"/>
            </a:pPr>
            <a:r>
              <a:rPr lang="en-US" sz="1800">
                <a:solidFill>
                  <a:srgbClr val="00B050"/>
                </a:solidFill>
                <a:latin typeface="Calibri"/>
                <a:ea typeface="Calibri"/>
                <a:cs typeface="Calibri"/>
                <a:sym typeface="Calibri"/>
              </a:rPr>
              <a:t>Java Syntax</a:t>
            </a:r>
            <a:endParaRPr/>
          </a:p>
          <a:p>
            <a:pPr marL="342900" marR="0" lvl="0" indent="-342900" algn="l" rtl="0">
              <a:spcBef>
                <a:spcPts val="0"/>
              </a:spcBef>
              <a:spcAft>
                <a:spcPts val="0"/>
              </a:spcAft>
              <a:buClr>
                <a:srgbClr val="00B050"/>
              </a:buClr>
              <a:buSzPts val="1800"/>
              <a:buFont typeface="Calibri"/>
              <a:buAutoNum type="arabicPeriod"/>
            </a:pPr>
            <a:r>
              <a:rPr lang="en-US" sz="1800">
                <a:solidFill>
                  <a:srgbClr val="00B050"/>
                </a:solidFill>
                <a:latin typeface="Calibri"/>
                <a:ea typeface="Calibri"/>
                <a:cs typeface="Calibri"/>
                <a:sym typeface="Calibri"/>
              </a:rPr>
              <a:t>Data Types</a:t>
            </a:r>
            <a:endParaRPr/>
          </a:p>
          <a:p>
            <a:pPr marL="342900" marR="0" lvl="0" indent="-342900" algn="l" rtl="0">
              <a:spcBef>
                <a:spcPts val="0"/>
              </a:spcBef>
              <a:spcAft>
                <a:spcPts val="0"/>
              </a:spcAft>
              <a:buClr>
                <a:srgbClr val="00B050"/>
              </a:buClr>
              <a:buSzPts val="1800"/>
              <a:buFont typeface="Calibri"/>
              <a:buAutoNum type="arabicPeriod"/>
            </a:pPr>
            <a:r>
              <a:rPr lang="en-US" sz="1800">
                <a:solidFill>
                  <a:srgbClr val="00B050"/>
                </a:solidFill>
                <a:latin typeface="Calibri"/>
                <a:ea typeface="Calibri"/>
                <a:cs typeface="Calibri"/>
                <a:sym typeface="Calibri"/>
              </a:rPr>
              <a:t>Variables </a:t>
            </a:r>
            <a:endParaRPr/>
          </a:p>
          <a:p>
            <a:pPr marL="342900" marR="0" lvl="0" indent="-342900" algn="l" rtl="0">
              <a:spcBef>
                <a:spcPts val="0"/>
              </a:spcBef>
              <a:spcAft>
                <a:spcPts val="0"/>
              </a:spcAft>
              <a:buClr>
                <a:srgbClr val="00B050"/>
              </a:buClr>
              <a:buSzPts val="1800"/>
              <a:buFont typeface="Calibri"/>
              <a:buAutoNum type="arabicPeriod"/>
            </a:pPr>
            <a:r>
              <a:rPr lang="en-US" sz="1800">
                <a:solidFill>
                  <a:srgbClr val="00B050"/>
                </a:solidFill>
                <a:latin typeface="Calibri"/>
                <a:ea typeface="Calibri"/>
                <a:cs typeface="Calibri"/>
                <a:sym typeface="Calibri"/>
              </a:rPr>
              <a:t>Operators </a:t>
            </a:r>
            <a:endParaRPr/>
          </a:p>
          <a:p>
            <a:pPr marL="342900" marR="0" lvl="0" indent="-342900" algn="l" rtl="0">
              <a:spcBef>
                <a:spcPts val="0"/>
              </a:spcBef>
              <a:spcAft>
                <a:spcPts val="0"/>
              </a:spcAft>
              <a:buClr>
                <a:srgbClr val="00B050"/>
              </a:buClr>
              <a:buSzPts val="1800"/>
              <a:buFont typeface="Calibri"/>
              <a:buAutoNum type="arabicPeriod"/>
            </a:pPr>
            <a:r>
              <a:rPr lang="en-US" sz="1800">
                <a:solidFill>
                  <a:srgbClr val="00B050"/>
                </a:solidFill>
                <a:latin typeface="Calibri"/>
                <a:ea typeface="Calibri"/>
                <a:cs typeface="Calibri"/>
                <a:sym typeface="Calibri"/>
              </a:rPr>
              <a:t>Expressions </a:t>
            </a:r>
            <a:endParaRPr/>
          </a:p>
          <a:p>
            <a:pPr marL="342900" marR="0" lvl="0" indent="-342900" algn="l" rtl="0">
              <a:spcBef>
                <a:spcPts val="0"/>
              </a:spcBef>
              <a:spcAft>
                <a:spcPts val="0"/>
              </a:spcAft>
              <a:buClr>
                <a:srgbClr val="00B050"/>
              </a:buClr>
              <a:buSzPts val="1800"/>
              <a:buFont typeface="Calibri"/>
              <a:buAutoNum type="arabicPeriod"/>
            </a:pPr>
            <a:r>
              <a:rPr lang="en-US" sz="1800">
                <a:solidFill>
                  <a:srgbClr val="00B050"/>
                </a:solidFill>
                <a:latin typeface="Calibri"/>
                <a:ea typeface="Calibri"/>
                <a:cs typeface="Calibri"/>
                <a:sym typeface="Calibri"/>
              </a:rPr>
              <a:t>Control Flow Statements (if, switch, loops) </a:t>
            </a:r>
            <a:endParaRPr/>
          </a:p>
          <a:p>
            <a:pPr marL="342900" marR="0" lvl="0" indent="-342900" algn="l" rtl="0">
              <a:spcBef>
                <a:spcPts val="0"/>
              </a:spcBef>
              <a:spcAft>
                <a:spcPts val="0"/>
              </a:spcAft>
              <a:buClr>
                <a:srgbClr val="00B050"/>
              </a:buClr>
              <a:buSzPts val="1800"/>
              <a:buFont typeface="Calibri"/>
              <a:buAutoNum type="arabicPeriod"/>
            </a:pPr>
            <a:r>
              <a:rPr lang="en-US" sz="1800">
                <a:solidFill>
                  <a:srgbClr val="00B050"/>
                </a:solidFill>
                <a:latin typeface="Calibri"/>
                <a:ea typeface="Calibri"/>
                <a:cs typeface="Calibri"/>
                <a:sym typeface="Calibri"/>
              </a:rPr>
              <a:t>Arrays </a:t>
            </a:r>
            <a:endParaRPr/>
          </a:p>
          <a:p>
            <a:pPr marL="342900" marR="0" lvl="0" indent="-342900" algn="l" rtl="0">
              <a:spcBef>
                <a:spcPts val="0"/>
              </a:spcBef>
              <a:spcAft>
                <a:spcPts val="0"/>
              </a:spcAft>
              <a:buClr>
                <a:srgbClr val="00B050"/>
              </a:buClr>
              <a:buSzPts val="1800"/>
              <a:buFont typeface="Calibri"/>
              <a:buAutoNum type="arabicPeriod"/>
            </a:pPr>
            <a:r>
              <a:rPr lang="en-US" sz="1800">
                <a:solidFill>
                  <a:srgbClr val="00B050"/>
                </a:solidFill>
                <a:latin typeface="Calibri"/>
                <a:ea typeface="Calibri"/>
                <a:cs typeface="Calibri"/>
                <a:sym typeface="Calibri"/>
              </a:rPr>
              <a:t>Object-Oriented Programming (OOP) - Classes, Objects, Inheritance, Polymorphism, Encapsulation and Abstraction </a:t>
            </a:r>
            <a:endParaRPr/>
          </a:p>
          <a:p>
            <a:pPr marL="342900" marR="0" lvl="0" indent="-342900" algn="l" rtl="0">
              <a:spcBef>
                <a:spcPts val="0"/>
              </a:spcBef>
              <a:spcAft>
                <a:spcPts val="0"/>
              </a:spcAft>
              <a:buClr>
                <a:srgbClr val="00B050"/>
              </a:buClr>
              <a:buSzPts val="1800"/>
              <a:buFont typeface="Calibri"/>
              <a:buAutoNum type="arabicPeriod"/>
            </a:pPr>
            <a:r>
              <a:rPr lang="en-US" sz="1800">
                <a:solidFill>
                  <a:srgbClr val="00B050"/>
                </a:solidFill>
                <a:latin typeface="Calibri"/>
                <a:ea typeface="Calibri"/>
                <a:cs typeface="Calibri"/>
                <a:sym typeface="Calibri"/>
              </a:rPr>
              <a:t>Abstract Classes and Interfaces </a:t>
            </a:r>
            <a:endParaRPr/>
          </a:p>
          <a:p>
            <a:pPr marL="342900" marR="0" lvl="0" indent="-342900" algn="l" rtl="0">
              <a:spcBef>
                <a:spcPts val="0"/>
              </a:spcBef>
              <a:spcAft>
                <a:spcPts val="0"/>
              </a:spcAft>
              <a:buClr>
                <a:srgbClr val="00B050"/>
              </a:buClr>
              <a:buSzPts val="1800"/>
              <a:buFont typeface="Calibri"/>
              <a:buAutoNum type="arabicPeriod"/>
            </a:pPr>
            <a:r>
              <a:rPr lang="en-US" sz="1800">
                <a:solidFill>
                  <a:srgbClr val="00B050"/>
                </a:solidFill>
                <a:latin typeface="Calibri"/>
                <a:ea typeface="Calibri"/>
                <a:cs typeface="Calibri"/>
                <a:sym typeface="Calibri"/>
              </a:rPr>
              <a:t>Exception Handling (try, catch, finally) and Errors</a:t>
            </a:r>
            <a:endParaRPr/>
          </a:p>
          <a:p>
            <a:pPr marL="342900" marR="0" lvl="0" indent="-342900" algn="l" rtl="0">
              <a:spcBef>
                <a:spcPts val="0"/>
              </a:spcBef>
              <a:spcAft>
                <a:spcPts val="0"/>
              </a:spcAft>
              <a:buClr>
                <a:srgbClr val="00B050"/>
              </a:buClr>
              <a:buSzPts val="1800"/>
              <a:buFont typeface="Calibri"/>
              <a:buAutoNum type="arabicPeriod"/>
            </a:pPr>
            <a:r>
              <a:rPr lang="en-US" sz="1800">
                <a:solidFill>
                  <a:srgbClr val="00B050"/>
                </a:solidFill>
                <a:latin typeface="Calibri"/>
                <a:ea typeface="Calibri"/>
                <a:cs typeface="Calibri"/>
                <a:sym typeface="Calibri"/>
              </a:rPr>
              <a:t>File Input/Output </a:t>
            </a:r>
            <a:endParaRPr/>
          </a:p>
          <a:p>
            <a:pPr marL="342900" marR="0" lvl="0" indent="-342900" algn="l" rtl="0">
              <a:spcBef>
                <a:spcPts val="0"/>
              </a:spcBef>
              <a:spcAft>
                <a:spcPts val="0"/>
              </a:spcAft>
              <a:buClr>
                <a:srgbClr val="00B050"/>
              </a:buClr>
              <a:buSzPts val="1800"/>
              <a:buFont typeface="Calibri"/>
              <a:buAutoNum type="arabicPeriod"/>
            </a:pPr>
            <a:r>
              <a:rPr lang="en-US" sz="1800">
                <a:solidFill>
                  <a:srgbClr val="00B050"/>
                </a:solidFill>
                <a:latin typeface="Calibri"/>
                <a:ea typeface="Calibri"/>
                <a:cs typeface="Calibri"/>
                <a:sym typeface="Calibri"/>
              </a:rPr>
              <a:t>Java Streams </a:t>
            </a:r>
            <a:endParaRPr/>
          </a:p>
          <a:p>
            <a:pPr marL="342900" marR="0" lvl="0" indent="-342900" algn="l" rtl="0">
              <a:spcBef>
                <a:spcPts val="0"/>
              </a:spcBef>
              <a:spcAft>
                <a:spcPts val="0"/>
              </a:spcAft>
              <a:buClr>
                <a:srgbClr val="00B050"/>
              </a:buClr>
              <a:buSzPts val="1800"/>
              <a:buFont typeface="Calibri"/>
              <a:buAutoNum type="arabicPeriod"/>
            </a:pPr>
            <a:r>
              <a:rPr lang="en-US" sz="1800">
                <a:solidFill>
                  <a:srgbClr val="00B050"/>
                </a:solidFill>
                <a:latin typeface="Calibri"/>
                <a:ea typeface="Calibri"/>
                <a:cs typeface="Calibri"/>
                <a:sym typeface="Calibri"/>
              </a:rPr>
              <a:t>Collections Framework - List, Set, Map, and its implementations </a:t>
            </a:r>
            <a:endParaRPr/>
          </a:p>
          <a:p>
            <a:pPr marL="342900" marR="0" lvl="0" indent="-342900" algn="l" rtl="0">
              <a:spcBef>
                <a:spcPts val="0"/>
              </a:spcBef>
              <a:spcAft>
                <a:spcPts val="0"/>
              </a:spcAft>
              <a:buClr>
                <a:srgbClr val="00B050"/>
              </a:buClr>
              <a:buSzPts val="1800"/>
              <a:buFont typeface="Calibri"/>
              <a:buAutoNum type="arabicPeriod"/>
            </a:pPr>
            <a:r>
              <a:rPr lang="en-US" sz="1800">
                <a:solidFill>
                  <a:srgbClr val="00B050"/>
                </a:solidFill>
                <a:latin typeface="Calibri"/>
                <a:ea typeface="Calibri"/>
                <a:cs typeface="Calibri"/>
                <a:sym typeface="Calibri"/>
              </a:rPr>
              <a:t>Generics </a:t>
            </a:r>
            <a:endParaRPr/>
          </a:p>
          <a:p>
            <a:pPr marL="342900" marR="0" lvl="0" indent="-342900" algn="l" rtl="0">
              <a:spcBef>
                <a:spcPts val="0"/>
              </a:spcBef>
              <a:spcAft>
                <a:spcPts val="0"/>
              </a:spcAft>
              <a:buClr>
                <a:srgbClr val="00B050"/>
              </a:buClr>
              <a:buSzPts val="1800"/>
              <a:buFont typeface="Calibri"/>
              <a:buAutoNum type="arabicPeriod"/>
            </a:pPr>
            <a:r>
              <a:rPr lang="en-US" sz="1800">
                <a:solidFill>
                  <a:srgbClr val="00B050"/>
                </a:solidFill>
                <a:latin typeface="Calibri"/>
                <a:ea typeface="Calibri"/>
                <a:cs typeface="Calibri"/>
                <a:sym typeface="Calibri"/>
              </a:rPr>
              <a:t>Multithreading, Synchronization</a:t>
            </a:r>
            <a:endParaRPr/>
          </a:p>
          <a:p>
            <a:pPr marL="342900" marR="0" lvl="0" indent="-342900" algn="l" rtl="0">
              <a:spcBef>
                <a:spcPts val="0"/>
              </a:spcBef>
              <a:spcAft>
                <a:spcPts val="0"/>
              </a:spcAft>
              <a:buClr>
                <a:srgbClr val="00B050"/>
              </a:buClr>
              <a:buSzPts val="1800"/>
              <a:buFont typeface="Calibri"/>
              <a:buAutoNum type="arabicPeriod"/>
            </a:pPr>
            <a:r>
              <a:rPr lang="en-US" sz="1800">
                <a:solidFill>
                  <a:srgbClr val="00B050"/>
                </a:solidFill>
                <a:latin typeface="Calibri"/>
                <a:ea typeface="Calibri"/>
                <a:cs typeface="Calibri"/>
                <a:sym typeface="Calibri"/>
              </a:rPr>
              <a:t>String Handling </a:t>
            </a:r>
            <a:endParaRPr/>
          </a:p>
          <a:p>
            <a:pPr marL="342900" marR="0" lvl="0" indent="-342900" algn="l" rtl="0">
              <a:spcBef>
                <a:spcPts val="0"/>
              </a:spcBef>
              <a:spcAft>
                <a:spcPts val="0"/>
              </a:spcAft>
              <a:buClr>
                <a:srgbClr val="00B050"/>
              </a:buClr>
              <a:buSzPts val="1800"/>
              <a:buFont typeface="Calibri"/>
              <a:buAutoNum type="arabicPeriod"/>
            </a:pPr>
            <a:r>
              <a:rPr lang="en-US" sz="1800">
                <a:solidFill>
                  <a:srgbClr val="00B050"/>
                </a:solidFill>
                <a:latin typeface="Calibri"/>
                <a:ea typeface="Calibri"/>
                <a:cs typeface="Calibri"/>
                <a:sym typeface="Calibri"/>
              </a:rPr>
              <a:t>Wrapper Classes </a:t>
            </a:r>
            <a:endParaRPr/>
          </a:p>
          <a:p>
            <a:pPr marL="342900" marR="0" lvl="0" indent="-342900" algn="l" rtl="0">
              <a:spcBef>
                <a:spcPts val="0"/>
              </a:spcBef>
              <a:spcAft>
                <a:spcPts val="0"/>
              </a:spcAft>
              <a:buClr>
                <a:srgbClr val="00B050"/>
              </a:buClr>
              <a:buSzPts val="1800"/>
              <a:buFont typeface="Calibri"/>
              <a:buAutoNum type="arabicPeriod"/>
            </a:pPr>
            <a:r>
              <a:rPr lang="en-US" sz="1800">
                <a:solidFill>
                  <a:srgbClr val="00B050"/>
                </a:solidFill>
                <a:latin typeface="Calibri"/>
                <a:ea typeface="Calibri"/>
                <a:cs typeface="Calibri"/>
                <a:sym typeface="Calibri"/>
              </a:rPr>
              <a:t>Enums </a:t>
            </a:r>
            <a:endParaRPr/>
          </a:p>
          <a:p>
            <a:pPr marL="342900" marR="0" lvl="0" indent="-342900" algn="l" rtl="0">
              <a:spcBef>
                <a:spcPts val="0"/>
              </a:spcBef>
              <a:spcAft>
                <a:spcPts val="0"/>
              </a:spcAft>
              <a:buClr>
                <a:srgbClr val="00B050"/>
              </a:buClr>
              <a:buSzPts val="1800"/>
              <a:buFont typeface="Calibri"/>
              <a:buAutoNum type="arabicPeriod"/>
            </a:pPr>
            <a:r>
              <a:rPr lang="en-US" sz="1800">
                <a:solidFill>
                  <a:srgbClr val="00B050"/>
                </a:solidFill>
                <a:latin typeface="Calibri"/>
                <a:ea typeface="Calibri"/>
                <a:cs typeface="Calibri"/>
                <a:sym typeface="Calibri"/>
              </a:rPr>
              <a:t>Java Date and Time</a:t>
            </a:r>
            <a:endParaRPr/>
          </a:p>
          <a:p>
            <a:pPr marL="342900" marR="0" lvl="0" indent="-342900" algn="l" rtl="0">
              <a:spcBef>
                <a:spcPts val="0"/>
              </a:spcBef>
              <a:spcAft>
                <a:spcPts val="0"/>
              </a:spcAft>
              <a:buClr>
                <a:srgbClr val="00B050"/>
              </a:buClr>
              <a:buSzPts val="1800"/>
              <a:buFont typeface="Calibri"/>
              <a:buAutoNum type="arabicPeriod"/>
            </a:pPr>
            <a:r>
              <a:rPr lang="en-US" sz="1800">
                <a:solidFill>
                  <a:srgbClr val="00B050"/>
                </a:solidFill>
                <a:latin typeface="Calibri"/>
                <a:ea typeface="Calibri"/>
                <a:cs typeface="Calibri"/>
                <a:sym typeface="Calibri"/>
              </a:rPr>
              <a:t>Annotations </a:t>
            </a:r>
            <a:endParaRPr/>
          </a:p>
          <a:p>
            <a:pPr marL="342900" marR="0" lvl="0" indent="-342900" algn="l" rtl="0">
              <a:spcBef>
                <a:spcPts val="0"/>
              </a:spcBef>
              <a:spcAft>
                <a:spcPts val="0"/>
              </a:spcAft>
              <a:buClr>
                <a:srgbClr val="00B050"/>
              </a:buClr>
              <a:buSzPts val="1800"/>
              <a:buFont typeface="Calibri"/>
              <a:buAutoNum type="arabicPeriod"/>
            </a:pPr>
            <a:r>
              <a:rPr lang="en-US" sz="1800">
                <a:solidFill>
                  <a:srgbClr val="00B050"/>
                </a:solidFill>
                <a:latin typeface="Calibri"/>
                <a:ea typeface="Calibri"/>
                <a:cs typeface="Calibri"/>
                <a:sym typeface="Calibri"/>
              </a:rPr>
              <a:t>Lambda Expressions</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81"/>
          <p:cNvSpPr/>
          <p:nvPr/>
        </p:nvSpPr>
        <p:spPr>
          <a:xfrm>
            <a:off x="154546" y="206062"/>
            <a:ext cx="11822806" cy="606319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rgbClr val="FF0000"/>
                </a:solidFill>
                <a:latin typeface="Calibri"/>
                <a:ea typeface="Calibri"/>
                <a:cs typeface="Calibri"/>
                <a:sym typeface="Calibri"/>
              </a:rPr>
              <a:t>Advanced Java Important Topics for your reference:</a:t>
            </a:r>
            <a:endParaRPr/>
          </a:p>
          <a:p>
            <a:pPr marL="457200" marR="0" lvl="0" indent="-457200" algn="l" rtl="0">
              <a:spcBef>
                <a:spcPts val="0"/>
              </a:spcBef>
              <a:spcAft>
                <a:spcPts val="0"/>
              </a:spcAft>
              <a:buClr>
                <a:srgbClr val="00B050"/>
              </a:buClr>
              <a:buSzPts val="2000"/>
              <a:buFont typeface="Calibri"/>
              <a:buAutoNum type="arabicPeriod"/>
            </a:pPr>
            <a:r>
              <a:rPr lang="en-US" sz="2000" b="1">
                <a:solidFill>
                  <a:srgbClr val="00B050"/>
                </a:solidFill>
                <a:latin typeface="Calibri"/>
                <a:ea typeface="Calibri"/>
                <a:cs typeface="Calibri"/>
                <a:sym typeface="Calibri"/>
              </a:rPr>
              <a:t>JDBC</a:t>
            </a:r>
            <a:endParaRPr/>
          </a:p>
          <a:p>
            <a:pPr marL="457200" marR="0" lvl="0" indent="-457200" algn="l" rtl="0">
              <a:spcBef>
                <a:spcPts val="0"/>
              </a:spcBef>
              <a:spcAft>
                <a:spcPts val="0"/>
              </a:spcAft>
              <a:buClr>
                <a:srgbClr val="00B050"/>
              </a:buClr>
              <a:buSzPts val="2000"/>
              <a:buFont typeface="Calibri"/>
              <a:buAutoNum type="arabicPeriod"/>
            </a:pPr>
            <a:r>
              <a:rPr lang="en-US" sz="2000" b="1">
                <a:solidFill>
                  <a:srgbClr val="00B050"/>
                </a:solidFill>
                <a:latin typeface="Calibri"/>
                <a:ea typeface="Calibri"/>
                <a:cs typeface="Calibri"/>
                <a:sym typeface="Calibri"/>
              </a:rPr>
              <a:t>Servlets </a:t>
            </a:r>
            <a:endParaRPr/>
          </a:p>
          <a:p>
            <a:pPr marL="457200" marR="0" lvl="0" indent="-457200" algn="l" rtl="0">
              <a:spcBef>
                <a:spcPts val="0"/>
              </a:spcBef>
              <a:spcAft>
                <a:spcPts val="0"/>
              </a:spcAft>
              <a:buClr>
                <a:srgbClr val="00B050"/>
              </a:buClr>
              <a:buSzPts val="2000"/>
              <a:buFont typeface="Calibri"/>
              <a:buAutoNum type="arabicPeriod"/>
            </a:pPr>
            <a:r>
              <a:rPr lang="en-US" sz="2000" b="1">
                <a:solidFill>
                  <a:srgbClr val="00B050"/>
                </a:solidFill>
                <a:latin typeface="Calibri"/>
                <a:ea typeface="Calibri"/>
                <a:cs typeface="Calibri"/>
                <a:sym typeface="Calibri"/>
              </a:rPr>
              <a:t>JavaServer Pages (JSP</a:t>
            </a:r>
            <a:r>
              <a:rPr lang="en-US" sz="2000" b="1">
                <a:solidFill>
                  <a:srgbClr val="002060"/>
                </a:solidFill>
                <a:latin typeface="Calibri"/>
                <a:ea typeface="Calibri"/>
                <a:cs typeface="Calibri"/>
                <a:sym typeface="Calibri"/>
              </a:rPr>
              <a:t>) </a:t>
            </a:r>
            <a:endParaRPr/>
          </a:p>
          <a:p>
            <a:pPr marL="457200" marR="0" lvl="0" indent="-457200" algn="l" rtl="0">
              <a:spcBef>
                <a:spcPts val="0"/>
              </a:spcBef>
              <a:spcAft>
                <a:spcPts val="0"/>
              </a:spcAft>
              <a:buClr>
                <a:srgbClr val="002060"/>
              </a:buClr>
              <a:buSzPts val="2000"/>
              <a:buFont typeface="Calibri"/>
              <a:buAutoNum type="arabicPeriod"/>
            </a:pPr>
            <a:r>
              <a:rPr lang="en-US" sz="2000">
                <a:solidFill>
                  <a:srgbClr val="002060"/>
                </a:solidFill>
                <a:latin typeface="Calibri"/>
                <a:ea typeface="Calibri"/>
                <a:cs typeface="Calibri"/>
                <a:sym typeface="Calibri"/>
              </a:rPr>
              <a:t>JavaServer Faces (JSF) </a:t>
            </a:r>
            <a:endParaRPr/>
          </a:p>
          <a:p>
            <a:pPr marL="457200" marR="0" lvl="0" indent="-457200" algn="l" rtl="0">
              <a:spcBef>
                <a:spcPts val="0"/>
              </a:spcBef>
              <a:spcAft>
                <a:spcPts val="0"/>
              </a:spcAft>
              <a:buClr>
                <a:srgbClr val="00B050"/>
              </a:buClr>
              <a:buSzPts val="2000"/>
              <a:buFont typeface="Calibri"/>
              <a:buAutoNum type="arabicPeriod"/>
            </a:pPr>
            <a:r>
              <a:rPr lang="en-US" sz="2000" b="1">
                <a:solidFill>
                  <a:srgbClr val="00B050"/>
                </a:solidFill>
                <a:latin typeface="Calibri"/>
                <a:ea typeface="Calibri"/>
                <a:cs typeface="Calibri"/>
                <a:sym typeface="Calibri"/>
              </a:rPr>
              <a:t>Spring (Core, MVC, Boot) </a:t>
            </a:r>
            <a:endParaRPr/>
          </a:p>
          <a:p>
            <a:pPr marL="457200" marR="0" lvl="0" indent="-457200" algn="l" rtl="0">
              <a:spcBef>
                <a:spcPts val="0"/>
              </a:spcBef>
              <a:spcAft>
                <a:spcPts val="0"/>
              </a:spcAft>
              <a:buClr>
                <a:srgbClr val="00B050"/>
              </a:buClr>
              <a:buSzPts val="2000"/>
              <a:buFont typeface="Calibri"/>
              <a:buAutoNum type="arabicPeriod"/>
            </a:pPr>
            <a:r>
              <a:rPr lang="en-US" sz="2000" b="1">
                <a:solidFill>
                  <a:srgbClr val="00B050"/>
                </a:solidFill>
                <a:latin typeface="Calibri"/>
                <a:ea typeface="Calibri"/>
                <a:cs typeface="Calibri"/>
                <a:sym typeface="Calibri"/>
              </a:rPr>
              <a:t>Hibernate </a:t>
            </a:r>
            <a:endParaRPr/>
          </a:p>
          <a:p>
            <a:pPr marL="457200" marR="0" lvl="0" indent="-457200" algn="l" rtl="0">
              <a:spcBef>
                <a:spcPts val="0"/>
              </a:spcBef>
              <a:spcAft>
                <a:spcPts val="0"/>
              </a:spcAft>
              <a:buClr>
                <a:srgbClr val="002060"/>
              </a:buClr>
              <a:buSzPts val="2000"/>
              <a:buFont typeface="Calibri"/>
              <a:buAutoNum type="arabicPeriod"/>
            </a:pPr>
            <a:r>
              <a:rPr lang="en-US" sz="2000">
                <a:solidFill>
                  <a:srgbClr val="002060"/>
                </a:solidFill>
                <a:latin typeface="Calibri"/>
                <a:ea typeface="Calibri"/>
                <a:cs typeface="Calibri"/>
                <a:sym typeface="Calibri"/>
              </a:rPr>
              <a:t>Networking </a:t>
            </a:r>
            <a:endParaRPr/>
          </a:p>
          <a:p>
            <a:pPr marL="457200" marR="0" lvl="0" indent="-457200" algn="l" rtl="0">
              <a:spcBef>
                <a:spcPts val="0"/>
              </a:spcBef>
              <a:spcAft>
                <a:spcPts val="0"/>
              </a:spcAft>
              <a:buClr>
                <a:srgbClr val="002060"/>
              </a:buClr>
              <a:buSzPts val="2000"/>
              <a:buFont typeface="Calibri"/>
              <a:buAutoNum type="arabicPeriod"/>
            </a:pPr>
            <a:r>
              <a:rPr lang="en-US" sz="2000">
                <a:solidFill>
                  <a:srgbClr val="002060"/>
                </a:solidFill>
                <a:latin typeface="Calibri"/>
                <a:ea typeface="Calibri"/>
                <a:cs typeface="Calibri"/>
                <a:sym typeface="Calibri"/>
              </a:rPr>
              <a:t>Remote Method Invocation (RMI) </a:t>
            </a:r>
            <a:endParaRPr/>
          </a:p>
          <a:p>
            <a:pPr marL="457200" marR="0" lvl="0" indent="-457200" algn="l" rtl="0">
              <a:spcBef>
                <a:spcPts val="0"/>
              </a:spcBef>
              <a:spcAft>
                <a:spcPts val="0"/>
              </a:spcAft>
              <a:buClr>
                <a:srgbClr val="002060"/>
              </a:buClr>
              <a:buSzPts val="2000"/>
              <a:buFont typeface="Calibri"/>
              <a:buAutoNum type="arabicPeriod"/>
            </a:pPr>
            <a:r>
              <a:rPr lang="en-US" sz="2000">
                <a:solidFill>
                  <a:srgbClr val="002060"/>
                </a:solidFill>
                <a:latin typeface="Calibri"/>
                <a:ea typeface="Calibri"/>
                <a:cs typeface="Calibri"/>
                <a:sym typeface="Calibri"/>
              </a:rPr>
              <a:t>Enterprise Java (Java EE) </a:t>
            </a:r>
            <a:endParaRPr/>
          </a:p>
          <a:p>
            <a:pPr marL="457200" marR="0" lvl="0" indent="-457200" algn="l" rtl="0">
              <a:spcBef>
                <a:spcPts val="0"/>
              </a:spcBef>
              <a:spcAft>
                <a:spcPts val="0"/>
              </a:spcAft>
              <a:buClr>
                <a:srgbClr val="00B050"/>
              </a:buClr>
              <a:buSzPts val="2000"/>
              <a:buFont typeface="Calibri"/>
              <a:buAutoNum type="arabicPeriod"/>
            </a:pPr>
            <a:r>
              <a:rPr lang="en-US" sz="2000" b="1">
                <a:solidFill>
                  <a:srgbClr val="00B050"/>
                </a:solidFill>
                <a:latin typeface="Calibri"/>
                <a:ea typeface="Calibri"/>
                <a:cs typeface="Calibri"/>
                <a:sym typeface="Calibri"/>
              </a:rPr>
              <a:t>Enterprise JavaBeans (EJB) </a:t>
            </a:r>
            <a:endParaRPr/>
          </a:p>
          <a:p>
            <a:pPr marL="457200" marR="0" lvl="0" indent="-457200" algn="l" rtl="0">
              <a:spcBef>
                <a:spcPts val="0"/>
              </a:spcBef>
              <a:spcAft>
                <a:spcPts val="0"/>
              </a:spcAft>
              <a:buClr>
                <a:srgbClr val="00B050"/>
              </a:buClr>
              <a:buSzPts val="2000"/>
              <a:buFont typeface="Calibri"/>
              <a:buAutoNum type="arabicPeriod"/>
            </a:pPr>
            <a:r>
              <a:rPr lang="en-US" sz="2000" b="1">
                <a:solidFill>
                  <a:srgbClr val="00B050"/>
                </a:solidFill>
                <a:latin typeface="Calibri"/>
                <a:ea typeface="Calibri"/>
                <a:cs typeface="Calibri"/>
                <a:sym typeface="Calibri"/>
              </a:rPr>
              <a:t>Java Persistence API (JPA) </a:t>
            </a:r>
            <a:endParaRPr/>
          </a:p>
          <a:p>
            <a:pPr marL="457200" marR="0" lvl="0" indent="-457200" algn="l" rtl="0">
              <a:spcBef>
                <a:spcPts val="0"/>
              </a:spcBef>
              <a:spcAft>
                <a:spcPts val="0"/>
              </a:spcAft>
              <a:buClr>
                <a:srgbClr val="00B050"/>
              </a:buClr>
              <a:buSzPts val="2000"/>
              <a:buFont typeface="Calibri"/>
              <a:buAutoNum type="arabicPeriod"/>
            </a:pPr>
            <a:r>
              <a:rPr lang="en-US" sz="2000" b="1">
                <a:solidFill>
                  <a:srgbClr val="00B050"/>
                </a:solidFill>
                <a:latin typeface="Calibri"/>
                <a:ea typeface="Calibri"/>
                <a:cs typeface="Calibri"/>
                <a:sym typeface="Calibri"/>
              </a:rPr>
              <a:t>Java Transaction API (JTA) </a:t>
            </a:r>
            <a:endParaRPr/>
          </a:p>
          <a:p>
            <a:pPr marL="457200" marR="0" lvl="0" indent="-457200" algn="l" rtl="0">
              <a:spcBef>
                <a:spcPts val="0"/>
              </a:spcBef>
              <a:spcAft>
                <a:spcPts val="0"/>
              </a:spcAft>
              <a:buClr>
                <a:srgbClr val="00B050"/>
              </a:buClr>
              <a:buSzPts val="2000"/>
              <a:buFont typeface="Calibri"/>
              <a:buAutoNum type="arabicPeriod"/>
            </a:pPr>
            <a:r>
              <a:rPr lang="en-US" sz="2000" b="1">
                <a:solidFill>
                  <a:srgbClr val="00B050"/>
                </a:solidFill>
                <a:latin typeface="Calibri"/>
                <a:ea typeface="Calibri"/>
                <a:cs typeface="Calibri"/>
                <a:sym typeface="Calibri"/>
              </a:rPr>
              <a:t>Java Message Service (JMS</a:t>
            </a:r>
            <a:r>
              <a:rPr lang="en-US" sz="2000">
                <a:solidFill>
                  <a:srgbClr val="00B050"/>
                </a:solidFill>
                <a:latin typeface="Calibri"/>
                <a:ea typeface="Calibri"/>
                <a:cs typeface="Calibri"/>
                <a:sym typeface="Calibri"/>
              </a:rPr>
              <a:t>) </a:t>
            </a:r>
            <a:endParaRPr/>
          </a:p>
          <a:p>
            <a:pPr marL="457200" marR="0" lvl="0" indent="-457200" algn="l" rtl="0">
              <a:spcBef>
                <a:spcPts val="0"/>
              </a:spcBef>
              <a:spcAft>
                <a:spcPts val="0"/>
              </a:spcAft>
              <a:buClr>
                <a:srgbClr val="002060"/>
              </a:buClr>
              <a:buSzPts val="2000"/>
              <a:buFont typeface="Calibri"/>
              <a:buAutoNum type="arabicPeriod"/>
            </a:pPr>
            <a:r>
              <a:rPr lang="en-US" sz="2000">
                <a:solidFill>
                  <a:srgbClr val="002060"/>
                </a:solidFill>
                <a:latin typeface="Calibri"/>
                <a:ea typeface="Calibri"/>
                <a:cs typeface="Calibri"/>
                <a:sym typeface="Calibri"/>
              </a:rPr>
              <a:t>Design Patterns </a:t>
            </a:r>
            <a:endParaRPr/>
          </a:p>
          <a:p>
            <a:pPr marL="457200" marR="0" lvl="0" indent="-457200" algn="l" rtl="0">
              <a:spcBef>
                <a:spcPts val="0"/>
              </a:spcBef>
              <a:spcAft>
                <a:spcPts val="0"/>
              </a:spcAft>
              <a:buClr>
                <a:srgbClr val="002060"/>
              </a:buClr>
              <a:buSzPts val="2000"/>
              <a:buFont typeface="Calibri"/>
              <a:buAutoNum type="arabicPeriod"/>
            </a:pPr>
            <a:r>
              <a:rPr lang="en-US" sz="2000">
                <a:solidFill>
                  <a:srgbClr val="002060"/>
                </a:solidFill>
                <a:latin typeface="Calibri"/>
                <a:ea typeface="Calibri"/>
                <a:cs typeface="Calibri"/>
                <a:sym typeface="Calibri"/>
              </a:rPr>
              <a:t>JUnit </a:t>
            </a:r>
            <a:endParaRPr/>
          </a:p>
          <a:p>
            <a:pPr marL="457200" marR="0" lvl="0" indent="-457200" algn="l" rtl="0">
              <a:spcBef>
                <a:spcPts val="0"/>
              </a:spcBef>
              <a:spcAft>
                <a:spcPts val="0"/>
              </a:spcAft>
              <a:buClr>
                <a:srgbClr val="002060"/>
              </a:buClr>
              <a:buSzPts val="2000"/>
              <a:buFont typeface="Calibri"/>
              <a:buAutoNum type="arabicPeriod"/>
            </a:pPr>
            <a:r>
              <a:rPr lang="en-US" sz="2000">
                <a:solidFill>
                  <a:srgbClr val="002060"/>
                </a:solidFill>
                <a:latin typeface="Calibri"/>
                <a:ea typeface="Calibri"/>
                <a:cs typeface="Calibri"/>
                <a:sym typeface="Calibri"/>
              </a:rPr>
              <a:t>Mockito </a:t>
            </a:r>
            <a:endParaRPr/>
          </a:p>
          <a:p>
            <a:pPr marL="457200" marR="0" lvl="0" indent="-457200" algn="l" rtl="0">
              <a:spcBef>
                <a:spcPts val="0"/>
              </a:spcBef>
              <a:spcAft>
                <a:spcPts val="0"/>
              </a:spcAft>
              <a:buClr>
                <a:srgbClr val="00B050"/>
              </a:buClr>
              <a:buSzPts val="2000"/>
              <a:buFont typeface="Calibri"/>
              <a:buAutoNum type="arabicPeriod"/>
            </a:pPr>
            <a:r>
              <a:rPr lang="en-US" sz="2000" b="1">
                <a:solidFill>
                  <a:srgbClr val="00B050"/>
                </a:solidFill>
                <a:latin typeface="Calibri"/>
                <a:ea typeface="Calibri"/>
                <a:cs typeface="Calibri"/>
                <a:sym typeface="Calibri"/>
              </a:rPr>
              <a:t>Web Services (SOAP, REST) </a:t>
            </a:r>
            <a:endParaRPr/>
          </a:p>
          <a:p>
            <a:pPr marL="457200" marR="0" lvl="0" indent="-457200" algn="l" rtl="0">
              <a:spcBef>
                <a:spcPts val="0"/>
              </a:spcBef>
              <a:spcAft>
                <a:spcPts val="0"/>
              </a:spcAft>
              <a:buClr>
                <a:srgbClr val="002060"/>
              </a:buClr>
              <a:buSzPts val="2000"/>
              <a:buFont typeface="Calibri"/>
              <a:buAutoNum type="arabicPeriod"/>
            </a:pPr>
            <a:r>
              <a:rPr lang="en-US" sz="2000">
                <a:solidFill>
                  <a:srgbClr val="002060"/>
                </a:solidFill>
                <a:latin typeface="Calibri"/>
                <a:ea typeface="Calibri"/>
                <a:cs typeface="Calibri"/>
                <a:sym typeface="Calibri"/>
              </a:rPr>
              <a:t>JavaFX for GUI </a:t>
            </a:r>
            <a:endParaRPr/>
          </a:p>
        </p:txBody>
      </p:sp>
      <p:sp>
        <p:nvSpPr>
          <p:cNvPr id="457" name="Google Shape;457;p81"/>
          <p:cNvSpPr/>
          <p:nvPr/>
        </p:nvSpPr>
        <p:spPr>
          <a:xfrm>
            <a:off x="4468969" y="1030310"/>
            <a:ext cx="7508383" cy="458587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a:solidFill>
                  <a:srgbClr val="FF0000"/>
                </a:solidFill>
                <a:latin typeface="Calibri"/>
                <a:ea typeface="Calibri"/>
                <a:cs typeface="Calibri"/>
                <a:sym typeface="Calibri"/>
              </a:rPr>
              <a:t>Advanced Java builds on the principles of Core Java and introduces more complex and specialized concepts</a:t>
            </a:r>
            <a:r>
              <a:rPr lang="en-US" sz="1800">
                <a:solidFill>
                  <a:schemeClr val="dk1"/>
                </a:solidFill>
                <a:latin typeface="Calibri"/>
                <a:ea typeface="Calibri"/>
                <a:cs typeface="Calibri"/>
                <a:sym typeface="Calibri"/>
              </a:rPr>
              <a:t>. </a:t>
            </a:r>
            <a:endParaRPr/>
          </a:p>
          <a:p>
            <a:pPr marL="285750" marR="0" lvl="0" indent="-285750" algn="l" rtl="0">
              <a:spcBef>
                <a:spcPts val="0"/>
              </a:spcBef>
              <a:spcAft>
                <a:spcPts val="0"/>
              </a:spcAft>
              <a:buClr>
                <a:srgbClr val="7030A0"/>
              </a:buClr>
              <a:buSzPts val="1800"/>
              <a:buFont typeface="Arial"/>
              <a:buChar char="•"/>
            </a:pPr>
            <a:r>
              <a:rPr lang="en-US" sz="1800" b="1">
                <a:solidFill>
                  <a:srgbClr val="7030A0"/>
                </a:solidFill>
                <a:latin typeface="Calibri"/>
                <a:ea typeface="Calibri"/>
                <a:cs typeface="Calibri"/>
                <a:sym typeface="Calibri"/>
              </a:rPr>
              <a:t>Web Development: Includes technologies for web development, like Servlets, Java Server Pages (JSP), and frameworks like Spring.</a:t>
            </a:r>
            <a:endParaRPr/>
          </a:p>
          <a:p>
            <a:pPr marL="285750" marR="0" lvl="0" indent="-285750" algn="l" rtl="0">
              <a:spcBef>
                <a:spcPts val="0"/>
              </a:spcBef>
              <a:spcAft>
                <a:spcPts val="0"/>
              </a:spcAft>
              <a:buClr>
                <a:srgbClr val="7030A0"/>
              </a:buClr>
              <a:buSzPts val="1800"/>
              <a:buFont typeface="Arial"/>
              <a:buChar char="•"/>
            </a:pPr>
            <a:r>
              <a:rPr lang="en-US" sz="1800" b="1">
                <a:solidFill>
                  <a:srgbClr val="7030A0"/>
                </a:solidFill>
                <a:latin typeface="Calibri"/>
                <a:ea typeface="Calibri"/>
                <a:cs typeface="Calibri"/>
                <a:sym typeface="Calibri"/>
              </a:rPr>
              <a:t>Enterprise Development: Understanding Java Enterprise Edition (JEE) with components like Enterprise JavaBeans (EJB). In Java development, most companies use Spring Framework to build enterprise applications. Spring Framework is a replacement for EJB.</a:t>
            </a:r>
            <a:endParaRPr/>
          </a:p>
          <a:p>
            <a:pPr marL="285750" marR="0" lvl="0" indent="-285750" algn="l" rtl="0">
              <a:spcBef>
                <a:spcPts val="0"/>
              </a:spcBef>
              <a:spcAft>
                <a:spcPts val="0"/>
              </a:spcAft>
              <a:buClr>
                <a:srgbClr val="7030A0"/>
              </a:buClr>
              <a:buSzPts val="1800"/>
              <a:buFont typeface="Arial"/>
              <a:buChar char="•"/>
            </a:pPr>
            <a:r>
              <a:rPr lang="en-US" sz="1800" b="1">
                <a:solidFill>
                  <a:srgbClr val="7030A0"/>
                </a:solidFill>
                <a:latin typeface="Calibri"/>
                <a:ea typeface="Calibri"/>
                <a:cs typeface="Calibri"/>
                <a:sym typeface="Calibri"/>
              </a:rPr>
              <a:t>Networking: Understanding sockets, RMI, and other network-related programming.</a:t>
            </a:r>
            <a:endParaRPr/>
          </a:p>
          <a:p>
            <a:pPr marL="285750" marR="0" lvl="0" indent="-285750" algn="l" rtl="0">
              <a:spcBef>
                <a:spcPts val="0"/>
              </a:spcBef>
              <a:spcAft>
                <a:spcPts val="0"/>
              </a:spcAft>
              <a:buClr>
                <a:srgbClr val="7030A0"/>
              </a:buClr>
              <a:buSzPts val="1800"/>
              <a:buFont typeface="Arial"/>
              <a:buChar char="•"/>
            </a:pPr>
            <a:r>
              <a:rPr lang="en-US" sz="1800" b="1">
                <a:solidFill>
                  <a:srgbClr val="7030A0"/>
                </a:solidFill>
                <a:latin typeface="Calibri"/>
                <a:ea typeface="Calibri"/>
                <a:cs typeface="Calibri"/>
                <a:sym typeface="Calibri"/>
              </a:rPr>
              <a:t>Concurrency: In-depth understanding of multi-threading, synchronization, and concurrent collections.</a:t>
            </a:r>
            <a:endParaRPr/>
          </a:p>
          <a:p>
            <a:pPr marL="285750" marR="0" lvl="0" indent="-285750" algn="l" rtl="0">
              <a:spcBef>
                <a:spcPts val="0"/>
              </a:spcBef>
              <a:spcAft>
                <a:spcPts val="0"/>
              </a:spcAft>
              <a:buClr>
                <a:srgbClr val="7030A0"/>
              </a:buClr>
              <a:buSzPts val="1800"/>
              <a:buFont typeface="Arial"/>
              <a:buChar char="•"/>
            </a:pPr>
            <a:r>
              <a:rPr lang="en-US" sz="1800" b="1">
                <a:solidFill>
                  <a:srgbClr val="7030A0"/>
                </a:solidFill>
                <a:latin typeface="Calibri"/>
                <a:ea typeface="Calibri"/>
                <a:cs typeface="Calibri"/>
                <a:sym typeface="Calibri"/>
              </a:rPr>
              <a:t>Design Patterns: Introduction to more complex design patterns and architecture.</a:t>
            </a:r>
            <a:endParaRPr/>
          </a:p>
          <a:p>
            <a:pPr marL="285750" marR="0" lvl="0" indent="-285750" algn="l" rtl="0">
              <a:spcBef>
                <a:spcPts val="0"/>
              </a:spcBef>
              <a:spcAft>
                <a:spcPts val="0"/>
              </a:spcAft>
              <a:buClr>
                <a:srgbClr val="7030A0"/>
              </a:buClr>
              <a:buSzPts val="1800"/>
              <a:buFont typeface="Arial"/>
              <a:buChar char="•"/>
            </a:pPr>
            <a:r>
              <a:rPr lang="en-US" sz="1800" b="1">
                <a:solidFill>
                  <a:srgbClr val="7030A0"/>
                </a:solidFill>
                <a:latin typeface="Calibri"/>
                <a:ea typeface="Calibri"/>
                <a:cs typeface="Calibri"/>
                <a:sym typeface="Calibri"/>
              </a:rPr>
              <a:t>Usage: Suitable for building robust, scalable, and complex applications, including web applications, distributed systems, etc</a:t>
            </a:r>
            <a:r>
              <a:rPr lang="en-US" sz="1800" b="1">
                <a:solidFill>
                  <a:schemeClr val="dk1"/>
                </a:solidFill>
                <a:latin typeface="Calibri"/>
                <a:ea typeface="Calibri"/>
                <a:cs typeface="Calibri"/>
                <a:sym typeface="Calibri"/>
              </a:rPr>
              <a:t>.</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pic>
        <p:nvPicPr>
          <p:cNvPr id="462" name="Google Shape;462;p82"/>
          <p:cNvPicPr preferRelativeResize="0"/>
          <p:nvPr/>
        </p:nvPicPr>
        <p:blipFill rotWithShape="1">
          <a:blip r:embed="rId3">
            <a:alphaModFix/>
          </a:blip>
          <a:srcRect b="7774"/>
          <a:stretch/>
        </p:blipFill>
        <p:spPr>
          <a:xfrm>
            <a:off x="386366" y="99744"/>
            <a:ext cx="11165983" cy="7164412"/>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graphicFrame>
        <p:nvGraphicFramePr>
          <p:cNvPr id="467" name="Google Shape;467;p83"/>
          <p:cNvGraphicFramePr/>
          <p:nvPr/>
        </p:nvGraphicFramePr>
        <p:xfrm>
          <a:off x="103031" y="0"/>
          <a:ext cx="11835675" cy="7053050"/>
        </p:xfrm>
        <a:graphic>
          <a:graphicData uri="http://schemas.openxmlformats.org/drawingml/2006/table">
            <a:tbl>
              <a:tblPr>
                <a:noFill/>
                <a:tableStyleId>{FC9120A8-5EFD-48D4-9EBC-27F31F236AB9}</a:tableStyleId>
              </a:tblPr>
              <a:tblGrid>
                <a:gridCol w="2395325"/>
                <a:gridCol w="4720175"/>
                <a:gridCol w="4720175"/>
              </a:tblGrid>
              <a:tr h="344800">
                <a:tc>
                  <a:txBody>
                    <a:bodyPr/>
                    <a:lstStyle/>
                    <a:p>
                      <a:pPr marL="0" marR="0" lvl="0" indent="0" algn="l" rtl="0">
                        <a:spcBef>
                          <a:spcPts val="0"/>
                        </a:spcBef>
                        <a:spcAft>
                          <a:spcPts val="0"/>
                        </a:spcAft>
                        <a:buNone/>
                      </a:pPr>
                      <a:r>
                        <a:rPr lang="en-US" sz="2000">
                          <a:solidFill>
                            <a:srgbClr val="FF0000"/>
                          </a:solidFill>
                        </a:rPr>
                        <a:t>Aspect</a:t>
                      </a:r>
                      <a:endParaRPr/>
                    </a:p>
                  </a:txBody>
                  <a:tcPr marL="58025" marR="58025" marT="29000" marB="29000" anchor="b">
                    <a:lnL w="9525" cap="flat" cmpd="sng">
                      <a:solidFill>
                        <a:srgbClr val="D9D9E3"/>
                      </a:solidFill>
                      <a:prstDash val="solid"/>
                      <a:round/>
                      <a:headEnd type="none" w="sm" len="sm"/>
                      <a:tailEnd type="none" w="sm" len="sm"/>
                    </a:lnL>
                    <a:lnR w="9525" cap="flat" cmpd="sng">
                      <a:solidFill>
                        <a:srgbClr val="D9D9E3"/>
                      </a:solidFill>
                      <a:prstDash val="solid"/>
                      <a:round/>
                      <a:headEnd type="none" w="sm" len="sm"/>
                      <a:tailEnd type="none" w="sm" len="sm"/>
                    </a:lnR>
                    <a:lnT w="9525" cap="flat" cmpd="sng">
                      <a:solidFill>
                        <a:srgbClr val="D9D9E3"/>
                      </a:solidFill>
                      <a:prstDash val="solid"/>
                      <a:round/>
                      <a:headEnd type="none" w="sm" len="sm"/>
                      <a:tailEnd type="none" w="sm" len="sm"/>
                    </a:lnT>
                    <a:lnB w="12700" cap="flat" cmpd="sng">
                      <a:solidFill>
                        <a:srgbClr val="D9D9E3"/>
                      </a:solidFill>
                      <a:prstDash val="solid"/>
                      <a:round/>
                      <a:headEnd type="none" w="sm" len="sm"/>
                      <a:tailEnd type="none" w="sm" len="sm"/>
                    </a:lnB>
                  </a:tcPr>
                </a:tc>
                <a:tc>
                  <a:txBody>
                    <a:bodyPr/>
                    <a:lstStyle/>
                    <a:p>
                      <a:pPr marL="0" marR="0" lvl="0" indent="0" algn="l" rtl="0">
                        <a:spcBef>
                          <a:spcPts val="0"/>
                        </a:spcBef>
                        <a:spcAft>
                          <a:spcPts val="0"/>
                        </a:spcAft>
                        <a:buNone/>
                      </a:pPr>
                      <a:r>
                        <a:rPr lang="en-US" sz="2000" b="1">
                          <a:solidFill>
                            <a:srgbClr val="00B050"/>
                          </a:solidFill>
                        </a:rPr>
                        <a:t>Core Java</a:t>
                      </a:r>
                      <a:endParaRPr/>
                    </a:p>
                  </a:txBody>
                  <a:tcPr marL="58025" marR="58025" marT="29000" marB="29000" anchor="b">
                    <a:lnL w="9525" cap="flat" cmpd="sng">
                      <a:solidFill>
                        <a:srgbClr val="D9D9E3"/>
                      </a:solidFill>
                      <a:prstDash val="solid"/>
                      <a:round/>
                      <a:headEnd type="none" w="sm" len="sm"/>
                      <a:tailEnd type="none" w="sm" len="sm"/>
                    </a:lnL>
                    <a:lnR w="9525" cap="flat" cmpd="sng">
                      <a:solidFill>
                        <a:srgbClr val="D9D9E3"/>
                      </a:solidFill>
                      <a:prstDash val="solid"/>
                      <a:round/>
                      <a:headEnd type="none" w="sm" len="sm"/>
                      <a:tailEnd type="none" w="sm" len="sm"/>
                    </a:lnR>
                    <a:lnT w="9525" cap="flat" cmpd="sng">
                      <a:solidFill>
                        <a:srgbClr val="D9D9E3"/>
                      </a:solidFill>
                      <a:prstDash val="solid"/>
                      <a:round/>
                      <a:headEnd type="none" w="sm" len="sm"/>
                      <a:tailEnd type="none" w="sm" len="sm"/>
                    </a:lnT>
                    <a:lnB w="12700" cap="flat" cmpd="sng">
                      <a:solidFill>
                        <a:srgbClr val="D9D9E3"/>
                      </a:solidFill>
                      <a:prstDash val="solid"/>
                      <a:round/>
                      <a:headEnd type="none" w="sm" len="sm"/>
                      <a:tailEnd type="none" w="sm" len="sm"/>
                    </a:lnB>
                  </a:tcPr>
                </a:tc>
                <a:tc>
                  <a:txBody>
                    <a:bodyPr/>
                    <a:lstStyle/>
                    <a:p>
                      <a:pPr marL="0" marR="0" lvl="0" indent="0" algn="l" rtl="0">
                        <a:spcBef>
                          <a:spcPts val="0"/>
                        </a:spcBef>
                        <a:spcAft>
                          <a:spcPts val="0"/>
                        </a:spcAft>
                        <a:buNone/>
                      </a:pPr>
                      <a:r>
                        <a:rPr lang="en-US" sz="2000" b="1">
                          <a:solidFill>
                            <a:srgbClr val="002060"/>
                          </a:solidFill>
                        </a:rPr>
                        <a:t>Advanced Java</a:t>
                      </a:r>
                      <a:endParaRPr/>
                    </a:p>
                  </a:txBody>
                  <a:tcPr marL="58025" marR="58025" marT="29000" marB="29000" anchor="b">
                    <a:lnL w="9525" cap="flat" cmpd="sng">
                      <a:solidFill>
                        <a:srgbClr val="D9D9E3"/>
                      </a:solidFill>
                      <a:prstDash val="solid"/>
                      <a:round/>
                      <a:headEnd type="none" w="sm" len="sm"/>
                      <a:tailEnd type="none" w="sm" len="sm"/>
                    </a:lnL>
                    <a:lnR w="9525" cap="flat" cmpd="sng">
                      <a:solidFill>
                        <a:srgbClr val="D9D9E3"/>
                      </a:solidFill>
                      <a:prstDash val="solid"/>
                      <a:round/>
                      <a:headEnd type="none" w="sm" len="sm"/>
                      <a:tailEnd type="none" w="sm" len="sm"/>
                    </a:lnR>
                    <a:lnT w="9525" cap="flat" cmpd="sng">
                      <a:solidFill>
                        <a:srgbClr val="D9D9E3"/>
                      </a:solidFill>
                      <a:prstDash val="solid"/>
                      <a:round/>
                      <a:headEnd type="none" w="sm" len="sm"/>
                      <a:tailEnd type="none" w="sm" len="sm"/>
                    </a:lnT>
                    <a:lnB w="12700" cap="flat" cmpd="sng">
                      <a:solidFill>
                        <a:srgbClr val="D9D9E3"/>
                      </a:solidFill>
                      <a:prstDash val="solid"/>
                      <a:round/>
                      <a:headEnd type="none" w="sm" len="sm"/>
                      <a:tailEnd type="none" w="sm" len="sm"/>
                    </a:lnB>
                  </a:tcPr>
                </a:tc>
              </a:tr>
              <a:tr h="603425">
                <a:tc>
                  <a:txBody>
                    <a:bodyPr/>
                    <a:lstStyle/>
                    <a:p>
                      <a:pPr marL="0" marR="0" lvl="0" indent="0" algn="l" rtl="0">
                        <a:spcBef>
                          <a:spcPts val="0"/>
                        </a:spcBef>
                        <a:spcAft>
                          <a:spcPts val="0"/>
                        </a:spcAft>
                        <a:buNone/>
                      </a:pPr>
                      <a:r>
                        <a:rPr lang="en-US" sz="2000">
                          <a:solidFill>
                            <a:srgbClr val="FF0000"/>
                          </a:solidFill>
                        </a:rPr>
                        <a:t>Scope</a:t>
                      </a:r>
                      <a:endParaRPr/>
                    </a:p>
                  </a:txBody>
                  <a:tcPr marL="58025" marR="58025" marT="29000" marB="29000" anchor="ctr">
                    <a:lnL w="9525" cap="flat" cmpd="sng">
                      <a:solidFill>
                        <a:srgbClr val="D9D9E3"/>
                      </a:solidFill>
                      <a:prstDash val="solid"/>
                      <a:round/>
                      <a:headEnd type="none" w="sm" len="sm"/>
                      <a:tailEnd type="none" w="sm" len="sm"/>
                    </a:lnL>
                    <a:lnR w="9525" cap="flat" cmpd="sng">
                      <a:solidFill>
                        <a:srgbClr val="D9D9E3"/>
                      </a:solidFill>
                      <a:prstDash val="solid"/>
                      <a:round/>
                      <a:headEnd type="none" w="sm" len="sm"/>
                      <a:tailEnd type="none" w="sm" len="sm"/>
                    </a:lnR>
                    <a:lnT w="12700" cap="flat" cmpd="sng">
                      <a:solidFill>
                        <a:srgbClr val="D9D9E3"/>
                      </a:solidFill>
                      <a:prstDash val="solid"/>
                      <a:round/>
                      <a:headEnd type="none" w="sm" len="sm"/>
                      <a:tailEnd type="none" w="sm" len="sm"/>
                    </a:lnT>
                    <a:lnB w="12700" cap="flat" cmpd="sng">
                      <a:solidFill>
                        <a:srgbClr val="D9D9E3"/>
                      </a:solidFill>
                      <a:prstDash val="solid"/>
                      <a:round/>
                      <a:headEnd type="none" w="sm" len="sm"/>
                      <a:tailEnd type="none" w="sm" len="sm"/>
                    </a:lnB>
                  </a:tcPr>
                </a:tc>
                <a:tc>
                  <a:txBody>
                    <a:bodyPr/>
                    <a:lstStyle/>
                    <a:p>
                      <a:pPr marL="0" marR="0" lvl="0" indent="0" algn="l" rtl="0">
                        <a:spcBef>
                          <a:spcPts val="0"/>
                        </a:spcBef>
                        <a:spcAft>
                          <a:spcPts val="0"/>
                        </a:spcAft>
                        <a:buNone/>
                      </a:pPr>
                      <a:r>
                        <a:rPr lang="en-US" sz="2000" b="1">
                          <a:solidFill>
                            <a:srgbClr val="00B050"/>
                          </a:solidFill>
                        </a:rPr>
                        <a:t>Covers fundamental parts of the Java language</a:t>
                      </a:r>
                      <a:endParaRPr/>
                    </a:p>
                  </a:txBody>
                  <a:tcPr marL="58025" marR="58025" marT="29000" marB="29000" anchor="ctr">
                    <a:lnL w="9525" cap="flat" cmpd="sng">
                      <a:solidFill>
                        <a:srgbClr val="D9D9E3"/>
                      </a:solidFill>
                      <a:prstDash val="solid"/>
                      <a:round/>
                      <a:headEnd type="none" w="sm" len="sm"/>
                      <a:tailEnd type="none" w="sm" len="sm"/>
                    </a:lnL>
                    <a:lnR w="9525" cap="flat" cmpd="sng">
                      <a:solidFill>
                        <a:srgbClr val="D9D9E3"/>
                      </a:solidFill>
                      <a:prstDash val="solid"/>
                      <a:round/>
                      <a:headEnd type="none" w="sm" len="sm"/>
                      <a:tailEnd type="none" w="sm" len="sm"/>
                    </a:lnR>
                    <a:lnT w="12700" cap="flat" cmpd="sng">
                      <a:solidFill>
                        <a:srgbClr val="D9D9E3"/>
                      </a:solidFill>
                      <a:prstDash val="solid"/>
                      <a:round/>
                      <a:headEnd type="none" w="sm" len="sm"/>
                      <a:tailEnd type="none" w="sm" len="sm"/>
                    </a:lnT>
                    <a:lnB w="12700" cap="flat" cmpd="sng">
                      <a:solidFill>
                        <a:srgbClr val="D9D9E3"/>
                      </a:solidFill>
                      <a:prstDash val="solid"/>
                      <a:round/>
                      <a:headEnd type="none" w="sm" len="sm"/>
                      <a:tailEnd type="none" w="sm" len="sm"/>
                    </a:lnB>
                  </a:tcPr>
                </a:tc>
                <a:tc>
                  <a:txBody>
                    <a:bodyPr/>
                    <a:lstStyle/>
                    <a:p>
                      <a:pPr marL="0" marR="0" lvl="0" indent="0" algn="l" rtl="0">
                        <a:spcBef>
                          <a:spcPts val="0"/>
                        </a:spcBef>
                        <a:spcAft>
                          <a:spcPts val="0"/>
                        </a:spcAft>
                        <a:buNone/>
                      </a:pPr>
                      <a:r>
                        <a:rPr lang="en-US" sz="2000" b="1">
                          <a:solidFill>
                            <a:srgbClr val="002060"/>
                          </a:solidFill>
                        </a:rPr>
                        <a:t>Includes specialized technologies and frameworks</a:t>
                      </a:r>
                      <a:endParaRPr/>
                    </a:p>
                  </a:txBody>
                  <a:tcPr marL="58025" marR="58025" marT="29000" marB="29000" anchor="ctr">
                    <a:lnL w="9525" cap="flat" cmpd="sng">
                      <a:solidFill>
                        <a:srgbClr val="D9D9E3"/>
                      </a:solidFill>
                      <a:prstDash val="solid"/>
                      <a:round/>
                      <a:headEnd type="none" w="sm" len="sm"/>
                      <a:tailEnd type="none" w="sm" len="sm"/>
                    </a:lnL>
                    <a:lnR w="9525" cap="flat" cmpd="sng">
                      <a:solidFill>
                        <a:srgbClr val="D9D9E3"/>
                      </a:solidFill>
                      <a:prstDash val="solid"/>
                      <a:round/>
                      <a:headEnd type="none" w="sm" len="sm"/>
                      <a:tailEnd type="none" w="sm" len="sm"/>
                    </a:lnR>
                    <a:lnT w="12700" cap="flat" cmpd="sng">
                      <a:solidFill>
                        <a:srgbClr val="D9D9E3"/>
                      </a:solidFill>
                      <a:prstDash val="solid"/>
                      <a:round/>
                      <a:headEnd type="none" w="sm" len="sm"/>
                      <a:tailEnd type="none" w="sm" len="sm"/>
                    </a:lnT>
                    <a:lnB w="12700" cap="flat" cmpd="sng">
                      <a:solidFill>
                        <a:srgbClr val="D9D9E3"/>
                      </a:solidFill>
                      <a:prstDash val="solid"/>
                      <a:round/>
                      <a:headEnd type="none" w="sm" len="sm"/>
                      <a:tailEnd type="none" w="sm" len="sm"/>
                    </a:lnB>
                  </a:tcPr>
                </a:tc>
              </a:tr>
              <a:tr h="1379250">
                <a:tc>
                  <a:txBody>
                    <a:bodyPr/>
                    <a:lstStyle/>
                    <a:p>
                      <a:pPr marL="0" marR="0" lvl="0" indent="0" algn="l" rtl="0">
                        <a:spcBef>
                          <a:spcPts val="0"/>
                        </a:spcBef>
                        <a:spcAft>
                          <a:spcPts val="0"/>
                        </a:spcAft>
                        <a:buNone/>
                      </a:pPr>
                      <a:r>
                        <a:rPr lang="en-US" sz="2000">
                          <a:solidFill>
                            <a:srgbClr val="FF0000"/>
                          </a:solidFill>
                        </a:rPr>
                        <a:t>Concepts</a:t>
                      </a:r>
                      <a:endParaRPr/>
                    </a:p>
                  </a:txBody>
                  <a:tcPr marL="58025" marR="58025" marT="29000" marB="29000" anchor="ctr">
                    <a:lnL w="9525" cap="flat" cmpd="sng">
                      <a:solidFill>
                        <a:srgbClr val="D9D9E3"/>
                      </a:solidFill>
                      <a:prstDash val="solid"/>
                      <a:round/>
                      <a:headEnd type="none" w="sm" len="sm"/>
                      <a:tailEnd type="none" w="sm" len="sm"/>
                    </a:lnL>
                    <a:lnR w="9525" cap="flat" cmpd="sng">
                      <a:solidFill>
                        <a:srgbClr val="D9D9E3"/>
                      </a:solidFill>
                      <a:prstDash val="solid"/>
                      <a:round/>
                      <a:headEnd type="none" w="sm" len="sm"/>
                      <a:tailEnd type="none" w="sm" len="sm"/>
                    </a:lnR>
                    <a:lnT w="12700" cap="flat" cmpd="sng">
                      <a:solidFill>
                        <a:srgbClr val="D9D9E3"/>
                      </a:solidFill>
                      <a:prstDash val="solid"/>
                      <a:round/>
                      <a:headEnd type="none" w="sm" len="sm"/>
                      <a:tailEnd type="none" w="sm" len="sm"/>
                    </a:lnT>
                    <a:lnB w="12700" cap="flat" cmpd="sng">
                      <a:solidFill>
                        <a:srgbClr val="D9D9E3"/>
                      </a:solidFill>
                      <a:prstDash val="solid"/>
                      <a:round/>
                      <a:headEnd type="none" w="sm" len="sm"/>
                      <a:tailEnd type="none" w="sm" len="sm"/>
                    </a:lnB>
                  </a:tcPr>
                </a:tc>
                <a:tc>
                  <a:txBody>
                    <a:bodyPr/>
                    <a:lstStyle/>
                    <a:p>
                      <a:pPr marL="0" marR="0" lvl="0" indent="0" algn="l" rtl="0">
                        <a:spcBef>
                          <a:spcPts val="0"/>
                        </a:spcBef>
                        <a:spcAft>
                          <a:spcPts val="0"/>
                        </a:spcAft>
                        <a:buNone/>
                      </a:pPr>
                      <a:r>
                        <a:rPr lang="en-US" sz="2000" b="1">
                          <a:solidFill>
                            <a:srgbClr val="00B050"/>
                          </a:solidFill>
                        </a:rPr>
                        <a:t>Basics such as syntax, data types, operators, string, arrays, loops, exceptions, OOP concepts, exception handling, multithreading, collections, etc</a:t>
                      </a:r>
                      <a:endParaRPr sz="2000" b="1">
                        <a:solidFill>
                          <a:srgbClr val="00B050"/>
                        </a:solidFill>
                      </a:endParaRPr>
                    </a:p>
                  </a:txBody>
                  <a:tcPr marL="58025" marR="58025" marT="29000" marB="29000" anchor="ctr">
                    <a:lnL w="9525" cap="flat" cmpd="sng">
                      <a:solidFill>
                        <a:srgbClr val="D9D9E3"/>
                      </a:solidFill>
                      <a:prstDash val="solid"/>
                      <a:round/>
                      <a:headEnd type="none" w="sm" len="sm"/>
                      <a:tailEnd type="none" w="sm" len="sm"/>
                    </a:lnL>
                    <a:lnR w="9525" cap="flat" cmpd="sng">
                      <a:solidFill>
                        <a:srgbClr val="D9D9E3"/>
                      </a:solidFill>
                      <a:prstDash val="solid"/>
                      <a:round/>
                      <a:headEnd type="none" w="sm" len="sm"/>
                      <a:tailEnd type="none" w="sm" len="sm"/>
                    </a:lnR>
                    <a:lnT w="12700" cap="flat" cmpd="sng">
                      <a:solidFill>
                        <a:srgbClr val="D9D9E3"/>
                      </a:solidFill>
                      <a:prstDash val="solid"/>
                      <a:round/>
                      <a:headEnd type="none" w="sm" len="sm"/>
                      <a:tailEnd type="none" w="sm" len="sm"/>
                    </a:lnT>
                    <a:lnB w="12700" cap="flat" cmpd="sng">
                      <a:solidFill>
                        <a:srgbClr val="D9D9E3"/>
                      </a:solidFill>
                      <a:prstDash val="solid"/>
                      <a:round/>
                      <a:headEnd type="none" w="sm" len="sm"/>
                      <a:tailEnd type="none" w="sm" len="sm"/>
                    </a:lnB>
                  </a:tcPr>
                </a:tc>
                <a:tc>
                  <a:txBody>
                    <a:bodyPr/>
                    <a:lstStyle/>
                    <a:p>
                      <a:pPr marL="0" marR="0" lvl="0" indent="0" algn="l" rtl="0">
                        <a:spcBef>
                          <a:spcPts val="0"/>
                        </a:spcBef>
                        <a:spcAft>
                          <a:spcPts val="0"/>
                        </a:spcAft>
                        <a:buNone/>
                      </a:pPr>
                      <a:r>
                        <a:rPr lang="en-US" sz="2000" b="1">
                          <a:solidFill>
                            <a:srgbClr val="002060"/>
                          </a:solidFill>
                        </a:rPr>
                        <a:t>Advanced topics like Servlets, JSP, Networking, JDBC, JSF, RMI, JPA, JMS, EJB, etc</a:t>
                      </a:r>
                      <a:endParaRPr sz="2000" b="1">
                        <a:solidFill>
                          <a:srgbClr val="002060"/>
                        </a:solidFill>
                      </a:endParaRPr>
                    </a:p>
                  </a:txBody>
                  <a:tcPr marL="58025" marR="58025" marT="29000" marB="29000" anchor="ctr">
                    <a:lnL w="9525" cap="flat" cmpd="sng">
                      <a:solidFill>
                        <a:srgbClr val="D9D9E3"/>
                      </a:solidFill>
                      <a:prstDash val="solid"/>
                      <a:round/>
                      <a:headEnd type="none" w="sm" len="sm"/>
                      <a:tailEnd type="none" w="sm" len="sm"/>
                    </a:lnL>
                    <a:lnR w="9525" cap="flat" cmpd="sng">
                      <a:solidFill>
                        <a:srgbClr val="D9D9E3"/>
                      </a:solidFill>
                      <a:prstDash val="solid"/>
                      <a:round/>
                      <a:headEnd type="none" w="sm" len="sm"/>
                      <a:tailEnd type="none" w="sm" len="sm"/>
                    </a:lnR>
                    <a:lnT w="12700" cap="flat" cmpd="sng">
                      <a:solidFill>
                        <a:srgbClr val="D9D9E3"/>
                      </a:solidFill>
                      <a:prstDash val="solid"/>
                      <a:round/>
                      <a:headEnd type="none" w="sm" len="sm"/>
                      <a:tailEnd type="none" w="sm" len="sm"/>
                    </a:lnT>
                    <a:lnB w="12700" cap="flat" cmpd="sng">
                      <a:solidFill>
                        <a:srgbClr val="D9D9E3"/>
                      </a:solidFill>
                      <a:prstDash val="solid"/>
                      <a:round/>
                      <a:headEnd type="none" w="sm" len="sm"/>
                      <a:tailEnd type="none" w="sm" len="sm"/>
                    </a:lnB>
                  </a:tcPr>
                </a:tc>
              </a:tr>
              <a:tr h="603425">
                <a:tc>
                  <a:txBody>
                    <a:bodyPr/>
                    <a:lstStyle/>
                    <a:p>
                      <a:pPr marL="0" marR="0" lvl="0" indent="0" algn="l" rtl="0">
                        <a:spcBef>
                          <a:spcPts val="0"/>
                        </a:spcBef>
                        <a:spcAft>
                          <a:spcPts val="0"/>
                        </a:spcAft>
                        <a:buNone/>
                      </a:pPr>
                      <a:r>
                        <a:rPr lang="en-US" sz="2000">
                          <a:solidFill>
                            <a:srgbClr val="FF0000"/>
                          </a:solidFill>
                        </a:rPr>
                        <a:t>Programming Level</a:t>
                      </a:r>
                      <a:endParaRPr/>
                    </a:p>
                  </a:txBody>
                  <a:tcPr marL="58025" marR="58025" marT="29000" marB="29000" anchor="ctr">
                    <a:lnL w="9525" cap="flat" cmpd="sng">
                      <a:solidFill>
                        <a:srgbClr val="D9D9E3"/>
                      </a:solidFill>
                      <a:prstDash val="solid"/>
                      <a:round/>
                      <a:headEnd type="none" w="sm" len="sm"/>
                      <a:tailEnd type="none" w="sm" len="sm"/>
                    </a:lnL>
                    <a:lnR w="9525" cap="flat" cmpd="sng">
                      <a:solidFill>
                        <a:srgbClr val="D9D9E3"/>
                      </a:solidFill>
                      <a:prstDash val="solid"/>
                      <a:round/>
                      <a:headEnd type="none" w="sm" len="sm"/>
                      <a:tailEnd type="none" w="sm" len="sm"/>
                    </a:lnR>
                    <a:lnT w="12700" cap="flat" cmpd="sng">
                      <a:solidFill>
                        <a:srgbClr val="D9D9E3"/>
                      </a:solidFill>
                      <a:prstDash val="solid"/>
                      <a:round/>
                      <a:headEnd type="none" w="sm" len="sm"/>
                      <a:tailEnd type="none" w="sm" len="sm"/>
                    </a:lnT>
                    <a:lnB w="12700" cap="flat" cmpd="sng">
                      <a:solidFill>
                        <a:srgbClr val="D9D9E3"/>
                      </a:solidFill>
                      <a:prstDash val="solid"/>
                      <a:round/>
                      <a:headEnd type="none" w="sm" len="sm"/>
                      <a:tailEnd type="none" w="sm" len="sm"/>
                    </a:lnB>
                  </a:tcPr>
                </a:tc>
                <a:tc>
                  <a:txBody>
                    <a:bodyPr/>
                    <a:lstStyle/>
                    <a:p>
                      <a:pPr marL="0" marR="0" lvl="0" indent="0" algn="l" rtl="0">
                        <a:spcBef>
                          <a:spcPts val="0"/>
                        </a:spcBef>
                        <a:spcAft>
                          <a:spcPts val="0"/>
                        </a:spcAft>
                        <a:buNone/>
                      </a:pPr>
                      <a:r>
                        <a:rPr lang="en-US" sz="2000" b="1">
                          <a:solidFill>
                            <a:srgbClr val="00B050"/>
                          </a:solidFill>
                        </a:rPr>
                        <a:t>Beginner to Intermediate</a:t>
                      </a:r>
                      <a:endParaRPr/>
                    </a:p>
                  </a:txBody>
                  <a:tcPr marL="58025" marR="58025" marT="29000" marB="29000" anchor="ctr">
                    <a:lnL w="9525" cap="flat" cmpd="sng">
                      <a:solidFill>
                        <a:srgbClr val="D9D9E3"/>
                      </a:solidFill>
                      <a:prstDash val="solid"/>
                      <a:round/>
                      <a:headEnd type="none" w="sm" len="sm"/>
                      <a:tailEnd type="none" w="sm" len="sm"/>
                    </a:lnL>
                    <a:lnR w="9525" cap="flat" cmpd="sng">
                      <a:solidFill>
                        <a:srgbClr val="D9D9E3"/>
                      </a:solidFill>
                      <a:prstDash val="solid"/>
                      <a:round/>
                      <a:headEnd type="none" w="sm" len="sm"/>
                      <a:tailEnd type="none" w="sm" len="sm"/>
                    </a:lnR>
                    <a:lnT w="12700" cap="flat" cmpd="sng">
                      <a:solidFill>
                        <a:srgbClr val="D9D9E3"/>
                      </a:solidFill>
                      <a:prstDash val="solid"/>
                      <a:round/>
                      <a:headEnd type="none" w="sm" len="sm"/>
                      <a:tailEnd type="none" w="sm" len="sm"/>
                    </a:lnT>
                    <a:lnB w="12700" cap="flat" cmpd="sng">
                      <a:solidFill>
                        <a:srgbClr val="D9D9E3"/>
                      </a:solidFill>
                      <a:prstDash val="solid"/>
                      <a:round/>
                      <a:headEnd type="none" w="sm" len="sm"/>
                      <a:tailEnd type="none" w="sm" len="sm"/>
                    </a:lnB>
                  </a:tcPr>
                </a:tc>
                <a:tc>
                  <a:txBody>
                    <a:bodyPr/>
                    <a:lstStyle/>
                    <a:p>
                      <a:pPr marL="0" marR="0" lvl="0" indent="0" algn="l" rtl="0">
                        <a:spcBef>
                          <a:spcPts val="0"/>
                        </a:spcBef>
                        <a:spcAft>
                          <a:spcPts val="0"/>
                        </a:spcAft>
                        <a:buNone/>
                      </a:pPr>
                      <a:r>
                        <a:rPr lang="en-US" sz="2000" b="1">
                          <a:solidFill>
                            <a:srgbClr val="002060"/>
                          </a:solidFill>
                        </a:rPr>
                        <a:t>Intermediate to Advanced</a:t>
                      </a:r>
                      <a:endParaRPr/>
                    </a:p>
                  </a:txBody>
                  <a:tcPr marL="58025" marR="58025" marT="29000" marB="29000" anchor="ctr">
                    <a:lnL w="9525" cap="flat" cmpd="sng">
                      <a:solidFill>
                        <a:srgbClr val="D9D9E3"/>
                      </a:solidFill>
                      <a:prstDash val="solid"/>
                      <a:round/>
                      <a:headEnd type="none" w="sm" len="sm"/>
                      <a:tailEnd type="none" w="sm" len="sm"/>
                    </a:lnL>
                    <a:lnR w="9525" cap="flat" cmpd="sng">
                      <a:solidFill>
                        <a:srgbClr val="D9D9E3"/>
                      </a:solidFill>
                      <a:prstDash val="solid"/>
                      <a:round/>
                      <a:headEnd type="none" w="sm" len="sm"/>
                      <a:tailEnd type="none" w="sm" len="sm"/>
                    </a:lnR>
                    <a:lnT w="12700" cap="flat" cmpd="sng">
                      <a:solidFill>
                        <a:srgbClr val="D9D9E3"/>
                      </a:solidFill>
                      <a:prstDash val="solid"/>
                      <a:round/>
                      <a:headEnd type="none" w="sm" len="sm"/>
                      <a:tailEnd type="none" w="sm" len="sm"/>
                    </a:lnT>
                    <a:lnB w="12700" cap="flat" cmpd="sng">
                      <a:solidFill>
                        <a:srgbClr val="D9D9E3"/>
                      </a:solidFill>
                      <a:prstDash val="solid"/>
                      <a:round/>
                      <a:headEnd type="none" w="sm" len="sm"/>
                      <a:tailEnd type="none" w="sm" len="sm"/>
                    </a:lnB>
                  </a:tcPr>
                </a:tc>
              </a:tr>
              <a:tr h="862025">
                <a:tc>
                  <a:txBody>
                    <a:bodyPr/>
                    <a:lstStyle/>
                    <a:p>
                      <a:pPr marL="0" marR="0" lvl="0" indent="0" algn="l" rtl="0">
                        <a:spcBef>
                          <a:spcPts val="0"/>
                        </a:spcBef>
                        <a:spcAft>
                          <a:spcPts val="0"/>
                        </a:spcAft>
                        <a:buNone/>
                      </a:pPr>
                      <a:r>
                        <a:rPr lang="en-US" sz="2000">
                          <a:solidFill>
                            <a:srgbClr val="FF0000"/>
                          </a:solidFill>
                        </a:rPr>
                        <a:t>Target Applications</a:t>
                      </a:r>
                      <a:endParaRPr/>
                    </a:p>
                  </a:txBody>
                  <a:tcPr marL="58025" marR="58025" marT="29000" marB="29000" anchor="ctr">
                    <a:lnL w="9525" cap="flat" cmpd="sng">
                      <a:solidFill>
                        <a:srgbClr val="D9D9E3"/>
                      </a:solidFill>
                      <a:prstDash val="solid"/>
                      <a:round/>
                      <a:headEnd type="none" w="sm" len="sm"/>
                      <a:tailEnd type="none" w="sm" len="sm"/>
                    </a:lnL>
                    <a:lnR w="9525" cap="flat" cmpd="sng">
                      <a:solidFill>
                        <a:srgbClr val="D9D9E3"/>
                      </a:solidFill>
                      <a:prstDash val="solid"/>
                      <a:round/>
                      <a:headEnd type="none" w="sm" len="sm"/>
                      <a:tailEnd type="none" w="sm" len="sm"/>
                    </a:lnR>
                    <a:lnT w="12700" cap="flat" cmpd="sng">
                      <a:solidFill>
                        <a:srgbClr val="D9D9E3"/>
                      </a:solidFill>
                      <a:prstDash val="solid"/>
                      <a:round/>
                      <a:headEnd type="none" w="sm" len="sm"/>
                      <a:tailEnd type="none" w="sm" len="sm"/>
                    </a:lnT>
                    <a:lnB w="12700" cap="flat" cmpd="sng">
                      <a:solidFill>
                        <a:srgbClr val="D9D9E3"/>
                      </a:solidFill>
                      <a:prstDash val="solid"/>
                      <a:round/>
                      <a:headEnd type="none" w="sm" len="sm"/>
                      <a:tailEnd type="none" w="sm" len="sm"/>
                    </a:lnB>
                  </a:tcPr>
                </a:tc>
                <a:tc>
                  <a:txBody>
                    <a:bodyPr/>
                    <a:lstStyle/>
                    <a:p>
                      <a:pPr marL="0" marR="0" lvl="0" indent="0" algn="l" rtl="0">
                        <a:spcBef>
                          <a:spcPts val="0"/>
                        </a:spcBef>
                        <a:spcAft>
                          <a:spcPts val="0"/>
                        </a:spcAft>
                        <a:buNone/>
                      </a:pPr>
                      <a:r>
                        <a:rPr lang="en-US" sz="2000" b="1">
                          <a:solidFill>
                            <a:srgbClr val="00B050"/>
                          </a:solidFill>
                        </a:rPr>
                        <a:t>Standalone applications, fundamental building blocks</a:t>
                      </a:r>
                      <a:endParaRPr/>
                    </a:p>
                  </a:txBody>
                  <a:tcPr marL="58025" marR="58025" marT="29000" marB="29000" anchor="ctr">
                    <a:lnL w="9525" cap="flat" cmpd="sng">
                      <a:solidFill>
                        <a:srgbClr val="D9D9E3"/>
                      </a:solidFill>
                      <a:prstDash val="solid"/>
                      <a:round/>
                      <a:headEnd type="none" w="sm" len="sm"/>
                      <a:tailEnd type="none" w="sm" len="sm"/>
                    </a:lnL>
                    <a:lnR w="9525" cap="flat" cmpd="sng">
                      <a:solidFill>
                        <a:srgbClr val="D9D9E3"/>
                      </a:solidFill>
                      <a:prstDash val="solid"/>
                      <a:round/>
                      <a:headEnd type="none" w="sm" len="sm"/>
                      <a:tailEnd type="none" w="sm" len="sm"/>
                    </a:lnR>
                    <a:lnT w="12700" cap="flat" cmpd="sng">
                      <a:solidFill>
                        <a:srgbClr val="D9D9E3"/>
                      </a:solidFill>
                      <a:prstDash val="solid"/>
                      <a:round/>
                      <a:headEnd type="none" w="sm" len="sm"/>
                      <a:tailEnd type="none" w="sm" len="sm"/>
                    </a:lnT>
                    <a:lnB w="12700" cap="flat" cmpd="sng">
                      <a:solidFill>
                        <a:srgbClr val="D9D9E3"/>
                      </a:solidFill>
                      <a:prstDash val="solid"/>
                      <a:round/>
                      <a:headEnd type="none" w="sm" len="sm"/>
                      <a:tailEnd type="none" w="sm" len="sm"/>
                    </a:lnB>
                  </a:tcPr>
                </a:tc>
                <a:tc>
                  <a:txBody>
                    <a:bodyPr/>
                    <a:lstStyle/>
                    <a:p>
                      <a:pPr marL="0" marR="0" lvl="0" indent="0" algn="l" rtl="0">
                        <a:spcBef>
                          <a:spcPts val="0"/>
                        </a:spcBef>
                        <a:spcAft>
                          <a:spcPts val="0"/>
                        </a:spcAft>
                        <a:buNone/>
                      </a:pPr>
                      <a:r>
                        <a:rPr lang="en-US" sz="2000" b="1">
                          <a:solidFill>
                            <a:srgbClr val="002060"/>
                          </a:solidFill>
                        </a:rPr>
                        <a:t>Enterprise-level applications, web applications, distributed systems</a:t>
                      </a:r>
                      <a:endParaRPr/>
                    </a:p>
                  </a:txBody>
                  <a:tcPr marL="58025" marR="58025" marT="29000" marB="29000" anchor="ctr">
                    <a:lnL w="9525" cap="flat" cmpd="sng">
                      <a:solidFill>
                        <a:srgbClr val="D9D9E3"/>
                      </a:solidFill>
                      <a:prstDash val="solid"/>
                      <a:round/>
                      <a:headEnd type="none" w="sm" len="sm"/>
                      <a:tailEnd type="none" w="sm" len="sm"/>
                    </a:lnL>
                    <a:lnR w="9525" cap="flat" cmpd="sng">
                      <a:solidFill>
                        <a:srgbClr val="D9D9E3"/>
                      </a:solidFill>
                      <a:prstDash val="solid"/>
                      <a:round/>
                      <a:headEnd type="none" w="sm" len="sm"/>
                      <a:tailEnd type="none" w="sm" len="sm"/>
                    </a:lnR>
                    <a:lnT w="12700" cap="flat" cmpd="sng">
                      <a:solidFill>
                        <a:srgbClr val="D9D9E3"/>
                      </a:solidFill>
                      <a:prstDash val="solid"/>
                      <a:round/>
                      <a:headEnd type="none" w="sm" len="sm"/>
                      <a:tailEnd type="none" w="sm" len="sm"/>
                    </a:lnT>
                    <a:lnB w="12700" cap="flat" cmpd="sng">
                      <a:solidFill>
                        <a:srgbClr val="D9D9E3"/>
                      </a:solidFill>
                      <a:prstDash val="solid"/>
                      <a:round/>
                      <a:headEnd type="none" w="sm" len="sm"/>
                      <a:tailEnd type="none" w="sm" len="sm"/>
                    </a:lnB>
                  </a:tcPr>
                </a:tc>
              </a:tr>
              <a:tr h="603425">
                <a:tc>
                  <a:txBody>
                    <a:bodyPr/>
                    <a:lstStyle/>
                    <a:p>
                      <a:pPr marL="0" marR="0" lvl="0" indent="0" algn="l" rtl="0">
                        <a:spcBef>
                          <a:spcPts val="0"/>
                        </a:spcBef>
                        <a:spcAft>
                          <a:spcPts val="0"/>
                        </a:spcAft>
                        <a:buNone/>
                      </a:pPr>
                      <a:r>
                        <a:rPr lang="en-US" sz="2000">
                          <a:solidFill>
                            <a:srgbClr val="FF0000"/>
                          </a:solidFill>
                        </a:rPr>
                        <a:t>Libraries and APIs</a:t>
                      </a:r>
                      <a:endParaRPr/>
                    </a:p>
                  </a:txBody>
                  <a:tcPr marL="58025" marR="58025" marT="29000" marB="29000" anchor="ctr">
                    <a:lnL w="9525" cap="flat" cmpd="sng">
                      <a:solidFill>
                        <a:srgbClr val="D9D9E3"/>
                      </a:solidFill>
                      <a:prstDash val="solid"/>
                      <a:round/>
                      <a:headEnd type="none" w="sm" len="sm"/>
                      <a:tailEnd type="none" w="sm" len="sm"/>
                    </a:lnL>
                    <a:lnR w="9525" cap="flat" cmpd="sng">
                      <a:solidFill>
                        <a:srgbClr val="D9D9E3"/>
                      </a:solidFill>
                      <a:prstDash val="solid"/>
                      <a:round/>
                      <a:headEnd type="none" w="sm" len="sm"/>
                      <a:tailEnd type="none" w="sm" len="sm"/>
                    </a:lnR>
                    <a:lnT w="12700" cap="flat" cmpd="sng">
                      <a:solidFill>
                        <a:srgbClr val="D9D9E3"/>
                      </a:solidFill>
                      <a:prstDash val="solid"/>
                      <a:round/>
                      <a:headEnd type="none" w="sm" len="sm"/>
                      <a:tailEnd type="none" w="sm" len="sm"/>
                    </a:lnT>
                    <a:lnB w="12700" cap="flat" cmpd="sng">
                      <a:solidFill>
                        <a:srgbClr val="D9D9E3"/>
                      </a:solidFill>
                      <a:prstDash val="solid"/>
                      <a:round/>
                      <a:headEnd type="none" w="sm" len="sm"/>
                      <a:tailEnd type="none" w="sm" len="sm"/>
                    </a:lnB>
                  </a:tcPr>
                </a:tc>
                <a:tc>
                  <a:txBody>
                    <a:bodyPr/>
                    <a:lstStyle/>
                    <a:p>
                      <a:pPr marL="0" marR="0" lvl="0" indent="0" algn="l" rtl="0">
                        <a:spcBef>
                          <a:spcPts val="0"/>
                        </a:spcBef>
                        <a:spcAft>
                          <a:spcPts val="0"/>
                        </a:spcAft>
                        <a:buNone/>
                      </a:pPr>
                      <a:r>
                        <a:rPr lang="en-US" sz="2000" b="1">
                          <a:solidFill>
                            <a:srgbClr val="00B050"/>
                          </a:solidFill>
                        </a:rPr>
                        <a:t>Standard libraries for basic functionalities</a:t>
                      </a:r>
                      <a:endParaRPr/>
                    </a:p>
                  </a:txBody>
                  <a:tcPr marL="58025" marR="58025" marT="29000" marB="29000" anchor="ctr">
                    <a:lnL w="9525" cap="flat" cmpd="sng">
                      <a:solidFill>
                        <a:srgbClr val="D9D9E3"/>
                      </a:solidFill>
                      <a:prstDash val="solid"/>
                      <a:round/>
                      <a:headEnd type="none" w="sm" len="sm"/>
                      <a:tailEnd type="none" w="sm" len="sm"/>
                    </a:lnL>
                    <a:lnR w="9525" cap="flat" cmpd="sng">
                      <a:solidFill>
                        <a:srgbClr val="D9D9E3"/>
                      </a:solidFill>
                      <a:prstDash val="solid"/>
                      <a:round/>
                      <a:headEnd type="none" w="sm" len="sm"/>
                      <a:tailEnd type="none" w="sm" len="sm"/>
                    </a:lnR>
                    <a:lnT w="12700" cap="flat" cmpd="sng">
                      <a:solidFill>
                        <a:srgbClr val="D9D9E3"/>
                      </a:solidFill>
                      <a:prstDash val="solid"/>
                      <a:round/>
                      <a:headEnd type="none" w="sm" len="sm"/>
                      <a:tailEnd type="none" w="sm" len="sm"/>
                    </a:lnT>
                    <a:lnB w="12700" cap="flat" cmpd="sng">
                      <a:solidFill>
                        <a:srgbClr val="D9D9E3"/>
                      </a:solidFill>
                      <a:prstDash val="solid"/>
                      <a:round/>
                      <a:headEnd type="none" w="sm" len="sm"/>
                      <a:tailEnd type="none" w="sm" len="sm"/>
                    </a:lnB>
                  </a:tcPr>
                </a:tc>
                <a:tc>
                  <a:txBody>
                    <a:bodyPr/>
                    <a:lstStyle/>
                    <a:p>
                      <a:pPr marL="0" marR="0" lvl="0" indent="0" algn="l" rtl="0">
                        <a:spcBef>
                          <a:spcPts val="0"/>
                        </a:spcBef>
                        <a:spcAft>
                          <a:spcPts val="0"/>
                        </a:spcAft>
                        <a:buNone/>
                      </a:pPr>
                      <a:r>
                        <a:rPr lang="en-US" sz="2000" b="1">
                          <a:solidFill>
                            <a:srgbClr val="002060"/>
                          </a:solidFill>
                        </a:rPr>
                        <a:t>Extensive APIs like JPA, JMS, Swing, JavaFX, EJB, etc.</a:t>
                      </a:r>
                      <a:endParaRPr/>
                    </a:p>
                  </a:txBody>
                  <a:tcPr marL="58025" marR="58025" marT="29000" marB="29000" anchor="ctr">
                    <a:lnL w="9525" cap="flat" cmpd="sng">
                      <a:solidFill>
                        <a:srgbClr val="D9D9E3"/>
                      </a:solidFill>
                      <a:prstDash val="solid"/>
                      <a:round/>
                      <a:headEnd type="none" w="sm" len="sm"/>
                      <a:tailEnd type="none" w="sm" len="sm"/>
                    </a:lnL>
                    <a:lnR w="9525" cap="flat" cmpd="sng">
                      <a:solidFill>
                        <a:srgbClr val="D9D9E3"/>
                      </a:solidFill>
                      <a:prstDash val="solid"/>
                      <a:round/>
                      <a:headEnd type="none" w="sm" len="sm"/>
                      <a:tailEnd type="none" w="sm" len="sm"/>
                    </a:lnR>
                    <a:lnT w="12700" cap="flat" cmpd="sng">
                      <a:solidFill>
                        <a:srgbClr val="D9D9E3"/>
                      </a:solidFill>
                      <a:prstDash val="solid"/>
                      <a:round/>
                      <a:headEnd type="none" w="sm" len="sm"/>
                      <a:tailEnd type="none" w="sm" len="sm"/>
                    </a:lnT>
                    <a:lnB w="12700" cap="flat" cmpd="sng">
                      <a:solidFill>
                        <a:srgbClr val="D9D9E3"/>
                      </a:solidFill>
                      <a:prstDash val="solid"/>
                      <a:round/>
                      <a:headEnd type="none" w="sm" len="sm"/>
                      <a:tailEnd type="none" w="sm" len="sm"/>
                    </a:lnB>
                  </a:tcPr>
                </a:tc>
              </a:tr>
              <a:tr h="603425">
                <a:tc>
                  <a:txBody>
                    <a:bodyPr/>
                    <a:lstStyle/>
                    <a:p>
                      <a:pPr marL="0" marR="0" lvl="0" indent="0" algn="l" rtl="0">
                        <a:spcBef>
                          <a:spcPts val="0"/>
                        </a:spcBef>
                        <a:spcAft>
                          <a:spcPts val="0"/>
                        </a:spcAft>
                        <a:buNone/>
                      </a:pPr>
                      <a:r>
                        <a:rPr lang="en-US" sz="2000">
                          <a:solidFill>
                            <a:srgbClr val="FF0000"/>
                          </a:solidFill>
                        </a:rPr>
                        <a:t>Usage</a:t>
                      </a:r>
                      <a:endParaRPr/>
                    </a:p>
                  </a:txBody>
                  <a:tcPr marL="58025" marR="58025" marT="29000" marB="29000" anchor="ctr">
                    <a:lnL w="9525" cap="flat" cmpd="sng">
                      <a:solidFill>
                        <a:srgbClr val="D9D9E3"/>
                      </a:solidFill>
                      <a:prstDash val="solid"/>
                      <a:round/>
                      <a:headEnd type="none" w="sm" len="sm"/>
                      <a:tailEnd type="none" w="sm" len="sm"/>
                    </a:lnL>
                    <a:lnR w="9525" cap="flat" cmpd="sng">
                      <a:solidFill>
                        <a:srgbClr val="D9D9E3"/>
                      </a:solidFill>
                      <a:prstDash val="solid"/>
                      <a:round/>
                      <a:headEnd type="none" w="sm" len="sm"/>
                      <a:tailEnd type="none" w="sm" len="sm"/>
                    </a:lnR>
                    <a:lnT w="12700" cap="flat" cmpd="sng">
                      <a:solidFill>
                        <a:srgbClr val="D9D9E3"/>
                      </a:solidFill>
                      <a:prstDash val="solid"/>
                      <a:round/>
                      <a:headEnd type="none" w="sm" len="sm"/>
                      <a:tailEnd type="none" w="sm" len="sm"/>
                    </a:lnT>
                    <a:lnB w="12700" cap="flat" cmpd="sng">
                      <a:solidFill>
                        <a:srgbClr val="D9D9E3"/>
                      </a:solidFill>
                      <a:prstDash val="solid"/>
                      <a:round/>
                      <a:headEnd type="none" w="sm" len="sm"/>
                      <a:tailEnd type="none" w="sm" len="sm"/>
                    </a:lnB>
                  </a:tcPr>
                </a:tc>
                <a:tc>
                  <a:txBody>
                    <a:bodyPr/>
                    <a:lstStyle/>
                    <a:p>
                      <a:pPr marL="0" marR="0" lvl="0" indent="0" algn="l" rtl="0">
                        <a:spcBef>
                          <a:spcPts val="0"/>
                        </a:spcBef>
                        <a:spcAft>
                          <a:spcPts val="0"/>
                        </a:spcAft>
                        <a:buNone/>
                      </a:pPr>
                      <a:r>
                        <a:rPr lang="en-US" sz="2000" b="1">
                          <a:solidFill>
                            <a:srgbClr val="00B050"/>
                          </a:solidFill>
                        </a:rPr>
                        <a:t>Foundational for all Java development</a:t>
                      </a:r>
                      <a:endParaRPr/>
                    </a:p>
                  </a:txBody>
                  <a:tcPr marL="58025" marR="58025" marT="29000" marB="29000" anchor="ctr">
                    <a:lnL w="9525" cap="flat" cmpd="sng">
                      <a:solidFill>
                        <a:srgbClr val="D9D9E3"/>
                      </a:solidFill>
                      <a:prstDash val="solid"/>
                      <a:round/>
                      <a:headEnd type="none" w="sm" len="sm"/>
                      <a:tailEnd type="none" w="sm" len="sm"/>
                    </a:lnL>
                    <a:lnR w="9525" cap="flat" cmpd="sng">
                      <a:solidFill>
                        <a:srgbClr val="D9D9E3"/>
                      </a:solidFill>
                      <a:prstDash val="solid"/>
                      <a:round/>
                      <a:headEnd type="none" w="sm" len="sm"/>
                      <a:tailEnd type="none" w="sm" len="sm"/>
                    </a:lnR>
                    <a:lnT w="12700" cap="flat" cmpd="sng">
                      <a:solidFill>
                        <a:srgbClr val="D9D9E3"/>
                      </a:solidFill>
                      <a:prstDash val="solid"/>
                      <a:round/>
                      <a:headEnd type="none" w="sm" len="sm"/>
                      <a:tailEnd type="none" w="sm" len="sm"/>
                    </a:lnT>
                    <a:lnB w="12700" cap="flat" cmpd="sng">
                      <a:solidFill>
                        <a:srgbClr val="D9D9E3"/>
                      </a:solidFill>
                      <a:prstDash val="solid"/>
                      <a:round/>
                      <a:headEnd type="none" w="sm" len="sm"/>
                      <a:tailEnd type="none" w="sm" len="sm"/>
                    </a:lnB>
                  </a:tcPr>
                </a:tc>
                <a:tc>
                  <a:txBody>
                    <a:bodyPr/>
                    <a:lstStyle/>
                    <a:p>
                      <a:pPr marL="0" marR="0" lvl="0" indent="0" algn="l" rtl="0">
                        <a:spcBef>
                          <a:spcPts val="0"/>
                        </a:spcBef>
                        <a:spcAft>
                          <a:spcPts val="0"/>
                        </a:spcAft>
                        <a:buNone/>
                      </a:pPr>
                      <a:r>
                        <a:rPr lang="en-US" sz="2000" b="1">
                          <a:solidFill>
                            <a:srgbClr val="002060"/>
                          </a:solidFill>
                        </a:rPr>
                        <a:t>Specific to complex, scalable, and dynamic applications</a:t>
                      </a:r>
                      <a:endParaRPr/>
                    </a:p>
                  </a:txBody>
                  <a:tcPr marL="58025" marR="58025" marT="29000" marB="29000" anchor="ctr">
                    <a:lnL w="9525" cap="flat" cmpd="sng">
                      <a:solidFill>
                        <a:srgbClr val="D9D9E3"/>
                      </a:solidFill>
                      <a:prstDash val="solid"/>
                      <a:round/>
                      <a:headEnd type="none" w="sm" len="sm"/>
                      <a:tailEnd type="none" w="sm" len="sm"/>
                    </a:lnL>
                    <a:lnR w="9525" cap="flat" cmpd="sng">
                      <a:solidFill>
                        <a:srgbClr val="D9D9E3"/>
                      </a:solidFill>
                      <a:prstDash val="solid"/>
                      <a:round/>
                      <a:headEnd type="none" w="sm" len="sm"/>
                      <a:tailEnd type="none" w="sm" len="sm"/>
                    </a:lnR>
                    <a:lnT w="12700" cap="flat" cmpd="sng">
                      <a:solidFill>
                        <a:srgbClr val="D9D9E3"/>
                      </a:solidFill>
                      <a:prstDash val="solid"/>
                      <a:round/>
                      <a:headEnd type="none" w="sm" len="sm"/>
                      <a:tailEnd type="none" w="sm" len="sm"/>
                    </a:lnT>
                    <a:lnB w="12700" cap="flat" cmpd="sng">
                      <a:solidFill>
                        <a:srgbClr val="D9D9E3"/>
                      </a:solidFill>
                      <a:prstDash val="solid"/>
                      <a:round/>
                      <a:headEnd type="none" w="sm" len="sm"/>
                      <a:tailEnd type="none" w="sm" len="sm"/>
                    </a:lnB>
                  </a:tcPr>
                </a:tc>
              </a:tr>
              <a:tr h="862025">
                <a:tc>
                  <a:txBody>
                    <a:bodyPr/>
                    <a:lstStyle/>
                    <a:p>
                      <a:pPr marL="0" marR="0" lvl="0" indent="0" algn="l" rtl="0">
                        <a:spcBef>
                          <a:spcPts val="0"/>
                        </a:spcBef>
                        <a:spcAft>
                          <a:spcPts val="0"/>
                        </a:spcAft>
                        <a:buNone/>
                      </a:pPr>
                      <a:r>
                        <a:rPr lang="en-US" sz="2000">
                          <a:solidFill>
                            <a:srgbClr val="FF0000"/>
                          </a:solidFill>
                        </a:rPr>
                        <a:t>Dependency</a:t>
                      </a:r>
                      <a:endParaRPr/>
                    </a:p>
                  </a:txBody>
                  <a:tcPr marL="58025" marR="58025" marT="29000" marB="29000" anchor="ctr">
                    <a:lnL w="9525" cap="flat" cmpd="sng">
                      <a:solidFill>
                        <a:srgbClr val="D9D9E3"/>
                      </a:solidFill>
                      <a:prstDash val="solid"/>
                      <a:round/>
                      <a:headEnd type="none" w="sm" len="sm"/>
                      <a:tailEnd type="none" w="sm" len="sm"/>
                    </a:lnL>
                    <a:lnR w="9525" cap="flat" cmpd="sng">
                      <a:solidFill>
                        <a:srgbClr val="D9D9E3"/>
                      </a:solidFill>
                      <a:prstDash val="solid"/>
                      <a:round/>
                      <a:headEnd type="none" w="sm" len="sm"/>
                      <a:tailEnd type="none" w="sm" len="sm"/>
                    </a:lnR>
                    <a:lnT w="12700" cap="flat" cmpd="sng">
                      <a:solidFill>
                        <a:srgbClr val="D9D9E3"/>
                      </a:solidFill>
                      <a:prstDash val="solid"/>
                      <a:round/>
                      <a:headEnd type="none" w="sm" len="sm"/>
                      <a:tailEnd type="none" w="sm" len="sm"/>
                    </a:lnT>
                    <a:lnB w="12700" cap="flat" cmpd="sng">
                      <a:solidFill>
                        <a:srgbClr val="D9D9E3"/>
                      </a:solidFill>
                      <a:prstDash val="solid"/>
                      <a:round/>
                      <a:headEnd type="none" w="sm" len="sm"/>
                      <a:tailEnd type="none" w="sm" len="sm"/>
                    </a:lnB>
                  </a:tcPr>
                </a:tc>
                <a:tc>
                  <a:txBody>
                    <a:bodyPr/>
                    <a:lstStyle/>
                    <a:p>
                      <a:pPr marL="0" marR="0" lvl="0" indent="0" algn="l" rtl="0">
                        <a:spcBef>
                          <a:spcPts val="0"/>
                        </a:spcBef>
                        <a:spcAft>
                          <a:spcPts val="0"/>
                        </a:spcAft>
                        <a:buNone/>
                      </a:pPr>
                      <a:r>
                        <a:rPr lang="en-US" sz="2000" b="1">
                          <a:solidFill>
                            <a:srgbClr val="00B050"/>
                          </a:solidFill>
                        </a:rPr>
                        <a:t>None or minimal external dependencies</a:t>
                      </a:r>
                      <a:endParaRPr/>
                    </a:p>
                  </a:txBody>
                  <a:tcPr marL="58025" marR="58025" marT="29000" marB="29000" anchor="ctr">
                    <a:lnL w="9525" cap="flat" cmpd="sng">
                      <a:solidFill>
                        <a:srgbClr val="D9D9E3"/>
                      </a:solidFill>
                      <a:prstDash val="solid"/>
                      <a:round/>
                      <a:headEnd type="none" w="sm" len="sm"/>
                      <a:tailEnd type="none" w="sm" len="sm"/>
                    </a:lnL>
                    <a:lnR w="9525" cap="flat" cmpd="sng">
                      <a:solidFill>
                        <a:srgbClr val="D9D9E3"/>
                      </a:solidFill>
                      <a:prstDash val="solid"/>
                      <a:round/>
                      <a:headEnd type="none" w="sm" len="sm"/>
                      <a:tailEnd type="none" w="sm" len="sm"/>
                    </a:lnR>
                    <a:lnT w="12700" cap="flat" cmpd="sng">
                      <a:solidFill>
                        <a:srgbClr val="D9D9E3"/>
                      </a:solidFill>
                      <a:prstDash val="solid"/>
                      <a:round/>
                      <a:headEnd type="none" w="sm" len="sm"/>
                      <a:tailEnd type="none" w="sm" len="sm"/>
                    </a:lnT>
                    <a:lnB w="12700" cap="flat" cmpd="sng">
                      <a:solidFill>
                        <a:srgbClr val="D9D9E3"/>
                      </a:solidFill>
                      <a:prstDash val="solid"/>
                      <a:round/>
                      <a:headEnd type="none" w="sm" len="sm"/>
                      <a:tailEnd type="none" w="sm" len="sm"/>
                    </a:lnB>
                  </a:tcPr>
                </a:tc>
                <a:tc>
                  <a:txBody>
                    <a:bodyPr/>
                    <a:lstStyle/>
                    <a:p>
                      <a:pPr marL="0" marR="0" lvl="0" indent="0" algn="l" rtl="0">
                        <a:spcBef>
                          <a:spcPts val="0"/>
                        </a:spcBef>
                        <a:spcAft>
                          <a:spcPts val="0"/>
                        </a:spcAft>
                        <a:buNone/>
                      </a:pPr>
                      <a:r>
                        <a:rPr lang="en-US" sz="2000" b="1">
                          <a:solidFill>
                            <a:srgbClr val="002060"/>
                          </a:solidFill>
                        </a:rPr>
                        <a:t>Often relies on various frameworks (Spring, Hibernate) and libraries (JSON, XML)</a:t>
                      </a:r>
                      <a:endParaRPr/>
                    </a:p>
                  </a:txBody>
                  <a:tcPr marL="58025" marR="58025" marT="29000" marB="29000" anchor="ctr">
                    <a:lnL w="9525" cap="flat" cmpd="sng">
                      <a:solidFill>
                        <a:srgbClr val="D9D9E3"/>
                      </a:solidFill>
                      <a:prstDash val="solid"/>
                      <a:round/>
                      <a:headEnd type="none" w="sm" len="sm"/>
                      <a:tailEnd type="none" w="sm" len="sm"/>
                    </a:lnL>
                    <a:lnR w="9525" cap="flat" cmpd="sng">
                      <a:solidFill>
                        <a:srgbClr val="D9D9E3"/>
                      </a:solidFill>
                      <a:prstDash val="solid"/>
                      <a:round/>
                      <a:headEnd type="none" w="sm" len="sm"/>
                      <a:tailEnd type="none" w="sm" len="sm"/>
                    </a:lnR>
                    <a:lnT w="12700" cap="flat" cmpd="sng">
                      <a:solidFill>
                        <a:srgbClr val="D9D9E3"/>
                      </a:solidFill>
                      <a:prstDash val="solid"/>
                      <a:round/>
                      <a:headEnd type="none" w="sm" len="sm"/>
                      <a:tailEnd type="none" w="sm" len="sm"/>
                    </a:lnT>
                    <a:lnB w="12700" cap="flat" cmpd="sng">
                      <a:solidFill>
                        <a:srgbClr val="D9D9E3"/>
                      </a:solidFill>
                      <a:prstDash val="solid"/>
                      <a:round/>
                      <a:headEnd type="none" w="sm" len="sm"/>
                      <a:tailEnd type="none" w="sm" len="sm"/>
                    </a:lnB>
                  </a:tcPr>
                </a:tc>
              </a:tr>
              <a:tr h="603425">
                <a:tc>
                  <a:txBody>
                    <a:bodyPr/>
                    <a:lstStyle/>
                    <a:p>
                      <a:pPr marL="0" marR="0" lvl="0" indent="0" algn="l" rtl="0">
                        <a:spcBef>
                          <a:spcPts val="0"/>
                        </a:spcBef>
                        <a:spcAft>
                          <a:spcPts val="0"/>
                        </a:spcAft>
                        <a:buNone/>
                      </a:pPr>
                      <a:r>
                        <a:rPr lang="en-US" sz="2000">
                          <a:solidFill>
                            <a:srgbClr val="FF0000"/>
                          </a:solidFill>
                        </a:rPr>
                        <a:t>Learning Path</a:t>
                      </a:r>
                      <a:endParaRPr/>
                    </a:p>
                  </a:txBody>
                  <a:tcPr marL="58025" marR="58025" marT="29000" marB="29000" anchor="ctr">
                    <a:lnL w="9525" cap="flat" cmpd="sng">
                      <a:solidFill>
                        <a:srgbClr val="D9D9E3"/>
                      </a:solidFill>
                      <a:prstDash val="solid"/>
                      <a:round/>
                      <a:headEnd type="none" w="sm" len="sm"/>
                      <a:tailEnd type="none" w="sm" len="sm"/>
                    </a:lnL>
                    <a:lnR w="9525" cap="flat" cmpd="sng">
                      <a:solidFill>
                        <a:srgbClr val="D9D9E3"/>
                      </a:solidFill>
                      <a:prstDash val="solid"/>
                      <a:round/>
                      <a:headEnd type="none" w="sm" len="sm"/>
                      <a:tailEnd type="none" w="sm" len="sm"/>
                    </a:lnR>
                    <a:lnT w="12700" cap="flat" cmpd="sng">
                      <a:solidFill>
                        <a:srgbClr val="D9D9E3"/>
                      </a:solidFill>
                      <a:prstDash val="solid"/>
                      <a:round/>
                      <a:headEnd type="none" w="sm" len="sm"/>
                      <a:tailEnd type="none" w="sm" len="sm"/>
                    </a:lnT>
                    <a:lnB w="9525" cap="flat" cmpd="sng">
                      <a:solidFill>
                        <a:srgbClr val="D9D9E3"/>
                      </a:solidFill>
                      <a:prstDash val="solid"/>
                      <a:round/>
                      <a:headEnd type="none" w="sm" len="sm"/>
                      <a:tailEnd type="none" w="sm" len="sm"/>
                    </a:lnB>
                  </a:tcPr>
                </a:tc>
                <a:tc>
                  <a:txBody>
                    <a:bodyPr/>
                    <a:lstStyle/>
                    <a:p>
                      <a:pPr marL="0" marR="0" lvl="0" indent="0" algn="l" rtl="0">
                        <a:spcBef>
                          <a:spcPts val="0"/>
                        </a:spcBef>
                        <a:spcAft>
                          <a:spcPts val="0"/>
                        </a:spcAft>
                        <a:buNone/>
                      </a:pPr>
                      <a:r>
                        <a:rPr lang="en-US" sz="2000" b="1">
                          <a:solidFill>
                            <a:srgbClr val="00B050"/>
                          </a:solidFill>
                        </a:rPr>
                        <a:t>Usually learned first</a:t>
                      </a:r>
                      <a:endParaRPr/>
                    </a:p>
                  </a:txBody>
                  <a:tcPr marL="58025" marR="58025" marT="29000" marB="29000" anchor="ctr">
                    <a:lnL w="9525" cap="flat" cmpd="sng">
                      <a:solidFill>
                        <a:srgbClr val="D9D9E3"/>
                      </a:solidFill>
                      <a:prstDash val="solid"/>
                      <a:round/>
                      <a:headEnd type="none" w="sm" len="sm"/>
                      <a:tailEnd type="none" w="sm" len="sm"/>
                    </a:lnL>
                    <a:lnR w="9525" cap="flat" cmpd="sng">
                      <a:solidFill>
                        <a:srgbClr val="D9D9E3"/>
                      </a:solidFill>
                      <a:prstDash val="solid"/>
                      <a:round/>
                      <a:headEnd type="none" w="sm" len="sm"/>
                      <a:tailEnd type="none" w="sm" len="sm"/>
                    </a:lnR>
                    <a:lnT w="12700" cap="flat" cmpd="sng">
                      <a:solidFill>
                        <a:srgbClr val="D9D9E3"/>
                      </a:solidFill>
                      <a:prstDash val="solid"/>
                      <a:round/>
                      <a:headEnd type="none" w="sm" len="sm"/>
                      <a:tailEnd type="none" w="sm" len="sm"/>
                    </a:lnT>
                    <a:lnB w="9525" cap="flat" cmpd="sng">
                      <a:solidFill>
                        <a:srgbClr val="D9D9E3"/>
                      </a:solidFill>
                      <a:prstDash val="solid"/>
                      <a:round/>
                      <a:headEnd type="none" w="sm" len="sm"/>
                      <a:tailEnd type="none" w="sm" len="sm"/>
                    </a:lnB>
                  </a:tcPr>
                </a:tc>
                <a:tc>
                  <a:txBody>
                    <a:bodyPr/>
                    <a:lstStyle/>
                    <a:p>
                      <a:pPr marL="0" marR="0" lvl="0" indent="0" algn="l" rtl="0">
                        <a:spcBef>
                          <a:spcPts val="0"/>
                        </a:spcBef>
                        <a:spcAft>
                          <a:spcPts val="0"/>
                        </a:spcAft>
                        <a:buNone/>
                      </a:pPr>
                      <a:r>
                        <a:rPr lang="en-US" sz="2000" b="1">
                          <a:solidFill>
                            <a:srgbClr val="002060"/>
                          </a:solidFill>
                        </a:rPr>
                        <a:t>Builds upon Core Java concepts and skills</a:t>
                      </a:r>
                      <a:endParaRPr/>
                    </a:p>
                  </a:txBody>
                  <a:tcPr marL="58025" marR="58025" marT="29000" marB="29000" anchor="ctr">
                    <a:lnL w="9525" cap="flat" cmpd="sng">
                      <a:solidFill>
                        <a:srgbClr val="D9D9E3"/>
                      </a:solidFill>
                      <a:prstDash val="solid"/>
                      <a:round/>
                      <a:headEnd type="none" w="sm" len="sm"/>
                      <a:tailEnd type="none" w="sm" len="sm"/>
                    </a:lnL>
                    <a:lnR w="9525" cap="flat" cmpd="sng">
                      <a:solidFill>
                        <a:srgbClr val="D9D9E3"/>
                      </a:solidFill>
                      <a:prstDash val="solid"/>
                      <a:round/>
                      <a:headEnd type="none" w="sm" len="sm"/>
                      <a:tailEnd type="none" w="sm" len="sm"/>
                    </a:lnR>
                    <a:lnT w="12700" cap="flat" cmpd="sng">
                      <a:solidFill>
                        <a:srgbClr val="D9D9E3"/>
                      </a:solidFill>
                      <a:prstDash val="solid"/>
                      <a:round/>
                      <a:headEnd type="none" w="sm" len="sm"/>
                      <a:tailEnd type="none" w="sm" len="sm"/>
                    </a:lnT>
                    <a:lnB w="9525" cap="flat" cmpd="sng">
                      <a:solidFill>
                        <a:srgbClr val="D9D9E3"/>
                      </a:solidFill>
                      <a:prstDash val="solid"/>
                      <a:round/>
                      <a:headEnd type="none" w="sm" len="sm"/>
                      <a:tailEnd type="none" w="sm" len="sm"/>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8268</Words>
  <Application>Microsoft Office PowerPoint</Application>
  <PresentationFormat>Custom</PresentationFormat>
  <Paragraphs>667</Paragraphs>
  <Slides>60</Slides>
  <Notes>60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60</vt:i4>
      </vt:variant>
    </vt:vector>
  </HeadingPairs>
  <TitlesOfParts>
    <vt:vector size="65" baseType="lpstr">
      <vt:lpstr>Arial</vt:lpstr>
      <vt:lpstr>Calibri</vt:lpstr>
      <vt:lpstr>Poppins</vt:lpstr>
      <vt:lpstr>Inter</vt:lpstr>
      <vt:lpstr>Office Theme</vt:lpstr>
      <vt:lpstr>Genesis of Enterprise Computing using Full stack</vt:lpstr>
      <vt:lpstr>Slide 2</vt:lpstr>
      <vt:lpstr>Slide 3</vt:lpstr>
      <vt:lpstr>Slide 4</vt:lpstr>
      <vt:lpstr>Slide 5</vt:lpstr>
      <vt:lpstr>Slide 6</vt:lpstr>
      <vt:lpstr>What Is Digital Transformation?</vt:lpstr>
      <vt:lpstr>Slide 8</vt:lpstr>
      <vt:lpstr>Slide 9</vt:lpstr>
      <vt:lpstr>Slide 10</vt:lpstr>
      <vt:lpstr>Slide 11</vt:lpstr>
      <vt:lpstr>Slide 12</vt:lpstr>
      <vt:lpstr>Full stack Developer</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of Enterprise Computing using Full stack</dc:title>
  <cp:lastModifiedBy>yuva</cp:lastModifiedBy>
  <cp:revision>1</cp:revision>
  <dcterms:modified xsi:type="dcterms:W3CDTF">2026-01-13T15:04:20Z</dcterms:modified>
</cp:coreProperties>
</file>