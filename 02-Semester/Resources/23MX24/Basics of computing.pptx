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AutoNum type="arabicPeriod"/>
            </a:pPr>
            <a:r>
              <a:rPr lang="en-US" sz="1000"/>
              <a:t> 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" name="Google Shape;275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Arial"/>
              <a:buNone/>
              <a:defRPr b="1" sz="5600">
                <a:solidFill>
                  <a:srgbClr val="4CE0E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Autofit/>
          </a:bodyPr>
          <a:lstStyle>
            <a:lvl1pPr lvl="0" marR="45720" algn="r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Arial"/>
              <a:buNone/>
              <a:defRPr b="1" sz="5600">
                <a:solidFill>
                  <a:srgbClr val="4CE0E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Autofit/>
          </a:bodyPr>
          <a:lstStyle>
            <a:lvl1pPr lvl="0" marR="45720" algn="r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/>
          <p:nvPr>
            <p:ph type="title"/>
          </p:nvPr>
        </p:nvSpPr>
        <p:spPr>
          <a:xfrm>
            <a:off x="530352" y="1316736"/>
            <a:ext cx="7772400" cy="1362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Arial"/>
              <a:buNone/>
              <a:defRPr b="1" sz="5600" cap="none">
                <a:solidFill>
                  <a:srgbClr val="4AE3A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" type="body"/>
          </p:nvPr>
        </p:nvSpPr>
        <p:spPr>
          <a:xfrm>
            <a:off x="530352" y="2704664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None/>
              <a:defRPr sz="2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1EAE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" type="body"/>
          </p:nvPr>
        </p:nvSpPr>
        <p:spPr>
          <a:xfrm>
            <a:off x="457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5445" lvl="0" marL="4572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2" type="body"/>
          </p:nvPr>
        </p:nvSpPr>
        <p:spPr>
          <a:xfrm>
            <a:off x="4648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5445" lvl="0" marL="4572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" type="body"/>
          </p:nvPr>
        </p:nvSpPr>
        <p:spPr>
          <a:xfrm>
            <a:off x="457200" y="1855248"/>
            <a:ext cx="4040188" cy="659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2" type="body"/>
          </p:nvPr>
        </p:nvSpPr>
        <p:spPr>
          <a:xfrm>
            <a:off x="4645025" y="1859757"/>
            <a:ext cx="4041775" cy="654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3" type="body"/>
          </p:nvPr>
        </p:nvSpPr>
        <p:spPr>
          <a:xfrm>
            <a:off x="457200" y="2514600"/>
            <a:ext cx="4040188" cy="38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361315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4" type="body"/>
          </p:nvPr>
        </p:nvSpPr>
        <p:spPr>
          <a:xfrm>
            <a:off x="4645025" y="2514600"/>
            <a:ext cx="4041775" cy="38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361315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/>
          <p:nvPr>
            <p:ph type="title"/>
          </p:nvPr>
        </p:nvSpPr>
        <p:spPr>
          <a:xfrm>
            <a:off x="457200" y="7040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b="0" sz="5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0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0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/>
          <p:nvPr>
            <p:ph type="title"/>
          </p:nvPr>
        </p:nvSpPr>
        <p:spPr>
          <a:xfrm>
            <a:off x="685800" y="514352"/>
            <a:ext cx="27432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b="0" sz="2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" type="body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1827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3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2" type="body"/>
          </p:nvPr>
        </p:nvSpPr>
        <p:spPr>
          <a:xfrm>
            <a:off x="3575050" y="1676400"/>
            <a:ext cx="511175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39751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indent="-368935" lvl="1" marL="9144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indent="-33528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indent="-3111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"/>
          <p:cNvSpPr/>
          <p:nvPr/>
        </p:nvSpPr>
        <p:spPr>
          <a:xfrm flipH="1" rot="-10380000">
            <a:off x="3165475" y="1108075"/>
            <a:ext cx="5257800" cy="4114800"/>
          </a:xfrm>
          <a:prstGeom prst="snipRoundRect">
            <a:avLst>
              <a:gd fmla="val 0" name="adj1"/>
              <a:gd fmla="val 3646" name="adj2"/>
            </a:avLst>
          </a:prstGeom>
          <a:solidFill>
            <a:srgbClr val="FFFFFF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98500" kx="100000" rotWithShape="0" algn="tl" dir="7500000" dist="38500" sy="100080">
              <a:srgbClr val="000000">
                <a:alpha val="2431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2"/>
          <p:cNvSpPr/>
          <p:nvPr/>
        </p:nvSpPr>
        <p:spPr>
          <a:xfrm flipH="1" rot="-10380000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  <a:effectLst>
            <a:outerShdw blurRad="19685" rotWithShape="0" algn="tl" dir="12900000" dist="6350">
              <a:srgbClr val="000000">
                <a:alpha val="4627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2"/>
          <p:cNvSpPr/>
          <p:nvPr/>
        </p:nvSpPr>
        <p:spPr>
          <a:xfrm flipH="1" rot="10800000">
            <a:off x="-9525" y="5816600"/>
            <a:ext cx="916305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313"/>
                </a:srgbClr>
              </a:gs>
              <a:gs pos="100000">
                <a:srgbClr val="00E9F7">
                  <a:alpha val="54509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2"/>
          <p:cNvSpPr/>
          <p:nvPr/>
        </p:nvSpPr>
        <p:spPr>
          <a:xfrm flipH="1" rot="10800000">
            <a:off x="4381500" y="6219825"/>
            <a:ext cx="47625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411"/>
                </a:srgbClr>
              </a:gs>
              <a:gs pos="80000">
                <a:srgbClr val="0099E4">
                  <a:alpha val="44313"/>
                </a:srgbClr>
              </a:gs>
              <a:gs pos="100000">
                <a:srgbClr val="0099E4">
                  <a:alpha val="44313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2"/>
          <p:cNvSpPr txBox="1"/>
          <p:nvPr>
            <p:ph type="title"/>
          </p:nvPr>
        </p:nvSpPr>
        <p:spPr>
          <a:xfrm>
            <a:off x="609600" y="1176996"/>
            <a:ext cx="2212848" cy="158262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1" sz="2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" type="body"/>
          </p:nvPr>
        </p:nvSpPr>
        <p:spPr>
          <a:xfrm>
            <a:off x="609600" y="2828785"/>
            <a:ext cx="2209800" cy="2179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64000" spcFirstLastPara="1" rIns="4570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235"/>
              <a:buFont typeface="Arial"/>
              <a:buNone/>
              <a:defRPr sz="1300"/>
            </a:lvl1pPr>
            <a:lvl2pPr indent="-293369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020"/>
              <a:buChar char="⚫"/>
              <a:defRPr sz="1200"/>
            </a:lvl2pPr>
            <a:lvl3pPr indent="-2730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Char char="⚫"/>
              <a:defRPr sz="1000"/>
            </a:lvl3pPr>
            <a:lvl4pPr indent="-265747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4pPr>
            <a:lvl5pPr indent="-265747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12"/>
          <p:cNvSpPr/>
          <p:nvPr>
            <p:ph idx="2" type="pic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lt2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2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2"/>
          <p:cNvSpPr txBox="1"/>
          <p:nvPr>
            <p:ph idx="12" type="sldNum"/>
          </p:nvPr>
        </p:nvSpPr>
        <p:spPr>
          <a:xfrm>
            <a:off x="8077200" y="6356350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 txBox="1"/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idx="1" type="body"/>
          </p:nvPr>
        </p:nvSpPr>
        <p:spPr>
          <a:xfrm rot="5400000">
            <a:off x="2377281" y="15081"/>
            <a:ext cx="4389437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3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3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 txBox="1"/>
          <p:nvPr>
            <p:ph type="title"/>
          </p:nvPr>
        </p:nvSpPr>
        <p:spPr>
          <a:xfrm rot="5400000">
            <a:off x="5052218" y="2491583"/>
            <a:ext cx="521176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4"/>
          <p:cNvSpPr txBox="1"/>
          <p:nvPr>
            <p:ph idx="1" type="body"/>
          </p:nvPr>
        </p:nvSpPr>
        <p:spPr>
          <a:xfrm rot="5400000">
            <a:off x="861219" y="510383"/>
            <a:ext cx="5211763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4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4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-9525" y="-7938"/>
            <a:ext cx="9163050" cy="1041401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313"/>
                </a:srgbClr>
              </a:gs>
              <a:gs pos="100000">
                <a:srgbClr val="00E9F7">
                  <a:alpha val="54509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4381500" y="-7938"/>
            <a:ext cx="4762500" cy="638176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411"/>
                </a:srgbClr>
              </a:gs>
              <a:gs pos="80000">
                <a:srgbClr val="0099E4">
                  <a:alpha val="44313"/>
                </a:srgbClr>
              </a:gs>
              <a:gs pos="100000">
                <a:srgbClr val="0099E4">
                  <a:alpha val="44313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" type="body"/>
          </p:nvPr>
        </p:nvSpPr>
        <p:spPr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5445" lvl="0" marL="4572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BD0D9"/>
              </a:buClr>
              <a:buSzPts val="2470"/>
              <a:buFont typeface="Noto Sans Symbols"/>
              <a:buChar char="⚫"/>
              <a:defRPr b="0" i="0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814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1944" lvl="2" marL="13716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11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BD0D9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11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0CF9B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0039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9879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D0E9E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D0E9E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1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7" name="Google Shape;17;p1"/>
          <p:cNvGrpSpPr/>
          <p:nvPr/>
        </p:nvGrpSpPr>
        <p:grpSpPr>
          <a:xfrm>
            <a:off x="-29327" y="-14808"/>
            <a:ext cx="9198220" cy="1083716"/>
            <a:chOff x="-29322" y="-1971"/>
            <a:chExt cx="9198255" cy="1086266"/>
          </a:xfrm>
        </p:grpSpPr>
        <p:sp>
          <p:nvSpPr>
            <p:cNvPr id="18" name="Google Shape;18;p1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rect b="b" l="l" r="r" t="t"/>
              <a:pathLst>
                <a:path extrusionOk="0" h="1055" w="5772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cap="flat" cmpd="sng" w="10775">
              <a:solidFill>
                <a:srgbClr val="09B6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rect b="b" l="l" r="r" t="t"/>
              <a:pathLst>
                <a:path extrusionOk="0" h="854" w="5766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transition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/>
          <p:nvPr/>
        </p:nvSpPr>
        <p:spPr>
          <a:xfrm>
            <a:off x="-9525" y="-7938"/>
            <a:ext cx="9163050" cy="1041401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313"/>
                </a:srgbClr>
              </a:gs>
              <a:gs pos="100000">
                <a:srgbClr val="00E9F7">
                  <a:alpha val="54509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381500" y="-7938"/>
            <a:ext cx="4762500" cy="638176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411"/>
                </a:srgbClr>
              </a:gs>
              <a:gs pos="80000">
                <a:srgbClr val="0099E4">
                  <a:alpha val="44313"/>
                </a:srgbClr>
              </a:gs>
              <a:gs pos="100000">
                <a:srgbClr val="0099E4">
                  <a:alpha val="44313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"/>
          <p:cNvSpPr txBox="1"/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5445" lvl="0" marL="4572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BD0D9"/>
              </a:buClr>
              <a:buSzPts val="247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814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1944" lvl="2" marL="13716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11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BD0D9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11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0CF9B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0039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9879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4" name="Google Shape;34;p3"/>
          <p:cNvGrpSpPr/>
          <p:nvPr/>
        </p:nvGrpSpPr>
        <p:grpSpPr>
          <a:xfrm>
            <a:off x="-29327" y="-14808"/>
            <a:ext cx="9198220" cy="1083716"/>
            <a:chOff x="-29322" y="-1971"/>
            <a:chExt cx="9198255" cy="1086266"/>
          </a:xfrm>
        </p:grpSpPr>
        <p:sp>
          <p:nvSpPr>
            <p:cNvPr id="35" name="Google Shape;35;p3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rect b="b" l="l" r="r" t="t"/>
              <a:pathLst>
                <a:path extrusionOk="0" h="1055" w="5772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cap="flat" cmpd="sng" w="10775">
              <a:solidFill>
                <a:srgbClr val="09B6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3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rect b="b" l="l" r="r" t="t"/>
              <a:pathLst>
                <a:path extrusionOk="0" h="854" w="5766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github.com/MadCollab" TargetMode="External"/><Relationship Id="rId4" Type="http://schemas.openxmlformats.org/officeDocument/2006/relationships/hyperlink" Target="https://github.com/MadCollab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/>
          <p:nvPr/>
        </p:nvSpPr>
        <p:spPr>
          <a:xfrm>
            <a:off x="609600" y="2895600"/>
            <a:ext cx="77724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Basics of Computing</a:t>
            </a:r>
            <a:endParaRPr b="0" i="0" sz="4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/>
          <p:nvPr>
            <p:ph type="title"/>
          </p:nvPr>
        </p:nvSpPr>
        <p:spPr>
          <a:xfrm>
            <a:off x="457200" y="1143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What is Computing?</a:t>
            </a:r>
            <a:endParaRPr/>
          </a:p>
        </p:txBody>
      </p:sp>
      <p:sp>
        <p:nvSpPr>
          <p:cNvPr id="120" name="Google Shape;120;p16"/>
          <p:cNvSpPr txBox="1"/>
          <p:nvPr>
            <p:ph idx="1" type="body"/>
          </p:nvPr>
        </p:nvSpPr>
        <p:spPr>
          <a:xfrm>
            <a:off x="457200" y="2514600"/>
            <a:ext cx="82296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Computing is the process of using and improving computer technology, computer hardware and software to complete a given goal-oriented task. </a:t>
            </a:r>
            <a:endParaRPr/>
          </a:p>
          <a:p>
            <a:pPr indent="-273050" lvl="0" marL="27305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		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Types of Computing</a:t>
            </a:r>
            <a:endParaRPr/>
          </a:p>
        </p:txBody>
      </p:sp>
      <p:sp>
        <p:nvSpPr>
          <p:cNvPr id="126" name="Google Shape;126;p17"/>
          <p:cNvSpPr txBox="1"/>
          <p:nvPr>
            <p:ph idx="1" type="body"/>
          </p:nvPr>
        </p:nvSpPr>
        <p:spPr>
          <a:xfrm>
            <a:off x="533400" y="2133600"/>
            <a:ext cx="8229600" cy="438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Monolithic </a:t>
            </a:r>
            <a:endParaRPr/>
          </a:p>
          <a:p>
            <a:pPr indent="-273050" lvl="0" marL="2730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Distributed</a:t>
            </a:r>
            <a:endParaRPr/>
          </a:p>
          <a:p>
            <a:pPr indent="-273050" lvl="0" marL="2730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Parallel</a:t>
            </a:r>
            <a:endParaRPr/>
          </a:p>
          <a:p>
            <a:pPr indent="-273050" lvl="0" marL="2730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Collaborative 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Monolithic Computing</a:t>
            </a:r>
            <a:endParaRPr/>
          </a:p>
        </p:txBody>
      </p:sp>
      <p:sp>
        <p:nvSpPr>
          <p:cNvPr id="132" name="Google Shape;132;p18"/>
          <p:cNvSpPr txBox="1"/>
          <p:nvPr>
            <p:ph idx="1" type="body"/>
          </p:nvPr>
        </p:nvSpPr>
        <p:spPr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simplest form of computing. </a:t>
            </a:r>
            <a:endParaRPr/>
          </a:p>
          <a:p>
            <a:pPr indent="-273050" lvl="0" marL="2730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A single computer such as personal computer is used for computing. </a:t>
            </a:r>
            <a:endParaRPr/>
          </a:p>
          <a:p>
            <a:pPr indent="-273050" lvl="0" marL="2730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It is not connected to any network.</a:t>
            </a:r>
            <a:endParaRPr/>
          </a:p>
          <a:p>
            <a:pPr indent="-273050" lvl="0" marL="2730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It can use resources only within its immediate access.</a:t>
            </a:r>
            <a:endParaRPr/>
          </a:p>
          <a:p>
            <a:pPr indent="-273050" lvl="0" marL="2730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There are two types: </a:t>
            </a:r>
            <a:endParaRPr/>
          </a:p>
          <a:p>
            <a:pPr indent="-246062" lvl="1" marL="63976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 single user monolithic computing</a:t>
            </a:r>
            <a:endParaRPr/>
          </a:p>
          <a:p>
            <a:pPr indent="-246062" lvl="1" marL="63976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 multi-user monolithic computing</a:t>
            </a:r>
            <a:endParaRPr/>
          </a:p>
          <a:p>
            <a:pPr indent="-116204" lvl="0" marL="2730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/>
          <p:nvPr>
            <p:ph type="title"/>
          </p:nvPr>
        </p:nvSpPr>
        <p:spPr>
          <a:xfrm>
            <a:off x="457200" y="685800"/>
            <a:ext cx="82296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Monolithic Computing</a:t>
            </a:r>
            <a:endParaRPr/>
          </a:p>
        </p:txBody>
      </p:sp>
      <p:sp>
        <p:nvSpPr>
          <p:cNvPr id="138" name="Google Shape;138;p19"/>
          <p:cNvSpPr txBox="1"/>
          <p:nvPr>
            <p:ph idx="1" type="body"/>
          </p:nvPr>
        </p:nvSpPr>
        <p:spPr>
          <a:xfrm>
            <a:off x="457200" y="1600200"/>
            <a:ext cx="8229600" cy="438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b="1" lang="en-US"/>
              <a:t>Examples: </a:t>
            </a:r>
            <a:r>
              <a:rPr lang="en-US"/>
              <a:t>Use of applications such as word processing program or a spreadsheet on a PC</a:t>
            </a:r>
            <a:endParaRPr/>
          </a:p>
          <a:p>
            <a:pPr indent="-273050" lvl="0" marL="27305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Resources can be shared by concurrent users – using </a:t>
            </a:r>
            <a:r>
              <a:rPr lang="en-US">
                <a:solidFill>
                  <a:srgbClr val="FF0000"/>
                </a:solidFill>
              </a:rPr>
              <a:t>“Time Sharing” </a:t>
            </a:r>
            <a:r>
              <a:rPr lang="en-US"/>
              <a:t>technique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descr="MONO" id="139" name="Google Shape;13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2200" y="4267200"/>
            <a:ext cx="4876800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9"/>
          <p:cNvSpPr txBox="1"/>
          <p:nvPr/>
        </p:nvSpPr>
        <p:spPr>
          <a:xfrm>
            <a:off x="2819400" y="4114800"/>
            <a:ext cx="1905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Terminals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9"/>
          <p:cNvSpPr txBox="1"/>
          <p:nvPr/>
        </p:nvSpPr>
        <p:spPr>
          <a:xfrm>
            <a:off x="5410200" y="4191000"/>
            <a:ext cx="1905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 frame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/>
          <p:nvPr>
            <p:ph type="title"/>
          </p:nvPr>
        </p:nvSpPr>
        <p:spPr>
          <a:xfrm>
            <a:off x="457200" y="762000"/>
            <a:ext cx="82296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Distributed Computing</a:t>
            </a:r>
            <a:endParaRPr/>
          </a:p>
        </p:txBody>
      </p:sp>
      <p:sp>
        <p:nvSpPr>
          <p:cNvPr id="147" name="Google Shape;147;p20"/>
          <p:cNvSpPr txBox="1"/>
          <p:nvPr>
            <p:ph idx="1" type="body"/>
          </p:nvPr>
        </p:nvSpPr>
        <p:spPr>
          <a:xfrm>
            <a:off x="457200" y="1905000"/>
            <a:ext cx="8229600" cy="438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performed in a distributed system</a:t>
            </a:r>
            <a:endParaRPr/>
          </a:p>
          <a:p>
            <a:pPr indent="-273050" lvl="0" marL="273050" rtl="0" algn="l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SzPts val="2470"/>
              <a:buChar char="⚫"/>
            </a:pPr>
            <a:r>
              <a:rPr b="1" lang="en-US"/>
              <a:t>What is a distributed system?</a:t>
            </a:r>
            <a:endParaRPr/>
          </a:p>
          <a:p>
            <a:pPr indent="-273050" lvl="0" marL="2730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Char char="⚫"/>
            </a:pPr>
            <a:r>
              <a:rPr lang="en-US" sz="2800"/>
              <a:t>A distributed system is a collection of </a:t>
            </a:r>
            <a:r>
              <a:rPr lang="en-US" sz="2800">
                <a:solidFill>
                  <a:srgbClr val="FF0000"/>
                </a:solidFill>
              </a:rPr>
              <a:t>independent computers </a:t>
            </a:r>
            <a:r>
              <a:rPr lang="en-US" sz="2800"/>
              <a:t>that appear to the users of the system as a </a:t>
            </a:r>
            <a:r>
              <a:rPr lang="en-US" sz="2800">
                <a:solidFill>
                  <a:srgbClr val="FF0000"/>
                </a:solidFill>
              </a:rPr>
              <a:t>single system.</a:t>
            </a:r>
            <a:endParaRPr/>
          </a:p>
          <a:p>
            <a:pPr indent="-246062" lvl="1" marL="639763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Eg: Enterprise Applications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/>
          <p:nvPr>
            <p:ph type="title"/>
          </p:nvPr>
        </p:nvSpPr>
        <p:spPr>
          <a:xfrm>
            <a:off x="838200" y="533400"/>
            <a:ext cx="82296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Definitions</a:t>
            </a:r>
            <a:endParaRPr/>
          </a:p>
        </p:txBody>
      </p:sp>
      <p:sp>
        <p:nvSpPr>
          <p:cNvPr id="153" name="Google Shape;153;p21"/>
          <p:cNvSpPr txBox="1"/>
          <p:nvPr>
            <p:ph idx="1" type="body"/>
          </p:nvPr>
        </p:nvSpPr>
        <p:spPr>
          <a:xfrm>
            <a:off x="152400" y="1219200"/>
            <a:ext cx="8763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6062" lvl="1" marL="639763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“A </a:t>
            </a:r>
            <a:r>
              <a:rPr b="1" lang="en-US"/>
              <a:t>distributed system</a:t>
            </a:r>
            <a:r>
              <a:rPr lang="en-US"/>
              <a:t> consists of multiple </a:t>
            </a:r>
            <a:r>
              <a:rPr lang="en-US">
                <a:solidFill>
                  <a:srgbClr val="EE1A04"/>
                </a:solidFill>
              </a:rPr>
              <a:t>autonomous computers</a:t>
            </a:r>
            <a:r>
              <a:rPr lang="en-US"/>
              <a:t> that communicate through a </a:t>
            </a:r>
            <a:r>
              <a:rPr lang="en-US">
                <a:solidFill>
                  <a:srgbClr val="EE1A04"/>
                </a:solidFill>
              </a:rPr>
              <a:t>computer network”</a:t>
            </a:r>
            <a:r>
              <a:rPr lang="en-US"/>
              <a:t>. </a:t>
            </a:r>
            <a:endParaRPr/>
          </a:p>
          <a:p>
            <a:pPr indent="-246062" lvl="1" marL="639763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“Distributed computing utilizes a network of many computers, each accomplishing a portion of an overall task, to achieve a </a:t>
            </a:r>
            <a:r>
              <a:rPr lang="en-US">
                <a:solidFill>
                  <a:srgbClr val="EE1A04"/>
                </a:solidFill>
              </a:rPr>
              <a:t>computational result much more quickly</a:t>
            </a:r>
            <a:r>
              <a:rPr lang="en-US"/>
              <a:t> than a </a:t>
            </a:r>
            <a:r>
              <a:rPr lang="en-US">
                <a:solidFill>
                  <a:srgbClr val="FF0000"/>
                </a:solidFill>
              </a:rPr>
              <a:t>centralized</a:t>
            </a:r>
            <a:r>
              <a:rPr lang="en-US"/>
              <a:t> computing .”</a:t>
            </a:r>
            <a:endParaRPr/>
          </a:p>
          <a:p>
            <a:pPr indent="-246061" lvl="1" marL="639763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  <a:p>
            <a:pPr indent="-116204" lvl="0" marL="27305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 txBox="1"/>
          <p:nvPr>
            <p:ph type="title"/>
          </p:nvPr>
        </p:nvSpPr>
        <p:spPr>
          <a:xfrm>
            <a:off x="685800" y="3810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latin typeface="Arial"/>
                <a:ea typeface="Arial"/>
                <a:cs typeface="Arial"/>
                <a:sym typeface="Arial"/>
              </a:rPr>
              <a:t>Distributed System Characteristics</a:t>
            </a:r>
            <a:endParaRPr/>
          </a:p>
        </p:txBody>
      </p:sp>
      <p:sp>
        <p:nvSpPr>
          <p:cNvPr id="159" name="Google Shape;159;p22"/>
          <p:cNvSpPr txBox="1"/>
          <p:nvPr>
            <p:ph idx="1" type="body"/>
          </p:nvPr>
        </p:nvSpPr>
        <p:spPr>
          <a:xfrm>
            <a:off x="381000" y="1600200"/>
            <a:ext cx="84582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>
                <a:solidFill>
                  <a:srgbClr val="FF0000"/>
                </a:solidFill>
              </a:rPr>
              <a:t>To present a single-system image:</a:t>
            </a:r>
            <a:endParaRPr/>
          </a:p>
          <a:p>
            <a:pPr indent="-246062" lvl="1" marL="63976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Hide internal organization, communication details </a:t>
            </a:r>
            <a:endParaRPr/>
          </a:p>
          <a:p>
            <a:pPr indent="-246062" lvl="1" marL="63976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Provide uniform interface</a:t>
            </a:r>
            <a:endParaRPr/>
          </a:p>
          <a:p>
            <a:pPr indent="-273050" lvl="0" marL="2730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>
                <a:solidFill>
                  <a:srgbClr val="FF0000"/>
                </a:solidFill>
              </a:rPr>
              <a:t>Easily expandable</a:t>
            </a:r>
            <a:endParaRPr/>
          </a:p>
          <a:p>
            <a:pPr indent="-246062" lvl="1" marL="63976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Adding new computers is hidden from users</a:t>
            </a:r>
            <a:endParaRPr/>
          </a:p>
          <a:p>
            <a:pPr indent="-273050" lvl="0" marL="2730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>
                <a:solidFill>
                  <a:srgbClr val="FF0000"/>
                </a:solidFill>
              </a:rPr>
              <a:t>Continuous availability</a:t>
            </a:r>
            <a:endParaRPr/>
          </a:p>
          <a:p>
            <a:pPr indent="-246062" lvl="1" marL="63976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Failures in one component can be covered by other components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 txBox="1"/>
          <p:nvPr>
            <p:ph type="title"/>
          </p:nvPr>
        </p:nvSpPr>
        <p:spPr>
          <a:xfrm>
            <a:off x="457200" y="704850"/>
            <a:ext cx="82296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5400"/>
              <a:t>Distributed Systems</a:t>
            </a:r>
            <a:endParaRPr/>
          </a:p>
        </p:txBody>
      </p:sp>
      <p:pic>
        <p:nvPicPr>
          <p:cNvPr id="166" name="Google Shape;16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71600"/>
            <a:ext cx="8850313" cy="421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3"/>
          <p:cNvSpPr/>
          <p:nvPr/>
        </p:nvSpPr>
        <p:spPr>
          <a:xfrm>
            <a:off x="457200" y="5715000"/>
            <a:ext cx="8001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middleware layer runs on all machines, and offers a uniform interface to the system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4"/>
          <p:cNvSpPr txBox="1"/>
          <p:nvPr>
            <p:ph idx="1" type="body"/>
          </p:nvPr>
        </p:nvSpPr>
        <p:spPr>
          <a:xfrm>
            <a:off x="381000" y="1752600"/>
            <a:ext cx="8229600" cy="438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b="1" lang="en-US"/>
              <a:t>WWW</a:t>
            </a:r>
            <a:r>
              <a:rPr lang="en-US"/>
              <a:t> is an excellent example of this type of computing</a:t>
            </a:r>
            <a:endParaRPr/>
          </a:p>
          <a:p>
            <a:pPr indent="-273050" lvl="0" marL="27305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A browser to visit a web site - a program such as Internet Explorer - runs on local system and interacts with a program(known as web server) - which runs on remote system to fetch a file or resource</a:t>
            </a:r>
            <a:endParaRPr/>
          </a:p>
        </p:txBody>
      </p:sp>
      <p:sp>
        <p:nvSpPr>
          <p:cNvPr id="173" name="Google Shape;173;p24"/>
          <p:cNvSpPr txBox="1"/>
          <p:nvPr/>
        </p:nvSpPr>
        <p:spPr>
          <a:xfrm>
            <a:off x="609600" y="990600"/>
            <a:ext cx="830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Examples of Distributed  Computing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5"/>
          <p:cNvSpPr txBox="1"/>
          <p:nvPr/>
        </p:nvSpPr>
        <p:spPr>
          <a:xfrm>
            <a:off x="457200" y="1143000"/>
            <a:ext cx="82296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470"/>
              <a:buFont typeface="Noto Sans Symbols"/>
              <a:buChar char="⚫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Service Architecture of a Bank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6061" lvl="1" marL="639763" marR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Noto Sans Symbols"/>
              <a:buChar char="⚫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Service architecture consists of heterogeneous new and legacy components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6061" lvl="1" marL="639763" marR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Noto Sans Symbols"/>
              <a:buChar char="⚫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Hardware platforms range from mainframes to 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6061" lvl="1" marL="639763" marR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Noto Sans Symbols"/>
              <a:buChar char="⚫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Programming languages including Assembler, Cobol, C, C++, Java, 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6061" lvl="1" marL="639763" marR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Noto Sans Symbols"/>
              <a:buChar char="⚫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types of middleware can be used to resolve distribution and heterogeneity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3352800"/>
            <a:ext cx="7315200" cy="300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 txBox="1"/>
          <p:nvPr>
            <p:ph type="title"/>
          </p:nvPr>
        </p:nvSpPr>
        <p:spPr>
          <a:xfrm>
            <a:off x="457200" y="45720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800"/>
              <a:t>Strengths of Distributed Computing</a:t>
            </a:r>
            <a:endParaRPr/>
          </a:p>
        </p:txBody>
      </p:sp>
      <p:sp>
        <p:nvSpPr>
          <p:cNvPr id="185" name="Google Shape;185;p26"/>
          <p:cNvSpPr txBox="1"/>
          <p:nvPr>
            <p:ph idx="1" type="body"/>
          </p:nvPr>
        </p:nvSpPr>
        <p:spPr>
          <a:xfrm>
            <a:off x="381000" y="14478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b="1" lang="en-US">
                <a:solidFill>
                  <a:srgbClr val="FF0000"/>
                </a:solidFill>
              </a:rPr>
              <a:t>Availability, Reliability, high fault tolerance:</a:t>
            </a:r>
            <a:r>
              <a:rPr lang="en-US"/>
              <a:t> A system crash on one server does not affect other servers.</a:t>
            </a:r>
            <a:endParaRPr/>
          </a:p>
          <a:p>
            <a:pPr indent="-273050" lvl="0" marL="273050" rtl="0" algn="l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b="1" lang="en-US">
                <a:solidFill>
                  <a:srgbClr val="FF0000"/>
                </a:solidFill>
              </a:rPr>
              <a:t>Scalability:</a:t>
            </a:r>
            <a:r>
              <a:rPr lang="en-US">
                <a:solidFill>
                  <a:srgbClr val="FF0000"/>
                </a:solidFill>
              </a:rPr>
              <a:t>  </a:t>
            </a:r>
            <a:r>
              <a:rPr lang="en-US"/>
              <a:t>Can add more machines as needed.</a:t>
            </a:r>
            <a:endParaRPr/>
          </a:p>
          <a:p>
            <a:pPr indent="-273050" lvl="0" marL="273050" rtl="0" algn="l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b="1" lang="en-US">
                <a:solidFill>
                  <a:srgbClr val="FF0000"/>
                </a:solidFill>
              </a:rPr>
              <a:t>High performance:</a:t>
            </a:r>
            <a:r>
              <a:rPr lang="en-US"/>
              <a:t> Compared to centralized computer network clusters, it can provide higher performance.</a:t>
            </a:r>
            <a:endParaRPr/>
          </a:p>
          <a:p>
            <a:pPr indent="-116204" lvl="0" marL="27305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b="1"/>
          </a:p>
          <a:p>
            <a:pPr indent="-116204" lvl="0" marL="27305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7"/>
          <p:cNvSpPr txBox="1"/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27"/>
          <p:cNvSpPr txBox="1"/>
          <p:nvPr>
            <p:ph idx="1" type="body"/>
          </p:nvPr>
        </p:nvSpPr>
        <p:spPr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b="1" lang="en-US">
                <a:solidFill>
                  <a:srgbClr val="FF0000"/>
                </a:solidFill>
              </a:rPr>
              <a:t>Resource Sharing: </a:t>
            </a:r>
            <a:r>
              <a:rPr lang="en-US"/>
              <a:t>Ability to use any hardware, software or data anywhere in the system.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8"/>
          <p:cNvSpPr txBox="1"/>
          <p:nvPr>
            <p:ph type="title"/>
          </p:nvPr>
        </p:nvSpPr>
        <p:spPr>
          <a:xfrm>
            <a:off x="5334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/>
              <a:t>Transparency in Distributed Systems</a:t>
            </a:r>
            <a:endParaRPr/>
          </a:p>
        </p:txBody>
      </p:sp>
      <p:sp>
        <p:nvSpPr>
          <p:cNvPr id="198" name="Google Shape;198;p28"/>
          <p:cNvSpPr txBox="1"/>
          <p:nvPr>
            <p:ph idx="1" type="body"/>
          </p:nvPr>
        </p:nvSpPr>
        <p:spPr>
          <a:xfrm>
            <a:off x="628650" y="1295401"/>
            <a:ext cx="7886700" cy="4881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73050" lvl="0" marL="273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en-US"/>
              <a:t> </a:t>
            </a:r>
            <a:endParaRPr/>
          </a:p>
          <a:p>
            <a:pPr indent="-121554" lvl="0" marL="38100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SzPct val="95000"/>
              <a:buChar char="⚫"/>
            </a:pPr>
            <a:r>
              <a:rPr baseline="30000" lang="en-US">
                <a:solidFill>
                  <a:srgbClr val="FD853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Transparency:-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676910" marR="304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FD8536"/>
              </a:buClr>
              <a:buSzPct val="79545"/>
              <a:buChar char="⚫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make certain aspects of distribution are </a:t>
            </a: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invisible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to  the application programmer 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676910" marR="641350" rtl="0" algn="l">
              <a:lnSpc>
                <a:spcPct val="101153"/>
              </a:lnSpc>
              <a:spcBef>
                <a:spcPts val="645"/>
              </a:spcBef>
              <a:spcAft>
                <a:spcPts val="0"/>
              </a:spcAft>
              <a:buClr>
                <a:srgbClr val="FD8536"/>
              </a:buClr>
              <a:buSzPct val="79545"/>
              <a:buChar char="⚫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They not concern the locations and details of how it  operate, either replicated or migrated.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676910" marR="168275" rtl="0" algn="l">
              <a:lnSpc>
                <a:spcPct val="100000"/>
              </a:lnSpc>
              <a:spcBef>
                <a:spcPts val="464"/>
              </a:spcBef>
              <a:spcAft>
                <a:spcPts val="0"/>
              </a:spcAft>
              <a:buClr>
                <a:srgbClr val="FD8536"/>
              </a:buClr>
              <a:buSzPct val="79545"/>
              <a:buChar char="⚫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Failures can be presented to application programmers in  the form of exceptions – must be handled.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273050" rtl="0" algn="l">
              <a:lnSpc>
                <a:spcPct val="90000"/>
              </a:lnSpc>
              <a:spcBef>
                <a:spcPts val="403"/>
              </a:spcBef>
              <a:spcAft>
                <a:spcPts val="0"/>
              </a:spcAft>
              <a:buSzPct val="95000"/>
              <a:buChar char="⚫"/>
            </a:pPr>
            <a:r>
              <a:rPr lang="en-US">
                <a:solidFill>
                  <a:srgbClr val="FF0000"/>
                </a:solidFill>
              </a:rPr>
              <a:t>Dimensions</a:t>
            </a:r>
            <a:r>
              <a:rPr lang="en-US"/>
              <a:t> of transparency in DS</a:t>
            </a:r>
            <a:endParaRPr/>
          </a:p>
          <a:p>
            <a:pPr indent="-246063" lvl="1" marL="639763" rtl="0" algn="l">
              <a:lnSpc>
                <a:spcPct val="90000"/>
              </a:lnSpc>
              <a:spcBef>
                <a:spcPts val="372"/>
              </a:spcBef>
              <a:spcAft>
                <a:spcPts val="0"/>
              </a:spcAft>
              <a:buSzPct val="85000"/>
              <a:buChar char="⚫"/>
            </a:pPr>
            <a:r>
              <a:rPr lang="en-US"/>
              <a:t>Access Transparency</a:t>
            </a:r>
            <a:endParaRPr/>
          </a:p>
          <a:p>
            <a:pPr indent="-246063" lvl="1" marL="639763" rtl="0" algn="l">
              <a:lnSpc>
                <a:spcPct val="90000"/>
              </a:lnSpc>
              <a:spcBef>
                <a:spcPts val="372"/>
              </a:spcBef>
              <a:spcAft>
                <a:spcPts val="0"/>
              </a:spcAft>
              <a:buSzPct val="85000"/>
              <a:buChar char="⚫"/>
            </a:pPr>
            <a:r>
              <a:rPr lang="en-US"/>
              <a:t>Location Transparency</a:t>
            </a:r>
            <a:endParaRPr/>
          </a:p>
          <a:p>
            <a:pPr indent="-246063" lvl="1" marL="639763" rtl="0" algn="l">
              <a:lnSpc>
                <a:spcPct val="90000"/>
              </a:lnSpc>
              <a:spcBef>
                <a:spcPts val="372"/>
              </a:spcBef>
              <a:spcAft>
                <a:spcPts val="0"/>
              </a:spcAft>
              <a:buSzPct val="85000"/>
              <a:buChar char="⚫"/>
            </a:pPr>
            <a:r>
              <a:rPr lang="en-US"/>
              <a:t>Migration Transparency</a:t>
            </a:r>
            <a:endParaRPr/>
          </a:p>
          <a:p>
            <a:pPr indent="-246063" lvl="1" marL="639763" rtl="0" algn="l">
              <a:lnSpc>
                <a:spcPct val="90000"/>
              </a:lnSpc>
              <a:spcBef>
                <a:spcPts val="372"/>
              </a:spcBef>
              <a:spcAft>
                <a:spcPts val="0"/>
              </a:spcAft>
              <a:buSzPct val="85000"/>
              <a:buChar char="⚫"/>
            </a:pPr>
            <a:r>
              <a:rPr lang="en-US"/>
              <a:t>Replication Transparency</a:t>
            </a:r>
            <a:endParaRPr/>
          </a:p>
          <a:p>
            <a:pPr indent="-246063" lvl="1" marL="639763" rtl="0" algn="l">
              <a:lnSpc>
                <a:spcPct val="90000"/>
              </a:lnSpc>
              <a:spcBef>
                <a:spcPts val="372"/>
              </a:spcBef>
              <a:spcAft>
                <a:spcPts val="0"/>
              </a:spcAft>
              <a:buSzPct val="85000"/>
              <a:buChar char="⚫"/>
            </a:pPr>
            <a:r>
              <a:rPr lang="en-US"/>
              <a:t>Concurrency Transparency</a:t>
            </a:r>
            <a:endParaRPr/>
          </a:p>
          <a:p>
            <a:pPr indent="-246063" lvl="1" marL="639763" rtl="0" algn="l">
              <a:lnSpc>
                <a:spcPct val="90000"/>
              </a:lnSpc>
              <a:spcBef>
                <a:spcPts val="372"/>
              </a:spcBef>
              <a:spcAft>
                <a:spcPts val="0"/>
              </a:spcAft>
              <a:buSzPct val="85000"/>
              <a:buChar char="⚫"/>
            </a:pPr>
            <a:r>
              <a:rPr lang="en-US"/>
              <a:t>Scalability Transparency</a:t>
            </a:r>
            <a:endParaRPr/>
          </a:p>
          <a:p>
            <a:pPr indent="-246063" lvl="1" marL="639763" rtl="0" algn="l">
              <a:lnSpc>
                <a:spcPct val="90000"/>
              </a:lnSpc>
              <a:spcBef>
                <a:spcPts val="372"/>
              </a:spcBef>
              <a:spcAft>
                <a:spcPts val="0"/>
              </a:spcAft>
              <a:buSzPct val="85000"/>
              <a:buChar char="⚫"/>
            </a:pPr>
            <a:r>
              <a:rPr lang="en-US"/>
              <a:t>Performance Transparency</a:t>
            </a:r>
            <a:endParaRPr/>
          </a:p>
          <a:p>
            <a:pPr indent="-246063" lvl="1" marL="639763" rtl="0" algn="l">
              <a:lnSpc>
                <a:spcPct val="90000"/>
              </a:lnSpc>
              <a:spcBef>
                <a:spcPts val="372"/>
              </a:spcBef>
              <a:spcAft>
                <a:spcPts val="0"/>
              </a:spcAft>
              <a:buSzPct val="85000"/>
              <a:buChar char="⚫"/>
            </a:pPr>
            <a:r>
              <a:rPr lang="en-US"/>
              <a:t>Failure Transparency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9"/>
          <p:cNvSpPr txBox="1"/>
          <p:nvPr>
            <p:ph idx="1" type="body"/>
          </p:nvPr>
        </p:nvSpPr>
        <p:spPr>
          <a:xfrm>
            <a:off x="0" y="609601"/>
            <a:ext cx="91440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6061" lvl="1" marL="639763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b="1" lang="en-US" sz="2600">
                <a:solidFill>
                  <a:srgbClr val="FF0000"/>
                </a:solidFill>
              </a:rPr>
              <a:t>Access transparency:</a:t>
            </a:r>
            <a:r>
              <a:rPr b="1" lang="en-US" sz="2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enables local and remote resources to be accessed  using identical operations.</a:t>
            </a:r>
            <a:endParaRPr b="1" sz="2600"/>
          </a:p>
          <a:p>
            <a:pPr indent="-246061" lvl="1" marL="639763" rtl="0" algn="l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SzPts val="2210"/>
              <a:buChar char="⚫"/>
            </a:pPr>
            <a:r>
              <a:rPr b="1" lang="en-US" sz="2600">
                <a:solidFill>
                  <a:srgbClr val="FF0000"/>
                </a:solidFill>
              </a:rPr>
              <a:t>Location Transparency: </a:t>
            </a:r>
            <a:r>
              <a:rPr lang="en-US" sz="2600"/>
              <a:t>users cannot tell where hardware and software resources such as CPUs, printers, files, data bases are located.</a:t>
            </a:r>
            <a:endParaRPr/>
          </a:p>
          <a:p>
            <a:pPr indent="-246061" lvl="1" marL="639763" rtl="0" algn="l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SzPts val="2210"/>
              <a:buChar char="⚫"/>
            </a:pPr>
            <a:r>
              <a:rPr b="1" lang="en-US" sz="2600">
                <a:solidFill>
                  <a:srgbClr val="FF0000"/>
                </a:solidFill>
              </a:rPr>
              <a:t>Migration Transparency: </a:t>
            </a:r>
            <a:r>
              <a:rPr lang="en-US" sz="2600"/>
              <a:t>resources must be free to move from one location to another without their names changed.</a:t>
            </a:r>
            <a:endParaRPr/>
          </a:p>
          <a:p>
            <a:pPr indent="-246061" lvl="1" marL="639763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SzPts val="2210"/>
              <a:buChar char="⚫"/>
            </a:pPr>
            <a:r>
              <a:rPr b="1" lang="en-US" sz="2600">
                <a:solidFill>
                  <a:srgbClr val="FF0000"/>
                </a:solidFill>
              </a:rPr>
              <a:t>Replication Transparency</a:t>
            </a:r>
            <a:r>
              <a:rPr lang="en-US" sz="2600">
                <a:solidFill>
                  <a:srgbClr val="FF0000"/>
                </a:solidFill>
              </a:rPr>
              <a:t>: </a:t>
            </a:r>
            <a:r>
              <a:rPr lang="en-US" sz="2600"/>
              <a:t>OS can make additional copies of files and resources without users noticing.</a:t>
            </a:r>
            <a:endParaRPr/>
          </a:p>
          <a:p>
            <a:pPr indent="-105726" lvl="1" marL="639763" rtl="0" algn="l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 txBox="1"/>
          <p:nvPr>
            <p:ph idx="1" type="body"/>
          </p:nvPr>
        </p:nvSpPr>
        <p:spPr>
          <a:xfrm>
            <a:off x="228600" y="762000"/>
            <a:ext cx="8458200" cy="6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6062" lvl="1" marL="639763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40"/>
              <a:buChar char="⚫"/>
            </a:pPr>
            <a:r>
              <a:rPr lang="en-US" sz="2400"/>
              <a:t> </a:t>
            </a:r>
            <a:r>
              <a:rPr b="1" lang="en-US" sz="2600">
                <a:solidFill>
                  <a:srgbClr val="FF0000"/>
                </a:solidFill>
              </a:rPr>
              <a:t>Concurrency Transparency:</a:t>
            </a:r>
            <a:r>
              <a:rPr b="1" lang="en-US" sz="2600"/>
              <a:t>  </a:t>
            </a:r>
            <a:r>
              <a:rPr lang="en-US" sz="2600"/>
              <a:t>The users are not aware of the existence of other users.  Need to allow multiple users to concurrently access the same resource. Lock and unlock for mutual exclusion.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1" marL="685800" marR="377825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380"/>
              <a:buChar char="⚫"/>
            </a:pPr>
            <a:r>
              <a:rPr b="1" lang="en-US" sz="2800">
                <a:solidFill>
                  <a:srgbClr val="FF0000"/>
                </a:solidFill>
              </a:rPr>
              <a:t>Scaling transparency: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allows the system and applications to expand in  scale without change to the system structure or the application algorithms.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6204" lvl="0" marL="273050" rtl="0" algn="l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SzPts val="247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/>
          <p:cNvSpPr txBox="1"/>
          <p:nvPr>
            <p:ph idx="1" type="body"/>
          </p:nvPr>
        </p:nvSpPr>
        <p:spPr>
          <a:xfrm>
            <a:off x="457200" y="1066801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685800" marR="37782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en-US" sz="2600">
                <a:solidFill>
                  <a:srgbClr val="FF0000"/>
                </a:solidFill>
              </a:rPr>
              <a:t>Performance transparency: </a:t>
            </a:r>
            <a:r>
              <a:rPr lang="en-US" sz="2600"/>
              <a:t>allows the system to be reconfigured to  improve performance as loads vary.</a:t>
            </a:r>
            <a:endParaRPr/>
          </a:p>
          <a:p>
            <a:pPr indent="-228600" lvl="1" marL="685800" marR="377825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210"/>
              <a:buChar char="⚫"/>
            </a:pPr>
            <a:r>
              <a:rPr lang="en-US" sz="2600">
                <a:solidFill>
                  <a:srgbClr val="FF0000"/>
                </a:solidFill>
              </a:rPr>
              <a:t>Failure transparency: </a:t>
            </a:r>
            <a:r>
              <a:rPr lang="en-US" sz="2600"/>
              <a:t>enables the concealment of faults, allowing users  and application programs to complete their tasks despite the failure of  hardware or software components.</a:t>
            </a:r>
            <a:endParaRPr/>
          </a:p>
          <a:p>
            <a:pPr indent="-116204" lvl="0" marL="2730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 txBox="1"/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32"/>
          <p:cNvSpPr txBox="1"/>
          <p:nvPr>
            <p:ph idx="1" type="body"/>
          </p:nvPr>
        </p:nvSpPr>
        <p:spPr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b="1" lang="en-US">
                <a:solidFill>
                  <a:srgbClr val="FF0000"/>
                </a:solidFill>
              </a:rPr>
              <a:t>Security issues:</a:t>
            </a:r>
            <a:r>
              <a:rPr lang="en-US">
                <a:solidFill>
                  <a:srgbClr val="FF0000"/>
                </a:solidFill>
              </a:rPr>
              <a:t> </a:t>
            </a:r>
            <a:r>
              <a:rPr lang="en-US"/>
              <a:t>The characteristics of open systems make data security and sharing risks in distributed computer systems.</a:t>
            </a:r>
            <a:endParaRPr/>
          </a:p>
          <a:p>
            <a:pPr indent="-273050" lvl="0" marL="27305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b="1" lang="en-US">
                <a:solidFill>
                  <a:srgbClr val="FF0000"/>
                </a:solidFill>
              </a:rPr>
              <a:t>Multiple points of failure: </a:t>
            </a:r>
            <a:r>
              <a:rPr lang="en-US"/>
              <a:t>failure of one or more computers or one or more network links can cause trouble for distributed computing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3"/>
          <p:cNvSpPr txBox="1"/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en-US" sz="5400"/>
            </a:br>
            <a:endParaRPr/>
          </a:p>
        </p:txBody>
      </p:sp>
      <p:sp>
        <p:nvSpPr>
          <p:cNvPr id="225" name="Google Shape;225;p33"/>
          <p:cNvSpPr txBox="1"/>
          <p:nvPr>
            <p:ph idx="1" type="body"/>
          </p:nvPr>
        </p:nvSpPr>
        <p:spPr>
          <a:xfrm>
            <a:off x="533400" y="2743200"/>
            <a:ext cx="8229600" cy="317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Describes responsibilities distributed between system components and how are these components placed.</a:t>
            </a:r>
            <a:endParaRPr/>
          </a:p>
          <a:p>
            <a:pPr indent="-246062" lvl="1" marL="63976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Client-server</a:t>
            </a:r>
            <a:endParaRPr/>
          </a:p>
          <a:p>
            <a:pPr indent="-246062" lvl="1" marL="63976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Peer-To-Peer</a:t>
            </a:r>
            <a:endParaRPr/>
          </a:p>
          <a:p>
            <a:pPr indent="-246062" lvl="1" marL="63976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Hybrid</a:t>
            </a:r>
            <a:endParaRPr/>
          </a:p>
          <a:p>
            <a:pPr indent="-116204" lvl="0" marL="2730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  <p:sp>
        <p:nvSpPr>
          <p:cNvPr id="226" name="Google Shape;226;p33"/>
          <p:cNvSpPr/>
          <p:nvPr/>
        </p:nvSpPr>
        <p:spPr>
          <a:xfrm>
            <a:off x="609600" y="1143000"/>
            <a:ext cx="8077200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Architectural models of distributed computing 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/>
          <p:nvPr>
            <p:ph type="title"/>
          </p:nvPr>
        </p:nvSpPr>
        <p:spPr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Client-server model</a:t>
            </a:r>
            <a:endParaRPr/>
          </a:p>
        </p:txBody>
      </p:sp>
      <p:sp>
        <p:nvSpPr>
          <p:cNvPr id="232" name="Google Shape;232;p34"/>
          <p:cNvSpPr txBox="1"/>
          <p:nvPr>
            <p:ph idx="1" type="body"/>
          </p:nvPr>
        </p:nvSpPr>
        <p:spPr>
          <a:xfrm>
            <a:off x="457200" y="1524000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The system is structured as a set of processes, called </a:t>
            </a:r>
            <a:r>
              <a:rPr lang="en-US">
                <a:solidFill>
                  <a:srgbClr val="FF0000"/>
                </a:solidFill>
              </a:rPr>
              <a:t>servers,</a:t>
            </a:r>
            <a:endParaRPr/>
          </a:p>
          <a:p>
            <a:pPr indent="-273050" lvl="0" marL="2730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 that offer services to the users, called </a:t>
            </a:r>
            <a:r>
              <a:rPr lang="en-US">
                <a:solidFill>
                  <a:srgbClr val="FF0000"/>
                </a:solidFill>
              </a:rPr>
              <a:t>clients.</a:t>
            </a:r>
            <a:endParaRPr/>
          </a:p>
          <a:p>
            <a:pPr indent="-273050" lvl="0" marL="2730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The client-server model is usually based on a simple </a:t>
            </a:r>
            <a:r>
              <a:rPr lang="en-US">
                <a:solidFill>
                  <a:srgbClr val="FF0000"/>
                </a:solidFill>
              </a:rPr>
              <a:t>request/reply</a:t>
            </a:r>
            <a:r>
              <a:rPr lang="en-US"/>
              <a:t> protocol,</a:t>
            </a:r>
            <a:endParaRPr/>
          </a:p>
          <a:p>
            <a:pPr indent="-273050" lvl="0" marL="2730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   </a:t>
            </a:r>
            <a:r>
              <a:rPr lang="en-US">
                <a:solidFill>
                  <a:srgbClr val="7030A0"/>
                </a:solidFill>
              </a:rPr>
              <a:t>Eg.</a:t>
            </a:r>
            <a:r>
              <a:rPr lang="en-US"/>
              <a:t> Implemented with send/receive primitives or using remote procedure calls </a:t>
            </a:r>
            <a:r>
              <a:rPr lang="en-US">
                <a:solidFill>
                  <a:srgbClr val="FF0000"/>
                </a:solidFill>
              </a:rPr>
              <a:t>(RPC)  </a:t>
            </a:r>
            <a:r>
              <a:rPr lang="en-US"/>
              <a:t>or remote method invocation </a:t>
            </a:r>
            <a:r>
              <a:rPr lang="en-US">
                <a:solidFill>
                  <a:srgbClr val="FF0000"/>
                </a:solidFill>
              </a:rPr>
              <a:t>(RMI</a:t>
            </a:r>
            <a:r>
              <a:rPr lang="en-US"/>
              <a:t>)</a:t>
            </a:r>
            <a:endParaRPr/>
          </a:p>
          <a:p>
            <a:pPr indent="-273050" lvl="0" marL="2730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The client sends a request (invocation) message to the server asking for some service;</a:t>
            </a:r>
            <a:endParaRPr/>
          </a:p>
          <a:p>
            <a:pPr indent="-273050" lvl="0" marL="2730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The server does the work and returns a result.</a:t>
            </a:r>
            <a:endParaRPr/>
          </a:p>
          <a:p>
            <a:pPr indent="-116204" lvl="0" marL="2730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5"/>
          <p:cNvSpPr txBox="1"/>
          <p:nvPr>
            <p:ph type="title"/>
          </p:nvPr>
        </p:nvSpPr>
        <p:spPr>
          <a:xfrm>
            <a:off x="457200" y="762000"/>
            <a:ext cx="82296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Client/Server </a:t>
            </a:r>
            <a:endParaRPr/>
          </a:p>
        </p:txBody>
      </p:sp>
      <p:sp>
        <p:nvSpPr>
          <p:cNvPr id="238" name="Google Shape;238;p35"/>
          <p:cNvSpPr txBox="1"/>
          <p:nvPr>
            <p:ph idx="1" type="body"/>
          </p:nvPr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functional decomposition </a:t>
            </a:r>
            <a:endParaRPr/>
          </a:p>
          <a:p>
            <a:pPr indent="-273050" lvl="0" marL="2730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Ex: workstations that use a mail server to exchange messages </a:t>
            </a:r>
            <a:endParaRPr/>
          </a:p>
        </p:txBody>
      </p:sp>
      <p:pic>
        <p:nvPicPr>
          <p:cNvPr id="239" name="Google Shape;23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124200"/>
            <a:ext cx="7972425" cy="310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6"/>
          <p:cNvSpPr txBox="1"/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8888"/>
              <a:buNone/>
            </a:pPr>
            <a:r>
              <a:rPr lang="en-US" sz="4000"/>
              <a:t>Multitiered Architectures </a:t>
            </a:r>
            <a:br>
              <a:rPr lang="en-US" sz="4000"/>
            </a:br>
            <a:r>
              <a:rPr lang="en-US" sz="4000"/>
              <a:t>(3 Tier Architecture)</a:t>
            </a:r>
            <a:endParaRPr/>
          </a:p>
        </p:txBody>
      </p:sp>
      <p:pic>
        <p:nvPicPr>
          <p:cNvPr descr="02-06" id="246" name="Google Shape;24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981200"/>
            <a:ext cx="8334375" cy="350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7"/>
          <p:cNvSpPr txBox="1"/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Peer-To-Peer</a:t>
            </a:r>
            <a:endParaRPr/>
          </a:p>
        </p:txBody>
      </p:sp>
      <p:sp>
        <p:nvSpPr>
          <p:cNvPr id="252" name="Google Shape;252;p37"/>
          <p:cNvSpPr txBox="1"/>
          <p:nvPr>
            <p:ph idx="1" type="body"/>
          </p:nvPr>
        </p:nvSpPr>
        <p:spPr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The “peers” are computer systems which are connected to each other via the Internet.</a:t>
            </a:r>
            <a:endParaRPr/>
          </a:p>
          <a:p>
            <a:pPr indent="-273050" lvl="0" marL="2730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 Files can be shared directly between systems on the network without the need of a central server. </a:t>
            </a:r>
            <a:endParaRPr/>
          </a:p>
          <a:p>
            <a:pPr indent="-273050" lvl="0" marL="2730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>
                <a:solidFill>
                  <a:srgbClr val="FF0000"/>
                </a:solidFill>
              </a:rPr>
              <a:t>Each computer on a P2P network becomes a file server as well as a client.</a:t>
            </a:r>
            <a:endParaRPr/>
          </a:p>
          <a:p>
            <a:pPr indent="-273050" lvl="0" marL="2730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have equal rights for initiating communication with each other, sharing resources, and validating users.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8"/>
          <p:cNvSpPr txBox="1"/>
          <p:nvPr>
            <p:ph type="title"/>
          </p:nvPr>
        </p:nvSpPr>
        <p:spPr>
          <a:xfrm>
            <a:off x="609600" y="685800"/>
            <a:ext cx="82296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Peer-to-peer</a:t>
            </a:r>
            <a:endParaRPr/>
          </a:p>
        </p:txBody>
      </p:sp>
      <p:sp>
        <p:nvSpPr>
          <p:cNvPr id="258" name="Google Shape;258;p38"/>
          <p:cNvSpPr txBox="1"/>
          <p:nvPr>
            <p:ph idx="1" type="body"/>
          </p:nvPr>
        </p:nvSpPr>
        <p:spPr>
          <a:xfrm>
            <a:off x="457200" y="11430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physical decomposition into identical components   Ex: the exchange of mail messages among hosts</a:t>
            </a:r>
            <a:endParaRPr/>
          </a:p>
        </p:txBody>
      </p:sp>
      <p:pic>
        <p:nvPicPr>
          <p:cNvPr id="259" name="Google Shape;25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2381250"/>
            <a:ext cx="5581650" cy="424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9"/>
          <p:cNvSpPr txBox="1"/>
          <p:nvPr>
            <p:ph type="title"/>
          </p:nvPr>
        </p:nvSpPr>
        <p:spPr>
          <a:xfrm>
            <a:off x="457200" y="704850"/>
            <a:ext cx="82296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Hybrid</a:t>
            </a:r>
            <a:endParaRPr/>
          </a:p>
        </p:txBody>
      </p:sp>
      <p:sp>
        <p:nvSpPr>
          <p:cNvPr id="265" name="Google Shape;265;p39"/>
          <p:cNvSpPr txBox="1"/>
          <p:nvPr>
            <p:ph idx="1" type="body"/>
          </p:nvPr>
        </p:nvSpPr>
        <p:spPr>
          <a:xfrm>
            <a:off x="152400" y="1295400"/>
            <a:ext cx="8763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80"/>
              <a:buChar char="⚫"/>
            </a:pPr>
            <a:r>
              <a:rPr lang="en-US" sz="2400"/>
              <a:t>physical and functional decomposition                                            Ex: a collection of servers provide a service for some of the clients</a:t>
            </a:r>
            <a:endParaRPr/>
          </a:p>
        </p:txBody>
      </p:sp>
      <p:pic>
        <p:nvPicPr>
          <p:cNvPr id="266" name="Google Shape;26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2438400"/>
            <a:ext cx="6205538" cy="4313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0"/>
          <p:cNvSpPr txBox="1"/>
          <p:nvPr>
            <p:ph type="title"/>
          </p:nvPr>
        </p:nvSpPr>
        <p:spPr>
          <a:xfrm>
            <a:off x="457200" y="91440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Parallel Computing</a:t>
            </a:r>
            <a:endParaRPr/>
          </a:p>
        </p:txBody>
      </p:sp>
      <p:sp>
        <p:nvSpPr>
          <p:cNvPr id="272" name="Google Shape;272;p40"/>
          <p:cNvSpPr txBox="1"/>
          <p:nvPr>
            <p:ph idx="1" type="body"/>
          </p:nvPr>
        </p:nvSpPr>
        <p:spPr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Parallel computing refers to the </a:t>
            </a:r>
            <a:r>
              <a:rPr b="1" lang="en-US"/>
              <a:t>process of breaking down larger problems into smaller, independent</a:t>
            </a:r>
            <a:r>
              <a:rPr lang="en-US"/>
              <a:t>, often similar parts that can be executed simultaneously by multiple processors communicating via shared memory, the results of which are combined upon completion as part of an overall task.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Distributed vs. Parallel Computing 2. Related Work. The first widely... |  Download Scientific Diagram" id="277" name="Google Shape;277;p4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arallel versus distributed computing - Distributed Computing in Java 9" id="278" name="Google Shape;27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295400"/>
            <a:ext cx="7239000" cy="44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41"/>
          <p:cNvSpPr txBox="1"/>
          <p:nvPr/>
        </p:nvSpPr>
        <p:spPr>
          <a:xfrm>
            <a:off x="1066800" y="6019800"/>
            <a:ext cx="3124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Distributed memory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41"/>
          <p:cNvSpPr txBox="1"/>
          <p:nvPr/>
        </p:nvSpPr>
        <p:spPr>
          <a:xfrm>
            <a:off x="5257800" y="5105400"/>
            <a:ext cx="2362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Shared memory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2"/>
          <p:cNvSpPr txBox="1"/>
          <p:nvPr>
            <p:ph type="title"/>
          </p:nvPr>
        </p:nvSpPr>
        <p:spPr>
          <a:xfrm>
            <a:off x="609600" y="990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Collaborative </a:t>
            </a:r>
            <a:br>
              <a:rPr lang="en-US"/>
            </a:br>
            <a:endParaRPr/>
          </a:p>
        </p:txBody>
      </p:sp>
      <p:sp>
        <p:nvSpPr>
          <p:cNvPr id="286" name="Google Shape;286;p42"/>
          <p:cNvSpPr txBox="1"/>
          <p:nvPr>
            <p:ph idx="1" type="body"/>
          </p:nvPr>
        </p:nvSpPr>
        <p:spPr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diverse collection of information technologies designed to support work between individuals. </a:t>
            </a:r>
            <a:endParaRPr/>
          </a:p>
          <a:p>
            <a:pPr indent="-273050" lvl="0" marL="27305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These kinds of technologies </a:t>
            </a:r>
            <a:r>
              <a:rPr lang="en-US">
                <a:solidFill>
                  <a:srgbClr val="FF0000"/>
                </a:solidFill>
              </a:rPr>
              <a:t>retrieve</a:t>
            </a:r>
            <a:r>
              <a:rPr lang="en-US"/>
              <a:t> and </a:t>
            </a:r>
            <a:r>
              <a:rPr lang="en-US">
                <a:solidFill>
                  <a:srgbClr val="FF0000"/>
                </a:solidFill>
              </a:rPr>
              <a:t>share</a:t>
            </a:r>
            <a:r>
              <a:rPr lang="en-US"/>
              <a:t> data with the individuals working together, who can then </a:t>
            </a:r>
            <a:r>
              <a:rPr lang="en-US">
                <a:solidFill>
                  <a:srgbClr val="FF0000"/>
                </a:solidFill>
              </a:rPr>
              <a:t>update or annotate </a:t>
            </a:r>
            <a:r>
              <a:rPr lang="en-US"/>
              <a:t>it as needed.</a:t>
            </a:r>
            <a:endParaRPr/>
          </a:p>
          <a:p>
            <a:pPr indent="-273050" lvl="0" marL="2730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3050" lvl="0" marL="2730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 Collaborative Computing Group · GitHub</a:t>
            </a:r>
            <a:endParaRPr u="sng">
              <a:solidFill>
                <a:schemeClr val="hlink"/>
              </a:solidFill>
              <a:hlinkClick r:id="rId4"/>
            </a:endParaRPr>
          </a:p>
          <a:p>
            <a:pPr indent="-273050" lvl="0" marL="2730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