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akKhQ3PD6uUWcGR4qsMxZdaLb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9" name="Google Shape;39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5" name="Google Shape;45;p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2" name="Google Shape;52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3" name="Google Shape;53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4" name="Google Shape;54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eeksforgeeks.org/sql-transaction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geeksforgeeks.org/sql-transaction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Distributed Transactions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Notes adapted from Tanenbaum’s “Distributed Systems Principles and Paradigms”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457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Distributed Transactions are a type of transaction that spans multiple systems or databases in a distributed computing environment.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 They ensure that a group of related operations are either all completed successfully or all rolled back to maintain data consistency and integrity.</a:t>
            </a:r>
            <a:endParaRPr/>
          </a:p>
        </p:txBody>
      </p:sp>
      <p:sp>
        <p:nvSpPr>
          <p:cNvPr id="97" name="Google Shape;97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457200"/>
            <a:ext cx="8229600" cy="566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Transactions – Commands</a:t>
            </a:r>
            <a:r>
              <a:rPr b="1" lang="en-US"/>
              <a:t> 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/>
              <a:t>Begin </a:t>
            </a:r>
            <a:br>
              <a:rPr lang="en-US"/>
            </a:br>
            <a:r>
              <a:rPr lang="en-US"/>
              <a:t>initiate a new transaction.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/>
              <a:t>Commit </a:t>
            </a:r>
            <a:r>
              <a:rPr lang="en-US"/>
              <a:t> </a:t>
            </a:r>
            <a:br>
              <a:rPr lang="en-US"/>
            </a:br>
            <a:r>
              <a:rPr lang="en-US"/>
              <a:t>End a transaction and the changes made during the transaction are saved. Also, it allows other transactions to see the modifications you’ve made.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/>
              <a:t>Abort </a:t>
            </a:r>
            <a:br>
              <a:rPr lang="en-US"/>
            </a:br>
            <a:r>
              <a:rPr lang="en-US"/>
              <a:t>End a transaction and all changes made during the transaction will be undone.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609600" y="3810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Transactions – Roles</a:t>
            </a:r>
            <a:r>
              <a:rPr b="1" lang="en-US"/>
              <a:t> 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/>
              <a:t>Client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The transactions are issued by the clients.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Coordinator </a:t>
            </a:r>
            <a:br>
              <a:rPr lang="en-US" sz="2800"/>
            </a:br>
            <a:r>
              <a:rPr lang="en-US" sz="2800"/>
              <a:t>The execution of the entire transaction is controlled by it (handles Begin, commit &amp; abort).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Server 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    Every component that accesses or modifies a resource is subject to transaction control. The coordinator must be known by the transactional server. The transactional server registers its participation in a transaction with the coordinator.</a:t>
            </a:r>
            <a:endParaRPr/>
          </a:p>
        </p:txBody>
      </p:sp>
      <p:sp>
        <p:nvSpPr>
          <p:cNvPr id="111" name="Google Shape;111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609600" y="0"/>
            <a:ext cx="8229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 flat or nested transaction that accesses objects handled by different servers is referred to as a distributed transaction.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When a distributed transaction reaches its end, in order to maintain the atomicity property of the transaction , it is mandatory that all of the servers involved in the transaction either commit the transaction or abort it.  </a:t>
            </a:r>
            <a:endParaRPr/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To do this, one of the servers takes on the job of coordinator, which entails ensuring that the same outcome is achieved across all servers. </a:t>
            </a:r>
            <a:endParaRPr/>
          </a:p>
        </p:txBody>
      </p:sp>
      <p:sp>
        <p:nvSpPr>
          <p:cNvPr id="118" name="Google Shape;118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457200" y="2286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The method by which the coordinator accomplishes this is determined by the protocol selected. The most widely used protocol is the </a:t>
            </a:r>
            <a:r>
              <a:rPr lang="en-US" u="sng"/>
              <a:t>‘</a:t>
            </a:r>
            <a:r>
              <a:rPr b="1" lang="en-US" u="sng">
                <a:solidFill>
                  <a:srgbClr val="FF0000"/>
                </a:solidFill>
              </a:rPr>
              <a:t>two-phase commit protocol</a:t>
            </a:r>
            <a:r>
              <a:rPr b="1" lang="en-US">
                <a:solidFill>
                  <a:srgbClr val="FF0000"/>
                </a:solidFill>
              </a:rPr>
              <a:t>.’</a:t>
            </a:r>
            <a:r>
              <a:rPr lang="en-US"/>
              <a:t> This protocol enables the servers to communicate with one another in order to come to a joint decision on whether to commit or abort the complete transaction. </a:t>
            </a:r>
            <a:endParaRPr/>
          </a:p>
        </p:txBody>
      </p:sp>
      <p:sp>
        <p:nvSpPr>
          <p:cNvPr id="125" name="Google Shape;125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457200" y="2971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STUDY</a:t>
            </a:r>
            <a:endParaRPr/>
          </a:p>
        </p:txBody>
      </p:sp>
      <p:sp>
        <p:nvSpPr>
          <p:cNvPr id="132" name="Google Shape;132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33" name="Google Shape;133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Hypothetical Web Service Transaction</a:t>
            </a:r>
            <a:endParaRPr/>
          </a:p>
        </p:txBody>
      </p:sp>
      <p:sp>
        <p:nvSpPr>
          <p:cNvPr id="141" name="Google Shape;14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Begin transaction BookTrip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         book plane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         book hotel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         book rental car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End transaction BookTrip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47" name="Google Shape;147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Transactions (ACID)</a:t>
            </a:r>
            <a:endParaRPr/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Atomic</a:t>
            </a:r>
            <a:r>
              <a:rPr lang="en-US" sz="2800"/>
              <a:t>: All or nothing. No intermediate states are visible.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Consistent</a:t>
            </a:r>
            <a:r>
              <a:rPr lang="en-US" sz="2800"/>
              <a:t>: system invariants preserved, e.g., if there were n dollars in a bank before a transfer transaction then there will be n dollars in the bank after the transfer.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Isolated</a:t>
            </a:r>
            <a:r>
              <a:rPr lang="en-US" sz="2800"/>
              <a:t>: Two transactions do not interfere with each other. They appear as serial executions.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Durable</a:t>
            </a:r>
            <a:r>
              <a:rPr lang="en-US" sz="2800"/>
              <a:t>: The commit causes a permanent change.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55" name="Google Shape;155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Client talks to coordinator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1066800" y="2209800"/>
            <a:ext cx="1779588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51054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cxnSp>
        <p:nvCxnSpPr>
          <p:cNvPr id="163" name="Google Shape;163;p10"/>
          <p:cNvCxnSpPr/>
          <p:nvPr/>
        </p:nvCxnSpPr>
        <p:spPr>
          <a:xfrm rot="10800000">
            <a:off x="1295400" y="3048000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10"/>
          <p:cNvSpPr txBox="1"/>
          <p:nvPr/>
        </p:nvSpPr>
        <p:spPr>
          <a:xfrm>
            <a:off x="288925" y="3541713"/>
            <a:ext cx="1276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openTrans</a:t>
            </a:r>
            <a:endParaRPr/>
          </a:p>
        </p:txBody>
      </p:sp>
      <p:cxnSp>
        <p:nvCxnSpPr>
          <p:cNvPr id="165" name="Google Shape;165;p10"/>
          <p:cNvCxnSpPr/>
          <p:nvPr/>
        </p:nvCxnSpPr>
        <p:spPr>
          <a:xfrm>
            <a:off x="2209800" y="3048000"/>
            <a:ext cx="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0"/>
          <p:cNvSpPr txBox="1"/>
          <p:nvPr/>
        </p:nvSpPr>
        <p:spPr>
          <a:xfrm>
            <a:off x="2133600" y="3505200"/>
            <a:ext cx="2457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 Transaction 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TID</a:t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1584325" y="5141913"/>
            <a:ext cx="2870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TID = openTransaction() 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5775325" y="4456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rent a car.</a:t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1050925" y="1865313"/>
            <a:ext cx="1365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server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77" name="Google Shape;1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Client calls methods </a:t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1066800" y="2209800"/>
            <a:ext cx="1779588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51054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cxnSp>
        <p:nvCxnSpPr>
          <p:cNvPr id="187" name="Google Shape;187;p11"/>
          <p:cNvCxnSpPr/>
          <p:nvPr/>
        </p:nvCxnSpPr>
        <p:spPr>
          <a:xfrm flipH="1" rot="10800000">
            <a:off x="2057400" y="2667000"/>
            <a:ext cx="3810000" cy="251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11"/>
          <p:cNvSpPr txBox="1"/>
          <p:nvPr/>
        </p:nvSpPr>
        <p:spPr>
          <a:xfrm>
            <a:off x="2574925" y="3922713"/>
            <a:ext cx="12065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+ TID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1736725" y="5218113"/>
            <a:ext cx="3917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plane.bookFlight(111,”Seat32A”,TID)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1127125" y="1789113"/>
            <a:ext cx="1365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server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5775325" y="4456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rent a car.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197" name="Google Shape;197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cxnSp>
        <p:nvCxnSpPr>
          <p:cNvPr id="207" name="Google Shape;207;p12"/>
          <p:cNvCxnSpPr/>
          <p:nvPr/>
        </p:nvCxnSpPr>
        <p:spPr>
          <a:xfrm rot="10800000">
            <a:off x="5410200" y="2438400"/>
            <a:ext cx="381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 informs participant 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4479925" y="4913313"/>
            <a:ext cx="4349750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participant knows where the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 is because that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can be included 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TID (eg. an IP address.)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coordinator now has a pointer to the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participant.</a:t>
            </a:r>
            <a:endParaRPr/>
          </a:p>
        </p:txBody>
      </p:sp>
      <p:cxnSp>
        <p:nvCxnSpPr>
          <p:cNvPr id="210" name="Google Shape;210;p12"/>
          <p:cNvCxnSpPr/>
          <p:nvPr/>
        </p:nvCxnSpPr>
        <p:spPr>
          <a:xfrm flipH="1" rot="10800000">
            <a:off x="2743200" y="2819400"/>
            <a:ext cx="304800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12"/>
          <p:cNvSpPr txBox="1"/>
          <p:nvPr/>
        </p:nvSpPr>
        <p:spPr>
          <a:xfrm>
            <a:off x="6915150" y="1143000"/>
            <a:ext cx="2228850" cy="91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participant only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calls join if it has not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already done so.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812925" y="2932113"/>
            <a:ext cx="2762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join(TID,ref to participant)</a:t>
            </a:r>
            <a:endParaRPr/>
          </a:p>
        </p:txBody>
      </p:sp>
      <p:cxnSp>
        <p:nvCxnSpPr>
          <p:cNvPr id="213" name="Google Shape;213;p12"/>
          <p:cNvCxnSpPr/>
          <p:nvPr/>
        </p:nvCxnSpPr>
        <p:spPr>
          <a:xfrm flipH="1">
            <a:off x="3200400" y="2286000"/>
            <a:ext cx="18288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12"/>
          <p:cNvCxnSpPr/>
          <p:nvPr/>
        </p:nvCxnSpPr>
        <p:spPr>
          <a:xfrm flipH="1">
            <a:off x="2819400" y="2895600"/>
            <a:ext cx="3048000" cy="251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223" name="Google Shape;223;p13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225" name="Google Shape;225;p13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990600" y="4114800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229" name="Google Shape;229;p13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sp>
        <p:nvSpPr>
          <p:cNvPr id="230" name="Google Shape;23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Suppose all goes well (1) </a:t>
            </a:r>
            <a:endParaRPr/>
          </a:p>
        </p:txBody>
      </p:sp>
      <p:cxnSp>
        <p:nvCxnSpPr>
          <p:cNvPr id="231" name="Google Shape;231;p13"/>
          <p:cNvCxnSpPr/>
          <p:nvPr/>
        </p:nvCxnSpPr>
        <p:spPr>
          <a:xfrm flipH="1" rot="10800000">
            <a:off x="2743200" y="2819400"/>
            <a:ext cx="304800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13"/>
          <p:cNvCxnSpPr/>
          <p:nvPr/>
        </p:nvCxnSpPr>
        <p:spPr>
          <a:xfrm flipH="1">
            <a:off x="2743200" y="2971800"/>
            <a:ext cx="304800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13"/>
          <p:cNvCxnSpPr/>
          <p:nvPr/>
        </p:nvCxnSpPr>
        <p:spPr>
          <a:xfrm flipH="1" rot="10800000">
            <a:off x="2743200" y="3505200"/>
            <a:ext cx="2971800" cy="21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13"/>
          <p:cNvCxnSpPr/>
          <p:nvPr/>
        </p:nvCxnSpPr>
        <p:spPr>
          <a:xfrm flipH="1">
            <a:off x="2743200" y="3657600"/>
            <a:ext cx="2971800" cy="220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13"/>
          <p:cNvCxnSpPr/>
          <p:nvPr/>
        </p:nvCxnSpPr>
        <p:spPr>
          <a:xfrm flipH="1" rot="10800000">
            <a:off x="2743200" y="4419600"/>
            <a:ext cx="31242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13"/>
          <p:cNvCxnSpPr/>
          <p:nvPr/>
        </p:nvCxnSpPr>
        <p:spPr>
          <a:xfrm flipH="1">
            <a:off x="2743200" y="4724400"/>
            <a:ext cx="31242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13"/>
          <p:cNvSpPr txBox="1"/>
          <p:nvPr/>
        </p:nvSpPr>
        <p:spPr>
          <a:xfrm>
            <a:off x="1584325" y="51419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1584325" y="55991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1660525" y="61325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240" name="Google Shape;240;p13"/>
          <p:cNvSpPr txBox="1"/>
          <p:nvPr/>
        </p:nvSpPr>
        <p:spPr>
          <a:xfrm>
            <a:off x="5851525" y="43799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rent a car.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254" name="Google Shape;254;p14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sp>
        <p:nvSpPr>
          <p:cNvPr id="255" name="Google Shape;25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Suppose all goes well (2) 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1584325" y="51419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1600200" y="5486400"/>
            <a:ext cx="1428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1600200" y="5867400"/>
            <a:ext cx="1428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1050925" y="6288088"/>
            <a:ext cx="4518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CloseTransaction(TID) Called </a:t>
            </a:r>
            <a:endParaRPr/>
          </a:p>
        </p:txBody>
      </p:sp>
      <p:cxnSp>
        <p:nvCxnSpPr>
          <p:cNvPr id="260" name="Google Shape;260;p14"/>
          <p:cNvCxnSpPr/>
          <p:nvPr/>
        </p:nvCxnSpPr>
        <p:spPr>
          <a:xfrm rot="10800000">
            <a:off x="1752600" y="3505200"/>
            <a:ext cx="0" cy="281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14"/>
          <p:cNvSpPr txBox="1"/>
          <p:nvPr/>
        </p:nvSpPr>
        <p:spPr>
          <a:xfrm>
            <a:off x="1812925" y="3160713"/>
            <a:ext cx="26098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 begins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2PC and this results 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GLOBAL COMMIT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 to each participant.</a:t>
            </a:r>
            <a:endParaRPr/>
          </a:p>
        </p:txBody>
      </p:sp>
      <p:cxnSp>
        <p:nvCxnSpPr>
          <p:cNvPr id="262" name="Google Shape;262;p14"/>
          <p:cNvCxnSpPr/>
          <p:nvPr/>
        </p:nvCxnSpPr>
        <p:spPr>
          <a:xfrm flipH="1" rot="10800000">
            <a:off x="4191000" y="2438400"/>
            <a:ext cx="838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14"/>
          <p:cNvCxnSpPr/>
          <p:nvPr/>
        </p:nvCxnSpPr>
        <p:spPr>
          <a:xfrm>
            <a:off x="4191000" y="32766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14"/>
          <p:cNvCxnSpPr/>
          <p:nvPr/>
        </p:nvCxnSpPr>
        <p:spPr>
          <a:xfrm>
            <a:off x="4267200" y="3276600"/>
            <a:ext cx="6858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14"/>
          <p:cNvSpPr txBox="1"/>
          <p:nvPr/>
        </p:nvSpPr>
        <p:spPr>
          <a:xfrm>
            <a:off x="5775325" y="4456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rent a car.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275" name="Google Shape;275;p15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sp>
        <p:nvSpPr>
          <p:cNvPr id="280" name="Google Shape;28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time no cars available (1)</a:t>
            </a:r>
            <a:endParaRPr/>
          </a:p>
        </p:txBody>
      </p:sp>
      <p:cxnSp>
        <p:nvCxnSpPr>
          <p:cNvPr id="281" name="Google Shape;281;p15"/>
          <p:cNvCxnSpPr/>
          <p:nvPr/>
        </p:nvCxnSpPr>
        <p:spPr>
          <a:xfrm flipH="1" rot="10800000">
            <a:off x="2743200" y="2819400"/>
            <a:ext cx="304800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15"/>
          <p:cNvCxnSpPr/>
          <p:nvPr/>
        </p:nvCxnSpPr>
        <p:spPr>
          <a:xfrm flipH="1">
            <a:off x="2743200" y="2971800"/>
            <a:ext cx="304800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15"/>
          <p:cNvCxnSpPr/>
          <p:nvPr/>
        </p:nvCxnSpPr>
        <p:spPr>
          <a:xfrm flipH="1" rot="10800000">
            <a:off x="2743200" y="3505200"/>
            <a:ext cx="2971800" cy="21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15"/>
          <p:cNvCxnSpPr/>
          <p:nvPr/>
        </p:nvCxnSpPr>
        <p:spPr>
          <a:xfrm flipH="1">
            <a:off x="2743200" y="3657600"/>
            <a:ext cx="2971800" cy="220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15"/>
          <p:cNvCxnSpPr/>
          <p:nvPr/>
        </p:nvCxnSpPr>
        <p:spPr>
          <a:xfrm flipH="1" rot="10800000">
            <a:off x="2743200" y="4419600"/>
            <a:ext cx="31242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15"/>
          <p:cNvCxnSpPr/>
          <p:nvPr/>
        </p:nvCxnSpPr>
        <p:spPr>
          <a:xfrm flipH="1">
            <a:off x="2743200" y="4724400"/>
            <a:ext cx="31242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15"/>
          <p:cNvSpPr txBox="1"/>
          <p:nvPr/>
        </p:nvSpPr>
        <p:spPr>
          <a:xfrm>
            <a:off x="1584325" y="51419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1584325" y="55991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1600200" y="6096000"/>
            <a:ext cx="1936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CARS AVAIL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1050925" y="6288088"/>
            <a:ext cx="4314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abortTransaction(TID) called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5851525" y="4456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rent a car.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sp>
        <p:nvSpPr>
          <p:cNvPr id="306" name="Google Shape;30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time no cars available (2)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1584325" y="51419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1584325" y="55991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1600200" y="6096000"/>
            <a:ext cx="1936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CARS AVAIL</a:t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1050925" y="6288088"/>
            <a:ext cx="4314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abortTransaction(TID) called</a:t>
            </a:r>
            <a:endParaRPr/>
          </a:p>
        </p:txBody>
      </p:sp>
      <p:cxnSp>
        <p:nvCxnSpPr>
          <p:cNvPr id="311" name="Google Shape;311;p16"/>
          <p:cNvCxnSpPr/>
          <p:nvPr/>
        </p:nvCxnSpPr>
        <p:spPr>
          <a:xfrm rot="10800000">
            <a:off x="1371600" y="3581400"/>
            <a:ext cx="0" cy="274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16"/>
          <p:cNvSpPr txBox="1"/>
          <p:nvPr/>
        </p:nvSpPr>
        <p:spPr>
          <a:xfrm>
            <a:off x="1584325" y="3313113"/>
            <a:ext cx="25590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 sends 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GLOBAL_ABORT to all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particpants</a:t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5775325" y="4456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rent a car.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5775325" y="2322513"/>
            <a:ext cx="2673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ROLLBACK CHANGES</a:t>
            </a:r>
            <a:endParaRPr/>
          </a:p>
        </p:txBody>
      </p:sp>
      <p:sp>
        <p:nvSpPr>
          <p:cNvPr id="327" name="Google Shape;327;p17"/>
          <p:cNvSpPr txBox="1"/>
          <p:nvPr/>
        </p:nvSpPr>
        <p:spPr>
          <a:xfrm>
            <a:off x="5775325" y="3313113"/>
            <a:ext cx="2673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ROLLBACK CHANGES</a:t>
            </a:r>
            <a:endParaRPr/>
          </a:p>
        </p:txBody>
      </p:sp>
      <p:sp>
        <p:nvSpPr>
          <p:cNvPr id="328" name="Google Shape;32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time no cars available (3)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1584325" y="51419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1584325" y="55991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1600200" y="6096000"/>
            <a:ext cx="2000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CARS AVAIL 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1050925" y="6288088"/>
            <a:ext cx="336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abortTransaction(TID)</a:t>
            </a:r>
            <a:endParaRPr/>
          </a:p>
        </p:txBody>
      </p:sp>
      <p:cxnSp>
        <p:nvCxnSpPr>
          <p:cNvPr id="333" name="Google Shape;333;p17"/>
          <p:cNvCxnSpPr/>
          <p:nvPr/>
        </p:nvCxnSpPr>
        <p:spPr>
          <a:xfrm rot="10800000">
            <a:off x="1676400" y="3276600"/>
            <a:ext cx="0" cy="289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17"/>
          <p:cNvSpPr txBox="1"/>
          <p:nvPr/>
        </p:nvSpPr>
        <p:spPr>
          <a:xfrm>
            <a:off x="1660525" y="3084513"/>
            <a:ext cx="1962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abortTransaction </a:t>
            </a:r>
            <a:endParaRPr/>
          </a:p>
        </p:txBody>
      </p:sp>
      <p:cxnSp>
        <p:nvCxnSpPr>
          <p:cNvPr id="335" name="Google Shape;335;p17"/>
          <p:cNvCxnSpPr/>
          <p:nvPr/>
        </p:nvCxnSpPr>
        <p:spPr>
          <a:xfrm flipH="1" rot="10800000">
            <a:off x="2209800" y="2286000"/>
            <a:ext cx="27432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17"/>
          <p:cNvCxnSpPr/>
          <p:nvPr/>
        </p:nvCxnSpPr>
        <p:spPr>
          <a:xfrm flipH="1" rot="10800000">
            <a:off x="2209800" y="3200400"/>
            <a:ext cx="2819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17"/>
          <p:cNvCxnSpPr/>
          <p:nvPr/>
        </p:nvCxnSpPr>
        <p:spPr>
          <a:xfrm>
            <a:off x="2209800" y="3505200"/>
            <a:ext cx="2819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17"/>
          <p:cNvSpPr txBox="1"/>
          <p:nvPr/>
        </p:nvSpPr>
        <p:spPr>
          <a:xfrm>
            <a:off x="2133600" y="3581400"/>
            <a:ext cx="27495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participant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 a GLOBAL_ABORT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5775325" y="4379913"/>
            <a:ext cx="2673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ROLLBACK CHANGES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345" name="Google Shape;345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990600" y="4114800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353" name="Google Shape;353;p18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354" name="Google Shape;354;p18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BookPlane Server Crashes after returning ‘OK’ (1)</a:t>
            </a:r>
            <a:endParaRPr/>
          </a:p>
        </p:txBody>
      </p:sp>
      <p:cxnSp>
        <p:nvCxnSpPr>
          <p:cNvPr id="356" name="Google Shape;356;p18"/>
          <p:cNvCxnSpPr/>
          <p:nvPr/>
        </p:nvCxnSpPr>
        <p:spPr>
          <a:xfrm flipH="1" rot="10800000">
            <a:off x="2743200" y="2819400"/>
            <a:ext cx="304800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18"/>
          <p:cNvCxnSpPr/>
          <p:nvPr/>
        </p:nvCxnSpPr>
        <p:spPr>
          <a:xfrm flipH="1">
            <a:off x="2743200" y="2971800"/>
            <a:ext cx="3048000" cy="243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18"/>
          <p:cNvCxnSpPr/>
          <p:nvPr/>
        </p:nvCxnSpPr>
        <p:spPr>
          <a:xfrm flipH="1" rot="10800000">
            <a:off x="2743200" y="3505200"/>
            <a:ext cx="2971800" cy="21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18"/>
          <p:cNvCxnSpPr/>
          <p:nvPr/>
        </p:nvCxnSpPr>
        <p:spPr>
          <a:xfrm flipH="1">
            <a:off x="2743200" y="3657600"/>
            <a:ext cx="2971800" cy="220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18"/>
          <p:cNvCxnSpPr/>
          <p:nvPr/>
        </p:nvCxnSpPr>
        <p:spPr>
          <a:xfrm flipH="1" rot="10800000">
            <a:off x="2743200" y="4419600"/>
            <a:ext cx="31242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18"/>
          <p:cNvCxnSpPr/>
          <p:nvPr/>
        </p:nvCxnSpPr>
        <p:spPr>
          <a:xfrm flipH="1">
            <a:off x="2743200" y="4724400"/>
            <a:ext cx="31242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18"/>
          <p:cNvSpPr txBox="1"/>
          <p:nvPr/>
        </p:nvSpPr>
        <p:spPr>
          <a:xfrm>
            <a:off x="1584325" y="51419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1584325" y="55991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1660525" y="61325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5775325" y="43799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rent a car.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374" name="Google Shape;374;p19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375" name="Google Shape;375;p19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376" name="Google Shape;376;p19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377" name="Google Shape;377;p19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378" name="Google Shape;378;p19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5775325" y="3313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hotel.</a:t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BookPlane Server Crashes after returning ‘OK’ (2)</a:t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1584325" y="51419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1600200" y="5486400"/>
            <a:ext cx="1428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1600200" y="5867400"/>
            <a:ext cx="1428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1050925" y="6288088"/>
            <a:ext cx="4518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CloseTransaction(TID) Called </a:t>
            </a:r>
            <a:endParaRPr/>
          </a:p>
        </p:txBody>
      </p:sp>
      <p:cxnSp>
        <p:nvCxnSpPr>
          <p:cNvPr id="385" name="Google Shape;385;p19"/>
          <p:cNvCxnSpPr/>
          <p:nvPr/>
        </p:nvCxnSpPr>
        <p:spPr>
          <a:xfrm rot="10800000">
            <a:off x="1524000" y="3505200"/>
            <a:ext cx="0" cy="281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" name="Google Shape;386;p19"/>
          <p:cNvSpPr txBox="1"/>
          <p:nvPr/>
        </p:nvSpPr>
        <p:spPr>
          <a:xfrm>
            <a:off x="1524000" y="3124200"/>
            <a:ext cx="3143250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 excutes 2PC: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everyone to vote.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news from the BookPlane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Participant so multicast 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ABORT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19"/>
          <p:cNvCxnSpPr/>
          <p:nvPr/>
        </p:nvCxnSpPr>
        <p:spPr>
          <a:xfrm flipH="1">
            <a:off x="5181600" y="1981200"/>
            <a:ext cx="26670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19"/>
          <p:cNvCxnSpPr/>
          <p:nvPr/>
        </p:nvCxnSpPr>
        <p:spPr>
          <a:xfrm>
            <a:off x="5181600" y="1981200"/>
            <a:ext cx="27432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19"/>
          <p:cNvCxnSpPr/>
          <p:nvPr/>
        </p:nvCxnSpPr>
        <p:spPr>
          <a:xfrm>
            <a:off x="5486400" y="1981200"/>
            <a:ext cx="23622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19"/>
          <p:cNvCxnSpPr/>
          <p:nvPr/>
        </p:nvCxnSpPr>
        <p:spPr>
          <a:xfrm flipH="1">
            <a:off x="5029200" y="1905000"/>
            <a:ext cx="26670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19"/>
          <p:cNvSpPr txBox="1"/>
          <p:nvPr/>
        </p:nvSpPr>
        <p:spPr>
          <a:xfrm>
            <a:off x="5775325" y="44561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rent a car.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0"/>
          <p:cNvSpPr txBox="1"/>
          <p:nvPr/>
        </p:nvSpPr>
        <p:spPr>
          <a:xfrm>
            <a:off x="1066800" y="2209800"/>
            <a:ext cx="19272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</a:t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4953000" y="1981200"/>
            <a:ext cx="31861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 Participant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5029200" y="2971800"/>
            <a:ext cx="3117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 Participant</a:t>
            </a:r>
            <a:endParaRPr/>
          </a:p>
        </p:txBody>
      </p:sp>
      <p:sp>
        <p:nvSpPr>
          <p:cNvPr id="401" name="Google Shape;401;p20"/>
          <p:cNvSpPr txBox="1"/>
          <p:nvPr/>
        </p:nvSpPr>
        <p:spPr>
          <a:xfrm>
            <a:off x="5029200" y="3962400"/>
            <a:ext cx="3779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 Participant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4937125" y="1560513"/>
            <a:ext cx="2000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servers</a:t>
            </a:r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1066800" y="4575175"/>
            <a:ext cx="2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 Client</a:t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5775325" y="2322513"/>
            <a:ext cx="3079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Recoverable objects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book a plane </a:t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5775325" y="3313113"/>
            <a:ext cx="1466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ROLLBACK</a:t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BookPlane Server Crashes after returning ‘OK’ (3)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1584325" y="5141913"/>
            <a:ext cx="1428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1600200" y="5486400"/>
            <a:ext cx="1428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1600200" y="5867400"/>
            <a:ext cx="1428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 returned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1050925" y="6288088"/>
            <a:ext cx="4518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CloseTransaction(TID) Called </a:t>
            </a:r>
            <a:endParaRPr/>
          </a:p>
        </p:txBody>
      </p:sp>
      <p:cxnSp>
        <p:nvCxnSpPr>
          <p:cNvPr id="411" name="Google Shape;411;p20"/>
          <p:cNvCxnSpPr/>
          <p:nvPr/>
        </p:nvCxnSpPr>
        <p:spPr>
          <a:xfrm rot="10800000">
            <a:off x="1524000" y="3505200"/>
            <a:ext cx="0" cy="281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20"/>
          <p:cNvCxnSpPr/>
          <p:nvPr/>
        </p:nvCxnSpPr>
        <p:spPr>
          <a:xfrm flipH="1">
            <a:off x="5181600" y="1981200"/>
            <a:ext cx="26670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20"/>
          <p:cNvCxnSpPr/>
          <p:nvPr/>
        </p:nvCxnSpPr>
        <p:spPr>
          <a:xfrm>
            <a:off x="5181600" y="1981200"/>
            <a:ext cx="27432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0"/>
          <p:cNvCxnSpPr/>
          <p:nvPr/>
        </p:nvCxnSpPr>
        <p:spPr>
          <a:xfrm>
            <a:off x="5486400" y="1981200"/>
            <a:ext cx="23622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0"/>
          <p:cNvCxnSpPr/>
          <p:nvPr/>
        </p:nvCxnSpPr>
        <p:spPr>
          <a:xfrm flipH="1">
            <a:off x="5029200" y="1905000"/>
            <a:ext cx="26670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20"/>
          <p:cNvSpPr txBox="1"/>
          <p:nvPr/>
        </p:nvSpPr>
        <p:spPr>
          <a:xfrm>
            <a:off x="5775325" y="4456113"/>
            <a:ext cx="1466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ROLLBACK</a:t>
            </a:r>
            <a:endParaRPr/>
          </a:p>
        </p:txBody>
      </p:sp>
      <p:cxnSp>
        <p:nvCxnSpPr>
          <p:cNvPr id="417" name="Google Shape;417;p20"/>
          <p:cNvCxnSpPr/>
          <p:nvPr/>
        </p:nvCxnSpPr>
        <p:spPr>
          <a:xfrm flipH="1" rot="10800000">
            <a:off x="2667000" y="2667000"/>
            <a:ext cx="21336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20"/>
          <p:cNvCxnSpPr/>
          <p:nvPr/>
        </p:nvCxnSpPr>
        <p:spPr>
          <a:xfrm flipH="1" rot="10800000">
            <a:off x="2667000" y="3276600"/>
            <a:ext cx="2133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20"/>
          <p:cNvCxnSpPr/>
          <p:nvPr/>
        </p:nvCxnSpPr>
        <p:spPr>
          <a:xfrm>
            <a:off x="2743200" y="3733800"/>
            <a:ext cx="2286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p20"/>
          <p:cNvSpPr txBox="1"/>
          <p:nvPr/>
        </p:nvSpPr>
        <p:spPr>
          <a:xfrm>
            <a:off x="1889125" y="3160713"/>
            <a:ext cx="1873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ABORT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3260725" y="5675313"/>
            <a:ext cx="1466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ROLLBACK</a:t>
            </a:r>
            <a:endParaRPr/>
          </a:p>
        </p:txBody>
      </p:sp>
      <p:cxnSp>
        <p:nvCxnSpPr>
          <p:cNvPr id="422" name="Google Shape;422;p20"/>
          <p:cNvCxnSpPr/>
          <p:nvPr/>
        </p:nvCxnSpPr>
        <p:spPr>
          <a:xfrm>
            <a:off x="2667000" y="3733800"/>
            <a:ext cx="1447800" cy="17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 Distributed Transaction</a:t>
            </a:r>
            <a:endParaRPr/>
          </a:p>
        </p:txBody>
      </p:sp>
      <p:sp>
        <p:nvSpPr>
          <p:cNvPr id="428" name="Google Shape;428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Two-Phase Commit Protocol</a:t>
            </a:r>
            <a:endParaRPr/>
          </a:p>
        </p:txBody>
      </p:sp>
      <p:sp>
        <p:nvSpPr>
          <p:cNvPr id="430" name="Google Shape;430;p21"/>
          <p:cNvSpPr txBox="1"/>
          <p:nvPr/>
        </p:nvSpPr>
        <p:spPr>
          <a:xfrm>
            <a:off x="1050925" y="2859088"/>
            <a:ext cx="18637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 </a:t>
            </a:r>
            <a:endParaRPr/>
          </a:p>
        </p:txBody>
      </p:sp>
      <p:cxnSp>
        <p:nvCxnSpPr>
          <p:cNvPr id="431" name="Google Shape;431;p21"/>
          <p:cNvCxnSpPr/>
          <p:nvPr/>
        </p:nvCxnSpPr>
        <p:spPr>
          <a:xfrm flipH="1" rot="10800000">
            <a:off x="2209800" y="2438400"/>
            <a:ext cx="25908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21"/>
          <p:cNvSpPr txBox="1"/>
          <p:nvPr/>
        </p:nvSpPr>
        <p:spPr>
          <a:xfrm>
            <a:off x="4860925" y="1716088"/>
            <a:ext cx="1660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</a:t>
            </a:r>
            <a:endParaRPr/>
          </a:p>
        </p:txBody>
      </p:sp>
      <p:sp>
        <p:nvSpPr>
          <p:cNvPr id="433" name="Google Shape;433;p21"/>
          <p:cNvSpPr txBox="1"/>
          <p:nvPr/>
        </p:nvSpPr>
        <p:spPr>
          <a:xfrm>
            <a:off x="4876800" y="3581400"/>
            <a:ext cx="15922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</a:t>
            </a:r>
            <a:endParaRPr/>
          </a:p>
        </p:txBody>
      </p:sp>
      <p:sp>
        <p:nvSpPr>
          <p:cNvPr id="434" name="Google Shape;434;p21"/>
          <p:cNvSpPr txBox="1"/>
          <p:nvPr/>
        </p:nvSpPr>
        <p:spPr>
          <a:xfrm>
            <a:off x="4953000" y="4572000"/>
            <a:ext cx="2254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</a:t>
            </a:r>
            <a:endParaRPr/>
          </a:p>
        </p:txBody>
      </p:sp>
      <p:cxnSp>
        <p:nvCxnSpPr>
          <p:cNvPr id="435" name="Google Shape;435;p21"/>
          <p:cNvCxnSpPr/>
          <p:nvPr/>
        </p:nvCxnSpPr>
        <p:spPr>
          <a:xfrm>
            <a:off x="2209800" y="3657600"/>
            <a:ext cx="2514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21"/>
          <p:cNvCxnSpPr/>
          <p:nvPr/>
        </p:nvCxnSpPr>
        <p:spPr>
          <a:xfrm>
            <a:off x="2209800" y="4038600"/>
            <a:ext cx="266700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21"/>
          <p:cNvSpPr txBox="1"/>
          <p:nvPr/>
        </p:nvSpPr>
        <p:spPr>
          <a:xfrm>
            <a:off x="288925" y="4760913"/>
            <a:ext cx="33718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BookTrip coordinator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sends a Vote_Request to each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process. Each process returns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Vote_Commit or Vote_Abort.</a:t>
            </a:r>
            <a:endParaRPr/>
          </a:p>
        </p:txBody>
      </p:sp>
      <p:cxnSp>
        <p:nvCxnSpPr>
          <p:cNvPr id="438" name="Google Shape;438;p21"/>
          <p:cNvCxnSpPr/>
          <p:nvPr/>
        </p:nvCxnSpPr>
        <p:spPr>
          <a:xfrm flipH="1">
            <a:off x="2590800" y="2743200"/>
            <a:ext cx="2209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21"/>
          <p:cNvCxnSpPr/>
          <p:nvPr/>
        </p:nvCxnSpPr>
        <p:spPr>
          <a:xfrm rot="10800000">
            <a:off x="2667000" y="3886200"/>
            <a:ext cx="1981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21"/>
          <p:cNvCxnSpPr/>
          <p:nvPr/>
        </p:nvCxnSpPr>
        <p:spPr>
          <a:xfrm rot="10800000">
            <a:off x="2590800" y="4343400"/>
            <a:ext cx="2209800" cy="10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" name="Google Shape;441;p21"/>
          <p:cNvSpPr txBox="1"/>
          <p:nvPr/>
        </p:nvSpPr>
        <p:spPr>
          <a:xfrm>
            <a:off x="2727325" y="2551113"/>
            <a:ext cx="1631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Vote_Request</a:t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3108325" y="3465513"/>
            <a:ext cx="156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Vote Request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3352800" y="4495800"/>
            <a:ext cx="156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Vote Request</a:t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2819400" y="2895600"/>
            <a:ext cx="156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Vote_Commit</a:t>
            </a:r>
            <a:endParaRPr/>
          </a:p>
        </p:txBody>
      </p:sp>
      <p:sp>
        <p:nvSpPr>
          <p:cNvPr id="445" name="Google Shape;445;p21"/>
          <p:cNvSpPr txBox="1"/>
          <p:nvPr/>
        </p:nvSpPr>
        <p:spPr>
          <a:xfrm>
            <a:off x="3184525" y="3846513"/>
            <a:ext cx="1504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Vote Commit</a:t>
            </a:r>
            <a:endParaRPr/>
          </a:p>
        </p:txBody>
      </p:sp>
      <p:sp>
        <p:nvSpPr>
          <p:cNvPr id="446" name="Google Shape;446;p21"/>
          <p:cNvSpPr txBox="1"/>
          <p:nvPr/>
        </p:nvSpPr>
        <p:spPr>
          <a:xfrm>
            <a:off x="3429000" y="4953000"/>
            <a:ext cx="1504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Vote Commit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2" name="Google Shape;45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Two-Phase Commit Protocol (Gray </a:t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1050925" y="2859088"/>
            <a:ext cx="18637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BookTrip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Coordinator </a:t>
            </a:r>
            <a:endParaRPr/>
          </a:p>
        </p:txBody>
      </p:sp>
      <p:cxnSp>
        <p:nvCxnSpPr>
          <p:cNvPr id="454" name="Google Shape;454;p22"/>
          <p:cNvCxnSpPr/>
          <p:nvPr/>
        </p:nvCxnSpPr>
        <p:spPr>
          <a:xfrm flipH="1" rot="10800000">
            <a:off x="2209800" y="2438400"/>
            <a:ext cx="25908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22"/>
          <p:cNvSpPr txBox="1"/>
          <p:nvPr/>
        </p:nvSpPr>
        <p:spPr>
          <a:xfrm>
            <a:off x="4860925" y="1716088"/>
            <a:ext cx="1660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BookPlane</a:t>
            </a:r>
            <a:endParaRPr/>
          </a:p>
        </p:txBody>
      </p:sp>
      <p:sp>
        <p:nvSpPr>
          <p:cNvPr id="456" name="Google Shape;456;p22"/>
          <p:cNvSpPr txBox="1"/>
          <p:nvPr/>
        </p:nvSpPr>
        <p:spPr>
          <a:xfrm>
            <a:off x="4876800" y="3124200"/>
            <a:ext cx="15922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BookHotel</a:t>
            </a:r>
            <a:endParaRPr/>
          </a:p>
        </p:txBody>
      </p:sp>
      <p:sp>
        <p:nvSpPr>
          <p:cNvPr id="457" name="Google Shape;457;p22"/>
          <p:cNvSpPr txBox="1"/>
          <p:nvPr/>
        </p:nvSpPr>
        <p:spPr>
          <a:xfrm>
            <a:off x="4953000" y="4572000"/>
            <a:ext cx="2254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BookRentalCar</a:t>
            </a:r>
            <a:endParaRPr/>
          </a:p>
        </p:txBody>
      </p:sp>
      <p:cxnSp>
        <p:nvCxnSpPr>
          <p:cNvPr id="458" name="Google Shape;458;p22"/>
          <p:cNvCxnSpPr/>
          <p:nvPr/>
        </p:nvCxnSpPr>
        <p:spPr>
          <a:xfrm>
            <a:off x="2209800" y="3657600"/>
            <a:ext cx="2514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22"/>
          <p:cNvCxnSpPr/>
          <p:nvPr/>
        </p:nvCxnSpPr>
        <p:spPr>
          <a:xfrm>
            <a:off x="2209800" y="4038600"/>
            <a:ext cx="266700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22"/>
          <p:cNvSpPr txBox="1"/>
          <p:nvPr/>
        </p:nvSpPr>
        <p:spPr>
          <a:xfrm>
            <a:off x="288925" y="4760913"/>
            <a:ext cx="8566150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BookTrip coordinator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checks the votes. If every process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votes to commit then so will the coordinator.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that case, it will send a Global_Commit to each process.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any process votes to abort the coordinator sends a GLOBAL_ABORT.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process waits for a Global_Commit message before committing its part of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transaction.</a:t>
            </a:r>
            <a:endParaRPr/>
          </a:p>
        </p:txBody>
      </p:sp>
      <p:cxnSp>
        <p:nvCxnSpPr>
          <p:cNvPr id="461" name="Google Shape;461;p22"/>
          <p:cNvCxnSpPr/>
          <p:nvPr/>
        </p:nvCxnSpPr>
        <p:spPr>
          <a:xfrm flipH="1">
            <a:off x="2590800" y="2743200"/>
            <a:ext cx="2209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22"/>
          <p:cNvCxnSpPr/>
          <p:nvPr/>
        </p:nvCxnSpPr>
        <p:spPr>
          <a:xfrm rot="10800000">
            <a:off x="2667000" y="3886200"/>
            <a:ext cx="1981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22"/>
          <p:cNvCxnSpPr/>
          <p:nvPr/>
        </p:nvCxnSpPr>
        <p:spPr>
          <a:xfrm rot="10800000">
            <a:off x="2590800" y="4343400"/>
            <a:ext cx="2209800" cy="10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4" name="Google Shape;464;p22"/>
          <p:cNvSpPr txBox="1"/>
          <p:nvPr/>
        </p:nvSpPr>
        <p:spPr>
          <a:xfrm>
            <a:off x="3276600" y="2514600"/>
            <a:ext cx="1695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Commit</a:t>
            </a:r>
            <a:endParaRPr/>
          </a:p>
        </p:txBody>
      </p:sp>
      <p:sp>
        <p:nvSpPr>
          <p:cNvPr id="465" name="Google Shape;465;p22"/>
          <p:cNvSpPr txBox="1"/>
          <p:nvPr/>
        </p:nvSpPr>
        <p:spPr>
          <a:xfrm>
            <a:off x="3336925" y="3084513"/>
            <a:ext cx="654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</a:t>
            </a:r>
            <a:endParaRPr/>
          </a:p>
        </p:txBody>
      </p:sp>
      <p:sp>
        <p:nvSpPr>
          <p:cNvPr id="466" name="Google Shape;466;p22"/>
          <p:cNvSpPr txBox="1"/>
          <p:nvPr/>
        </p:nvSpPr>
        <p:spPr>
          <a:xfrm>
            <a:off x="3276600" y="3581400"/>
            <a:ext cx="1695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Commit</a:t>
            </a:r>
            <a:endParaRPr/>
          </a:p>
        </p:txBody>
      </p:sp>
      <p:sp>
        <p:nvSpPr>
          <p:cNvPr id="467" name="Google Shape;467;p22"/>
          <p:cNvSpPr txBox="1"/>
          <p:nvPr/>
        </p:nvSpPr>
        <p:spPr>
          <a:xfrm>
            <a:off x="3336925" y="3922713"/>
            <a:ext cx="654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</a:t>
            </a: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3184525" y="4303713"/>
            <a:ext cx="1695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 Commit</a:t>
            </a:r>
            <a:endParaRPr/>
          </a:p>
        </p:txBody>
      </p:sp>
      <p:sp>
        <p:nvSpPr>
          <p:cNvPr id="469" name="Google Shape;469;p22"/>
          <p:cNvSpPr txBox="1"/>
          <p:nvPr/>
        </p:nvSpPr>
        <p:spPr>
          <a:xfrm>
            <a:off x="3641725" y="4837113"/>
            <a:ext cx="654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2004-12-04T18:04:09Z</dcterms:created>
  <dc:creator>mm6</dc:creator>
</cp:coreProperties>
</file>