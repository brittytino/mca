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80" r:id="rId2"/>
    <p:sldId id="259" r:id="rId3"/>
    <p:sldId id="262" r:id="rId4"/>
    <p:sldId id="263" r:id="rId5"/>
    <p:sldId id="264" r:id="rId6"/>
    <p:sldId id="260" r:id="rId7"/>
    <p:sldId id="261" r:id="rId8"/>
    <p:sldId id="281" r:id="rId9"/>
    <p:sldId id="265" r:id="rId10"/>
    <p:sldId id="266" r:id="rId11"/>
    <p:sldId id="267" r:id="rId12"/>
    <p:sldId id="270" r:id="rId13"/>
    <p:sldId id="269" r:id="rId14"/>
    <p:sldId id="271" r:id="rId15"/>
    <p:sldId id="272" r:id="rId16"/>
    <p:sldId id="273" r:id="rId17"/>
    <p:sldId id="276" r:id="rId18"/>
    <p:sldId id="279" r:id="rId19"/>
  </p:sldIdLst>
  <p:sldSz cx="9144000" cy="6858000" type="screen4x3"/>
  <p:notesSz cx="6946900" cy="9220200"/>
  <p:embeddedFontLst>
    <p:embeddedFont>
      <p:font typeface="Century" panose="02040604050505020304" pitchFamily="18" charset="0"/>
      <p:regular r:id="rId21"/>
    </p:embeddedFont>
    <p:embeddedFont>
      <p:font typeface="Century Gothic" panose="020B0502020202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176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11487" cy="461962"/>
          </a:xfrm>
          <a:prstGeom prst="rect">
            <a:avLst/>
          </a:prstGeom>
          <a:noFill/>
          <a:ln>
            <a:noFill/>
          </a:ln>
        </p:spPr>
        <p:txBody>
          <a:bodyPr spcFirstLastPara="1" wrap="square" lIns="91300" tIns="45650" rIns="91300" bIns="456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35412" y="0"/>
            <a:ext cx="3011487" cy="461962"/>
          </a:xfrm>
          <a:prstGeom prst="rect">
            <a:avLst/>
          </a:prstGeom>
          <a:noFill/>
          <a:ln>
            <a:noFill/>
          </a:ln>
        </p:spPr>
        <p:txBody>
          <a:bodyPr spcFirstLastPara="1" wrap="square" lIns="91300" tIns="45650" rIns="91300" bIns="456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68400" y="690562"/>
            <a:ext cx="4611687" cy="3459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27100" y="4381500"/>
            <a:ext cx="5092700" cy="4148137"/>
          </a:xfrm>
          <a:prstGeom prst="rect">
            <a:avLst/>
          </a:prstGeom>
          <a:noFill/>
          <a:ln>
            <a:noFill/>
          </a:ln>
        </p:spPr>
        <p:txBody>
          <a:bodyPr spcFirstLastPara="1" wrap="square" lIns="91300" tIns="45650" rIns="91300" bIns="456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758237"/>
            <a:ext cx="3011487" cy="461962"/>
          </a:xfrm>
          <a:prstGeom prst="rect">
            <a:avLst/>
          </a:prstGeom>
          <a:noFill/>
          <a:ln>
            <a:noFill/>
          </a:ln>
        </p:spPr>
        <p:txBody>
          <a:bodyPr spcFirstLastPara="1" wrap="square" lIns="91300" tIns="45650" rIns="91300" bIns="4565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35412" y="8758237"/>
            <a:ext cx="3011487" cy="461962"/>
          </a:xfrm>
          <a:prstGeom prst="rect">
            <a:avLst/>
          </a:prstGeom>
          <a:noFill/>
          <a:ln>
            <a:noFill/>
          </a:ln>
        </p:spPr>
        <p:txBody>
          <a:bodyPr spcFirstLastPara="1" wrap="square" lIns="91300" tIns="45650" rIns="91300" bIns="4565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042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3350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70" name="Google Shape;170;p12: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5: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91" name="Google Shape;191;p15: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83" name="Google Shape;183;p14: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6: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197" name="Google Shape;197;p16: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209" name="Google Shape;209;p18: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1: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227" name="Google Shape;227;p21: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4:notes"/>
          <p:cNvSpPr txBox="1">
            <a:spLocks noGrp="1"/>
          </p:cNvSpPr>
          <p:nvPr>
            <p:ph type="body" idx="1"/>
          </p:nvPr>
        </p:nvSpPr>
        <p:spPr>
          <a:xfrm>
            <a:off x="927100" y="4381500"/>
            <a:ext cx="5092700" cy="4148137"/>
          </a:xfrm>
          <a:prstGeom prst="rect">
            <a:avLst/>
          </a:prstGeom>
        </p:spPr>
        <p:txBody>
          <a:bodyPr spcFirstLastPara="1" wrap="square" lIns="91300" tIns="45650" rIns="91300" bIns="45650" anchor="t" anchorCtr="0">
            <a:noAutofit/>
          </a:bodyPr>
          <a:lstStyle/>
          <a:p>
            <a:pPr marL="0" lvl="0" indent="0" algn="l" rtl="0">
              <a:spcBef>
                <a:spcPts val="0"/>
              </a:spcBef>
              <a:spcAft>
                <a:spcPts val="0"/>
              </a:spcAft>
              <a:buNone/>
            </a:pPr>
            <a:endParaRPr/>
          </a:p>
        </p:txBody>
      </p:sp>
      <p:sp>
        <p:nvSpPr>
          <p:cNvPr id="246" name="Google Shape;246;p24:notes"/>
          <p:cNvSpPr>
            <a:spLocks noGrp="1" noRot="1" noChangeAspect="1"/>
          </p:cNvSpPr>
          <p:nvPr>
            <p:ph type="sldImg" idx="2"/>
          </p:nvPr>
        </p:nvSpPr>
        <p:spPr>
          <a:xfrm>
            <a:off x="1168400" y="690563"/>
            <a:ext cx="4611688" cy="34591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4"/>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5"/>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6"/>
          <p:cNvSpPr>
            <a:spLocks noGrp="1"/>
          </p:cNvSpPr>
          <p:nvPr>
            <p:ph type="pic" idx="2"/>
          </p:nvPr>
        </p:nvSpPr>
        <p:spPr>
          <a:xfrm>
            <a:off x="3887788" y="987425"/>
            <a:ext cx="4629150" cy="4873625"/>
          </a:xfrm>
          <a:prstGeom prst="rect">
            <a:avLst/>
          </a:prstGeom>
          <a:noFill/>
          <a:ln>
            <a:noFill/>
          </a:ln>
        </p:spPr>
      </p:sp>
      <p:sp>
        <p:nvSpPr>
          <p:cNvPr id="41" name="Google Shape;41;p6"/>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imes New Roman"/>
              <a:buNone/>
              <a:defRPr sz="1600"/>
            </a:lvl1pPr>
            <a:lvl2pPr marL="914400" lvl="1" indent="-228600" algn="l">
              <a:spcBef>
                <a:spcPts val="280"/>
              </a:spcBef>
              <a:spcAft>
                <a:spcPts val="0"/>
              </a:spcAft>
              <a:buClr>
                <a:schemeClr val="dk1"/>
              </a:buClr>
              <a:buSzPts val="1400"/>
              <a:buFont typeface="Times New Roman"/>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2" name="Google Shape;42;p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sz="3200"/>
            </a:lvl1pPr>
            <a:lvl2pPr marL="914400" lvl="1" indent="-406400" algn="l">
              <a:spcBef>
                <a:spcPts val="560"/>
              </a:spcBef>
              <a:spcAft>
                <a:spcPts val="0"/>
              </a:spcAft>
              <a:buClr>
                <a:schemeClr val="dk1"/>
              </a:buClr>
              <a:buSzPts val="2800"/>
              <a:buFont typeface="Times New Roman"/>
              <a:buChar char="–"/>
              <a:defRPr sz="2800"/>
            </a:lvl2pPr>
            <a:lvl3pPr marL="1371600" lvl="2" indent="-381000" algn="l">
              <a:spcBef>
                <a:spcPts val="480"/>
              </a:spcBef>
              <a:spcAft>
                <a:spcPts val="0"/>
              </a:spcAft>
              <a:buClr>
                <a:schemeClr val="dk1"/>
              </a:buClr>
              <a:buSzPts val="2400"/>
              <a:buFont typeface="Times New Roman"/>
              <a:buChar char="•"/>
              <a:defRPr sz="2400"/>
            </a:lvl3pPr>
            <a:lvl4pPr marL="1828800" lvl="3" indent="-355600" algn="l">
              <a:spcBef>
                <a:spcPts val="400"/>
              </a:spcBef>
              <a:spcAft>
                <a:spcPts val="0"/>
              </a:spcAft>
              <a:buClr>
                <a:schemeClr val="dk1"/>
              </a:buClr>
              <a:buSzPts val="2000"/>
              <a:buFont typeface="Times New Roman"/>
              <a:buChar char="–"/>
              <a:defRPr sz="2000"/>
            </a:lvl4pPr>
            <a:lvl5pPr marL="2286000" lvl="4" indent="-355600" algn="l">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8" name="Google Shape;48;p7"/>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imes New Roman"/>
              <a:buNone/>
              <a:defRPr sz="1600"/>
            </a:lvl1pPr>
            <a:lvl2pPr marL="914400" lvl="1" indent="-228600" algn="l">
              <a:spcBef>
                <a:spcPts val="280"/>
              </a:spcBef>
              <a:spcAft>
                <a:spcPts val="0"/>
              </a:spcAft>
              <a:buClr>
                <a:schemeClr val="dk1"/>
              </a:buClr>
              <a:buSzPts val="1400"/>
              <a:buFont typeface="Times New Roman"/>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9" name="Google Shape;49;p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9"/>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9"/>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9"/>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9"/>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0"/>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0"/>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Times New Roman"/>
              <a:buNone/>
              <a:defRPr sz="2400"/>
            </a:lvl1pPr>
            <a:lvl2pPr marL="914400" lvl="1" indent="-228600" algn="l">
              <a:spcBef>
                <a:spcPts val="400"/>
              </a:spcBef>
              <a:spcAft>
                <a:spcPts val="0"/>
              </a:spcAft>
              <a:buClr>
                <a:schemeClr val="dk1"/>
              </a:buClr>
              <a:buSzPts val="2000"/>
              <a:buFont typeface="Times New Roman"/>
              <a:buNone/>
              <a:defRPr sz="2000"/>
            </a:lvl2pPr>
            <a:lvl3pPr marL="1371600" lvl="2" indent="-228600" algn="l">
              <a:spcBef>
                <a:spcPts val="360"/>
              </a:spcBef>
              <a:spcAft>
                <a:spcPts val="0"/>
              </a:spcAft>
              <a:buClr>
                <a:schemeClr val="dk1"/>
              </a:buClr>
              <a:buSzPts val="1800"/>
              <a:buFont typeface="Times New Roman"/>
              <a:buNone/>
              <a:defRPr sz="1800"/>
            </a:lvl3pPr>
            <a:lvl4pPr marL="1828800" lvl="3" indent="-228600" algn="l">
              <a:spcBef>
                <a:spcPts val="320"/>
              </a:spcBef>
              <a:spcAft>
                <a:spcPts val="0"/>
              </a:spcAft>
              <a:buClr>
                <a:schemeClr val="dk1"/>
              </a:buClr>
              <a:buSzPts val="1600"/>
              <a:buFont typeface="Times New Roman"/>
              <a:buNone/>
              <a:defRPr sz="1600"/>
            </a:lvl4pPr>
            <a:lvl5pPr marL="2286000" lvl="4" indent="-228600" algn="l">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75" name="Google Shape;75;p1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1400"/>
              <a:buFont typeface="Times New Roman"/>
              <a:buNone/>
              <a:defRPr sz="1400" b="0" i="0" u="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F484-0544-299D-7040-4DC1C193D2A5}"/>
              </a:ext>
            </a:extLst>
          </p:cNvPr>
          <p:cNvSpPr>
            <a:spLocks noGrp="1"/>
          </p:cNvSpPr>
          <p:nvPr>
            <p:ph type="title"/>
          </p:nvPr>
        </p:nvSpPr>
        <p:spPr/>
        <p:txBody>
          <a:bodyPr/>
          <a:lstStyle/>
          <a:p>
            <a:r>
              <a:rPr lang="en-US" sz="4400" b="0" i="0" u="none" dirty="0">
                <a:solidFill>
                  <a:schemeClr val="dk2"/>
                </a:solidFill>
                <a:latin typeface="Times New Roman"/>
                <a:ea typeface="Times New Roman"/>
                <a:cs typeface="Times New Roman"/>
                <a:sym typeface="Times New Roman"/>
              </a:rPr>
              <a:t>Introducing SQL Into the Application</a:t>
            </a:r>
            <a:endParaRPr lang="en-IN" dirty="0"/>
          </a:p>
        </p:txBody>
      </p:sp>
      <p:sp>
        <p:nvSpPr>
          <p:cNvPr id="5" name="Text Placeholder 4">
            <a:extLst>
              <a:ext uri="{FF2B5EF4-FFF2-40B4-BE49-F238E27FC236}">
                <a16:creationId xmlns:a16="http://schemas.microsoft.com/office/drawing/2014/main" id="{15AEDFE5-18E2-CBBB-1253-EA2E0D8792B0}"/>
              </a:ext>
            </a:extLst>
          </p:cNvPr>
          <p:cNvSpPr>
            <a:spLocks noGrp="1"/>
          </p:cNvSpPr>
          <p:nvPr>
            <p:ph type="body" idx="1"/>
          </p:nvPr>
        </p:nvSpPr>
        <p:spPr/>
        <p:txBody>
          <a:bodyPr/>
          <a:lstStyle/>
          <a:p>
            <a:pPr algn="just"/>
            <a:r>
              <a:rPr lang="en-IN" sz="2800" b="1" dirty="0"/>
              <a:t>Data Management</a:t>
            </a:r>
            <a:r>
              <a:rPr lang="en-IN" sz="2800" dirty="0"/>
              <a:t>: SQL helps in organizing large amounts of data, making it easy to store, access, and modify.</a:t>
            </a:r>
          </a:p>
          <a:p>
            <a:pPr algn="just"/>
            <a:r>
              <a:rPr lang="en-IN" sz="2800" b="1" dirty="0"/>
              <a:t>Business Decisions</a:t>
            </a:r>
            <a:r>
              <a:rPr lang="en-IN" sz="2800" dirty="0"/>
              <a:t>: SQL allows businesses to </a:t>
            </a:r>
            <a:r>
              <a:rPr lang="en-IN" sz="2800" dirty="0" err="1"/>
              <a:t>analyze</a:t>
            </a:r>
            <a:r>
              <a:rPr lang="en-IN" sz="2800" dirty="0"/>
              <a:t> data, generate reports, and make informed decisions.</a:t>
            </a:r>
          </a:p>
          <a:p>
            <a:pPr algn="just"/>
            <a:r>
              <a:rPr lang="en-IN" sz="2800" b="1" dirty="0"/>
              <a:t>Universal</a:t>
            </a:r>
            <a:r>
              <a:rPr lang="en-IN" sz="2800" dirty="0"/>
              <a:t>: SQL is widely used across different industries and is a foundational tool for anyone working with databases.</a:t>
            </a:r>
          </a:p>
        </p:txBody>
      </p:sp>
      <p:sp>
        <p:nvSpPr>
          <p:cNvPr id="3" name="Slide Number Placeholder 2">
            <a:extLst>
              <a:ext uri="{FF2B5EF4-FFF2-40B4-BE49-F238E27FC236}">
                <a16:creationId xmlns:a16="http://schemas.microsoft.com/office/drawing/2014/main" id="{41C4CD5B-138F-2F68-2D0F-4DDA01BB92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35843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2</a:t>
            </a:fld>
            <a:endParaRPr/>
          </a:p>
        </p:txBody>
      </p:sp>
      <p:sp>
        <p:nvSpPr>
          <p:cNvPr id="116" name="Google Shape;116;p17"/>
          <p:cNvSpPr txBox="1">
            <a:spLocks noGrp="1"/>
          </p:cNvSpPr>
          <p:nvPr>
            <p:ph type="title"/>
          </p:nvPr>
        </p:nvSpPr>
        <p:spPr>
          <a:xfrm>
            <a:off x="304800" y="304800"/>
            <a:ext cx="8229600" cy="685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Interactive vs. Non-Interactive SQL</a:t>
            </a:r>
            <a:endParaRPr/>
          </a:p>
        </p:txBody>
      </p:sp>
      <p:sp>
        <p:nvSpPr>
          <p:cNvPr id="117" name="Google Shape;117;p17"/>
          <p:cNvSpPr txBox="1">
            <a:spLocks noGrp="1"/>
          </p:cNvSpPr>
          <p:nvPr>
            <p:ph type="body" idx="1"/>
          </p:nvPr>
        </p:nvSpPr>
        <p:spPr>
          <a:xfrm>
            <a:off x="533400" y="1295400"/>
            <a:ext cx="8153400" cy="5410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Times New Roman"/>
              <a:buChar char="•"/>
            </a:pPr>
            <a:r>
              <a:rPr lang="en-US" sz="3200" b="0" i="1" u="none" dirty="0">
                <a:solidFill>
                  <a:schemeClr val="dk1"/>
                </a:solidFill>
                <a:latin typeface="Times New Roman"/>
                <a:ea typeface="Times New Roman"/>
                <a:cs typeface="Times New Roman"/>
                <a:sym typeface="Times New Roman"/>
              </a:rPr>
              <a:t>Interactive SQL</a:t>
            </a:r>
            <a:r>
              <a:rPr lang="en-US" sz="3200" b="0" i="0" u="none" dirty="0">
                <a:solidFill>
                  <a:schemeClr val="dk1"/>
                </a:solidFill>
                <a:latin typeface="Times New Roman"/>
                <a:ea typeface="Times New Roman"/>
                <a:cs typeface="Times New Roman"/>
                <a:sym typeface="Times New Roman"/>
              </a:rPr>
              <a:t>:  SQL statements input from terminal;  DBMS outputs to screen</a:t>
            </a:r>
            <a:endParaRPr dirty="0"/>
          </a:p>
          <a:p>
            <a:pPr marL="742950" lvl="1" indent="-285750" algn="l" rtl="0">
              <a:lnSpc>
                <a:spcPct val="100000"/>
              </a:lnSpc>
              <a:spcBef>
                <a:spcPts val="560"/>
              </a:spcBef>
              <a:spcAft>
                <a:spcPts val="0"/>
              </a:spcAft>
              <a:buClr>
                <a:schemeClr val="dk1"/>
              </a:buClr>
              <a:buSzPts val="2800"/>
              <a:buFont typeface="Times New Roman"/>
              <a:buChar char="–"/>
            </a:pPr>
            <a:r>
              <a:rPr lang="en-US" sz="2800" b="0" i="0" u="none" dirty="0">
                <a:solidFill>
                  <a:schemeClr val="dk1"/>
                </a:solidFill>
                <a:latin typeface="Times New Roman"/>
                <a:ea typeface="Times New Roman"/>
                <a:cs typeface="Times New Roman"/>
                <a:sym typeface="Times New Roman"/>
              </a:rPr>
              <a:t>Inadequate for most uses</a:t>
            </a:r>
            <a:endParaRPr dirty="0"/>
          </a:p>
          <a:p>
            <a:pPr marL="1143000" lvl="2" indent="-228600" algn="l" rtl="0">
              <a:lnSpc>
                <a:spcPct val="10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It may be necessary to process the data before output</a:t>
            </a:r>
            <a:endParaRPr dirty="0"/>
          </a:p>
          <a:p>
            <a:pPr marL="1143000" lvl="2" indent="-228600" algn="l" rtl="0">
              <a:lnSpc>
                <a:spcPct val="10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Amount of data returned not known in advance</a:t>
            </a:r>
            <a:endParaRPr dirty="0"/>
          </a:p>
          <a:p>
            <a:pPr marL="1143000" lvl="2" indent="-228600" algn="l" rtl="0">
              <a:lnSpc>
                <a:spcPct val="10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SQL has very limited expressive power</a:t>
            </a:r>
            <a:endParaRPr dirty="0"/>
          </a:p>
          <a:p>
            <a:pPr marL="342900" lvl="0" indent="-342900" algn="l" rtl="0">
              <a:lnSpc>
                <a:spcPct val="100000"/>
              </a:lnSpc>
              <a:spcBef>
                <a:spcPts val="640"/>
              </a:spcBef>
              <a:spcAft>
                <a:spcPts val="0"/>
              </a:spcAft>
              <a:buClr>
                <a:schemeClr val="dk1"/>
              </a:buClr>
              <a:buSzPts val="3200"/>
              <a:buFont typeface="Times New Roman"/>
              <a:buChar char="•"/>
            </a:pPr>
            <a:r>
              <a:rPr lang="en-US" sz="3200" b="0" i="1" u="none" dirty="0">
                <a:solidFill>
                  <a:schemeClr val="dk1"/>
                </a:solidFill>
                <a:latin typeface="Times New Roman"/>
                <a:ea typeface="Times New Roman"/>
                <a:cs typeface="Times New Roman"/>
                <a:sym typeface="Times New Roman"/>
              </a:rPr>
              <a:t>Non-interactive SQL</a:t>
            </a:r>
            <a:r>
              <a:rPr lang="en-US" sz="3200" b="0" i="0" u="none" dirty="0">
                <a:solidFill>
                  <a:schemeClr val="dk1"/>
                </a:solidFill>
                <a:latin typeface="Times New Roman"/>
                <a:ea typeface="Times New Roman"/>
                <a:cs typeface="Times New Roman"/>
                <a:sym typeface="Times New Roman"/>
              </a:rPr>
              <a:t>:  SQL statements are included in an application program written in a host language, like Java, Python, and .NET Languages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3</a:t>
            </a:fld>
            <a:endParaRPr/>
          </a:p>
        </p:txBody>
      </p:sp>
      <p:sp>
        <p:nvSpPr>
          <p:cNvPr id="138" name="Google Shape;138;p2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dirty="0">
                <a:solidFill>
                  <a:schemeClr val="dk2"/>
                </a:solidFill>
                <a:latin typeface="Times New Roman"/>
                <a:ea typeface="Times New Roman"/>
                <a:cs typeface="Times New Roman"/>
                <a:sym typeface="Times New Roman"/>
              </a:rPr>
              <a:t>Introducing SQL Into the Application</a:t>
            </a:r>
            <a:endParaRPr dirty="0"/>
          </a:p>
        </p:txBody>
      </p:sp>
      <p:sp>
        <p:nvSpPr>
          <p:cNvPr id="139" name="Google Shape;139;p20"/>
          <p:cNvSpPr txBox="1">
            <a:spLocks noGrp="1"/>
          </p:cNvSpPr>
          <p:nvPr>
            <p:ph type="body" idx="1"/>
          </p:nvPr>
        </p:nvSpPr>
        <p:spPr>
          <a:xfrm>
            <a:off x="381000" y="1981200"/>
            <a:ext cx="84582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3200"/>
              <a:buFont typeface="Times New Roman"/>
              <a:buChar char="•"/>
            </a:pPr>
            <a:r>
              <a:rPr lang="en-US" sz="3200" b="0" i="0" u="none" dirty="0">
                <a:solidFill>
                  <a:schemeClr val="dk1"/>
                </a:solidFill>
                <a:latin typeface="Times New Roman"/>
                <a:ea typeface="Times New Roman"/>
                <a:cs typeface="Times New Roman"/>
                <a:sym typeface="Times New Roman"/>
              </a:rPr>
              <a:t>SQL statements can be incorporated into an application program in two different ways:</a:t>
            </a:r>
            <a:endParaRPr dirty="0"/>
          </a:p>
          <a:p>
            <a:pPr marL="742950" lvl="1" indent="-285750" algn="l" rtl="0">
              <a:lnSpc>
                <a:spcPct val="90000"/>
              </a:lnSpc>
              <a:spcBef>
                <a:spcPts val="560"/>
              </a:spcBef>
              <a:spcAft>
                <a:spcPts val="0"/>
              </a:spcAft>
              <a:buClr>
                <a:schemeClr val="dk1"/>
              </a:buClr>
              <a:buSzPts val="2800"/>
              <a:buFont typeface="Times New Roman"/>
              <a:buChar char="–"/>
            </a:pPr>
            <a:r>
              <a:rPr lang="en-US" sz="2800" b="1" i="1" u="none" dirty="0">
                <a:solidFill>
                  <a:schemeClr val="dk1"/>
                </a:solidFill>
                <a:latin typeface="Times New Roman"/>
                <a:ea typeface="Times New Roman"/>
                <a:cs typeface="Times New Roman"/>
                <a:sym typeface="Times New Roman"/>
              </a:rPr>
              <a:t>Statement Level Interface</a:t>
            </a:r>
            <a:r>
              <a:rPr lang="en-US" sz="2800" b="0" i="0" u="none" dirty="0">
                <a:solidFill>
                  <a:schemeClr val="dk1"/>
                </a:solidFill>
                <a:latin typeface="Times New Roman"/>
                <a:ea typeface="Times New Roman"/>
                <a:cs typeface="Times New Roman"/>
                <a:sym typeface="Times New Roman"/>
              </a:rPr>
              <a:t> (SLI):  Application program is a mixture of host language statements and SQL statements and directives</a:t>
            </a:r>
            <a:endParaRPr dirty="0"/>
          </a:p>
          <a:p>
            <a:pPr marL="742950" lvl="1" indent="-285750" algn="l" rtl="0">
              <a:lnSpc>
                <a:spcPct val="90000"/>
              </a:lnSpc>
              <a:spcBef>
                <a:spcPts val="560"/>
              </a:spcBef>
              <a:spcAft>
                <a:spcPts val="0"/>
              </a:spcAft>
              <a:buClr>
                <a:schemeClr val="dk1"/>
              </a:buClr>
              <a:buSzPts val="2800"/>
              <a:buFont typeface="Times New Roman"/>
              <a:buChar char="–"/>
            </a:pPr>
            <a:r>
              <a:rPr lang="en-US" sz="2800" b="1" i="1" u="none" dirty="0">
                <a:solidFill>
                  <a:schemeClr val="dk1"/>
                </a:solidFill>
                <a:latin typeface="Times New Roman"/>
                <a:ea typeface="Times New Roman"/>
                <a:cs typeface="Times New Roman"/>
                <a:sym typeface="Times New Roman"/>
              </a:rPr>
              <a:t>Call Level Interface</a:t>
            </a:r>
            <a:r>
              <a:rPr lang="en-US" sz="2800" b="0" i="0" u="none" dirty="0">
                <a:solidFill>
                  <a:schemeClr val="dk1"/>
                </a:solidFill>
                <a:latin typeface="Times New Roman"/>
                <a:ea typeface="Times New Roman"/>
                <a:cs typeface="Times New Roman"/>
                <a:sym typeface="Times New Roman"/>
              </a:rPr>
              <a:t> (CLI):  Application program is written entirely in host language </a:t>
            </a:r>
            <a:endParaRPr dirty="0"/>
          </a:p>
          <a:p>
            <a:pPr marL="1143000" lvl="2" indent="-228600" algn="l" rtl="0">
              <a:lnSpc>
                <a:spcPct val="9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SQL statements are values of string variables that are passed as arguments to host language (library) procedures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4</a:t>
            </a:fld>
            <a:endParaRPr/>
          </a:p>
        </p:txBody>
      </p:sp>
      <p:sp>
        <p:nvSpPr>
          <p:cNvPr id="145" name="Google Shape;145;p21"/>
          <p:cNvSpPr txBox="1">
            <a:spLocks noGrp="1"/>
          </p:cNvSpPr>
          <p:nvPr>
            <p:ph type="title"/>
          </p:nvPr>
        </p:nvSpPr>
        <p:spPr>
          <a:xfrm>
            <a:off x="609600" y="3810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Statement Level Interface</a:t>
            </a:r>
            <a:endParaRPr/>
          </a:p>
        </p:txBody>
      </p:sp>
      <p:sp>
        <p:nvSpPr>
          <p:cNvPr id="146" name="Google Shape;146;p2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SQL statements and directives in the application have a </a:t>
            </a:r>
            <a:r>
              <a:rPr lang="en-US" sz="2800" b="0" i="1" u="none">
                <a:solidFill>
                  <a:schemeClr val="dk1"/>
                </a:solidFill>
                <a:latin typeface="Times New Roman"/>
                <a:ea typeface="Times New Roman"/>
                <a:cs typeface="Times New Roman"/>
                <a:sym typeface="Times New Roman"/>
              </a:rPr>
              <a:t>special syntax</a:t>
            </a:r>
            <a:r>
              <a:rPr lang="en-US" sz="2800" b="0" i="0" u="none">
                <a:solidFill>
                  <a:schemeClr val="dk1"/>
                </a:solidFill>
                <a:latin typeface="Times New Roman"/>
                <a:ea typeface="Times New Roman"/>
                <a:cs typeface="Times New Roman"/>
                <a:sym typeface="Times New Roman"/>
              </a:rPr>
              <a:t> that sets them off from host language constructs</a:t>
            </a:r>
            <a:endParaRPr/>
          </a:p>
          <a:p>
            <a:pPr marL="742950" lvl="1" indent="-285750" algn="l"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e.g.,    </a:t>
            </a:r>
            <a:r>
              <a:rPr lang="en-US" sz="2400" b="0" i="0" u="none">
                <a:solidFill>
                  <a:schemeClr val="dk1"/>
                </a:solidFill>
                <a:latin typeface="Century"/>
                <a:ea typeface="Century"/>
                <a:cs typeface="Century"/>
                <a:sym typeface="Century"/>
              </a:rPr>
              <a:t> </a:t>
            </a:r>
            <a:r>
              <a:rPr lang="en-US" sz="2400" b="0" i="0" u="none">
                <a:solidFill>
                  <a:schemeClr val="dk1"/>
                </a:solidFill>
                <a:latin typeface="Century Gothic"/>
                <a:ea typeface="Century Gothic"/>
                <a:cs typeface="Century Gothic"/>
                <a:sym typeface="Century Gothic"/>
              </a:rPr>
              <a:t>EXEC SQL   </a:t>
            </a:r>
            <a:r>
              <a:rPr lang="en-US" sz="2400" b="0" i="1" u="none">
                <a:solidFill>
                  <a:schemeClr val="dk1"/>
                </a:solidFill>
                <a:latin typeface="Times New Roman"/>
                <a:ea typeface="Times New Roman"/>
                <a:cs typeface="Times New Roman"/>
                <a:sym typeface="Times New Roman"/>
              </a:rPr>
              <a:t>SQL_statement</a:t>
            </a:r>
            <a:endParaRPr/>
          </a:p>
          <a:p>
            <a:pPr marL="342900" lvl="0" indent="-342900" algn="l" rtl="0">
              <a:lnSpc>
                <a:spcPct val="100000"/>
              </a:lnSpc>
              <a:spcBef>
                <a:spcPts val="560"/>
              </a:spcBef>
              <a:spcAft>
                <a:spcPts val="0"/>
              </a:spcAft>
              <a:buClr>
                <a:schemeClr val="dk1"/>
              </a:buClr>
              <a:buSzPts val="2800"/>
              <a:buFont typeface="Times New Roman"/>
              <a:buChar char="•"/>
            </a:pPr>
            <a:r>
              <a:rPr lang="en-US" sz="2800" b="0" i="1" u="none">
                <a:solidFill>
                  <a:schemeClr val="dk1"/>
                </a:solidFill>
                <a:latin typeface="Times New Roman"/>
                <a:ea typeface="Times New Roman"/>
                <a:cs typeface="Times New Roman"/>
                <a:sym typeface="Times New Roman"/>
              </a:rPr>
              <a:t>Precompiler</a:t>
            </a:r>
            <a:r>
              <a:rPr lang="en-US" sz="2800" b="0" i="0" u="none">
                <a:solidFill>
                  <a:schemeClr val="dk1"/>
                </a:solidFill>
                <a:latin typeface="Times New Roman"/>
                <a:ea typeface="Times New Roman"/>
                <a:cs typeface="Times New Roman"/>
                <a:sym typeface="Times New Roman"/>
              </a:rPr>
              <a:t> scans program and translates SQL statements into calls to host language library procedures that communicate with DBMS</a:t>
            </a:r>
            <a:endParaRPr/>
          </a:p>
          <a:p>
            <a:pPr marL="342900" lvl="0" indent="-342900" algn="l" rtl="0">
              <a:lnSpc>
                <a:spcPct val="100000"/>
              </a:lnSpc>
              <a:spcBef>
                <a:spcPts val="560"/>
              </a:spcBef>
              <a:spcAft>
                <a:spcPts val="0"/>
              </a:spcAft>
              <a:buClr>
                <a:schemeClr val="dk1"/>
              </a:buClr>
              <a:buSzPts val="2800"/>
              <a:buFont typeface="Times New Roman"/>
              <a:buChar char="•"/>
            </a:pPr>
            <a:r>
              <a:rPr lang="en-US" sz="2800" b="0" i="1" u="none">
                <a:solidFill>
                  <a:schemeClr val="dk1"/>
                </a:solidFill>
                <a:latin typeface="Times New Roman"/>
                <a:ea typeface="Times New Roman"/>
                <a:cs typeface="Times New Roman"/>
                <a:sym typeface="Times New Roman"/>
              </a:rPr>
              <a:t>Host language compiler</a:t>
            </a:r>
            <a:r>
              <a:rPr lang="en-US" sz="2800" b="0" i="0" u="none">
                <a:solidFill>
                  <a:schemeClr val="dk1"/>
                </a:solidFill>
                <a:latin typeface="Times New Roman"/>
                <a:ea typeface="Times New Roman"/>
                <a:cs typeface="Times New Roman"/>
                <a:sym typeface="Times New Roman"/>
              </a:rPr>
              <a:t> then compiles program</a:t>
            </a:r>
            <a:endParaRPr/>
          </a:p>
          <a:p>
            <a:pPr marL="342900" lvl="0" indent="-165100" algn="l" rtl="0">
              <a:spcBef>
                <a:spcPts val="560"/>
              </a:spcBef>
              <a:spcAft>
                <a:spcPts val="0"/>
              </a:spcAft>
              <a:buClr>
                <a:schemeClr val="dk1"/>
              </a:buClr>
              <a:buSzPts val="2800"/>
              <a:buFont typeface="Times New Roman"/>
              <a:buNone/>
            </a:pPr>
            <a:endParaRPr sz="2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5</a:t>
            </a:fld>
            <a:endParaRPr/>
          </a:p>
        </p:txBody>
      </p:sp>
      <p:sp>
        <p:nvSpPr>
          <p:cNvPr id="152" name="Google Shape;152;p22"/>
          <p:cNvSpPr txBox="1">
            <a:spLocks noGrp="1"/>
          </p:cNvSpPr>
          <p:nvPr>
            <p:ph type="title"/>
          </p:nvPr>
        </p:nvSpPr>
        <p:spPr>
          <a:xfrm>
            <a:off x="685800" y="3048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Statement Level Interface</a:t>
            </a:r>
            <a:endParaRPr/>
          </a:p>
        </p:txBody>
      </p:sp>
      <p:sp>
        <p:nvSpPr>
          <p:cNvPr id="153" name="Google Shape;153;p22"/>
          <p:cNvSpPr txBox="1">
            <a:spLocks noGrp="1"/>
          </p:cNvSpPr>
          <p:nvPr>
            <p:ph type="body" idx="1"/>
          </p:nvPr>
        </p:nvSpPr>
        <p:spPr>
          <a:xfrm>
            <a:off x="762000" y="1600200"/>
            <a:ext cx="7924800" cy="4648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Font typeface="Times New Roman"/>
              <a:buChar char="•"/>
            </a:pPr>
            <a:r>
              <a:rPr lang="en-US" sz="2800" b="0" i="0" u="none" dirty="0">
                <a:solidFill>
                  <a:schemeClr val="dk1"/>
                </a:solidFill>
                <a:latin typeface="Times New Roman"/>
                <a:ea typeface="Times New Roman"/>
                <a:cs typeface="Times New Roman"/>
                <a:sym typeface="Times New Roman"/>
              </a:rPr>
              <a:t>SQL constructs in an application take two forms:</a:t>
            </a:r>
            <a:endParaRPr dirty="0"/>
          </a:p>
          <a:p>
            <a:pPr marL="742950" lvl="1" indent="-285750" algn="l" rtl="0">
              <a:lnSpc>
                <a:spcPct val="10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Standard SQL statements (</a:t>
            </a:r>
            <a:r>
              <a:rPr lang="en-US" sz="2400" b="1" i="1" u="none" dirty="0">
                <a:solidFill>
                  <a:schemeClr val="dk1"/>
                </a:solidFill>
                <a:latin typeface="Times New Roman"/>
                <a:ea typeface="Times New Roman"/>
                <a:cs typeface="Times New Roman"/>
                <a:sym typeface="Times New Roman"/>
              </a:rPr>
              <a:t>static</a:t>
            </a:r>
            <a:r>
              <a:rPr lang="en-US" sz="2400" b="0" i="0" u="none" dirty="0">
                <a:solidFill>
                  <a:schemeClr val="dk1"/>
                </a:solidFill>
                <a:latin typeface="Times New Roman"/>
                <a:ea typeface="Times New Roman"/>
                <a:cs typeface="Times New Roman"/>
                <a:sym typeface="Times New Roman"/>
              </a:rPr>
              <a:t> or </a:t>
            </a:r>
            <a:r>
              <a:rPr lang="en-US" sz="2400" b="1" i="1" u="none" dirty="0">
                <a:solidFill>
                  <a:schemeClr val="dk1"/>
                </a:solidFill>
                <a:latin typeface="Times New Roman"/>
                <a:ea typeface="Times New Roman"/>
                <a:cs typeface="Times New Roman"/>
                <a:sym typeface="Times New Roman"/>
              </a:rPr>
              <a:t>embedded</a:t>
            </a:r>
            <a:r>
              <a:rPr lang="en-US" sz="2400" b="0" i="1" u="none" dirty="0">
                <a:solidFill>
                  <a:schemeClr val="dk1"/>
                </a:solidFill>
                <a:latin typeface="Times New Roman"/>
                <a:ea typeface="Times New Roman"/>
                <a:cs typeface="Times New Roman"/>
                <a:sym typeface="Times New Roman"/>
              </a:rPr>
              <a:t> </a:t>
            </a:r>
            <a:r>
              <a:rPr lang="en-US" sz="2400" b="0" i="0" u="none" dirty="0">
                <a:solidFill>
                  <a:schemeClr val="dk1"/>
                </a:solidFill>
                <a:latin typeface="Times New Roman"/>
                <a:ea typeface="Times New Roman"/>
                <a:cs typeface="Times New Roman"/>
                <a:sym typeface="Times New Roman"/>
              </a:rPr>
              <a:t> SQL): Useful when SQL portion of program is known at compile time </a:t>
            </a:r>
            <a:endParaRPr dirty="0"/>
          </a:p>
          <a:p>
            <a:pPr marL="742950" lvl="1" indent="-285750" algn="l" rtl="0">
              <a:lnSpc>
                <a:spcPct val="100000"/>
              </a:lnSpc>
              <a:spcBef>
                <a:spcPts val="480"/>
              </a:spcBef>
              <a:spcAft>
                <a:spcPts val="0"/>
              </a:spcAft>
              <a:buClr>
                <a:schemeClr val="dk1"/>
              </a:buClr>
              <a:buSzPts val="2400"/>
              <a:buFont typeface="Times New Roman"/>
              <a:buChar char="–"/>
            </a:pPr>
            <a:r>
              <a:rPr lang="en-US" sz="2400" b="0" i="0" u="none" dirty="0">
                <a:solidFill>
                  <a:schemeClr val="dk1"/>
                </a:solidFill>
                <a:latin typeface="Times New Roman"/>
                <a:ea typeface="Times New Roman"/>
                <a:cs typeface="Times New Roman"/>
                <a:sym typeface="Times New Roman"/>
              </a:rPr>
              <a:t>Directives (</a:t>
            </a:r>
            <a:r>
              <a:rPr lang="en-US" sz="2400" b="1" i="1" u="none" dirty="0">
                <a:solidFill>
                  <a:schemeClr val="dk1"/>
                </a:solidFill>
                <a:latin typeface="Times New Roman"/>
                <a:ea typeface="Times New Roman"/>
                <a:cs typeface="Times New Roman"/>
                <a:sym typeface="Times New Roman"/>
              </a:rPr>
              <a:t>dynamic</a:t>
            </a:r>
            <a:r>
              <a:rPr lang="en-US" sz="2400" b="0" i="1" u="none" dirty="0">
                <a:solidFill>
                  <a:schemeClr val="dk1"/>
                </a:solidFill>
                <a:latin typeface="Times New Roman"/>
                <a:ea typeface="Times New Roman"/>
                <a:cs typeface="Times New Roman"/>
                <a:sym typeface="Times New Roman"/>
              </a:rPr>
              <a:t> </a:t>
            </a:r>
            <a:r>
              <a:rPr lang="en-US" sz="2400" b="0" i="0" u="none" dirty="0">
                <a:solidFill>
                  <a:schemeClr val="dk1"/>
                </a:solidFill>
                <a:latin typeface="Times New Roman"/>
                <a:ea typeface="Times New Roman"/>
                <a:cs typeface="Times New Roman"/>
                <a:sym typeface="Times New Roman"/>
              </a:rPr>
              <a:t>SQL):  Useful when SQL portion of program not known at compile time. Application constructs SQL statements </a:t>
            </a:r>
            <a:r>
              <a:rPr lang="en-US" sz="2400" b="0" i="1" u="none" dirty="0">
                <a:solidFill>
                  <a:schemeClr val="dk1"/>
                </a:solidFill>
                <a:latin typeface="Times New Roman"/>
                <a:ea typeface="Times New Roman"/>
                <a:cs typeface="Times New Roman"/>
                <a:sym typeface="Times New Roman"/>
              </a:rPr>
              <a:t>at run time </a:t>
            </a:r>
            <a:r>
              <a:rPr lang="en-US" sz="2400" b="0" i="0" u="none" dirty="0">
                <a:solidFill>
                  <a:schemeClr val="dk1"/>
                </a:solidFill>
                <a:latin typeface="Times New Roman"/>
                <a:ea typeface="Times New Roman"/>
                <a:cs typeface="Times New Roman"/>
                <a:sym typeface="Times New Roman"/>
              </a:rPr>
              <a:t>as values of host language variables that are manipulated by directives</a:t>
            </a:r>
            <a:endParaRPr dirty="0"/>
          </a:p>
          <a:p>
            <a:pPr marL="342900" lvl="0" indent="-342900" algn="l" rtl="0">
              <a:lnSpc>
                <a:spcPct val="100000"/>
              </a:lnSpc>
              <a:spcBef>
                <a:spcPts val="560"/>
              </a:spcBef>
              <a:spcAft>
                <a:spcPts val="0"/>
              </a:spcAft>
              <a:buClr>
                <a:schemeClr val="dk1"/>
              </a:buClr>
              <a:buSzPts val="2800"/>
              <a:buFont typeface="Times New Roman"/>
              <a:buChar char="•"/>
            </a:pPr>
            <a:r>
              <a:rPr lang="en-US" sz="2800" b="0" i="0" u="none" dirty="0" err="1">
                <a:solidFill>
                  <a:schemeClr val="dk1"/>
                </a:solidFill>
                <a:latin typeface="Times New Roman"/>
                <a:ea typeface="Times New Roman"/>
                <a:cs typeface="Times New Roman"/>
                <a:sym typeface="Times New Roman"/>
              </a:rPr>
              <a:t>Precompiler</a:t>
            </a:r>
            <a:r>
              <a:rPr lang="en-US" sz="2800" b="0" i="0" u="none" dirty="0">
                <a:solidFill>
                  <a:schemeClr val="dk1"/>
                </a:solidFill>
                <a:latin typeface="Times New Roman"/>
                <a:ea typeface="Times New Roman"/>
                <a:cs typeface="Times New Roman"/>
                <a:sym typeface="Times New Roman"/>
              </a:rPr>
              <a:t> translates statements and directives into arguments of calls to library procedures.</a:t>
            </a:r>
            <a:endParaRPr dirty="0"/>
          </a:p>
          <a:p>
            <a:pPr marL="342900" lvl="0" indent="-165100" algn="l" rtl="0">
              <a:spcBef>
                <a:spcPts val="560"/>
              </a:spcBef>
              <a:spcAft>
                <a:spcPts val="0"/>
              </a:spcAft>
              <a:buClr>
                <a:schemeClr val="dk1"/>
              </a:buClr>
              <a:buSzPts val="2800"/>
              <a:buFont typeface="Times New Roman"/>
              <a:buNone/>
            </a:pPr>
            <a:endParaRPr sz="28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a:spLocks noGrp="1"/>
          </p:cNvSpPr>
          <p:nvPr>
            <p:ph type="body" idx="1"/>
          </p:nvPr>
        </p:nvSpPr>
        <p:spPr>
          <a:xfrm>
            <a:off x="714375" y="411162"/>
            <a:ext cx="7772400" cy="5129559"/>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Times New Roman"/>
              <a:buChar char="•"/>
            </a:pPr>
            <a:r>
              <a:rPr lang="en-IN" sz="3200" b="1" i="0" u="none" strike="noStrike" cap="none">
                <a:solidFill>
                  <a:schemeClr val="dk1"/>
                </a:solidFill>
                <a:latin typeface="Times New Roman"/>
                <a:ea typeface="Times New Roman"/>
                <a:cs typeface="Times New Roman"/>
                <a:sym typeface="Times New Roman"/>
              </a:rPr>
              <a:t>Static or Embedded</a:t>
            </a:r>
            <a:r>
              <a:rPr lang="en-IN" sz="3200" b="0" i="0" u="none" strike="noStrike" cap="none">
                <a:solidFill>
                  <a:schemeClr val="dk1"/>
                </a:solidFill>
                <a:latin typeface="Times New Roman"/>
                <a:ea typeface="Times New Roman"/>
                <a:cs typeface="Times New Roman"/>
                <a:sym typeface="Times New Roman"/>
              </a:rPr>
              <a:t> SQL are SQL statements in an application that do not change at runtime and, therefore, can be hard-coded into the application. </a:t>
            </a:r>
            <a:endParaRPr lang="en-IN"/>
          </a:p>
          <a:p>
            <a:pPr marL="342900" marR="0" lvl="0" indent="-139700" algn="l" rtl="0">
              <a:spcBef>
                <a:spcPts val="640"/>
              </a:spcBef>
              <a:spcAft>
                <a:spcPts val="0"/>
              </a:spcAft>
              <a:buClr>
                <a:schemeClr val="dk1"/>
              </a:buClr>
              <a:buSzPts val="3200"/>
              <a:buFont typeface="Times New Roman"/>
              <a:buNone/>
            </a:pPr>
            <a:endParaRPr lang="en-IN" sz="3200" b="0" i="0" u="none">
              <a:solidFill>
                <a:schemeClr val="dk1"/>
              </a:solidFill>
              <a:latin typeface="Times New Roman"/>
              <a:ea typeface="Times New Roman"/>
              <a:cs typeface="Times New Roman"/>
              <a:sym typeface="Times New Roman"/>
            </a:endParaRPr>
          </a:p>
        </p:txBody>
      </p:sp>
      <p:sp>
        <p:nvSpPr>
          <p:cNvPr id="123" name="Google Shape;123;p18"/>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6</a:t>
            </a:fld>
            <a:endParaRPr/>
          </a:p>
        </p:txBody>
      </p:sp>
      <p:pic>
        <p:nvPicPr>
          <p:cNvPr id="124" name="Google Shape;124;p18"/>
          <p:cNvPicPr preferRelativeResize="0"/>
          <p:nvPr/>
        </p:nvPicPr>
        <p:blipFill rotWithShape="1">
          <a:blip r:embed="rId3">
            <a:alphaModFix/>
          </a:blip>
          <a:srcRect/>
          <a:stretch/>
        </p:blipFill>
        <p:spPr>
          <a:xfrm>
            <a:off x="900112" y="2492375"/>
            <a:ext cx="7400925" cy="3457575"/>
          </a:xfrm>
          <a:prstGeom prst="rect">
            <a:avLst/>
          </a:prstGeom>
          <a:noFill/>
          <a:ln>
            <a:noFill/>
          </a:ln>
        </p:spPr>
      </p:pic>
      <p:sp>
        <p:nvSpPr>
          <p:cNvPr id="14" name="TextBox 13">
            <a:extLst>
              <a:ext uri="{FF2B5EF4-FFF2-40B4-BE49-F238E27FC236}">
                <a16:creationId xmlns:a16="http://schemas.microsoft.com/office/drawing/2014/main" id="{C7A9D297-AF2F-F217-7F4A-191A3782CB0C}"/>
              </a:ext>
            </a:extLst>
          </p:cNvPr>
          <p:cNvSpPr txBox="1"/>
          <p:nvPr/>
        </p:nvSpPr>
        <p:spPr>
          <a:xfrm>
            <a:off x="1095469" y="5986790"/>
            <a:ext cx="7205568" cy="523220"/>
          </a:xfrm>
          <a:prstGeom prst="rect">
            <a:avLst/>
          </a:prstGeom>
          <a:noFill/>
        </p:spPr>
        <p:txBody>
          <a:bodyPr wrap="square">
            <a:spAutoFit/>
          </a:bodyPr>
          <a:lstStyle/>
          <a:p>
            <a:r>
              <a:rPr lang="en-IN" dirty="0"/>
              <a:t>/ SQL query is static (hard-coded into the program)</a:t>
            </a:r>
          </a:p>
          <a:p>
            <a:r>
              <a:rPr lang="en-IN" dirty="0"/>
              <a:t> String </a:t>
            </a:r>
            <a:r>
              <a:rPr lang="en-IN" dirty="0" err="1"/>
              <a:t>sqlQuery</a:t>
            </a:r>
            <a:r>
              <a:rPr lang="en-IN" dirty="0"/>
              <a:t> = "SELECT id, name, age FROM employees";</a:t>
            </a:r>
          </a:p>
        </p:txBody>
      </p:sp>
    </p:spTree>
    <p:extLst>
      <p:ext uri="{BB962C8B-B14F-4D97-AF65-F5344CB8AC3E}">
        <p14:creationId xmlns:p14="http://schemas.microsoft.com/office/powerpoint/2010/main" val="659602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712787" y="414337"/>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Dynamic SQL</a:t>
            </a:r>
            <a:endParaRPr/>
          </a:p>
        </p:txBody>
      </p:sp>
      <p:sp>
        <p:nvSpPr>
          <p:cNvPr id="130" name="Google Shape;130;p19"/>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7</a:t>
            </a:fld>
            <a:endParaRPr/>
          </a:p>
        </p:txBody>
      </p:sp>
      <p:pic>
        <p:nvPicPr>
          <p:cNvPr id="131" name="Google Shape;131;p19"/>
          <p:cNvPicPr preferRelativeResize="0"/>
          <p:nvPr/>
        </p:nvPicPr>
        <p:blipFill rotWithShape="1">
          <a:blip r:embed="rId3">
            <a:alphaModFix/>
          </a:blip>
          <a:srcRect/>
          <a:stretch/>
        </p:blipFill>
        <p:spPr>
          <a:xfrm>
            <a:off x="1693862" y="4314825"/>
            <a:ext cx="5811837" cy="1543050"/>
          </a:xfrm>
          <a:prstGeom prst="rect">
            <a:avLst/>
          </a:prstGeom>
          <a:noFill/>
          <a:ln>
            <a:noFill/>
          </a:ln>
        </p:spPr>
      </p:pic>
      <p:pic>
        <p:nvPicPr>
          <p:cNvPr id="132" name="Google Shape;132;p19"/>
          <p:cNvPicPr preferRelativeResize="0"/>
          <p:nvPr/>
        </p:nvPicPr>
        <p:blipFill rotWithShape="1">
          <a:blip r:embed="rId4">
            <a:alphaModFix/>
          </a:blip>
          <a:srcRect/>
          <a:stretch/>
        </p:blipFill>
        <p:spPr>
          <a:xfrm>
            <a:off x="1470025" y="1752600"/>
            <a:ext cx="6953250" cy="1957387"/>
          </a:xfrm>
          <a:prstGeom prst="rect">
            <a:avLst/>
          </a:prstGeom>
          <a:noFill/>
          <a:ln>
            <a:noFill/>
          </a:ln>
        </p:spPr>
      </p:pic>
    </p:spTree>
    <p:extLst>
      <p:ext uri="{BB962C8B-B14F-4D97-AF65-F5344CB8AC3E}">
        <p14:creationId xmlns:p14="http://schemas.microsoft.com/office/powerpoint/2010/main" val="841780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E845D8-EEEB-D544-5A3D-D25B3DB363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7" name="TextBox 6">
            <a:extLst>
              <a:ext uri="{FF2B5EF4-FFF2-40B4-BE49-F238E27FC236}">
                <a16:creationId xmlns:a16="http://schemas.microsoft.com/office/drawing/2014/main" id="{72F78D2F-B6B9-6ECB-9F9F-D15AC2984BC1}"/>
              </a:ext>
            </a:extLst>
          </p:cNvPr>
          <p:cNvSpPr txBox="1"/>
          <p:nvPr/>
        </p:nvSpPr>
        <p:spPr>
          <a:xfrm>
            <a:off x="894029" y="1031816"/>
            <a:ext cx="7355941" cy="2893100"/>
          </a:xfrm>
          <a:prstGeom prst="rect">
            <a:avLst/>
          </a:prstGeom>
          <a:noFill/>
        </p:spPr>
        <p:txBody>
          <a:bodyPr wrap="square">
            <a:spAutoFit/>
          </a:bodyPr>
          <a:lstStyle/>
          <a:p>
            <a:endParaRPr lang="en-IN" dirty="0"/>
          </a:p>
          <a:p>
            <a:r>
              <a:rPr lang="en-IN" dirty="0"/>
              <a:t>        </a:t>
            </a:r>
          </a:p>
          <a:p>
            <a:r>
              <a:rPr lang="en-IN" dirty="0"/>
              <a:t>        // Using Scanner to get user input for dynamic SQL</a:t>
            </a:r>
          </a:p>
          <a:p>
            <a:r>
              <a:rPr lang="en-IN" dirty="0"/>
              <a:t>        Scanner </a:t>
            </a:r>
            <a:r>
              <a:rPr lang="en-IN" dirty="0" err="1"/>
              <a:t>scanner</a:t>
            </a:r>
            <a:r>
              <a:rPr lang="en-IN" dirty="0"/>
              <a:t> = new Scanner(System.in);</a:t>
            </a:r>
          </a:p>
          <a:p>
            <a:r>
              <a:rPr lang="en-IN" dirty="0"/>
              <a:t>        </a:t>
            </a:r>
          </a:p>
          <a:p>
            <a:r>
              <a:rPr lang="en-IN" dirty="0"/>
              <a:t>        // Ask the user for a filter (e.g., age) to use in the query</a:t>
            </a:r>
          </a:p>
          <a:p>
            <a:r>
              <a:rPr lang="en-IN" dirty="0"/>
              <a:t>        </a:t>
            </a:r>
            <a:r>
              <a:rPr lang="en-IN" dirty="0" err="1"/>
              <a:t>System.out.print</a:t>
            </a:r>
            <a:r>
              <a:rPr lang="en-IN" dirty="0"/>
              <a:t>("Enter minimum age to filter: ");</a:t>
            </a:r>
          </a:p>
          <a:p>
            <a:r>
              <a:rPr lang="en-IN" dirty="0"/>
              <a:t>        int </a:t>
            </a:r>
            <a:r>
              <a:rPr lang="en-IN" dirty="0" err="1"/>
              <a:t>minAge</a:t>
            </a:r>
            <a:r>
              <a:rPr lang="en-IN" dirty="0"/>
              <a:t> = </a:t>
            </a:r>
            <a:r>
              <a:rPr lang="en-IN" dirty="0" err="1"/>
              <a:t>scanner.nextInt</a:t>
            </a:r>
            <a:r>
              <a:rPr lang="en-IN" dirty="0"/>
              <a:t>();</a:t>
            </a:r>
          </a:p>
          <a:p>
            <a:r>
              <a:rPr lang="en-IN" dirty="0"/>
              <a:t>        </a:t>
            </a:r>
          </a:p>
          <a:p>
            <a:r>
              <a:rPr lang="en-IN" dirty="0"/>
              <a:t>        // Building the dynamic SQL query based on user input</a:t>
            </a:r>
          </a:p>
          <a:p>
            <a:r>
              <a:rPr lang="en-IN" dirty="0"/>
              <a:t>        String </a:t>
            </a:r>
            <a:r>
              <a:rPr lang="en-IN" dirty="0" err="1"/>
              <a:t>sqlQuery</a:t>
            </a:r>
            <a:r>
              <a:rPr lang="en-IN" dirty="0"/>
              <a:t> = "SELECT id, name, age FROM employees WHERE age &gt;= " + </a:t>
            </a:r>
            <a:r>
              <a:rPr lang="en-IN" dirty="0" err="1"/>
              <a:t>minAge</a:t>
            </a:r>
            <a:r>
              <a:rPr lang="en-IN" dirty="0"/>
              <a:t>;</a:t>
            </a:r>
          </a:p>
          <a:p>
            <a:r>
              <a:rPr lang="en-IN" dirty="0"/>
              <a:t>        </a:t>
            </a:r>
          </a:p>
        </p:txBody>
      </p:sp>
    </p:spTree>
    <p:extLst>
      <p:ext uri="{BB962C8B-B14F-4D97-AF65-F5344CB8AC3E}">
        <p14:creationId xmlns:p14="http://schemas.microsoft.com/office/powerpoint/2010/main" val="3880988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9</a:t>
            </a:fld>
            <a:endParaRPr/>
          </a:p>
        </p:txBody>
      </p:sp>
      <p:sp>
        <p:nvSpPr>
          <p:cNvPr id="159" name="Google Shape;159;p2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Call Level Interface</a:t>
            </a:r>
            <a:endParaRPr/>
          </a:p>
        </p:txBody>
      </p:sp>
      <p:sp>
        <p:nvSpPr>
          <p:cNvPr id="160" name="Google Shape;160;p23"/>
          <p:cNvSpPr txBox="1">
            <a:spLocks noGrp="1"/>
          </p:cNvSpPr>
          <p:nvPr>
            <p:ph type="body" idx="1"/>
          </p:nvPr>
        </p:nvSpPr>
        <p:spPr>
          <a:xfrm>
            <a:off x="685800" y="1981200"/>
            <a:ext cx="8153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Application program written entirely in host language (no precompiler)</a:t>
            </a:r>
            <a:endParaRPr/>
          </a:p>
          <a:p>
            <a:pPr marL="742950" lvl="1" indent="-285750" algn="l" rtl="0">
              <a:lnSpc>
                <a:spcPct val="9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Examples: JDBC, ODBC</a:t>
            </a:r>
            <a:endParaRPr/>
          </a:p>
          <a:p>
            <a:pPr marL="342900" lvl="0" indent="-342900" algn="l" rtl="0">
              <a:lnSpc>
                <a:spcPct val="90000"/>
              </a:lnSpc>
              <a:spcBef>
                <a:spcPts val="56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SQL statements are values of string variables constructed </a:t>
            </a:r>
            <a:r>
              <a:rPr lang="en-US" sz="2800" b="0" i="1" u="none">
                <a:solidFill>
                  <a:schemeClr val="dk1"/>
                </a:solidFill>
                <a:latin typeface="Times New Roman"/>
                <a:ea typeface="Times New Roman"/>
                <a:cs typeface="Times New Roman"/>
                <a:sym typeface="Times New Roman"/>
              </a:rPr>
              <a:t>at run time</a:t>
            </a:r>
            <a:r>
              <a:rPr lang="en-US" sz="2800" b="0" i="0" u="none">
                <a:solidFill>
                  <a:schemeClr val="dk1"/>
                </a:solidFill>
                <a:latin typeface="Times New Roman"/>
                <a:ea typeface="Times New Roman"/>
                <a:cs typeface="Times New Roman"/>
                <a:sym typeface="Times New Roman"/>
              </a:rPr>
              <a:t> using host language </a:t>
            </a:r>
            <a:endParaRPr/>
          </a:p>
          <a:p>
            <a:pPr marL="742950" lvl="1" indent="-285750" algn="l" rtl="0">
              <a:lnSpc>
                <a:spcPct val="9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Similar to dynamic SQL</a:t>
            </a:r>
            <a:endParaRPr/>
          </a:p>
          <a:p>
            <a:pPr marL="342900" lvl="0" indent="-342900" algn="l" rtl="0">
              <a:lnSpc>
                <a:spcPct val="90000"/>
              </a:lnSpc>
              <a:spcBef>
                <a:spcPts val="56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Application uses string variables as arguments of library routines that communicate with DBMS</a:t>
            </a:r>
            <a:endParaRPr/>
          </a:p>
          <a:p>
            <a:pPr marL="742950" lvl="1" indent="-285750" algn="l" rtl="0">
              <a:lnSpc>
                <a:spcPct val="9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e.g.    executeQuery</a:t>
            </a:r>
            <a:r>
              <a:rPr lang="en-US" sz="2400" b="0" i="0" u="none">
                <a:solidFill>
                  <a:schemeClr val="dk1"/>
                </a:solidFill>
                <a:latin typeface="Century Gothic"/>
                <a:ea typeface="Century Gothic"/>
                <a:cs typeface="Century Gothic"/>
                <a:sym typeface="Century Gothic"/>
              </a:rPr>
              <a:t>(“</a:t>
            </a:r>
            <a:r>
              <a:rPr lang="en-US" sz="2400" b="0" i="1" u="none">
                <a:solidFill>
                  <a:schemeClr val="dk1"/>
                </a:solidFill>
                <a:latin typeface="Times New Roman"/>
                <a:ea typeface="Times New Roman"/>
                <a:cs typeface="Times New Roman"/>
                <a:sym typeface="Times New Roman"/>
              </a:rPr>
              <a:t>SQL query statement</a:t>
            </a:r>
            <a:r>
              <a:rPr lang="en-US" sz="2400" b="0" i="0" u="none">
                <a:solidFill>
                  <a:schemeClr val="dk1"/>
                </a:solidFill>
                <a:latin typeface="Century Gothic"/>
                <a:ea typeface="Century Gothic"/>
                <a:cs typeface="Century Gothic"/>
                <a:sym typeface="Century Gothic"/>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10</a:t>
            </a:fld>
            <a:endParaRPr/>
          </a:p>
        </p:txBody>
      </p:sp>
      <p:sp>
        <p:nvSpPr>
          <p:cNvPr id="166" name="Google Shape;166;p24"/>
          <p:cNvSpPr txBox="1">
            <a:spLocks noGrp="1"/>
          </p:cNvSpPr>
          <p:nvPr>
            <p:ph type="title"/>
          </p:nvPr>
        </p:nvSpPr>
        <p:spPr>
          <a:xfrm>
            <a:off x="685800" y="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Dynamic SQL</a:t>
            </a:r>
            <a:endParaRPr/>
          </a:p>
        </p:txBody>
      </p:sp>
      <p:sp>
        <p:nvSpPr>
          <p:cNvPr id="167" name="Google Shape;167;p24"/>
          <p:cNvSpPr txBox="1">
            <a:spLocks noGrp="1"/>
          </p:cNvSpPr>
          <p:nvPr>
            <p:ph type="body" idx="1"/>
          </p:nvPr>
        </p:nvSpPr>
        <p:spPr>
          <a:xfrm>
            <a:off x="685800" y="1295400"/>
            <a:ext cx="7772400" cy="4648200"/>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800"/>
              <a:buFont typeface="Times New Roman"/>
              <a:buChar char="•"/>
            </a:pPr>
            <a:r>
              <a:rPr lang="en-US" sz="2800" b="1" i="0" u="none">
                <a:solidFill>
                  <a:schemeClr val="dk1"/>
                </a:solidFill>
                <a:latin typeface="Times New Roman"/>
                <a:ea typeface="Times New Roman"/>
                <a:cs typeface="Times New Roman"/>
                <a:sym typeface="Times New Roman"/>
              </a:rPr>
              <a:t>Problem</a:t>
            </a:r>
            <a:r>
              <a:rPr lang="en-US" sz="2800" b="0" i="0" u="none">
                <a:solidFill>
                  <a:schemeClr val="dk1"/>
                </a:solidFill>
                <a:latin typeface="Times New Roman"/>
                <a:ea typeface="Times New Roman"/>
                <a:cs typeface="Times New Roman"/>
                <a:sym typeface="Times New Roman"/>
              </a:rPr>
              <a:t>:  Application might not know in advance</a:t>
            </a:r>
            <a:r>
              <a:rPr lang="en-US" sz="2400" b="0" i="0" u="none">
                <a:solidFill>
                  <a:schemeClr val="dk1"/>
                </a:solidFill>
                <a:latin typeface="Times New Roman"/>
                <a:ea typeface="Times New Roman"/>
                <a:cs typeface="Times New Roman"/>
                <a:sym typeface="Times New Roman"/>
              </a:rPr>
              <a:t>:</a:t>
            </a:r>
            <a:endParaRPr/>
          </a:p>
          <a:p>
            <a:pPr marL="742950" lvl="1" indent="-285750" algn="l"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The SQL statement to be executed</a:t>
            </a:r>
            <a:endParaRPr/>
          </a:p>
          <a:p>
            <a:pPr marL="742950" lvl="1" indent="-285750" algn="l"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The database schema to which the statement is directed</a:t>
            </a:r>
            <a:endParaRPr/>
          </a:p>
          <a:p>
            <a:pPr marL="342900" lvl="0" indent="-342900" algn="l" rtl="0">
              <a:lnSpc>
                <a:spcPct val="100000"/>
              </a:lnSpc>
              <a:spcBef>
                <a:spcPts val="560"/>
              </a:spcBef>
              <a:spcAft>
                <a:spcPts val="0"/>
              </a:spcAft>
              <a:buClr>
                <a:schemeClr val="dk1"/>
              </a:buClr>
              <a:buSzPts val="2800"/>
              <a:buFont typeface="Times New Roman"/>
              <a:buChar char="•"/>
            </a:pPr>
            <a:r>
              <a:rPr lang="en-US" sz="2800" b="1" i="0" u="none">
                <a:solidFill>
                  <a:schemeClr val="dk1"/>
                </a:solidFill>
                <a:latin typeface="Times New Roman"/>
                <a:ea typeface="Times New Roman"/>
                <a:cs typeface="Times New Roman"/>
                <a:sym typeface="Times New Roman"/>
              </a:rPr>
              <a:t>Example</a:t>
            </a:r>
            <a:r>
              <a:rPr lang="en-US" sz="2800" b="0" i="0" u="none">
                <a:solidFill>
                  <a:schemeClr val="dk1"/>
                </a:solidFill>
                <a:latin typeface="Times New Roman"/>
                <a:ea typeface="Times New Roman"/>
                <a:cs typeface="Times New Roman"/>
                <a:sym typeface="Times New Roman"/>
              </a:rPr>
              <a:t>:  User inputs database name and SQL statement interactively from terminal</a:t>
            </a:r>
            <a:endParaRPr/>
          </a:p>
          <a:p>
            <a:pPr marL="342900" lvl="0" indent="-342900" algn="l" rtl="0">
              <a:lnSpc>
                <a:spcPct val="100000"/>
              </a:lnSpc>
              <a:spcBef>
                <a:spcPts val="56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In general, application constructs (as the value of a host language string variable) the SQL statement at run time</a:t>
            </a:r>
            <a:endParaRPr/>
          </a:p>
          <a:p>
            <a:pPr marL="342900" lvl="0" indent="-342900" algn="l" rtl="0">
              <a:lnSpc>
                <a:spcPct val="100000"/>
              </a:lnSpc>
              <a:spcBef>
                <a:spcPts val="560"/>
              </a:spcBef>
              <a:spcAft>
                <a:spcPts val="0"/>
              </a:spcAft>
              <a:buClr>
                <a:schemeClr val="dk1"/>
              </a:buClr>
              <a:buSzPts val="2800"/>
              <a:buFont typeface="Times New Roman"/>
              <a:buChar char="•"/>
            </a:pPr>
            <a:r>
              <a:rPr lang="en-US" sz="2800" b="0" i="0" u="none">
                <a:solidFill>
                  <a:schemeClr val="dk1"/>
                </a:solidFill>
                <a:latin typeface="Times New Roman"/>
                <a:ea typeface="Times New Roman"/>
                <a:cs typeface="Times New Roman"/>
                <a:sym typeface="Times New Roman"/>
              </a:rPr>
              <a:t>Preparation (necessarily) done at run time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11</a:t>
            </a:fld>
            <a:endParaRPr/>
          </a:p>
        </p:txBody>
      </p:sp>
      <p:sp>
        <p:nvSpPr>
          <p:cNvPr id="173" name="Google Shape;173;p25"/>
          <p:cNvSpPr txBox="1">
            <a:spLocks noGrp="1"/>
          </p:cNvSpPr>
          <p:nvPr>
            <p:ph type="title"/>
          </p:nvPr>
        </p:nvSpPr>
        <p:spPr>
          <a:xfrm>
            <a:off x="685800" y="381000"/>
            <a:ext cx="7772400" cy="685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JDBC</a:t>
            </a:r>
            <a:endParaRPr/>
          </a:p>
        </p:txBody>
      </p:sp>
      <p:sp>
        <p:nvSpPr>
          <p:cNvPr id="174" name="Google Shape;174;p25"/>
          <p:cNvSpPr txBox="1">
            <a:spLocks noGrp="1"/>
          </p:cNvSpPr>
          <p:nvPr>
            <p:ph type="body" idx="1"/>
          </p:nvPr>
        </p:nvSpPr>
        <p:spPr>
          <a:xfrm>
            <a:off x="685800" y="1371600"/>
            <a:ext cx="8077200" cy="4724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Call-level interface (CLI) for executing SQL from a Java program</a:t>
            </a:r>
            <a:endParaRPr/>
          </a:p>
          <a:p>
            <a:pPr marL="342900" lvl="0" indent="-342900" algn="l" rtl="0">
              <a:lnSpc>
                <a:spcPct val="90000"/>
              </a:lnSpc>
              <a:spcBef>
                <a:spcPts val="64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SQL statement is constructed at run time as the value of a Java variable (as in dynamic SQL)</a:t>
            </a:r>
            <a:endParaRPr/>
          </a:p>
          <a:p>
            <a:pPr marL="342900" lvl="0" indent="-342900" algn="l" rtl="0">
              <a:lnSpc>
                <a:spcPct val="90000"/>
              </a:lnSpc>
              <a:spcBef>
                <a:spcPts val="64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JDBC passes SQL statements to the underlying DBMS.  Can be interfaced to any DBMS that has a JDBC driver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JDBC: SQL Function Calls for Java Programming</a:t>
            </a:r>
            <a:endParaRPr/>
          </a:p>
        </p:txBody>
      </p:sp>
      <p:sp>
        <p:nvSpPr>
          <p:cNvPr id="194" name="Google Shape;194;p2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Courier New"/>
              <a:buChar char="•"/>
            </a:pPr>
            <a:r>
              <a:rPr lang="en-US" sz="3200" b="1" i="0" u="none">
                <a:solidFill>
                  <a:schemeClr val="dk1"/>
                </a:solidFill>
                <a:latin typeface="Courier New"/>
                <a:ea typeface="Courier New"/>
                <a:cs typeface="Courier New"/>
                <a:sym typeface="Courier New"/>
              </a:rPr>
              <a:t>Connection</a:t>
            </a:r>
            <a:r>
              <a:rPr lang="en-US" sz="3200" b="1" i="0" u="none">
                <a:solidFill>
                  <a:schemeClr val="dk1"/>
                </a:solidFill>
                <a:latin typeface="Times New Roman"/>
                <a:ea typeface="Times New Roman"/>
                <a:cs typeface="Times New Roman"/>
                <a:sym typeface="Times New Roman"/>
              </a:rPr>
              <a:t> object </a:t>
            </a:r>
            <a:endParaRPr/>
          </a:p>
          <a:p>
            <a:pPr marL="342900" marR="0" lvl="0" indent="-342900" algn="l" rtl="0">
              <a:lnSpc>
                <a:spcPct val="100000"/>
              </a:lnSpc>
              <a:spcBef>
                <a:spcPts val="640"/>
              </a:spcBef>
              <a:spcAft>
                <a:spcPts val="0"/>
              </a:spcAft>
              <a:buClr>
                <a:schemeClr val="dk1"/>
              </a:buClr>
              <a:buSzPts val="3200"/>
              <a:buFont typeface="Courier New"/>
              <a:buChar char="•"/>
            </a:pPr>
            <a:r>
              <a:rPr lang="en-US" sz="3200" b="1" i="0" u="none">
                <a:solidFill>
                  <a:schemeClr val="dk1"/>
                </a:solidFill>
                <a:latin typeface="Courier New"/>
                <a:ea typeface="Courier New"/>
                <a:cs typeface="Courier New"/>
                <a:sym typeface="Courier New"/>
              </a:rPr>
              <a:t>Statement</a:t>
            </a:r>
            <a:r>
              <a:rPr lang="en-US" sz="3200" b="1" i="0" u="none">
                <a:solidFill>
                  <a:schemeClr val="dk1"/>
                </a:solidFill>
                <a:latin typeface="Times New Roman"/>
                <a:ea typeface="Times New Roman"/>
                <a:cs typeface="Times New Roman"/>
                <a:sym typeface="Times New Roman"/>
              </a:rPr>
              <a:t> object </a:t>
            </a:r>
            <a:r>
              <a:rPr lang="en-US" sz="3200" b="0" i="0" u="none">
                <a:solidFill>
                  <a:schemeClr val="dk1"/>
                </a:solidFill>
                <a:latin typeface="Times New Roman"/>
                <a:ea typeface="Times New Roman"/>
                <a:cs typeface="Times New Roman"/>
                <a:sym typeface="Times New Roman"/>
              </a:rPr>
              <a:t>has two subclasses:</a:t>
            </a:r>
            <a:endParaRPr/>
          </a:p>
          <a:p>
            <a:pPr marL="742950" marR="0" lvl="1" indent="-285750" algn="l" rtl="0">
              <a:lnSpc>
                <a:spcPct val="100000"/>
              </a:lnSpc>
              <a:spcBef>
                <a:spcPts val="560"/>
              </a:spcBef>
              <a:spcAft>
                <a:spcPts val="0"/>
              </a:spcAft>
              <a:buClr>
                <a:schemeClr val="dk1"/>
              </a:buClr>
              <a:buSzPts val="2800"/>
              <a:buFont typeface="Courier New"/>
              <a:buChar char="–"/>
            </a:pPr>
            <a:r>
              <a:rPr lang="en-US" sz="2800" b="0" i="0" u="none" strike="noStrike" cap="none">
                <a:solidFill>
                  <a:schemeClr val="dk1"/>
                </a:solidFill>
                <a:latin typeface="Courier New"/>
                <a:ea typeface="Courier New"/>
                <a:cs typeface="Courier New"/>
                <a:sym typeface="Courier New"/>
              </a:rPr>
              <a:t>PreparedStatement</a:t>
            </a:r>
            <a:r>
              <a:rPr lang="en-US" sz="2800" b="0" i="0" u="none" strike="noStrike" cap="none">
                <a:solidFill>
                  <a:schemeClr val="dk1"/>
                </a:solidFill>
                <a:latin typeface="Times New Roman"/>
                <a:ea typeface="Times New Roman"/>
                <a:cs typeface="Times New Roman"/>
                <a:sym typeface="Times New Roman"/>
              </a:rPr>
              <a:t> and </a:t>
            </a:r>
            <a:r>
              <a:rPr lang="en-US" sz="2800" b="0" i="0" u="none" strike="noStrike" cap="none">
                <a:solidFill>
                  <a:schemeClr val="dk1"/>
                </a:solidFill>
                <a:latin typeface="Courier New"/>
                <a:ea typeface="Courier New"/>
                <a:cs typeface="Courier New"/>
                <a:sym typeface="Courier New"/>
              </a:rPr>
              <a:t>CallableStatement</a:t>
            </a:r>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Question mark (</a:t>
            </a:r>
            <a:r>
              <a:rPr lang="en-US" sz="3200" b="0" i="0" u="none">
                <a:solidFill>
                  <a:schemeClr val="dk1"/>
                </a:solidFill>
                <a:latin typeface="Courier New"/>
                <a:ea typeface="Courier New"/>
                <a:cs typeface="Courier New"/>
                <a:sym typeface="Courier New"/>
              </a:rPr>
              <a:t>?</a:t>
            </a:r>
            <a:r>
              <a:rPr lang="en-US" sz="3200" b="0" i="0" u="none">
                <a:solidFill>
                  <a:schemeClr val="dk1"/>
                </a:solidFill>
                <a:latin typeface="Times New Roman"/>
                <a:ea typeface="Times New Roman"/>
                <a:cs typeface="Times New Roman"/>
                <a:sym typeface="Times New Roman"/>
              </a:rPr>
              <a:t>) symbol </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Represents a statement parameter</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Determined at runtime</a:t>
            </a:r>
            <a:endParaRPr/>
          </a:p>
          <a:p>
            <a:pPr marL="342900" marR="0" lvl="0" indent="-342900" algn="l" rtl="0">
              <a:lnSpc>
                <a:spcPct val="100000"/>
              </a:lnSpc>
              <a:spcBef>
                <a:spcPts val="640"/>
              </a:spcBef>
              <a:spcAft>
                <a:spcPts val="0"/>
              </a:spcAft>
              <a:buClr>
                <a:schemeClr val="dk1"/>
              </a:buClr>
              <a:buSzPts val="3200"/>
              <a:buFont typeface="Courier New"/>
              <a:buChar char="•"/>
            </a:pPr>
            <a:r>
              <a:rPr lang="en-US" sz="3200" b="1" i="0" u="none">
                <a:solidFill>
                  <a:schemeClr val="dk1"/>
                </a:solidFill>
                <a:latin typeface="Courier New"/>
                <a:ea typeface="Courier New"/>
                <a:cs typeface="Courier New"/>
                <a:sym typeface="Courier New"/>
              </a:rPr>
              <a:t>ResultSet </a:t>
            </a:r>
            <a:r>
              <a:rPr lang="en-US" sz="3200" b="1" i="0" u="none">
                <a:solidFill>
                  <a:schemeClr val="dk1"/>
                </a:solidFill>
                <a:latin typeface="Times New Roman"/>
                <a:ea typeface="Times New Roman"/>
                <a:cs typeface="Times New Roman"/>
                <a:sym typeface="Times New Roman"/>
              </a:rPr>
              <a:t>object</a:t>
            </a:r>
            <a:endParaRPr sz="3200" b="1" i="0" u="none">
              <a:solidFill>
                <a:schemeClr val="dk1"/>
              </a:solidFill>
              <a:latin typeface="Courier New"/>
              <a:ea typeface="Courier New"/>
              <a:cs typeface="Courier New"/>
              <a:sym typeface="Courier New"/>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Holds results of query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7"/>
          <p:cNvSpPr txBox="1">
            <a:spLocks noGrp="1"/>
          </p:cNvSpPr>
          <p:nvPr>
            <p:ph type="title"/>
          </p:nvPr>
        </p:nvSpPr>
        <p:spPr>
          <a:xfrm>
            <a:off x="142875" y="0"/>
            <a:ext cx="9001125"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Times New Roman"/>
              <a:buNone/>
            </a:pPr>
            <a:r>
              <a:rPr lang="en-US" sz="3600" b="0" i="0" u="none">
                <a:solidFill>
                  <a:schemeClr val="dk2"/>
                </a:solidFill>
                <a:latin typeface="Times New Roman"/>
                <a:ea typeface="Times New Roman"/>
                <a:cs typeface="Times New Roman"/>
                <a:sym typeface="Times New Roman"/>
              </a:rPr>
              <a:t>SQLJ: Embedding SQL Commands in Java</a:t>
            </a:r>
            <a:endParaRPr/>
          </a:p>
        </p:txBody>
      </p:sp>
      <p:sp>
        <p:nvSpPr>
          <p:cNvPr id="186" name="Google Shape;186;p27"/>
          <p:cNvSpPr txBox="1">
            <a:spLocks noGrp="1"/>
          </p:cNvSpPr>
          <p:nvPr>
            <p:ph type="body" idx="1"/>
          </p:nvPr>
        </p:nvSpPr>
        <p:spPr>
          <a:xfrm>
            <a:off x="684212" y="836612"/>
            <a:ext cx="7772400" cy="41148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Provides a way to integrate SQL with Java similar to how embedded SQL combines SQL with high−level languages.</a:t>
            </a:r>
            <a:endParaRPr/>
          </a:p>
          <a:p>
            <a:pPr marL="342900" marR="0" lvl="0" indent="-342900" algn="just"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Acts as a simpler and easier−to−use alternative to JDBC (Java Database Connectivity). </a:t>
            </a:r>
            <a:endParaRPr/>
          </a:p>
          <a:p>
            <a:pPr marL="342900" marR="0" lvl="0" indent="-342900" algn="just"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Developers must utilize an SQLJ translator to use SQLJ, which transforms SQL statements into Java code that can be run using the JDBC interface. </a:t>
            </a:r>
            <a:endParaRPr/>
          </a:p>
          <a:p>
            <a:pPr marL="342900" marR="0" lvl="0" indent="-342900" algn="just" rtl="0">
              <a:lnSpc>
                <a:spcPct val="100000"/>
              </a:lnSpc>
              <a:spcBef>
                <a:spcPts val="480"/>
              </a:spcBef>
              <a:spcAft>
                <a:spcPts val="0"/>
              </a:spcAft>
              <a:buClr>
                <a:schemeClr val="dk1"/>
              </a:buClr>
              <a:buSzPts val="2400"/>
              <a:buFont typeface="Times New Roman"/>
              <a:buChar char="•"/>
            </a:pPr>
            <a:r>
              <a:rPr lang="en-US" sz="2400" b="0" i="0" u="none">
                <a:solidFill>
                  <a:schemeClr val="dk1"/>
                </a:solidFill>
                <a:latin typeface="Times New Roman"/>
                <a:ea typeface="Times New Roman"/>
                <a:cs typeface="Times New Roman"/>
                <a:sym typeface="Times New Roman"/>
              </a:rPr>
              <a:t>SQLJ also requires importing specific classes, such as java.sql, for database connectivity</a:t>
            </a:r>
            <a:endParaRPr/>
          </a:p>
        </p:txBody>
      </p:sp>
      <p:sp>
        <p:nvSpPr>
          <p:cNvPr id="187" name="Google Shape;187;p27"/>
          <p:cNvSpPr txBox="1"/>
          <p:nvPr/>
        </p:nvSpPr>
        <p:spPr>
          <a:xfrm>
            <a:off x="827087" y="5876925"/>
            <a:ext cx="7345362" cy="8318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#sql [ctx] { INSERT INTO employee (ID, NAME, AGE, SALARY) VALUES (:id, :name, :age, :salary) };</a:t>
            </a:r>
            <a:endParaRPr/>
          </a:p>
        </p:txBody>
      </p:sp>
      <p:sp>
        <p:nvSpPr>
          <p:cNvPr id="188" name="Google Shape;188;p27"/>
          <p:cNvSpPr txBox="1"/>
          <p:nvPr/>
        </p:nvSpPr>
        <p:spPr>
          <a:xfrm>
            <a:off x="827087" y="4652962"/>
            <a:ext cx="7705725"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Example</a:t>
            </a:r>
            <a:endParaRPr/>
          </a:p>
          <a:p>
            <a:pPr marL="0" marR="0" lvl="0" indent="0" algn="l"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This example will show how the SQLJ query is written to insert a value into the database.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Database Stored Procedures</a:t>
            </a:r>
            <a:br>
              <a:rPr lang="en-US" sz="4400" b="0" i="0" u="none">
                <a:solidFill>
                  <a:schemeClr val="dk2"/>
                </a:solidFill>
                <a:latin typeface="Times New Roman"/>
                <a:ea typeface="Times New Roman"/>
                <a:cs typeface="Times New Roman"/>
                <a:sym typeface="Times New Roman"/>
              </a:rPr>
            </a:br>
            <a:r>
              <a:rPr lang="en-US" sz="4400" b="0" i="0" u="none">
                <a:solidFill>
                  <a:schemeClr val="dk2"/>
                </a:solidFill>
                <a:latin typeface="Times New Roman"/>
                <a:ea typeface="Times New Roman"/>
                <a:cs typeface="Times New Roman"/>
                <a:sym typeface="Times New Roman"/>
              </a:rPr>
              <a:t>and SQL/PSM</a:t>
            </a:r>
            <a:endParaRPr/>
          </a:p>
        </p:txBody>
      </p:sp>
      <p:sp>
        <p:nvSpPr>
          <p:cNvPr id="200" name="Google Shape;200;p29"/>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b="1" i="0" u="none">
                <a:solidFill>
                  <a:schemeClr val="dk1"/>
                </a:solidFill>
                <a:latin typeface="Times New Roman"/>
                <a:ea typeface="Times New Roman"/>
                <a:cs typeface="Times New Roman"/>
                <a:sym typeface="Times New Roman"/>
              </a:rPr>
              <a:t>Stored procedures</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Program modules stored by the DBMS at the database server</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Can be functions or procedures</a:t>
            </a:r>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SQL/PSM (</a:t>
            </a:r>
            <a:r>
              <a:rPr lang="en-US" sz="3200" b="1" i="0" u="none">
                <a:solidFill>
                  <a:schemeClr val="dk1"/>
                </a:solidFill>
                <a:latin typeface="Times New Roman"/>
                <a:ea typeface="Times New Roman"/>
                <a:cs typeface="Times New Roman"/>
                <a:sym typeface="Times New Roman"/>
              </a:rPr>
              <a:t>SQL/Persistent Stored Modules</a:t>
            </a:r>
            <a:r>
              <a:rPr lang="en-US" sz="3200" b="0" i="0" u="none">
                <a:solidFill>
                  <a:schemeClr val="dk1"/>
                </a:solidFill>
                <a:latin typeface="Times New Roman"/>
                <a:ea typeface="Times New Roman"/>
                <a:cs typeface="Times New Roman"/>
                <a:sym typeface="Times New Roman"/>
              </a:rPr>
              <a:t>)</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Extensions to SQL </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Include general-purpose programming constructs in SQL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Database Stored Procedures and Functions</a:t>
            </a:r>
            <a:endParaRPr/>
          </a:p>
        </p:txBody>
      </p:sp>
      <p:sp>
        <p:nvSpPr>
          <p:cNvPr id="206" name="Google Shape;206;p30"/>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b="1" i="0" u="none">
                <a:solidFill>
                  <a:schemeClr val="dk1"/>
                </a:solidFill>
                <a:latin typeface="Times New Roman"/>
                <a:ea typeface="Times New Roman"/>
                <a:cs typeface="Times New Roman"/>
                <a:sym typeface="Times New Roman"/>
              </a:rPr>
              <a:t>Persistent stored modules </a:t>
            </a:r>
            <a:endParaRPr/>
          </a:p>
          <a:p>
            <a:pPr marL="742950" marR="0" lvl="1" indent="-285750" algn="l" rtl="0">
              <a:lnSpc>
                <a:spcPct val="100000"/>
              </a:lnSpc>
              <a:spcBef>
                <a:spcPts val="560"/>
              </a:spcBef>
              <a:spcAft>
                <a:spcPts val="0"/>
              </a:spcAft>
              <a:buClr>
                <a:schemeClr val="dk1"/>
              </a:buClr>
              <a:buSzPts val="2800"/>
              <a:buFont typeface="Times New Roman"/>
              <a:buChar char="–"/>
            </a:pPr>
            <a:r>
              <a:rPr lang="en-US" sz="2800" b="0" i="0" u="none" strike="noStrike" cap="none">
                <a:solidFill>
                  <a:schemeClr val="dk1"/>
                </a:solidFill>
                <a:latin typeface="Times New Roman"/>
                <a:ea typeface="Times New Roman"/>
                <a:cs typeface="Times New Roman"/>
                <a:sym typeface="Times New Roman"/>
              </a:rPr>
              <a:t>Stored persistently by the DBMS</a:t>
            </a:r>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Useful:</a:t>
            </a:r>
            <a:endParaRPr/>
          </a:p>
          <a:p>
            <a:pPr marL="742950" marR="0" lvl="1" indent="-285750" algn="l" rtl="0">
              <a:lnSpc>
                <a:spcPct val="100000"/>
              </a:lnSpc>
              <a:spcBef>
                <a:spcPts val="48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When database program is needed by several applications</a:t>
            </a:r>
            <a:endParaRPr/>
          </a:p>
          <a:p>
            <a:pPr marL="742950" marR="0" lvl="1" indent="-285750" algn="l" rtl="0">
              <a:lnSpc>
                <a:spcPct val="100000"/>
              </a:lnSpc>
              <a:spcBef>
                <a:spcPts val="48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To reduce data transfer and communication cost between client and server in certain situations</a:t>
            </a:r>
            <a:endParaRPr/>
          </a:p>
          <a:p>
            <a:pPr marL="742950" marR="0" lvl="1" indent="-285750" algn="l" rtl="0">
              <a:lnSpc>
                <a:spcPct val="100000"/>
              </a:lnSpc>
              <a:spcBef>
                <a:spcPts val="48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To enhance modeling power provided by views by allowing more complex types of derived data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Database Stored Procedures and Functions (cont’d.)</a:t>
            </a:r>
            <a:endParaRPr/>
          </a:p>
        </p:txBody>
      </p:sp>
      <p:sp>
        <p:nvSpPr>
          <p:cNvPr id="212" name="Google Shape;212;p3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b="0" i="0" u="none">
                <a:solidFill>
                  <a:schemeClr val="dk1"/>
                </a:solidFill>
                <a:latin typeface="Times New Roman"/>
                <a:ea typeface="Times New Roman"/>
                <a:cs typeface="Times New Roman"/>
                <a:sym typeface="Times New Roman"/>
              </a:rPr>
              <a:t>Declaring stored procedures:</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CREATE PROCEDURE &lt;procedure name&gt; (&lt;parameters&gt;)</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&lt;local declarations&gt;</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&lt;procedure body&gt; ;</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declaring a function, a return type is necessary, so the declaration form is</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CREATE FUNCTION &lt;function name&gt; (&lt;parameters&gt;)</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RETURNS &lt;return type&gt;</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&lt;local declarations&gt;</a:t>
            </a:r>
            <a:endParaRPr/>
          </a:p>
          <a:p>
            <a:pPr marL="742950" marR="0" lvl="1" indent="-285750" algn="l" rtl="0">
              <a:lnSpc>
                <a:spcPct val="100000"/>
              </a:lnSpc>
              <a:spcBef>
                <a:spcPts val="400"/>
              </a:spcBef>
              <a:spcAft>
                <a:spcPts val="0"/>
              </a:spcAft>
              <a:buClr>
                <a:schemeClr val="dk1"/>
              </a:buClr>
              <a:buSzPts val="2000"/>
              <a:buFont typeface="Courier New"/>
              <a:buNone/>
            </a:pPr>
            <a:r>
              <a:rPr lang="en-US" sz="2000" b="0" i="0" u="none" strike="noStrike" cap="none">
                <a:solidFill>
                  <a:schemeClr val="dk1"/>
                </a:solidFill>
                <a:latin typeface="Courier New"/>
                <a:ea typeface="Courier New"/>
                <a:cs typeface="Courier New"/>
                <a:sym typeface="Courier New"/>
              </a:rPr>
              <a:t>&lt;function body&gt;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4"/>
          <p:cNvSpPr txBox="1">
            <a:spLocks noGrp="1"/>
          </p:cNvSpPr>
          <p:nvPr>
            <p:ph type="title"/>
          </p:nvPr>
        </p:nvSpPr>
        <p:spPr>
          <a:xfrm>
            <a:off x="457200" y="381000"/>
            <a:ext cx="8228012"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400" b="0" i="0" u="none">
                <a:solidFill>
                  <a:schemeClr val="dk2"/>
                </a:solidFill>
                <a:latin typeface="Times New Roman"/>
                <a:ea typeface="Times New Roman"/>
                <a:cs typeface="Times New Roman"/>
                <a:sym typeface="Times New Roman"/>
              </a:rPr>
              <a:t>SQL/PSM (cont’d.)</a:t>
            </a:r>
            <a:endParaRPr/>
          </a:p>
        </p:txBody>
      </p:sp>
      <p:pic>
        <p:nvPicPr>
          <p:cNvPr id="230" name="Google Shape;230;p34"/>
          <p:cNvPicPr preferRelativeResize="0"/>
          <p:nvPr/>
        </p:nvPicPr>
        <p:blipFill rotWithShape="1">
          <a:blip r:embed="rId3">
            <a:alphaModFix/>
          </a:blip>
          <a:srcRect/>
          <a:stretch/>
        </p:blipFill>
        <p:spPr>
          <a:xfrm>
            <a:off x="228600" y="2057400"/>
            <a:ext cx="8278812" cy="2819400"/>
          </a:xfrm>
          <a:prstGeom prst="rect">
            <a:avLst/>
          </a:prstGeom>
          <a:noFill/>
          <a:ln>
            <a:noFill/>
          </a:ln>
        </p:spPr>
      </p:pic>
      <p:cxnSp>
        <p:nvCxnSpPr>
          <p:cNvPr id="231" name="Google Shape;231;p34"/>
          <p:cNvCxnSpPr/>
          <p:nvPr/>
        </p:nvCxnSpPr>
        <p:spPr>
          <a:xfrm>
            <a:off x="2667000" y="2590800"/>
            <a:ext cx="4343400" cy="0"/>
          </a:xfrm>
          <a:prstGeom prst="straightConnector1">
            <a:avLst/>
          </a:prstGeom>
          <a:noFill/>
          <a:ln w="9525" cap="flat" cmpd="sng">
            <a:solidFill>
              <a:srgbClr val="FF0000"/>
            </a:solidFill>
            <a:prstDash val="solid"/>
            <a:miter lim="800000"/>
            <a:headEnd type="none" w="med" len="med"/>
            <a:tailEnd type="non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37" descr="images.png"/>
          <p:cNvPicPr preferRelativeResize="0">
            <a:picLocks noGrp="1"/>
          </p:cNvPicPr>
          <p:nvPr>
            <p:ph type="body" idx="1"/>
          </p:nvPr>
        </p:nvPicPr>
        <p:blipFill rotWithShape="1">
          <a:blip r:embed="rId3">
            <a:alphaModFix/>
          </a:blip>
          <a:srcRect/>
          <a:stretch/>
        </p:blipFill>
        <p:spPr>
          <a:xfrm>
            <a:off x="611187" y="620713"/>
            <a:ext cx="7489825" cy="3444294"/>
          </a:xfrm>
          <a:prstGeom prst="rect">
            <a:avLst/>
          </a:prstGeom>
          <a:noFill/>
          <a:ln>
            <a:noFill/>
          </a:ln>
        </p:spPr>
      </p:pic>
      <p:sp>
        <p:nvSpPr>
          <p:cNvPr id="249" name="Google Shape;249;p37"/>
          <p:cNvSpPr txBox="1"/>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Times New Roman"/>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18</a:t>
            </a:fld>
            <a:endParaRPr/>
          </a:p>
        </p:txBody>
      </p:sp>
      <p:sp>
        <p:nvSpPr>
          <p:cNvPr id="250" name="Google Shape;250;p37" descr="SQL Injection Attacks — Web-based App Security, Part 4 | Spanning"/>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1" name="Google Shape;251;p37" descr="SQL Injection Attacks — Web-based App Security, Part 4 | Spanning"/>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2" name="Google Shape;252;p37" descr="SQL Injection Attacks — Web-based App Security, Part 4 | Spanning"/>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3" name="Google Shape;253;p37" descr="What is the SQL injection attack? - The Security Buddy"/>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4" name="Google Shape;254;p37" descr="What is the SQL injection attack? - The Security Buddy"/>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5" name="Google Shape;255;p37" descr="What is the SQL injection attack? - The Security Buddy"/>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6" name="Google Shape;256;p37" descr="SQL Injection Vulnerability | SecureFlag Security Knowledge Base"/>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7" name="Google Shape;257;p37" descr="SQL Injection Vulnerability | SecureFlag Security Knowledge Base"/>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258" name="Google Shape;258;p37" descr="SQL Injection Vulnerability | SecureFlag Security Knowledge Base"/>
          <p:cNvSpPr txBox="1"/>
          <p:nvPr/>
        </p:nvSpPr>
        <p:spPr>
          <a:xfrm>
            <a:off x="168275" y="-1825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861DB7EC-463B-BE7D-9BF3-05FAAF7DC59F}"/>
              </a:ext>
            </a:extLst>
          </p:cNvPr>
          <p:cNvSpPr txBox="1"/>
          <p:nvPr/>
        </p:nvSpPr>
        <p:spPr>
          <a:xfrm>
            <a:off x="828392" y="4230231"/>
            <a:ext cx="7629808" cy="1384995"/>
          </a:xfrm>
          <a:prstGeom prst="rect">
            <a:avLst/>
          </a:prstGeom>
          <a:noFill/>
        </p:spPr>
        <p:txBody>
          <a:bodyPr wrap="square">
            <a:spAutoFit/>
          </a:bodyPr>
          <a:lstStyle/>
          <a:p>
            <a:pPr algn="just"/>
            <a:r>
              <a:rPr lang="en-IN" b="1" dirty="0"/>
              <a:t>SQL injection</a:t>
            </a:r>
            <a:r>
              <a:rPr lang="en-IN" dirty="0"/>
              <a:t> is a serious security vulnerability that allows attackers to manipulate SQL queries by injecting malicious SQL code through user inputs, potentially compromising the integrity of your database and application. The best way to prevent SQL injection is to ensure that user inputs are never directly inserted into SQL queries. Instead, use secure methods like </a:t>
            </a:r>
            <a:r>
              <a:rPr lang="en-IN" b="1" dirty="0"/>
              <a:t>prepared statements</a:t>
            </a:r>
            <a:r>
              <a:rPr lang="en-IN" dirty="0"/>
              <a:t>, </a:t>
            </a:r>
            <a:r>
              <a:rPr lang="en-IN" b="1" dirty="0"/>
              <a:t>parameterized queries</a:t>
            </a:r>
            <a:r>
              <a:rPr lang="en-IN" dirty="0"/>
              <a:t>, and other best practices to prevent unauthorized access and manipulation of data.</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1115</Words>
  <Application>Microsoft Office PowerPoint</Application>
  <PresentationFormat>On-screen Show (4:3)</PresentationFormat>
  <Paragraphs>115</Paragraphs>
  <Slides>18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Century</vt:lpstr>
      <vt:lpstr>Century Gothic</vt:lpstr>
      <vt:lpstr>Courier New</vt:lpstr>
      <vt:lpstr>Times New Roman</vt:lpstr>
      <vt:lpstr>Arial</vt:lpstr>
      <vt:lpstr>Default Design</vt:lpstr>
      <vt:lpstr>Introducing SQL Into the Application</vt:lpstr>
      <vt:lpstr>Interactive vs. Non-Interactive SQL</vt:lpstr>
      <vt:lpstr>Introducing SQL Into the Application</vt:lpstr>
      <vt:lpstr>Statement Level Interface</vt:lpstr>
      <vt:lpstr>Statement Level Interface</vt:lpstr>
      <vt:lpstr>PowerPoint Presentation</vt:lpstr>
      <vt:lpstr>Dynamic SQL</vt:lpstr>
      <vt:lpstr>PowerPoint Presentation</vt:lpstr>
      <vt:lpstr>Call Level Interface</vt:lpstr>
      <vt:lpstr>Dynamic SQL</vt:lpstr>
      <vt:lpstr>JDBC</vt:lpstr>
      <vt:lpstr>JDBC: SQL Function Calls for Java Programming</vt:lpstr>
      <vt:lpstr>SQLJ: Embedding SQL Commands in Java</vt:lpstr>
      <vt:lpstr>Database Stored Procedures and SQL/PSM</vt:lpstr>
      <vt:lpstr>Database Stored Procedures and Functions</vt:lpstr>
      <vt:lpstr>Database Stored Procedures and Functions (cont’d.)</vt:lpstr>
      <vt:lpstr>SQL/PSM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LENOVO</cp:lastModifiedBy>
  <cp:revision>3</cp:revision>
  <dcterms:modified xsi:type="dcterms:W3CDTF">2025-01-30T00:05:39Z</dcterms:modified>
</cp:coreProperties>
</file>