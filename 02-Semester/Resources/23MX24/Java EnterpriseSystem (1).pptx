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grUen/j3KpCyVe87K0fQYptTJV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27" name="Shape 27"/>
        <p:cNvGrpSpPr/>
        <p:nvPr/>
      </p:nvGrpSpPr>
      <p:grpSpPr>
        <a:xfrm>
          <a:off x="0" y="0"/>
          <a:ext cx="0" cy="0"/>
          <a:chOff x="0" y="0"/>
          <a:chExt cx="0" cy="0"/>
        </a:xfrm>
      </p:grpSpPr>
      <p:sp>
        <p:nvSpPr>
          <p:cNvPr id="28" name="Google Shape;2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8"/>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38"/>
          <p:cNvSpPr txBox="1"/>
          <p:nvPr>
            <p:ph idx="11" type="ftr"/>
          </p:nvPr>
        </p:nvSpPr>
        <p:spPr>
          <a:xfrm>
            <a:off x="2743200" y="6400801"/>
            <a:ext cx="38100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8"/>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38"/>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0" name="Google Shape;4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6" name="Google Shape;4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7" name="Google Shape;4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3" name="Google Shape;5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4" name="Google Shape;5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5" name="Google Shape;5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6" name="Google Shape;5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5"/>
          <p:cNvSpPr/>
          <p:nvPr>
            <p:ph idx="2" type="pic"/>
          </p:nvPr>
        </p:nvSpPr>
        <p:spPr>
          <a:xfrm>
            <a:off x="1792288" y="612775"/>
            <a:ext cx="5486400" cy="4114800"/>
          </a:xfrm>
          <a:prstGeom prst="rect">
            <a:avLst/>
          </a:prstGeom>
          <a:noFill/>
          <a:ln>
            <a:noFill/>
          </a:ln>
        </p:spPr>
      </p:sp>
      <p:sp>
        <p:nvSpPr>
          <p:cNvPr id="74" name="Google Shape;7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5" name="Google Shape;7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0.jpg"/><Relationship Id="rId4" Type="http://schemas.openxmlformats.org/officeDocument/2006/relationships/image" Target="../media/image19.jpg"/><Relationship Id="rId5"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7.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Java Enterprise System</a:t>
            </a:r>
            <a:endParaRPr/>
          </a:p>
        </p:txBody>
      </p:sp>
      <p:sp>
        <p:nvSpPr>
          <p:cNvPr id="95" name="Google Shape;95;p1"/>
          <p:cNvSpPr txBox="1"/>
          <p:nvPr>
            <p:ph idx="1" type="subTitle"/>
          </p:nvPr>
        </p:nvSpPr>
        <p:spPr>
          <a:xfrm>
            <a:off x="990600" y="3886200"/>
            <a:ext cx="7391400" cy="17526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lnSpc>
                <a:spcPct val="100000"/>
              </a:lnSpc>
              <a:spcBef>
                <a:spcPts val="0"/>
              </a:spcBef>
              <a:spcAft>
                <a:spcPts val="0"/>
              </a:spcAft>
              <a:buClr>
                <a:srgbClr val="002060"/>
              </a:buClr>
              <a:buSzPct val="100000"/>
              <a:buNone/>
            </a:pPr>
            <a:r>
              <a:rPr lang="en-US">
                <a:solidFill>
                  <a:srgbClr val="002060"/>
                </a:solidFill>
              </a:rPr>
              <a:t>Solving computing problems in a</a:t>
            </a:r>
            <a:endParaRPr/>
          </a:p>
          <a:p>
            <a:pPr indent="0" lvl="0" marL="0" rtl="0" algn="ctr">
              <a:lnSpc>
                <a:spcPct val="100000"/>
              </a:lnSpc>
              <a:spcBef>
                <a:spcPts val="544"/>
              </a:spcBef>
              <a:spcAft>
                <a:spcPts val="0"/>
              </a:spcAft>
              <a:buClr>
                <a:srgbClr val="002060"/>
              </a:buClr>
              <a:buSzPct val="100000"/>
              <a:buNone/>
            </a:pPr>
            <a:r>
              <a:rPr lang="en-US">
                <a:solidFill>
                  <a:srgbClr val="002060"/>
                </a:solidFill>
              </a:rPr>
              <a:t>Distributed</a:t>
            </a:r>
            <a:endParaRPr/>
          </a:p>
          <a:p>
            <a:pPr indent="0" lvl="0" marL="0" rtl="0" algn="ctr">
              <a:lnSpc>
                <a:spcPct val="100000"/>
              </a:lnSpc>
              <a:spcBef>
                <a:spcPts val="544"/>
              </a:spcBef>
              <a:spcAft>
                <a:spcPts val="0"/>
              </a:spcAft>
              <a:buClr>
                <a:srgbClr val="002060"/>
              </a:buClr>
              <a:buSzPct val="100000"/>
              <a:buNone/>
            </a:pPr>
            <a:r>
              <a:rPr lang="en-US">
                <a:solidFill>
                  <a:srgbClr val="002060"/>
                </a:solidFill>
              </a:rPr>
              <a:t>Multi-tier</a:t>
            </a:r>
            <a:endParaRPr/>
          </a:p>
          <a:p>
            <a:pPr indent="0" lvl="0" marL="0" rtl="0" algn="ctr">
              <a:lnSpc>
                <a:spcPct val="100000"/>
              </a:lnSpc>
              <a:spcBef>
                <a:spcPts val="544"/>
              </a:spcBef>
              <a:spcAft>
                <a:spcPts val="0"/>
              </a:spcAft>
              <a:buClr>
                <a:srgbClr val="002060"/>
              </a:buClr>
              <a:buSzPct val="100000"/>
              <a:buNone/>
            </a:pPr>
            <a:r>
              <a:rPr lang="en-US">
                <a:solidFill>
                  <a:srgbClr val="002060"/>
                </a:solidFill>
              </a:rPr>
              <a:t>Server-centric environment.</a:t>
            </a:r>
            <a:endParaRPr>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Distributed</a:t>
            </a:r>
            <a:endParaRPr/>
          </a:p>
        </p:txBody>
      </p:sp>
      <p:sp>
        <p:nvSpPr>
          <p:cNvPr id="101" name="Google Shape;10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Means that the </a:t>
            </a:r>
            <a:r>
              <a:rPr i="1" lang="en-US">
                <a:solidFill>
                  <a:schemeClr val="accent2"/>
                </a:solidFill>
              </a:rPr>
              <a:t>components</a:t>
            </a:r>
            <a:r>
              <a:rPr lang="en-US"/>
              <a:t> that make up our system could be living on different machines and communicate through the network</a:t>
            </a:r>
            <a:endParaRPr/>
          </a:p>
          <a:p>
            <a:pPr indent="-342900" lvl="0" marL="342900" rtl="0" algn="l">
              <a:lnSpc>
                <a:spcPct val="100000"/>
              </a:lnSpc>
              <a:spcBef>
                <a:spcPts val="640"/>
              </a:spcBef>
              <a:spcAft>
                <a:spcPts val="0"/>
              </a:spcAft>
              <a:buClr>
                <a:schemeClr val="dk1"/>
              </a:buClr>
              <a:buSzPts val="3200"/>
              <a:buChar char="•"/>
            </a:pPr>
            <a:r>
              <a:rPr lang="en-US"/>
              <a:t>Components must be able to find each other and to communicate effectively</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descr="Distributed" id="102" name="Google Shape;102;p2"/>
          <p:cNvPicPr preferRelativeResize="0"/>
          <p:nvPr/>
        </p:nvPicPr>
        <p:blipFill rotWithShape="1">
          <a:blip r:embed="rId3">
            <a:alphaModFix/>
          </a:blip>
          <a:srcRect b="0" l="0" r="0" t="0"/>
          <a:stretch/>
        </p:blipFill>
        <p:spPr>
          <a:xfrm>
            <a:off x="2057400" y="4191000"/>
            <a:ext cx="4953000" cy="2200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Multi-tier</a:t>
            </a:r>
            <a:endParaRPr/>
          </a:p>
        </p:txBody>
      </p:sp>
      <p:sp>
        <p:nvSpPr>
          <p:cNvPr id="108" name="Google Shape;108;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In an enterprise environment we can identify components having very different roles (client, server, database) and different requirements</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descr="3tier" id="109" name="Google Shape;109;p3"/>
          <p:cNvPicPr preferRelativeResize="0"/>
          <p:nvPr/>
        </p:nvPicPr>
        <p:blipFill rotWithShape="1">
          <a:blip r:embed="rId3">
            <a:alphaModFix/>
          </a:blip>
          <a:srcRect b="0" l="0" r="0" t="0"/>
          <a:stretch/>
        </p:blipFill>
        <p:spPr>
          <a:xfrm>
            <a:off x="914400" y="4267200"/>
            <a:ext cx="6877050" cy="19034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Server centric</a:t>
            </a:r>
            <a:endParaRPr/>
          </a:p>
        </p:txBody>
      </p:sp>
      <p:sp>
        <p:nvSpPr>
          <p:cNvPr id="115" name="Google Shape;115;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Balancing workload</a:t>
            </a:r>
            <a:endParaRPr/>
          </a:p>
          <a:p>
            <a:pPr indent="-342900" lvl="0" marL="342900" rtl="0" algn="l">
              <a:lnSpc>
                <a:spcPct val="100000"/>
              </a:lnSpc>
              <a:spcBef>
                <a:spcPts val="640"/>
              </a:spcBef>
              <a:spcAft>
                <a:spcPts val="0"/>
              </a:spcAft>
              <a:buClr>
                <a:schemeClr val="dk1"/>
              </a:buClr>
              <a:buSzPts val="3200"/>
              <a:buChar char="•"/>
            </a:pPr>
            <a:r>
              <a:rPr lang="en-US"/>
              <a:t>The server performs the operations needed to solve our particular problem (</a:t>
            </a:r>
            <a:r>
              <a:rPr i="1" lang="en-US">
                <a:solidFill>
                  <a:schemeClr val="accent2"/>
                </a:solidFill>
              </a:rPr>
              <a:t>business logic</a:t>
            </a:r>
            <a:r>
              <a:rPr lang="en-US"/>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1066801" y="365126"/>
            <a:ext cx="7315200" cy="61264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Separation Of Concerns(SOC)</a:t>
            </a:r>
            <a:endParaRPr/>
          </a:p>
        </p:txBody>
      </p:sp>
      <p:sp>
        <p:nvSpPr>
          <p:cNvPr id="121" name="Google Shape;121;p5"/>
          <p:cNvSpPr txBox="1"/>
          <p:nvPr>
            <p:ph idx="1" type="body"/>
          </p:nvPr>
        </p:nvSpPr>
        <p:spPr>
          <a:xfrm>
            <a:off x="152400" y="1355762"/>
            <a:ext cx="8839200" cy="46482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Separation of Concerns  is the process of separating a software into distinct features that overlap in functionality  as little as possible. </a:t>
            </a:r>
            <a:endParaRPr/>
          </a:p>
          <a:p>
            <a:pPr indent="-342900" lvl="0" marL="342900" rtl="0" algn="just">
              <a:lnSpc>
                <a:spcPct val="100000"/>
              </a:lnSpc>
              <a:spcBef>
                <a:spcPts val="592"/>
              </a:spcBef>
              <a:spcAft>
                <a:spcPts val="0"/>
              </a:spcAft>
              <a:buClr>
                <a:schemeClr val="dk1"/>
              </a:buClr>
              <a:buSzPct val="100000"/>
              <a:buChar char="•"/>
            </a:pPr>
            <a:r>
              <a:rPr lang="en-US"/>
              <a:t>Modularity principles to be followed</a:t>
            </a:r>
            <a:endParaRPr/>
          </a:p>
          <a:p>
            <a:pPr indent="-285750" lvl="1" marL="742950" rtl="0" algn="just">
              <a:lnSpc>
                <a:spcPct val="100000"/>
              </a:lnSpc>
              <a:spcBef>
                <a:spcPts val="518"/>
              </a:spcBef>
              <a:spcAft>
                <a:spcPts val="0"/>
              </a:spcAft>
              <a:buClr>
                <a:schemeClr val="dk1"/>
              </a:buClr>
              <a:buSzPct val="100000"/>
              <a:buFont typeface="Noto Sans Symbols"/>
              <a:buChar char="✔"/>
            </a:pPr>
            <a:r>
              <a:rPr lang="en-US"/>
              <a:t>Low Coupling</a:t>
            </a:r>
            <a:endParaRPr/>
          </a:p>
          <a:p>
            <a:pPr indent="-228600" lvl="2" marL="1143000" rtl="0" algn="just">
              <a:lnSpc>
                <a:spcPct val="100000"/>
              </a:lnSpc>
              <a:spcBef>
                <a:spcPts val="444"/>
              </a:spcBef>
              <a:spcAft>
                <a:spcPts val="0"/>
              </a:spcAft>
              <a:buClr>
                <a:schemeClr val="dk1"/>
              </a:buClr>
              <a:buSzPct val="100000"/>
              <a:buFont typeface="Noto Sans Symbols"/>
              <a:buChar char="✔"/>
            </a:pPr>
            <a:r>
              <a:rPr b="1" lang="en-US"/>
              <a:t>separating unrelated parts of the code base as much as possible</a:t>
            </a:r>
            <a:r>
              <a:rPr lang="en-US"/>
              <a:t>.</a:t>
            </a:r>
            <a:endParaRPr/>
          </a:p>
          <a:p>
            <a:pPr indent="-285750" lvl="1" marL="742950" rtl="0" algn="just">
              <a:lnSpc>
                <a:spcPct val="100000"/>
              </a:lnSpc>
              <a:spcBef>
                <a:spcPts val="518"/>
              </a:spcBef>
              <a:spcAft>
                <a:spcPts val="0"/>
              </a:spcAft>
              <a:buClr>
                <a:schemeClr val="dk1"/>
              </a:buClr>
              <a:buSzPct val="100000"/>
              <a:buFont typeface="Noto Sans Symbols"/>
              <a:buChar char="✔"/>
            </a:pPr>
            <a:r>
              <a:rPr lang="en-US"/>
              <a:t>High Cohesion</a:t>
            </a:r>
            <a:endParaRPr/>
          </a:p>
          <a:p>
            <a:pPr indent="-228600" lvl="2" marL="1143000" rtl="0" algn="just">
              <a:lnSpc>
                <a:spcPct val="100000"/>
              </a:lnSpc>
              <a:spcBef>
                <a:spcPts val="444"/>
              </a:spcBef>
              <a:spcAft>
                <a:spcPts val="0"/>
              </a:spcAft>
              <a:buClr>
                <a:schemeClr val="dk1"/>
              </a:buClr>
              <a:buSzPct val="100000"/>
              <a:buFont typeface="Noto Sans Symbols"/>
              <a:buChar char="✔"/>
            </a:pPr>
            <a:r>
              <a:rPr b="1" lang="en-US"/>
              <a:t>keeping parts of a code base that are related to each other in a single place</a:t>
            </a:r>
            <a:r>
              <a:rPr lang="en-US"/>
              <a:t>.</a:t>
            </a:r>
            <a:endParaRPr/>
          </a:p>
          <a:p>
            <a:pPr indent="-342900" lvl="0" marL="342900" rtl="0" algn="just">
              <a:lnSpc>
                <a:spcPct val="100000"/>
              </a:lnSpc>
              <a:spcBef>
                <a:spcPts val="592"/>
              </a:spcBef>
              <a:spcAft>
                <a:spcPts val="0"/>
              </a:spcAft>
              <a:buClr>
                <a:schemeClr val="dk1"/>
              </a:buClr>
              <a:buSzPct val="100000"/>
              <a:buChar char="•"/>
            </a:pPr>
            <a:r>
              <a:rPr lang="en-US"/>
              <a:t> Approaches</a:t>
            </a:r>
            <a:endParaRPr/>
          </a:p>
          <a:p>
            <a:pPr indent="-285750" lvl="1" marL="742950" rtl="0" algn="just">
              <a:lnSpc>
                <a:spcPct val="100000"/>
              </a:lnSpc>
              <a:spcBef>
                <a:spcPts val="518"/>
              </a:spcBef>
              <a:spcAft>
                <a:spcPts val="0"/>
              </a:spcAft>
              <a:buClr>
                <a:schemeClr val="dk1"/>
              </a:buClr>
              <a:buSzPct val="100000"/>
              <a:buChar char="–"/>
            </a:pPr>
            <a:r>
              <a:rPr lang="en-US"/>
              <a:t>Multi-tier or Vertical Partitioning </a:t>
            </a:r>
            <a:endParaRPr/>
          </a:p>
          <a:p>
            <a:pPr indent="-285750" lvl="1" marL="742950" rtl="0" algn="just">
              <a:lnSpc>
                <a:spcPct val="100000"/>
              </a:lnSpc>
              <a:spcBef>
                <a:spcPts val="518"/>
              </a:spcBef>
              <a:spcAft>
                <a:spcPts val="0"/>
              </a:spcAft>
              <a:buClr>
                <a:schemeClr val="dk1"/>
              </a:buClr>
              <a:buSzPct val="100000"/>
              <a:buChar char="–"/>
            </a:pPr>
            <a:r>
              <a:rPr lang="en-US"/>
              <a:t>Multi-layer or Horizontal Partitioning</a:t>
            </a:r>
            <a:endParaRPr>
              <a:solidFill>
                <a:srgbClr val="FF0000"/>
              </a:solidFill>
            </a:endParaRPr>
          </a:p>
          <a:p>
            <a:pPr indent="-154940" lvl="0" marL="342900" rtl="0" algn="just">
              <a:lnSpc>
                <a:spcPct val="100000"/>
              </a:lnSpc>
              <a:spcBef>
                <a:spcPts val="592"/>
              </a:spcBef>
              <a:spcAft>
                <a:spcPts val="0"/>
              </a:spcAft>
              <a:buClr>
                <a:schemeClr val="dk1"/>
              </a:buClr>
              <a:buSzPct val="100000"/>
              <a:buNone/>
            </a:pPr>
            <a:r>
              <a:t/>
            </a:r>
            <a:endParaRPr/>
          </a:p>
        </p:txBody>
      </p:sp>
      <p:sp>
        <p:nvSpPr>
          <p:cNvPr id="122" name="Google Shape;122;p5"/>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200"/>
              <a:buNone/>
            </a:pPr>
            <a:r>
              <a:t/>
            </a:r>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type="title"/>
          </p:nvPr>
        </p:nvSpPr>
        <p:spPr>
          <a:xfrm>
            <a:off x="628650" y="365127"/>
            <a:ext cx="798195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Vertical Separation or Tiering Architecture</a:t>
            </a:r>
            <a:endParaRPr/>
          </a:p>
        </p:txBody>
      </p:sp>
      <p:sp>
        <p:nvSpPr>
          <p:cNvPr id="128" name="Google Shape;128;p6"/>
          <p:cNvSpPr txBox="1"/>
          <p:nvPr>
            <p:ph idx="1" type="body"/>
          </p:nvPr>
        </p:nvSpPr>
        <p:spPr>
          <a:xfrm>
            <a:off x="393826" y="1247115"/>
            <a:ext cx="8445374" cy="46482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lang="en-US"/>
              <a:t>Applications divided into modules of functionality.</a:t>
            </a:r>
            <a:endParaRPr/>
          </a:p>
          <a:p>
            <a:pPr indent="-342900" lvl="0" marL="342900" rtl="0" algn="l">
              <a:lnSpc>
                <a:spcPct val="100000"/>
              </a:lnSpc>
              <a:spcBef>
                <a:spcPts val="544"/>
              </a:spcBef>
              <a:spcAft>
                <a:spcPts val="0"/>
              </a:spcAft>
              <a:buClr>
                <a:schemeClr val="dk1"/>
              </a:buClr>
              <a:buSzPct val="100000"/>
              <a:buChar char="•"/>
            </a:pPr>
            <a:r>
              <a:rPr lang="en-US"/>
              <a:t>Physical structuring the Applications</a:t>
            </a:r>
            <a:endParaRPr/>
          </a:p>
          <a:p>
            <a:pPr indent="-342900" lvl="0" marL="342900" rtl="0" algn="l">
              <a:lnSpc>
                <a:spcPct val="100000"/>
              </a:lnSpc>
              <a:spcBef>
                <a:spcPts val="544"/>
              </a:spcBef>
              <a:spcAft>
                <a:spcPts val="0"/>
              </a:spcAft>
              <a:buClr>
                <a:schemeClr val="dk1"/>
              </a:buClr>
              <a:buSzPct val="100000"/>
              <a:buChar char="•"/>
            </a:pPr>
            <a:r>
              <a:rPr lang="en-US"/>
              <a:t>Each tier is replaceable Components with full functionality</a:t>
            </a:r>
            <a:endParaRPr/>
          </a:p>
          <a:p>
            <a:pPr indent="-342900" lvl="0" marL="342900" rtl="0" algn="l">
              <a:lnSpc>
                <a:spcPct val="100000"/>
              </a:lnSpc>
              <a:spcBef>
                <a:spcPts val="544"/>
              </a:spcBef>
              <a:spcAft>
                <a:spcPts val="0"/>
              </a:spcAft>
              <a:buClr>
                <a:schemeClr val="dk1"/>
              </a:buClr>
              <a:buSzPct val="100000"/>
              <a:buChar char="•"/>
            </a:pPr>
            <a:r>
              <a:rPr lang="en-US"/>
              <a:t>Pros</a:t>
            </a:r>
            <a:endParaRPr/>
          </a:p>
          <a:p>
            <a:pPr indent="-285750" lvl="1" marL="742950" rtl="0" algn="l">
              <a:lnSpc>
                <a:spcPct val="100000"/>
              </a:lnSpc>
              <a:spcBef>
                <a:spcPts val="476"/>
              </a:spcBef>
              <a:spcAft>
                <a:spcPts val="0"/>
              </a:spcAft>
              <a:buClr>
                <a:schemeClr val="dk1"/>
              </a:buClr>
              <a:buSzPct val="100000"/>
              <a:buChar char="–"/>
            </a:pPr>
            <a:r>
              <a:rPr lang="en-US"/>
              <a:t>Portability</a:t>
            </a:r>
            <a:endParaRPr/>
          </a:p>
          <a:p>
            <a:pPr indent="-285750" lvl="1" marL="742950" rtl="0" algn="l">
              <a:lnSpc>
                <a:spcPct val="100000"/>
              </a:lnSpc>
              <a:spcBef>
                <a:spcPts val="476"/>
              </a:spcBef>
              <a:spcAft>
                <a:spcPts val="0"/>
              </a:spcAft>
              <a:buClr>
                <a:schemeClr val="dk1"/>
              </a:buClr>
              <a:buSzPct val="100000"/>
              <a:buChar char="–"/>
            </a:pPr>
            <a:r>
              <a:rPr lang="en-US"/>
              <a:t>Change management</a:t>
            </a:r>
            <a:endParaRPr/>
          </a:p>
          <a:p>
            <a:pPr indent="-285750" lvl="1" marL="742950" rtl="0" algn="l">
              <a:lnSpc>
                <a:spcPct val="100000"/>
              </a:lnSpc>
              <a:spcBef>
                <a:spcPts val="476"/>
              </a:spcBef>
              <a:spcAft>
                <a:spcPts val="0"/>
              </a:spcAft>
              <a:buClr>
                <a:schemeClr val="dk1"/>
              </a:buClr>
              <a:buSzPct val="100000"/>
              <a:buChar char="–"/>
            </a:pPr>
            <a:r>
              <a:rPr lang="en-US"/>
              <a:t>Effective Resource Management</a:t>
            </a:r>
            <a:endParaRPr/>
          </a:p>
          <a:p>
            <a:pPr indent="-342900" lvl="0" marL="342900" rtl="0" algn="l">
              <a:lnSpc>
                <a:spcPct val="100000"/>
              </a:lnSpc>
              <a:spcBef>
                <a:spcPts val="544"/>
              </a:spcBef>
              <a:spcAft>
                <a:spcPts val="0"/>
              </a:spcAft>
              <a:buClr>
                <a:schemeClr val="dk1"/>
              </a:buClr>
              <a:buSzPct val="100000"/>
              <a:buChar char="•"/>
            </a:pPr>
            <a:r>
              <a:rPr lang="en-US"/>
              <a:t>Cons</a:t>
            </a:r>
            <a:endParaRPr/>
          </a:p>
          <a:p>
            <a:pPr indent="-285750" lvl="1" marL="742950" rtl="0" algn="l">
              <a:lnSpc>
                <a:spcPct val="100000"/>
              </a:lnSpc>
              <a:spcBef>
                <a:spcPts val="476"/>
              </a:spcBef>
              <a:spcAft>
                <a:spcPts val="0"/>
              </a:spcAft>
              <a:buClr>
                <a:schemeClr val="dk1"/>
              </a:buClr>
              <a:buSzPct val="100000"/>
              <a:buChar char="–"/>
            </a:pPr>
            <a:r>
              <a:rPr lang="en-US"/>
              <a:t>Complexity increased</a:t>
            </a:r>
            <a:endParaRPr/>
          </a:p>
          <a:p>
            <a:pPr indent="-285750" lvl="1" marL="742950" rtl="0" algn="l">
              <a:lnSpc>
                <a:spcPct val="100000"/>
              </a:lnSpc>
              <a:spcBef>
                <a:spcPts val="476"/>
              </a:spcBef>
              <a:spcAft>
                <a:spcPts val="0"/>
              </a:spcAft>
              <a:buClr>
                <a:schemeClr val="dk1"/>
              </a:buClr>
              <a:buSzPct val="100000"/>
              <a:buChar char="–"/>
            </a:pPr>
            <a:r>
              <a:rPr lang="en-US"/>
              <a:t>Performance decreased</a:t>
            </a:r>
            <a:endParaRPr/>
          </a:p>
          <a:p>
            <a:pPr indent="-285750" lvl="1" marL="742950" rtl="0" algn="l">
              <a:lnSpc>
                <a:spcPct val="100000"/>
              </a:lnSpc>
              <a:spcBef>
                <a:spcPts val="476"/>
              </a:spcBef>
              <a:spcAft>
                <a:spcPts val="0"/>
              </a:spcAft>
              <a:buClr>
                <a:schemeClr val="dk1"/>
              </a:buClr>
              <a:buSzPct val="100000"/>
              <a:buChar char="–"/>
            </a:pPr>
            <a:r>
              <a:rPr lang="en-US"/>
              <a:t>Uncertainty of Interoperability</a:t>
            </a:r>
            <a:endParaRPr/>
          </a:p>
        </p:txBody>
      </p:sp>
      <p:pic>
        <p:nvPicPr>
          <p:cNvPr id="129" name="Google Shape;129;p6"/>
          <p:cNvPicPr preferRelativeResize="0"/>
          <p:nvPr/>
        </p:nvPicPr>
        <p:blipFill rotWithShape="1">
          <a:blip r:embed="rId3">
            <a:alphaModFix/>
          </a:blip>
          <a:srcRect b="0" l="0" r="0" t="0"/>
          <a:stretch/>
        </p:blipFill>
        <p:spPr>
          <a:xfrm>
            <a:off x="5029200" y="2667000"/>
            <a:ext cx="3967163" cy="297180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1076794" y="365126"/>
            <a:ext cx="7381406" cy="92952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Horizontal or Layering Architecture </a:t>
            </a:r>
            <a:endParaRPr/>
          </a:p>
        </p:txBody>
      </p:sp>
      <p:sp>
        <p:nvSpPr>
          <p:cNvPr id="135" name="Google Shape;135;p7"/>
          <p:cNvSpPr txBox="1"/>
          <p:nvPr>
            <p:ph idx="1" type="body"/>
          </p:nvPr>
        </p:nvSpPr>
        <p:spPr>
          <a:xfrm>
            <a:off x="381000" y="1676400"/>
            <a:ext cx="8305800" cy="46482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lang="en-US"/>
              <a:t>Logical  Separation of Applications</a:t>
            </a:r>
            <a:endParaRPr/>
          </a:p>
          <a:p>
            <a:pPr indent="-342900" lvl="0" marL="342900" rtl="0" algn="l">
              <a:lnSpc>
                <a:spcPct val="100000"/>
              </a:lnSpc>
              <a:spcBef>
                <a:spcPts val="544"/>
              </a:spcBef>
              <a:spcAft>
                <a:spcPts val="0"/>
              </a:spcAft>
              <a:buClr>
                <a:schemeClr val="dk1"/>
              </a:buClr>
              <a:buSzPct val="100000"/>
              <a:buChar char="•"/>
            </a:pPr>
            <a:r>
              <a:rPr lang="en-US"/>
              <a:t>Hierarchical Organizations of Applications with Partial functionality</a:t>
            </a:r>
            <a:endParaRPr/>
          </a:p>
          <a:p>
            <a:pPr indent="-342900" lvl="0" marL="342900" rtl="0" algn="l">
              <a:lnSpc>
                <a:spcPct val="100000"/>
              </a:lnSpc>
              <a:spcBef>
                <a:spcPts val="544"/>
              </a:spcBef>
              <a:spcAft>
                <a:spcPts val="0"/>
              </a:spcAft>
              <a:buClr>
                <a:schemeClr val="dk1"/>
              </a:buClr>
              <a:buSzPct val="100000"/>
              <a:buChar char="•"/>
            </a:pPr>
            <a:r>
              <a:rPr lang="en-US"/>
              <a:t>Design with increasing level of abstraction</a:t>
            </a:r>
            <a:endParaRPr/>
          </a:p>
          <a:p>
            <a:pPr indent="-342900" lvl="0" marL="342900" rtl="0" algn="l">
              <a:lnSpc>
                <a:spcPct val="100000"/>
              </a:lnSpc>
              <a:spcBef>
                <a:spcPts val="544"/>
              </a:spcBef>
              <a:spcAft>
                <a:spcPts val="0"/>
              </a:spcAft>
              <a:buClr>
                <a:schemeClr val="dk1"/>
              </a:buClr>
              <a:buSzPct val="100000"/>
              <a:buChar char="•"/>
            </a:pPr>
            <a:r>
              <a:rPr lang="en-US"/>
              <a:t>Pros</a:t>
            </a:r>
            <a:endParaRPr/>
          </a:p>
          <a:p>
            <a:pPr indent="-285750" lvl="1" marL="742950" rtl="0" algn="l">
              <a:lnSpc>
                <a:spcPct val="100000"/>
              </a:lnSpc>
              <a:spcBef>
                <a:spcPts val="476"/>
              </a:spcBef>
              <a:spcAft>
                <a:spcPts val="0"/>
              </a:spcAft>
              <a:buClr>
                <a:schemeClr val="dk1"/>
              </a:buClr>
              <a:buSzPct val="100000"/>
              <a:buChar char="–"/>
            </a:pPr>
            <a:r>
              <a:rPr lang="en-US"/>
              <a:t>Support for Enhancement</a:t>
            </a:r>
            <a:endParaRPr/>
          </a:p>
          <a:p>
            <a:pPr indent="-285750" lvl="1" marL="742950" rtl="0" algn="l">
              <a:lnSpc>
                <a:spcPct val="100000"/>
              </a:lnSpc>
              <a:spcBef>
                <a:spcPts val="476"/>
              </a:spcBef>
              <a:spcAft>
                <a:spcPts val="0"/>
              </a:spcAft>
              <a:buClr>
                <a:schemeClr val="dk1"/>
              </a:buClr>
              <a:buSzPct val="100000"/>
              <a:buChar char="–"/>
            </a:pPr>
            <a:r>
              <a:rPr lang="en-US"/>
              <a:t>Reuse </a:t>
            </a:r>
            <a:endParaRPr/>
          </a:p>
          <a:p>
            <a:pPr indent="-285750" lvl="1" marL="742950" rtl="0" algn="l">
              <a:lnSpc>
                <a:spcPct val="100000"/>
              </a:lnSpc>
              <a:spcBef>
                <a:spcPts val="476"/>
              </a:spcBef>
              <a:spcAft>
                <a:spcPts val="0"/>
              </a:spcAft>
              <a:buClr>
                <a:schemeClr val="dk1"/>
              </a:buClr>
              <a:buSzPct val="100000"/>
              <a:buChar char="–"/>
            </a:pPr>
            <a:r>
              <a:rPr lang="en-US"/>
              <a:t>Handling of Abstraction with various levels</a:t>
            </a:r>
            <a:endParaRPr/>
          </a:p>
          <a:p>
            <a:pPr indent="-342900" lvl="0" marL="342900" rtl="0" algn="l">
              <a:lnSpc>
                <a:spcPct val="100000"/>
              </a:lnSpc>
              <a:spcBef>
                <a:spcPts val="544"/>
              </a:spcBef>
              <a:spcAft>
                <a:spcPts val="0"/>
              </a:spcAft>
              <a:buClr>
                <a:schemeClr val="dk1"/>
              </a:buClr>
              <a:buSzPct val="100000"/>
              <a:buChar char="•"/>
            </a:pPr>
            <a:r>
              <a:rPr lang="en-US"/>
              <a:t>Cons</a:t>
            </a:r>
            <a:endParaRPr/>
          </a:p>
          <a:p>
            <a:pPr indent="-285750" lvl="1" marL="742950" rtl="0" algn="l">
              <a:lnSpc>
                <a:spcPct val="100000"/>
              </a:lnSpc>
              <a:spcBef>
                <a:spcPts val="476"/>
              </a:spcBef>
              <a:spcAft>
                <a:spcPts val="0"/>
              </a:spcAft>
              <a:buClr>
                <a:schemeClr val="dk1"/>
              </a:buClr>
              <a:buSzPct val="100000"/>
              <a:buChar char="–"/>
            </a:pPr>
            <a:r>
              <a:rPr lang="en-US"/>
              <a:t>Topological Constraints</a:t>
            </a:r>
            <a:endParaRPr/>
          </a:p>
          <a:p>
            <a:pPr indent="-285750" lvl="1" marL="742950" rtl="0" algn="l">
              <a:lnSpc>
                <a:spcPct val="100000"/>
              </a:lnSpc>
              <a:spcBef>
                <a:spcPts val="476"/>
              </a:spcBef>
              <a:spcAft>
                <a:spcPts val="0"/>
              </a:spcAft>
              <a:buClr>
                <a:schemeClr val="dk1"/>
              </a:buClr>
              <a:buSzPct val="100000"/>
              <a:buChar char="–"/>
            </a:pPr>
            <a:r>
              <a:rPr lang="en-US"/>
              <a:t>Performance reduced due to layers</a:t>
            </a:r>
            <a:endParaRPr/>
          </a:p>
          <a:p>
            <a:pPr indent="-285750" lvl="1" marL="742950" rtl="0" algn="l">
              <a:lnSpc>
                <a:spcPct val="100000"/>
              </a:lnSpc>
              <a:spcBef>
                <a:spcPts val="476"/>
              </a:spcBef>
              <a:spcAft>
                <a:spcPts val="0"/>
              </a:spcAft>
              <a:buClr>
                <a:schemeClr val="dk1"/>
              </a:buClr>
              <a:buSzPct val="100000"/>
              <a:buChar char="–"/>
            </a:pPr>
            <a:r>
              <a:rPr lang="en-US"/>
              <a:t>Difficult to implement </a:t>
            </a:r>
            <a:endParaRPr/>
          </a:p>
          <a:p>
            <a:pPr indent="-134619" lvl="1" marL="742950" rtl="0" algn="l">
              <a:lnSpc>
                <a:spcPct val="100000"/>
              </a:lnSpc>
              <a:spcBef>
                <a:spcPts val="476"/>
              </a:spcBef>
              <a:spcAft>
                <a:spcPts val="0"/>
              </a:spcAft>
              <a:buClr>
                <a:schemeClr val="dk1"/>
              </a:buClr>
              <a:buSzPct val="100000"/>
              <a:buNone/>
            </a:pPr>
            <a:r>
              <a:t/>
            </a:r>
            <a:endParaRPr/>
          </a:p>
        </p:txBody>
      </p:sp>
      <p:sp>
        <p:nvSpPr>
          <p:cNvPr id="136" name="Google Shape;136;p7"/>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200"/>
              <a:buNone/>
            </a:pPr>
            <a:r>
              <a:t/>
            </a:r>
            <a:endParaRPr/>
          </a:p>
        </p:txBody>
      </p:sp>
      <p:sp>
        <p:nvSpPr>
          <p:cNvPr descr="OSI Model: The 7 Layers of Network Architecture – BMC Software | Blogs" id="137" name="Google Shape;137;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OSI Model: The 7 Layers of Network Architecture – BMC Software | Blogs" id="142" name="Google Shape;142;p8"/>
          <p:cNvPicPr preferRelativeResize="0"/>
          <p:nvPr/>
        </p:nvPicPr>
        <p:blipFill rotWithShape="1">
          <a:blip r:embed="rId3">
            <a:alphaModFix/>
          </a:blip>
          <a:srcRect b="0" l="0" r="0" t="0"/>
          <a:stretch/>
        </p:blipFill>
        <p:spPr>
          <a:xfrm>
            <a:off x="228600" y="152400"/>
            <a:ext cx="8683625" cy="6324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descr="OSI Model: The 7 Layers of Network Architecture – BMC Software | Blogs" id="147" name="Google Shape;147;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OSI Model: The 7 Layers of Network Architecture – BMC Software | Blogs" id="148" name="Google Shape;148;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Layer 2 vs Layer 3 Switch: Which One Do You Need? | FS Community" id="149" name="Google Shape;149;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Layer 2 vs Layer 3 Switch: Which One Do You Need? | FS Community" id="150" name="Google Shape;150;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ayered Architecture – @hgraca" id="151" name="Google Shape;151;p9"/>
          <p:cNvPicPr preferRelativeResize="0"/>
          <p:nvPr/>
        </p:nvPicPr>
        <p:blipFill rotWithShape="1">
          <a:blip r:embed="rId3">
            <a:alphaModFix/>
          </a:blip>
          <a:srcRect b="0" l="0" r="0" t="0"/>
          <a:stretch/>
        </p:blipFill>
        <p:spPr>
          <a:xfrm>
            <a:off x="228600" y="457200"/>
            <a:ext cx="7696200" cy="6172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Layers vs Tiers</a:t>
            </a:r>
            <a:endParaRPr/>
          </a:p>
        </p:txBody>
      </p:sp>
      <p:sp>
        <p:nvSpPr>
          <p:cNvPr id="157" name="Google Shape;157;p10"/>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200"/>
              <a:buNone/>
            </a:pPr>
            <a:r>
              <a:t/>
            </a:r>
            <a:endParaRPr/>
          </a:p>
        </p:txBody>
      </p:sp>
      <p:pic>
        <p:nvPicPr>
          <p:cNvPr descr="Image result for tier vs layer cake | Cake servings, Tiered cakes, Cake  decorating" id="158" name="Google Shape;158;p10"/>
          <p:cNvPicPr preferRelativeResize="0"/>
          <p:nvPr>
            <p:ph idx="1" type="body"/>
          </p:nvPr>
        </p:nvPicPr>
        <p:blipFill rotWithShape="1">
          <a:blip r:embed="rId3">
            <a:alphaModFix/>
          </a:blip>
          <a:srcRect b="0" l="0" r="0" t="0"/>
          <a:stretch/>
        </p:blipFill>
        <p:spPr>
          <a:xfrm>
            <a:off x="914400" y="2286000"/>
            <a:ext cx="7619048" cy="4253969"/>
          </a:xfrm>
          <a:prstGeom prst="rect">
            <a:avLst/>
          </a:prstGeom>
          <a:noFill/>
          <a:ln>
            <a:noFill/>
          </a:ln>
        </p:spPr>
      </p:pic>
      <p:sp>
        <p:nvSpPr>
          <p:cNvPr id="159" name="Google Shape;159;p10"/>
          <p:cNvSpPr txBox="1"/>
          <p:nvPr/>
        </p:nvSpPr>
        <p:spPr>
          <a:xfrm>
            <a:off x="990600" y="1828800"/>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10"/>
          <p:cNvSpPr/>
          <p:nvPr/>
        </p:nvSpPr>
        <p:spPr>
          <a:xfrm>
            <a:off x="838200" y="1143000"/>
            <a:ext cx="7315200" cy="9233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N-Tier</a:t>
            </a:r>
            <a:r>
              <a:rPr b="0" i="0" lang="en-US" sz="1800" u="none" cap="none" strike="noStrike">
                <a:solidFill>
                  <a:schemeClr val="dk1"/>
                </a:solidFill>
                <a:latin typeface="Calibri"/>
                <a:ea typeface="Calibri"/>
                <a:cs typeface="Calibri"/>
                <a:sym typeface="Calibri"/>
              </a:rPr>
              <a:t> refers to the actual n system components of your application.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On the other hand, </a:t>
            </a:r>
            <a:r>
              <a:rPr b="1" i="0" lang="en-US" sz="1800" u="none" cap="none" strike="noStrike">
                <a:solidFill>
                  <a:srgbClr val="FF0000"/>
                </a:solidFill>
                <a:latin typeface="Calibri"/>
                <a:ea typeface="Calibri"/>
                <a:cs typeface="Calibri"/>
                <a:sym typeface="Calibri"/>
              </a:rPr>
              <a:t>N-Layers</a:t>
            </a:r>
            <a:r>
              <a:rPr b="0" i="0" lang="en-US" sz="1800" u="none" cap="none" strike="noStrike">
                <a:solidFill>
                  <a:schemeClr val="dk1"/>
                </a:solidFill>
                <a:latin typeface="Calibri"/>
                <a:ea typeface="Calibri"/>
                <a:cs typeface="Calibri"/>
                <a:sym typeface="Calibri"/>
              </a:rPr>
              <a:t> refer to the internal architecture of your component.</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One Tier Software Architecture" id="165" name="Google Shape;165;p11"/>
          <p:cNvPicPr preferRelativeResize="0"/>
          <p:nvPr/>
        </p:nvPicPr>
        <p:blipFill rotWithShape="1">
          <a:blip r:embed="rId3">
            <a:alphaModFix/>
          </a:blip>
          <a:srcRect b="0" l="0" r="0" t="0"/>
          <a:stretch/>
        </p:blipFill>
        <p:spPr>
          <a:xfrm>
            <a:off x="533400" y="381000"/>
            <a:ext cx="7924800" cy="5715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Two Tier Software Architecture" id="170" name="Google Shape;170;p12"/>
          <p:cNvPicPr preferRelativeResize="0"/>
          <p:nvPr/>
        </p:nvPicPr>
        <p:blipFill rotWithShape="1">
          <a:blip r:embed="rId3">
            <a:alphaModFix/>
          </a:blip>
          <a:srcRect b="0" l="0" r="0" t="0"/>
          <a:stretch/>
        </p:blipFill>
        <p:spPr>
          <a:xfrm>
            <a:off x="990600" y="228600"/>
            <a:ext cx="6257925" cy="4162426"/>
          </a:xfrm>
          <a:prstGeom prst="rect">
            <a:avLst/>
          </a:prstGeom>
          <a:noFill/>
          <a:ln>
            <a:noFill/>
          </a:ln>
        </p:spPr>
      </p:pic>
      <p:sp>
        <p:nvSpPr>
          <p:cNvPr id="171" name="Google Shape;171;p12"/>
          <p:cNvSpPr/>
          <p:nvPr/>
        </p:nvSpPr>
        <p:spPr>
          <a:xfrm>
            <a:off x="1447800" y="1905000"/>
            <a:ext cx="2971800" cy="6463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Presentation and Application layers</a:t>
            </a:r>
            <a:endParaRPr b="0" i="0" sz="1800" u="none" cap="none" strike="noStrike">
              <a:solidFill>
                <a:schemeClr val="dk1"/>
              </a:solidFill>
              <a:latin typeface="Calibri"/>
              <a:ea typeface="Calibri"/>
              <a:cs typeface="Calibri"/>
              <a:sym typeface="Calibri"/>
            </a:endParaRPr>
          </a:p>
        </p:txBody>
      </p:sp>
      <p:sp>
        <p:nvSpPr>
          <p:cNvPr id="172" name="Google Shape;172;p12"/>
          <p:cNvSpPr/>
          <p:nvPr/>
        </p:nvSpPr>
        <p:spPr>
          <a:xfrm>
            <a:off x="5029200" y="1905000"/>
            <a:ext cx="1567224"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Database layer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descr="Three Tier Software Architecture" id="177" name="Google Shape;177;p13"/>
          <p:cNvPicPr preferRelativeResize="0"/>
          <p:nvPr/>
        </p:nvPicPr>
        <p:blipFill rotWithShape="1">
          <a:blip r:embed="rId3">
            <a:alphaModFix/>
          </a:blip>
          <a:srcRect b="0" l="0" r="0" t="0"/>
          <a:stretch/>
        </p:blipFill>
        <p:spPr>
          <a:xfrm>
            <a:off x="304800" y="1295400"/>
            <a:ext cx="8077200" cy="4343400"/>
          </a:xfrm>
          <a:prstGeom prst="rect">
            <a:avLst/>
          </a:prstGeom>
          <a:noFill/>
          <a:ln>
            <a:noFill/>
          </a:ln>
        </p:spPr>
      </p:pic>
      <p:sp>
        <p:nvSpPr>
          <p:cNvPr id="178" name="Google Shape;178;p13"/>
          <p:cNvSpPr/>
          <p:nvPr/>
        </p:nvSpPr>
        <p:spPr>
          <a:xfrm>
            <a:off x="990600" y="2971800"/>
            <a:ext cx="1938800"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Presentation layer</a:t>
            </a:r>
            <a:endParaRPr b="0" i="0" sz="1400" u="none" cap="none" strike="noStrike">
              <a:solidFill>
                <a:srgbClr val="000000"/>
              </a:solidFill>
              <a:latin typeface="Arial"/>
              <a:ea typeface="Arial"/>
              <a:cs typeface="Arial"/>
              <a:sym typeface="Arial"/>
            </a:endParaRPr>
          </a:p>
        </p:txBody>
      </p:sp>
      <p:sp>
        <p:nvSpPr>
          <p:cNvPr id="179" name="Google Shape;179;p13"/>
          <p:cNvSpPr/>
          <p:nvPr/>
        </p:nvSpPr>
        <p:spPr>
          <a:xfrm>
            <a:off x="4038600" y="2971800"/>
            <a:ext cx="1806970"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Application layer </a:t>
            </a:r>
            <a:endParaRPr b="0" i="0" sz="1400" u="none" cap="none" strike="noStrike">
              <a:solidFill>
                <a:srgbClr val="000000"/>
              </a:solidFill>
              <a:latin typeface="Arial"/>
              <a:ea typeface="Arial"/>
              <a:cs typeface="Arial"/>
              <a:sym typeface="Arial"/>
            </a:endParaRPr>
          </a:p>
        </p:txBody>
      </p:sp>
      <p:sp>
        <p:nvSpPr>
          <p:cNvPr id="180" name="Google Shape;180;p13"/>
          <p:cNvSpPr/>
          <p:nvPr/>
        </p:nvSpPr>
        <p:spPr>
          <a:xfrm>
            <a:off x="6477000" y="2971800"/>
            <a:ext cx="1567224"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Database layer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Common 3-tier architecture</a:t>
            </a:r>
            <a:endParaRPr/>
          </a:p>
        </p:txBody>
      </p:sp>
      <p:sp>
        <p:nvSpPr>
          <p:cNvPr id="186" name="Google Shape;186;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609600" lvl="0" marL="717550" rtl="0" algn="l">
              <a:lnSpc>
                <a:spcPct val="93000"/>
              </a:lnSpc>
              <a:spcBef>
                <a:spcPts val="0"/>
              </a:spcBef>
              <a:spcAft>
                <a:spcPts val="0"/>
              </a:spcAft>
              <a:buClr>
                <a:srgbClr val="000000"/>
              </a:buClr>
              <a:buSzPct val="45000"/>
              <a:buFont typeface="Noto Sans Symbols"/>
              <a:buChar char="●"/>
            </a:pPr>
            <a:r>
              <a:rPr lang="en-US">
                <a:solidFill>
                  <a:srgbClr val="000000"/>
                </a:solidFill>
                <a:latin typeface="Arial"/>
                <a:ea typeface="Arial"/>
                <a:cs typeface="Arial"/>
                <a:sym typeface="Arial"/>
              </a:rPr>
              <a:t>Client</a:t>
            </a:r>
            <a:endParaRPr/>
          </a:p>
          <a:p>
            <a:pPr indent="-533400" lvl="1" marL="1109663" rtl="0" algn="l">
              <a:lnSpc>
                <a:spcPct val="93000"/>
              </a:lnSpc>
              <a:spcBef>
                <a:spcPts val="1943"/>
              </a:spcBef>
              <a:spcAft>
                <a:spcPts val="0"/>
              </a:spcAft>
              <a:buClr>
                <a:srgbClr val="000000"/>
              </a:buClr>
              <a:buSzPct val="75000"/>
              <a:buFont typeface="Noto Sans Symbols"/>
              <a:buChar char="–"/>
            </a:pPr>
            <a:r>
              <a:rPr lang="en-US">
                <a:solidFill>
                  <a:srgbClr val="000000"/>
                </a:solidFill>
                <a:latin typeface="Arial"/>
                <a:ea typeface="Arial"/>
                <a:cs typeface="Arial"/>
                <a:sym typeface="Arial"/>
              </a:rPr>
              <a:t>Interfaces with the user</a:t>
            </a:r>
            <a:endParaRPr/>
          </a:p>
          <a:p>
            <a:pPr indent="-609600" lvl="0" marL="717550" rtl="0" algn="l">
              <a:lnSpc>
                <a:spcPct val="93000"/>
              </a:lnSpc>
              <a:spcBef>
                <a:spcPts val="1730"/>
              </a:spcBef>
              <a:spcAft>
                <a:spcPts val="0"/>
              </a:spcAft>
              <a:buClr>
                <a:srgbClr val="000000"/>
              </a:buClr>
              <a:buSzPct val="45000"/>
              <a:buFont typeface="Noto Sans Symbols"/>
              <a:buChar char="●"/>
            </a:pPr>
            <a:r>
              <a:rPr lang="en-US">
                <a:solidFill>
                  <a:srgbClr val="000000"/>
                </a:solidFill>
                <a:latin typeface="Arial"/>
                <a:ea typeface="Arial"/>
                <a:cs typeface="Arial"/>
                <a:sym typeface="Arial"/>
              </a:rPr>
              <a:t>Server</a:t>
            </a:r>
            <a:endParaRPr/>
          </a:p>
          <a:p>
            <a:pPr indent="-533400" lvl="1" marL="1109663" rtl="0" algn="l">
              <a:lnSpc>
                <a:spcPct val="93000"/>
              </a:lnSpc>
              <a:spcBef>
                <a:spcPts val="1943"/>
              </a:spcBef>
              <a:spcAft>
                <a:spcPts val="0"/>
              </a:spcAft>
              <a:buClr>
                <a:srgbClr val="000000"/>
              </a:buClr>
              <a:buSzPct val="75000"/>
              <a:buFont typeface="Noto Sans Symbols"/>
              <a:buChar char="–"/>
            </a:pPr>
            <a:r>
              <a:rPr i="1" lang="en-US">
                <a:latin typeface="Arial"/>
                <a:ea typeface="Arial"/>
                <a:cs typeface="Arial"/>
                <a:sym typeface="Arial"/>
              </a:rPr>
              <a:t>Implements Business Logic</a:t>
            </a:r>
            <a:endParaRPr/>
          </a:p>
          <a:p>
            <a:pPr indent="-533400" lvl="1" marL="1109663" rtl="0" algn="l">
              <a:lnSpc>
                <a:spcPct val="93000"/>
              </a:lnSpc>
              <a:spcBef>
                <a:spcPts val="1656"/>
              </a:spcBef>
              <a:spcAft>
                <a:spcPts val="0"/>
              </a:spcAft>
              <a:buClr>
                <a:srgbClr val="000000"/>
              </a:buClr>
              <a:buSzPct val="75000"/>
              <a:buFont typeface="Noto Sans Symbols"/>
              <a:buChar char="–"/>
            </a:pPr>
            <a:r>
              <a:rPr lang="en-US">
                <a:solidFill>
                  <a:srgbClr val="000000"/>
                </a:solidFill>
                <a:latin typeface="Arial"/>
                <a:ea typeface="Arial"/>
                <a:cs typeface="Arial"/>
                <a:sym typeface="Arial"/>
              </a:rPr>
              <a:t>Implements Middleware</a:t>
            </a:r>
            <a:endParaRPr/>
          </a:p>
          <a:p>
            <a:pPr indent="-609600" lvl="0" marL="717550" rtl="0" algn="l">
              <a:lnSpc>
                <a:spcPct val="93000"/>
              </a:lnSpc>
              <a:spcBef>
                <a:spcPts val="1730"/>
              </a:spcBef>
              <a:spcAft>
                <a:spcPts val="0"/>
              </a:spcAft>
              <a:buClr>
                <a:srgbClr val="000000"/>
              </a:buClr>
              <a:buSzPct val="45000"/>
              <a:buFont typeface="Noto Sans Symbols"/>
              <a:buChar char="●"/>
            </a:pPr>
            <a:r>
              <a:rPr lang="en-US">
                <a:solidFill>
                  <a:srgbClr val="000000"/>
                </a:solidFill>
                <a:latin typeface="Arial"/>
                <a:ea typeface="Arial"/>
                <a:cs typeface="Arial"/>
                <a:sym typeface="Arial"/>
              </a:rPr>
              <a:t>Database</a:t>
            </a:r>
            <a:endParaRPr/>
          </a:p>
          <a:p>
            <a:pPr indent="-533400" lvl="1" marL="1109663" rtl="0" algn="l">
              <a:lnSpc>
                <a:spcPct val="93000"/>
              </a:lnSpc>
              <a:spcBef>
                <a:spcPts val="1943"/>
              </a:spcBef>
              <a:spcAft>
                <a:spcPts val="0"/>
              </a:spcAft>
              <a:buClr>
                <a:srgbClr val="000000"/>
              </a:buClr>
              <a:buSzPct val="75000"/>
              <a:buFont typeface="Noto Sans Symbols"/>
              <a:buChar char="–"/>
            </a:pPr>
            <a:r>
              <a:rPr lang="en-US">
                <a:solidFill>
                  <a:srgbClr val="000000"/>
                </a:solidFill>
                <a:latin typeface="Arial"/>
                <a:ea typeface="Arial"/>
                <a:cs typeface="Arial"/>
                <a:sym typeface="Arial"/>
              </a:rPr>
              <a:t>Persistently stores data</a:t>
            </a:r>
            <a:endParaRPr/>
          </a:p>
          <a:p>
            <a:pPr indent="-533400" lvl="1" marL="1109663" rtl="0" algn="l">
              <a:lnSpc>
                <a:spcPct val="93000"/>
              </a:lnSpc>
              <a:spcBef>
                <a:spcPts val="1656"/>
              </a:spcBef>
              <a:spcAft>
                <a:spcPts val="0"/>
              </a:spcAft>
              <a:buClr>
                <a:srgbClr val="000000"/>
              </a:buClr>
              <a:buSzPct val="75000"/>
              <a:buFont typeface="Noto Sans Symbols"/>
              <a:buChar char="–"/>
            </a:pPr>
            <a:r>
              <a:rPr lang="en-US">
                <a:solidFill>
                  <a:srgbClr val="000000"/>
                </a:solidFill>
                <a:latin typeface="Arial"/>
                <a:ea typeface="Arial"/>
                <a:cs typeface="Arial"/>
                <a:sym typeface="Arial"/>
              </a:rPr>
              <a:t>Retrieves stored data</a:t>
            </a:r>
            <a:endParaRPr/>
          </a:p>
          <a:p>
            <a:pPr indent="-154940" lvl="0" marL="342900" rtl="0" algn="l">
              <a:lnSpc>
                <a:spcPct val="100000"/>
              </a:lnSpc>
              <a:spcBef>
                <a:spcPts val="1730"/>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2-Tier vs. 3-Tier Application Architecture? Could the Winner be 2-Tier? -  Nitrosphere" id="191" name="Google Shape;191;p15"/>
          <p:cNvPicPr preferRelativeResize="0"/>
          <p:nvPr/>
        </p:nvPicPr>
        <p:blipFill rotWithShape="1">
          <a:blip r:embed="rId3">
            <a:alphaModFix/>
          </a:blip>
          <a:srcRect b="0" l="0" r="0" t="0"/>
          <a:stretch/>
        </p:blipFill>
        <p:spPr>
          <a:xfrm>
            <a:off x="381000" y="838200"/>
            <a:ext cx="8531225" cy="5562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N-Tier application(Distributed application)</a:t>
            </a:r>
            <a:endParaRPr/>
          </a:p>
        </p:txBody>
      </p:sp>
      <p:sp>
        <p:nvSpPr>
          <p:cNvPr id="197" name="Google Shape;197;p16"/>
          <p:cNvSpPr txBox="1"/>
          <p:nvPr>
            <p:ph idx="1" type="body"/>
          </p:nvPr>
        </p:nvSpPr>
        <p:spPr>
          <a:xfrm>
            <a:off x="457200" y="1600200"/>
            <a:ext cx="8229600" cy="3588675"/>
          </a:xfrm>
          <a:prstGeom prst="rect">
            <a:avLst/>
          </a:prstGeom>
          <a:noFill/>
          <a:ln>
            <a:noFill/>
          </a:ln>
        </p:spPr>
        <p:txBody>
          <a:bodyPr anchorCtr="0" anchor="t" bIns="45700" lIns="91425" spcFirstLastPara="1" rIns="91425" wrap="square" tIns="45700">
            <a:spAutoFit/>
          </a:bodyPr>
          <a:lstStyle/>
          <a:p>
            <a:pPr indent="-342900" lvl="0" marL="342900" rtl="0" algn="just">
              <a:lnSpc>
                <a:spcPct val="100000"/>
              </a:lnSpc>
              <a:spcBef>
                <a:spcPts val="0"/>
              </a:spcBef>
              <a:spcAft>
                <a:spcPts val="0"/>
              </a:spcAft>
              <a:buClr>
                <a:schemeClr val="dk1"/>
              </a:buClr>
              <a:buSzPts val="2800"/>
              <a:buChar char="•"/>
            </a:pPr>
            <a:r>
              <a:rPr lang="en-US" sz="2800"/>
              <a:t>similar to three tier architecture but number of application servers are increased and represented in individual tiers in order to distributed the business logic so that the logic will be distributed.</a:t>
            </a:r>
            <a:endParaRPr/>
          </a:p>
          <a:p>
            <a:pPr indent="-139700" lvl="0" marL="342900" rtl="0" algn="just">
              <a:lnSpc>
                <a:spcPct val="100000"/>
              </a:lnSpc>
              <a:spcBef>
                <a:spcPts val="640"/>
              </a:spcBef>
              <a:spcAft>
                <a:spcPts val="0"/>
              </a:spcAft>
              <a:buClr>
                <a:schemeClr val="dk1"/>
              </a:buClr>
              <a:buSzPts val="3200"/>
              <a:buNone/>
            </a:pPr>
            <a:r>
              <a:t/>
            </a:r>
            <a:endParaRPr/>
          </a:p>
          <a:p>
            <a:pPr indent="-139700" lvl="0" marL="342900" rtl="0" algn="just">
              <a:lnSpc>
                <a:spcPct val="100000"/>
              </a:lnSpc>
              <a:spcBef>
                <a:spcPts val="640"/>
              </a:spcBef>
              <a:spcAft>
                <a:spcPts val="0"/>
              </a:spcAft>
              <a:buClr>
                <a:schemeClr val="dk1"/>
              </a:buClr>
              <a:buSzPts val="3200"/>
              <a:buNone/>
            </a:pPr>
            <a:r>
              <a:t/>
            </a:r>
            <a:endParaRPr/>
          </a:p>
          <a:p>
            <a:pPr indent="-139700" lvl="0" marL="342900" rtl="0" algn="just">
              <a:lnSpc>
                <a:spcPct val="100000"/>
              </a:lnSpc>
              <a:spcBef>
                <a:spcPts val="640"/>
              </a:spcBef>
              <a:spcAft>
                <a:spcPts val="0"/>
              </a:spcAft>
              <a:buClr>
                <a:schemeClr val="dk1"/>
              </a:buClr>
              <a:buSzPts val="3200"/>
              <a:buNone/>
            </a:pPr>
            <a:r>
              <a:t/>
            </a:r>
            <a:endParaRPr/>
          </a:p>
        </p:txBody>
      </p:sp>
      <p:pic>
        <p:nvPicPr>
          <p:cNvPr descr="Three-tiered architecture diagram" id="198" name="Google Shape;198;p16"/>
          <p:cNvPicPr preferRelativeResize="0"/>
          <p:nvPr/>
        </p:nvPicPr>
        <p:blipFill rotWithShape="1">
          <a:blip r:embed="rId3">
            <a:alphaModFix/>
          </a:blip>
          <a:srcRect b="0" l="0" r="0" t="0"/>
          <a:stretch/>
        </p:blipFill>
        <p:spPr>
          <a:xfrm>
            <a:off x="1219200" y="2895600"/>
            <a:ext cx="6477000" cy="3352800"/>
          </a:xfrm>
          <a:prstGeom prst="rect">
            <a:avLst/>
          </a:prstGeom>
          <a:noFill/>
          <a:ln>
            <a:noFill/>
          </a:ln>
        </p:spPr>
      </p:pic>
      <p:sp>
        <p:nvSpPr>
          <p:cNvPr id="199" name="Google Shape;199;p16"/>
          <p:cNvSpPr txBox="1"/>
          <p:nvPr/>
        </p:nvSpPr>
        <p:spPr>
          <a:xfrm>
            <a:off x="5943600" y="4267200"/>
            <a:ext cx="23622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Calibri"/>
                <a:ea typeface="Calibri"/>
                <a:cs typeface="Calibri"/>
                <a:sym typeface="Calibri"/>
              </a:rPr>
              <a:t>Increased number of Application servers</a:t>
            </a:r>
            <a:endParaRPr b="0" i="0" sz="1800" u="none" cap="none" strike="noStrike">
              <a:solidFill>
                <a:srgbClr val="FF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idx="4294967295" type="title"/>
          </p:nvPr>
        </p:nvSpPr>
        <p:spPr>
          <a:xfrm>
            <a:off x="2301875" y="365125"/>
            <a:ext cx="6842125" cy="124618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N-Tier or Multi-tier Architecture</a:t>
            </a:r>
            <a:br>
              <a:rPr lang="en-US"/>
            </a:br>
            <a:r>
              <a:rPr lang="en-US"/>
              <a:t>(Unlimited Tiers)</a:t>
            </a:r>
            <a:endParaRPr/>
          </a:p>
        </p:txBody>
      </p:sp>
      <p:sp>
        <p:nvSpPr>
          <p:cNvPr id="205" name="Google Shape;205;p17"/>
          <p:cNvSpPr txBox="1"/>
          <p:nvPr/>
        </p:nvSpPr>
        <p:spPr>
          <a:xfrm>
            <a:off x="685800" y="1447800"/>
            <a:ext cx="3293198" cy="5078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Pros: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Powerful Architecture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Improved Maintainability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Provide Consistency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Inter- operability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Scalability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Division of Work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Efficient Change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Cons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Software is More Complex</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Complicated Design and Model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Performance Risk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How to achieve Reliability</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6" name="Google Shape;206;p17"/>
          <p:cNvPicPr preferRelativeResize="0"/>
          <p:nvPr/>
        </p:nvPicPr>
        <p:blipFill rotWithShape="1">
          <a:blip r:embed="rId3">
            <a:alphaModFix/>
          </a:blip>
          <a:srcRect b="0" l="0" r="0" t="0"/>
          <a:stretch/>
        </p:blipFill>
        <p:spPr>
          <a:xfrm>
            <a:off x="4114800" y="2024669"/>
            <a:ext cx="4820769" cy="42237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B050"/>
              </a:buClr>
              <a:buSzPts val="7200"/>
              <a:buNone/>
            </a:pPr>
            <a:r>
              <a:rPr lang="en-US" sz="7200">
                <a:solidFill>
                  <a:srgbClr val="00B050"/>
                </a:solidFill>
              </a:rPr>
              <a:t>Above ALL in J2EE</a:t>
            </a:r>
            <a:endParaRPr/>
          </a:p>
          <a:p>
            <a:pPr indent="0" lvl="0" marL="0" rtl="0" algn="l">
              <a:lnSpc>
                <a:spcPct val="100000"/>
              </a:lnSpc>
              <a:spcBef>
                <a:spcPts val="400"/>
              </a:spcBef>
              <a:spcAft>
                <a:spcPts val="0"/>
              </a:spcAft>
              <a:buClr>
                <a:srgbClr val="888888"/>
              </a:buClr>
              <a:buSzPts val="2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is J2EE (or JEE)</a:t>
            </a:r>
            <a:endParaRPr/>
          </a:p>
        </p:txBody>
      </p:sp>
      <p:sp>
        <p:nvSpPr>
          <p:cNvPr id="217" name="Google Shape;21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lang="en-US"/>
              <a:t>Short for </a:t>
            </a:r>
            <a:r>
              <a:rPr b="1" i="1" lang="en-US"/>
              <a:t>J</a:t>
            </a:r>
            <a:r>
              <a:rPr i="1" lang="en-US"/>
              <a:t>ava </a:t>
            </a:r>
            <a:r>
              <a:rPr b="1" i="1" lang="en-US"/>
              <a:t>2</a:t>
            </a:r>
            <a:r>
              <a:rPr i="1" lang="en-US"/>
              <a:t> Platform </a:t>
            </a:r>
            <a:r>
              <a:rPr b="1" i="1" lang="en-US"/>
              <a:t>E</a:t>
            </a:r>
            <a:r>
              <a:rPr i="1" lang="en-US"/>
              <a:t>nterprise </a:t>
            </a:r>
            <a:r>
              <a:rPr b="1" i="1" lang="en-US"/>
              <a:t>E</a:t>
            </a:r>
            <a:r>
              <a:rPr i="1" lang="en-US"/>
              <a:t>dition</a:t>
            </a:r>
            <a:r>
              <a:rPr lang="en-US"/>
              <a:t>. </a:t>
            </a:r>
            <a:endParaRPr/>
          </a:p>
          <a:p>
            <a:pPr indent="-342900" lvl="0" marL="342900" rtl="0" algn="l">
              <a:lnSpc>
                <a:spcPct val="100000"/>
              </a:lnSpc>
              <a:spcBef>
                <a:spcPts val="640"/>
              </a:spcBef>
              <a:spcAft>
                <a:spcPts val="0"/>
              </a:spcAft>
              <a:buClr>
                <a:schemeClr val="dk1"/>
              </a:buClr>
              <a:buSzPts val="3200"/>
              <a:buChar char="•"/>
            </a:pPr>
            <a:r>
              <a:rPr lang="en-US"/>
              <a:t>J2EE is a platform-independent, Java-centric environment from Sun/Oracle for developing, building and deploying Web-based enterprise applications online. </a:t>
            </a:r>
            <a:endParaRPr/>
          </a:p>
          <a:p>
            <a:pPr indent="-342900" lvl="0" marL="342900" rtl="0" algn="l">
              <a:lnSpc>
                <a:spcPct val="100000"/>
              </a:lnSpc>
              <a:spcBef>
                <a:spcPts val="640"/>
              </a:spcBef>
              <a:spcAft>
                <a:spcPts val="0"/>
              </a:spcAft>
              <a:buClr>
                <a:schemeClr val="dk1"/>
              </a:buClr>
              <a:buSzPts val="3200"/>
              <a:buChar char="•"/>
            </a:pPr>
            <a:r>
              <a:rPr lang="en-US"/>
              <a:t>The J2EE platform consists of a set of services, APIs, and protocols that provide the functionality for developing multi-tiered, Web-based applications.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History </a:t>
            </a:r>
            <a:endParaRPr/>
          </a:p>
        </p:txBody>
      </p:sp>
      <p:sp>
        <p:nvSpPr>
          <p:cNvPr id="223" name="Google Shape;223;p20"/>
          <p:cNvSpPr txBox="1"/>
          <p:nvPr>
            <p:ph idx="1" type="body"/>
          </p:nvPr>
        </p:nvSpPr>
        <p:spPr>
          <a:xfrm>
            <a:off x="228600" y="16764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None/>
            </a:pPr>
            <a:r>
              <a:rPr lang="en-US"/>
              <a:t>    The platform was known as </a:t>
            </a:r>
            <a:r>
              <a:rPr i="1" lang="en-US"/>
              <a:t>Java 2 Platform</a:t>
            </a:r>
            <a:r>
              <a:rPr i="1" lang="en-US">
                <a:solidFill>
                  <a:srgbClr val="00B050"/>
                </a:solidFill>
              </a:rPr>
              <a:t>,( WORA)</a:t>
            </a:r>
            <a:endParaRPr i="1">
              <a:solidFill>
                <a:srgbClr val="00B050"/>
              </a:solidFill>
            </a:endParaRPr>
          </a:p>
          <a:p>
            <a:pPr indent="-342900" lvl="0" marL="342900" rtl="0" algn="l">
              <a:lnSpc>
                <a:spcPct val="100000"/>
              </a:lnSpc>
              <a:spcBef>
                <a:spcPts val="496"/>
              </a:spcBef>
              <a:spcAft>
                <a:spcPts val="0"/>
              </a:spcAft>
              <a:buClr>
                <a:schemeClr val="dk1"/>
              </a:buClr>
              <a:buSzPct val="100000"/>
              <a:buNone/>
            </a:pPr>
            <a:r>
              <a:rPr i="1" lang="en-US"/>
              <a:t>Sun micro system🡪   oracle corporation</a:t>
            </a:r>
            <a:endParaRPr/>
          </a:p>
          <a:p>
            <a:pPr indent="-342900" lvl="0" marL="342900" rtl="0" algn="l">
              <a:lnSpc>
                <a:spcPct val="100000"/>
              </a:lnSpc>
              <a:spcBef>
                <a:spcPts val="496"/>
              </a:spcBef>
              <a:spcAft>
                <a:spcPts val="0"/>
              </a:spcAft>
              <a:buClr>
                <a:schemeClr val="dk1"/>
              </a:buClr>
              <a:buSzPct val="100000"/>
              <a:buChar char="•"/>
            </a:pPr>
            <a:r>
              <a:rPr lang="en-US"/>
              <a:t>J2EE 1.2 (December 12, 1999)</a:t>
            </a:r>
            <a:endParaRPr/>
          </a:p>
          <a:p>
            <a:pPr indent="-342900" lvl="0" marL="342900" rtl="0" algn="l">
              <a:lnSpc>
                <a:spcPct val="100000"/>
              </a:lnSpc>
              <a:spcBef>
                <a:spcPts val="496"/>
              </a:spcBef>
              <a:spcAft>
                <a:spcPts val="0"/>
              </a:spcAft>
              <a:buClr>
                <a:schemeClr val="dk1"/>
              </a:buClr>
              <a:buSzPct val="100000"/>
              <a:buChar char="•"/>
            </a:pPr>
            <a:r>
              <a:rPr lang="en-US"/>
              <a:t>J2EE 1.3 (September 24, 2001)</a:t>
            </a:r>
            <a:endParaRPr/>
          </a:p>
          <a:p>
            <a:pPr indent="-342900" lvl="0" marL="342900" rtl="0" algn="l">
              <a:lnSpc>
                <a:spcPct val="100000"/>
              </a:lnSpc>
              <a:spcBef>
                <a:spcPts val="496"/>
              </a:spcBef>
              <a:spcAft>
                <a:spcPts val="0"/>
              </a:spcAft>
              <a:buClr>
                <a:schemeClr val="dk1"/>
              </a:buClr>
              <a:buSzPct val="100000"/>
              <a:buChar char="•"/>
            </a:pPr>
            <a:r>
              <a:rPr lang="en-US"/>
              <a:t>J2EE 1.4 (November 11, 2003)</a:t>
            </a:r>
            <a:endParaRPr/>
          </a:p>
          <a:p>
            <a:pPr indent="-342900" lvl="0" marL="342900" rtl="0" algn="l">
              <a:lnSpc>
                <a:spcPct val="100000"/>
              </a:lnSpc>
              <a:spcBef>
                <a:spcPts val="496"/>
              </a:spcBef>
              <a:spcAft>
                <a:spcPts val="0"/>
              </a:spcAft>
              <a:buClr>
                <a:schemeClr val="dk1"/>
              </a:buClr>
              <a:buSzPct val="100000"/>
              <a:buChar char="•"/>
            </a:pPr>
            <a:r>
              <a:rPr lang="en-US"/>
              <a:t>Java EE 5 (May 11, 2006)</a:t>
            </a:r>
            <a:endParaRPr/>
          </a:p>
          <a:p>
            <a:pPr indent="-342900" lvl="0" marL="342900" rtl="0" algn="l">
              <a:lnSpc>
                <a:spcPct val="100000"/>
              </a:lnSpc>
              <a:spcBef>
                <a:spcPts val="496"/>
              </a:spcBef>
              <a:spcAft>
                <a:spcPts val="0"/>
              </a:spcAft>
              <a:buClr>
                <a:schemeClr val="dk1"/>
              </a:buClr>
              <a:buSzPct val="100000"/>
              <a:buChar char="•"/>
            </a:pPr>
            <a:r>
              <a:rPr lang="en-US"/>
              <a:t>Java EE 6 (December 10, 2009)</a:t>
            </a:r>
            <a:endParaRPr/>
          </a:p>
          <a:p>
            <a:pPr indent="-342900" lvl="0" marL="342900" rtl="0" algn="l">
              <a:lnSpc>
                <a:spcPct val="100000"/>
              </a:lnSpc>
              <a:spcBef>
                <a:spcPts val="496"/>
              </a:spcBef>
              <a:spcAft>
                <a:spcPts val="0"/>
              </a:spcAft>
              <a:buClr>
                <a:schemeClr val="dk1"/>
              </a:buClr>
              <a:buSzPct val="100000"/>
              <a:buChar char="•"/>
            </a:pPr>
            <a:r>
              <a:rPr lang="en-US"/>
              <a:t>Java EE 7 (May 28, 2013)</a:t>
            </a:r>
            <a:endParaRPr baseline="30000"/>
          </a:p>
          <a:p>
            <a:pPr indent="-342900" lvl="0" marL="342900" rtl="0" algn="l">
              <a:lnSpc>
                <a:spcPct val="100000"/>
              </a:lnSpc>
              <a:spcBef>
                <a:spcPts val="496"/>
              </a:spcBef>
              <a:spcAft>
                <a:spcPts val="0"/>
              </a:spcAft>
              <a:buClr>
                <a:schemeClr val="dk1"/>
              </a:buClr>
              <a:buSzPct val="100000"/>
              <a:buChar char="•"/>
            </a:pPr>
            <a:r>
              <a:rPr lang="en-US"/>
              <a:t>Java EE 8 (August 31, 2017)</a:t>
            </a:r>
            <a:endParaRPr/>
          </a:p>
          <a:p>
            <a:pPr indent="-342900" lvl="0" marL="342900" rtl="0" algn="l">
              <a:lnSpc>
                <a:spcPct val="100000"/>
              </a:lnSpc>
              <a:spcBef>
                <a:spcPts val="496"/>
              </a:spcBef>
              <a:spcAft>
                <a:spcPts val="0"/>
              </a:spcAft>
              <a:buClr>
                <a:schemeClr val="dk1"/>
              </a:buClr>
              <a:buSzPct val="100000"/>
              <a:buChar char="•"/>
            </a:pPr>
            <a:r>
              <a:rPr lang="en-US"/>
              <a:t>Jakarta EE 8 (September 10, 2019)</a:t>
            </a:r>
            <a:endParaRPr/>
          </a:p>
          <a:p>
            <a:pPr indent="-342900" lvl="0" marL="342900" rtl="0" algn="l">
              <a:lnSpc>
                <a:spcPct val="100000"/>
              </a:lnSpc>
              <a:spcBef>
                <a:spcPts val="496"/>
              </a:spcBef>
              <a:spcAft>
                <a:spcPts val="0"/>
              </a:spcAft>
              <a:buClr>
                <a:schemeClr val="dk1"/>
              </a:buClr>
              <a:buSzPct val="100000"/>
              <a:buChar char="•"/>
            </a:pPr>
            <a:r>
              <a:rPr baseline="30000" lang="en-US"/>
              <a:t> </a:t>
            </a:r>
            <a:r>
              <a:rPr lang="en-US"/>
              <a:t>Jakarta EE 9 (November 22 2020)</a:t>
            </a:r>
            <a:endParaRPr/>
          </a:p>
          <a:p>
            <a:pPr indent="-185420" lvl="0" marL="342900" rtl="0" algn="l">
              <a:lnSpc>
                <a:spcPct val="100000"/>
              </a:lnSpc>
              <a:spcBef>
                <a:spcPts val="496"/>
              </a:spcBef>
              <a:spcAft>
                <a:spcPts val="0"/>
              </a:spcAft>
              <a:buClr>
                <a:schemeClr val="dk1"/>
              </a:buClr>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what is J2EE? different between java and j2EE" id="228" name="Google Shape;228;p21"/>
          <p:cNvPicPr preferRelativeResize="0"/>
          <p:nvPr/>
        </p:nvPicPr>
        <p:blipFill rotWithShape="1">
          <a:blip r:embed="rId3">
            <a:alphaModFix/>
          </a:blip>
          <a:srcRect b="0" l="0" r="0" t="0"/>
          <a:stretch/>
        </p:blipFill>
        <p:spPr>
          <a:xfrm>
            <a:off x="0" y="838200"/>
            <a:ext cx="8458200" cy="58926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File:Java Platforms.PNG - Wikimedia Commons" id="233" name="Google Shape;233;p22"/>
          <p:cNvPicPr preferRelativeResize="0"/>
          <p:nvPr/>
        </p:nvPicPr>
        <p:blipFill rotWithShape="1">
          <a:blip r:embed="rId3">
            <a:alphaModFix/>
          </a:blip>
          <a:srcRect b="0" l="0" r="0" t="0"/>
          <a:stretch/>
        </p:blipFill>
        <p:spPr>
          <a:xfrm>
            <a:off x="1219200" y="3733800"/>
            <a:ext cx="6553200" cy="3048000"/>
          </a:xfrm>
          <a:prstGeom prst="rect">
            <a:avLst/>
          </a:prstGeom>
          <a:noFill/>
          <a:ln>
            <a:noFill/>
          </a:ln>
        </p:spPr>
      </p:pic>
      <p:pic>
        <p:nvPicPr>
          <p:cNvPr descr="Chapter 10:Understanding Java Related Platforms and Integration Techn…" id="234" name="Google Shape;234;p22"/>
          <p:cNvPicPr preferRelativeResize="0"/>
          <p:nvPr/>
        </p:nvPicPr>
        <p:blipFill rotWithShape="1">
          <a:blip r:embed="rId4">
            <a:alphaModFix/>
          </a:blip>
          <a:srcRect b="0" l="0" r="0" t="0"/>
          <a:stretch/>
        </p:blipFill>
        <p:spPr>
          <a:xfrm>
            <a:off x="381000" y="228600"/>
            <a:ext cx="3581400" cy="3810000"/>
          </a:xfrm>
          <a:prstGeom prst="rect">
            <a:avLst/>
          </a:prstGeom>
          <a:noFill/>
          <a:ln>
            <a:noFill/>
          </a:ln>
        </p:spPr>
      </p:pic>
      <p:pic>
        <p:nvPicPr>
          <p:cNvPr descr="Java Virtual Machine (JVM)" id="235" name="Google Shape;235;p22"/>
          <p:cNvPicPr preferRelativeResize="0"/>
          <p:nvPr/>
        </p:nvPicPr>
        <p:blipFill rotWithShape="1">
          <a:blip r:embed="rId5">
            <a:alphaModFix/>
          </a:blip>
          <a:srcRect b="0" l="0" r="0" t="0"/>
          <a:stretch/>
        </p:blipFill>
        <p:spPr>
          <a:xfrm>
            <a:off x="4724400" y="457200"/>
            <a:ext cx="3629025" cy="27717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3"/>
          <p:cNvPicPr preferRelativeResize="0"/>
          <p:nvPr/>
        </p:nvPicPr>
        <p:blipFill rotWithShape="1">
          <a:blip r:embed="rId3">
            <a:alphaModFix/>
          </a:blip>
          <a:srcRect b="0" l="0" r="0" t="0"/>
          <a:stretch/>
        </p:blipFill>
        <p:spPr>
          <a:xfrm>
            <a:off x="381000" y="685800"/>
            <a:ext cx="8001000" cy="5791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IT Services - J2EE Development Services IT / Technology Services from  Gurgaon" id="245" name="Google Shape;245;p24"/>
          <p:cNvPicPr preferRelativeResize="0"/>
          <p:nvPr/>
        </p:nvPicPr>
        <p:blipFill rotWithShape="1">
          <a:blip r:embed="rId3">
            <a:alphaModFix/>
          </a:blip>
          <a:srcRect b="0" l="0" r="0" t="0"/>
          <a:stretch/>
        </p:blipFill>
        <p:spPr>
          <a:xfrm>
            <a:off x="533400" y="533400"/>
            <a:ext cx="8001000" cy="5562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J2EE </a:t>
            </a:r>
            <a:endParaRPr/>
          </a:p>
        </p:txBody>
      </p:sp>
      <p:sp>
        <p:nvSpPr>
          <p:cNvPr id="251" name="Google Shape;251;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chemeClr val="dk1"/>
              </a:buClr>
              <a:buSzPts val="3200"/>
              <a:buNone/>
            </a:pPr>
            <a:r>
              <a:t/>
            </a:r>
            <a:endParaRPr/>
          </a:p>
        </p:txBody>
      </p:sp>
      <p:pic>
        <p:nvPicPr>
          <p:cNvPr descr="Diagram of multitiered application structure, including client tier, web tier, business tier, and EIS tier." id="252" name="Google Shape;252;p25"/>
          <p:cNvPicPr preferRelativeResize="0"/>
          <p:nvPr/>
        </p:nvPicPr>
        <p:blipFill rotWithShape="1">
          <a:blip r:embed="rId3">
            <a:alphaModFix/>
          </a:blip>
          <a:srcRect b="0" l="0" r="0" t="0"/>
          <a:stretch/>
        </p:blipFill>
        <p:spPr>
          <a:xfrm>
            <a:off x="914400" y="1600200"/>
            <a:ext cx="7543800" cy="4391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descr="Diagram of client-server communication showing detail of entities, session beans, and message-driven beans in the business tier." id="257" name="Google Shape;257;p26"/>
          <p:cNvPicPr preferRelativeResize="0"/>
          <p:nvPr/>
        </p:nvPicPr>
        <p:blipFill rotWithShape="1">
          <a:blip r:embed="rId3">
            <a:alphaModFix/>
          </a:blip>
          <a:srcRect b="0" l="0" r="0" t="0"/>
          <a:stretch/>
        </p:blipFill>
        <p:spPr>
          <a:xfrm>
            <a:off x="609600" y="304800"/>
            <a:ext cx="8077200" cy="5334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Client tier </a:t>
            </a:r>
            <a:br>
              <a:rPr lang="en-US"/>
            </a:br>
            <a:endParaRPr/>
          </a:p>
        </p:txBody>
      </p:sp>
      <p:sp>
        <p:nvSpPr>
          <p:cNvPr id="263" name="Google Shape;26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Act as a user interface.</a:t>
            </a:r>
            <a:endParaRPr/>
          </a:p>
          <a:p>
            <a:pPr indent="-342900" lvl="0" marL="342900" rtl="0" algn="l">
              <a:lnSpc>
                <a:spcPct val="100000"/>
              </a:lnSpc>
              <a:spcBef>
                <a:spcPts val="640"/>
              </a:spcBef>
              <a:spcAft>
                <a:spcPts val="0"/>
              </a:spcAft>
              <a:buClr>
                <a:schemeClr val="dk1"/>
              </a:buClr>
              <a:buSzPts val="3200"/>
              <a:buChar char="•"/>
            </a:pPr>
            <a:r>
              <a:rPr lang="en-US"/>
              <a:t>Get the input from user and convert as a request and send to middle tier.</a:t>
            </a:r>
            <a:endParaRPr/>
          </a:p>
          <a:p>
            <a:pPr indent="-342900" lvl="0" marL="342900" rtl="0" algn="l">
              <a:lnSpc>
                <a:spcPct val="100000"/>
              </a:lnSpc>
              <a:spcBef>
                <a:spcPts val="640"/>
              </a:spcBef>
              <a:spcAft>
                <a:spcPts val="0"/>
              </a:spcAft>
              <a:buClr>
                <a:schemeClr val="dk1"/>
              </a:buClr>
              <a:buSzPts val="3200"/>
              <a:buChar char="•"/>
            </a:pPr>
            <a:r>
              <a:rPr lang="en-US"/>
              <a:t>It translates server response to text and presented to the user .</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Middle tier	</a:t>
            </a:r>
            <a:endParaRPr/>
          </a:p>
        </p:txBody>
      </p:sp>
      <p:sp>
        <p:nvSpPr>
          <p:cNvPr id="269" name="Google Shape;269;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Char char="•"/>
            </a:pPr>
            <a:r>
              <a:rPr lang="en-US"/>
              <a:t>Consist of one or more tiers</a:t>
            </a:r>
            <a:endParaRPr/>
          </a:p>
          <a:p>
            <a:pPr indent="-342900" lvl="0" marL="342900" rtl="0" algn="l">
              <a:lnSpc>
                <a:spcPct val="100000"/>
              </a:lnSpc>
              <a:spcBef>
                <a:spcPts val="496"/>
              </a:spcBef>
              <a:spcAft>
                <a:spcPts val="0"/>
              </a:spcAft>
              <a:buClr>
                <a:schemeClr val="dk1"/>
              </a:buClr>
              <a:buSzPct val="100000"/>
              <a:buChar char="•"/>
            </a:pPr>
            <a:r>
              <a:rPr lang="en-US"/>
              <a:t>It process the request, generates the response and give it to the client tier</a:t>
            </a:r>
            <a:endParaRPr/>
          </a:p>
          <a:p>
            <a:pPr indent="-342900" lvl="0" marL="342900" rtl="0" algn="l">
              <a:lnSpc>
                <a:spcPct val="100000"/>
              </a:lnSpc>
              <a:spcBef>
                <a:spcPts val="496"/>
              </a:spcBef>
              <a:spcAft>
                <a:spcPts val="0"/>
              </a:spcAft>
              <a:buClr>
                <a:schemeClr val="dk1"/>
              </a:buClr>
              <a:buSzPct val="100000"/>
              <a:buChar char="•"/>
            </a:pPr>
            <a:r>
              <a:rPr lang="en-US"/>
              <a:t>Application server or web server</a:t>
            </a:r>
            <a:endParaRPr/>
          </a:p>
          <a:p>
            <a:pPr indent="-342900" lvl="0" marL="342900" rtl="0" algn="l">
              <a:lnSpc>
                <a:spcPct val="100000"/>
              </a:lnSpc>
              <a:spcBef>
                <a:spcPts val="496"/>
              </a:spcBef>
              <a:spcAft>
                <a:spcPts val="0"/>
              </a:spcAft>
              <a:buClr>
                <a:schemeClr val="dk1"/>
              </a:buClr>
              <a:buSzPct val="100000"/>
              <a:buChar char="•"/>
            </a:pPr>
            <a:r>
              <a:rPr lang="en-US"/>
              <a:t>Various container for processing the request</a:t>
            </a:r>
            <a:endParaRPr/>
          </a:p>
          <a:p>
            <a:pPr indent="-342900" lvl="0" marL="342900" rtl="0" algn="l">
              <a:lnSpc>
                <a:spcPct val="100000"/>
              </a:lnSpc>
              <a:spcBef>
                <a:spcPts val="496"/>
              </a:spcBef>
              <a:spcAft>
                <a:spcPts val="0"/>
              </a:spcAft>
              <a:buClr>
                <a:schemeClr val="dk1"/>
              </a:buClr>
              <a:buSzPct val="100000"/>
              <a:buChar char="•"/>
            </a:pPr>
            <a:r>
              <a:rPr lang="en-US"/>
              <a:t>Web container(web tier)</a:t>
            </a:r>
            <a:endParaRPr/>
          </a:p>
          <a:p>
            <a:pPr indent="-285750" lvl="1" marL="742950" rtl="0" algn="l">
              <a:lnSpc>
                <a:spcPct val="100000"/>
              </a:lnSpc>
              <a:spcBef>
                <a:spcPts val="434"/>
              </a:spcBef>
              <a:spcAft>
                <a:spcPts val="0"/>
              </a:spcAft>
              <a:buClr>
                <a:schemeClr val="dk1"/>
              </a:buClr>
              <a:buSzPct val="100000"/>
              <a:buChar char="–"/>
            </a:pPr>
            <a:r>
              <a:rPr lang="en-US"/>
              <a:t>Used for deploying web application</a:t>
            </a:r>
            <a:endParaRPr/>
          </a:p>
          <a:p>
            <a:pPr indent="-285750" lvl="1" marL="742950" rtl="0" algn="l">
              <a:lnSpc>
                <a:spcPct val="100000"/>
              </a:lnSpc>
              <a:spcBef>
                <a:spcPts val="434"/>
              </a:spcBef>
              <a:spcAft>
                <a:spcPts val="0"/>
              </a:spcAft>
              <a:buClr>
                <a:schemeClr val="dk1"/>
              </a:buClr>
              <a:buSzPct val="100000"/>
              <a:buChar char="–"/>
            </a:pPr>
            <a:r>
              <a:rPr lang="en-US"/>
              <a:t>Provide internet functionality for J2EE application</a:t>
            </a:r>
            <a:endParaRPr/>
          </a:p>
          <a:p>
            <a:pPr indent="-228600" lvl="2" marL="1143000" rtl="0" algn="l">
              <a:lnSpc>
                <a:spcPct val="100000"/>
              </a:lnSpc>
              <a:spcBef>
                <a:spcPts val="372"/>
              </a:spcBef>
              <a:spcAft>
                <a:spcPts val="0"/>
              </a:spcAft>
              <a:buClr>
                <a:schemeClr val="dk1"/>
              </a:buClr>
              <a:buSzPct val="100000"/>
              <a:buNone/>
            </a:pPr>
            <a:r>
              <a:rPr lang="en-US"/>
              <a:t>Components (Servlets, JSP)</a:t>
            </a:r>
            <a:endParaRPr/>
          </a:p>
          <a:p>
            <a:pPr indent="-342900" lvl="0" marL="342900" rtl="0" algn="l">
              <a:lnSpc>
                <a:spcPct val="100000"/>
              </a:lnSpc>
              <a:spcBef>
                <a:spcPts val="496"/>
              </a:spcBef>
              <a:spcAft>
                <a:spcPts val="0"/>
              </a:spcAft>
              <a:buClr>
                <a:schemeClr val="dk1"/>
              </a:buClr>
              <a:buSzPct val="100000"/>
              <a:buChar char="•"/>
            </a:pPr>
            <a:r>
              <a:rPr lang="en-US"/>
              <a:t>EJB container(EJB tier)</a:t>
            </a:r>
            <a:endParaRPr/>
          </a:p>
          <a:p>
            <a:pPr indent="-285750" lvl="1" marL="742950" rtl="0" algn="l">
              <a:lnSpc>
                <a:spcPct val="100000"/>
              </a:lnSpc>
              <a:spcBef>
                <a:spcPts val="434"/>
              </a:spcBef>
              <a:spcAft>
                <a:spcPts val="0"/>
              </a:spcAft>
              <a:buClr>
                <a:schemeClr val="dk1"/>
              </a:buClr>
              <a:buSzPct val="100000"/>
              <a:buChar char="–"/>
            </a:pPr>
            <a:r>
              <a:rPr lang="en-US"/>
              <a:t>Consists of Business logic of application(EJB)</a:t>
            </a:r>
            <a:endParaRPr/>
          </a:p>
          <a:p>
            <a:pPr indent="-285750" lvl="1" marL="742950" rtl="0" algn="l">
              <a:lnSpc>
                <a:spcPct val="100000"/>
              </a:lnSpc>
              <a:spcBef>
                <a:spcPts val="434"/>
              </a:spcBef>
              <a:spcAft>
                <a:spcPts val="0"/>
              </a:spcAft>
              <a:buClr>
                <a:schemeClr val="dk1"/>
              </a:buClr>
              <a:buSzPct val="100000"/>
              <a:buChar char="–"/>
            </a:pPr>
            <a:r>
              <a:rPr lang="en-US"/>
              <a:t>Deploy business application</a:t>
            </a:r>
            <a:endParaRPr/>
          </a:p>
          <a:p>
            <a:pPr indent="-185420" lvl="0" marL="342900" rtl="0" algn="l">
              <a:lnSpc>
                <a:spcPct val="100000"/>
              </a:lnSpc>
              <a:spcBef>
                <a:spcPts val="496"/>
              </a:spcBef>
              <a:spcAft>
                <a:spcPts val="0"/>
              </a:spcAft>
              <a:buClr>
                <a:schemeClr val="dk1"/>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EIS Tier</a:t>
            </a:r>
            <a:endParaRPr/>
          </a:p>
        </p:txBody>
      </p:sp>
      <p:sp>
        <p:nvSpPr>
          <p:cNvPr id="275" name="Google Shape;275;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Provide the Data bases for application, Back end for an application </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J2EE Development Lifecycle</a:t>
            </a:r>
            <a:endParaRPr/>
          </a:p>
        </p:txBody>
      </p:sp>
      <p:sp>
        <p:nvSpPr>
          <p:cNvPr id="281" name="Google Shape;281;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FF0000"/>
              </a:buClr>
              <a:buSzPts val="3200"/>
              <a:buChar char="•"/>
            </a:pPr>
            <a:r>
              <a:rPr lang="en-US">
                <a:solidFill>
                  <a:srgbClr val="FF0000"/>
                </a:solidFill>
              </a:rPr>
              <a:t>Develop</a:t>
            </a:r>
            <a:r>
              <a:rPr lang="en-US"/>
              <a:t> components for </a:t>
            </a:r>
            <a:endParaRPr/>
          </a:p>
          <a:p>
            <a:pPr indent="-285750" lvl="1" marL="742950" rtl="0" algn="l">
              <a:lnSpc>
                <a:spcPct val="100000"/>
              </a:lnSpc>
              <a:spcBef>
                <a:spcPts val="560"/>
              </a:spcBef>
              <a:spcAft>
                <a:spcPts val="0"/>
              </a:spcAft>
              <a:buClr>
                <a:schemeClr val="dk1"/>
              </a:buClr>
              <a:buSzPts val="2800"/>
              <a:buChar char="–"/>
            </a:pPr>
            <a:r>
              <a:rPr lang="en-US"/>
              <a:t>Presentation (JSP, HTML) </a:t>
            </a:r>
            <a:endParaRPr/>
          </a:p>
          <a:p>
            <a:pPr indent="-285750" lvl="1" marL="742950" rtl="0" algn="l">
              <a:lnSpc>
                <a:spcPct val="100000"/>
              </a:lnSpc>
              <a:spcBef>
                <a:spcPts val="560"/>
              </a:spcBef>
              <a:spcAft>
                <a:spcPts val="0"/>
              </a:spcAft>
              <a:buClr>
                <a:schemeClr val="dk1"/>
              </a:buClr>
              <a:buSzPts val="2800"/>
              <a:buChar char="–"/>
            </a:pPr>
            <a:r>
              <a:rPr lang="en-US"/>
              <a:t>Persistence (Entities) </a:t>
            </a:r>
            <a:endParaRPr/>
          </a:p>
          <a:p>
            <a:pPr indent="-285750" lvl="1" marL="742950" rtl="0" algn="l">
              <a:lnSpc>
                <a:spcPct val="100000"/>
              </a:lnSpc>
              <a:spcBef>
                <a:spcPts val="560"/>
              </a:spcBef>
              <a:spcAft>
                <a:spcPts val="0"/>
              </a:spcAft>
              <a:buClr>
                <a:schemeClr val="dk1"/>
              </a:buClr>
              <a:buSzPts val="2800"/>
              <a:buChar char="–"/>
            </a:pPr>
            <a:r>
              <a:rPr lang="en-US"/>
              <a:t>Business Logic (EJBs) </a:t>
            </a:r>
            <a:endParaRPr/>
          </a:p>
          <a:p>
            <a:pPr indent="-285750" lvl="1" marL="742950" rtl="0" algn="l">
              <a:lnSpc>
                <a:spcPct val="100000"/>
              </a:lnSpc>
              <a:spcBef>
                <a:spcPts val="560"/>
              </a:spcBef>
              <a:spcAft>
                <a:spcPts val="0"/>
              </a:spcAft>
              <a:buClr>
                <a:schemeClr val="dk1"/>
              </a:buClr>
              <a:buSzPts val="2800"/>
              <a:buChar char="–"/>
            </a:pPr>
            <a:r>
              <a:rPr lang="en-US"/>
              <a:t>Configure/Prepare deployment descriptors(WSDL)</a:t>
            </a:r>
            <a:endParaRPr/>
          </a:p>
          <a:p>
            <a:pPr indent="-342900" lvl="0" marL="342900" rtl="0" algn="l">
              <a:lnSpc>
                <a:spcPct val="100000"/>
              </a:lnSpc>
              <a:spcBef>
                <a:spcPts val="640"/>
              </a:spcBef>
              <a:spcAft>
                <a:spcPts val="0"/>
              </a:spcAft>
              <a:buClr>
                <a:srgbClr val="FF0000"/>
              </a:buClr>
              <a:buSzPts val="3200"/>
              <a:buChar char="•"/>
            </a:pPr>
            <a:r>
              <a:rPr lang="en-US">
                <a:solidFill>
                  <a:srgbClr val="FF0000"/>
                </a:solidFill>
              </a:rPr>
              <a:t>Build</a:t>
            </a:r>
            <a:r>
              <a:rPr lang="en-US"/>
              <a:t> Components in packages (JARs, WARs, EARs) </a:t>
            </a:r>
            <a:endParaRPr/>
          </a:p>
          <a:p>
            <a:pPr indent="-342900" lvl="0" marL="342900" rtl="0" algn="l">
              <a:lnSpc>
                <a:spcPct val="100000"/>
              </a:lnSpc>
              <a:spcBef>
                <a:spcPts val="640"/>
              </a:spcBef>
              <a:spcAft>
                <a:spcPts val="0"/>
              </a:spcAft>
              <a:buClr>
                <a:srgbClr val="FF0000"/>
              </a:buClr>
              <a:buSzPts val="3200"/>
              <a:buChar char="•"/>
            </a:pPr>
            <a:r>
              <a:rPr lang="en-US">
                <a:solidFill>
                  <a:srgbClr val="FF0000"/>
                </a:solidFill>
              </a:rPr>
              <a:t>Deploy</a:t>
            </a:r>
            <a:r>
              <a:rPr lang="en-US"/>
              <a:t> packages on Container (J2EE Server)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What is Web Application Archive File [WAR file]? - YouTube" id="286" name="Google Shape;286;p32"/>
          <p:cNvPicPr preferRelativeResize="0"/>
          <p:nvPr/>
        </p:nvPicPr>
        <p:blipFill rotWithShape="1">
          <a:blip r:embed="rId3">
            <a:alphaModFix/>
          </a:blip>
          <a:srcRect b="0" l="0" r="0" t="0"/>
          <a:stretch/>
        </p:blipFill>
        <p:spPr>
          <a:xfrm>
            <a:off x="0" y="381000"/>
            <a:ext cx="8763000" cy="6477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descr="Where is the .WAR file to be stored? - Quora" id="291" name="Google Shape;291;p33"/>
          <p:cNvSpPr/>
          <p:nvPr/>
        </p:nvSpPr>
        <p:spPr>
          <a:xfrm>
            <a:off x="155575" y="-822325"/>
            <a:ext cx="2286000" cy="1714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Where is the .WAR file to be stored? - Quora" id="292" name="Google Shape;292;p33"/>
          <p:cNvSpPr/>
          <p:nvPr/>
        </p:nvSpPr>
        <p:spPr>
          <a:xfrm>
            <a:off x="155575" y="-822325"/>
            <a:ext cx="2286000" cy="1714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Where is the .WAR file to be stored? - Quora" id="293" name="Google Shape;293;p3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Where is the .WAR file to be stored? - Quora" id="294" name="Google Shape;294;p3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https://qphs.fs.quoracdn.net/main-qimg-80ab72524555cb358408ebe2d9c78dc4-c" id="295" name="Google Shape;295;p33"/>
          <p:cNvPicPr preferRelativeResize="0"/>
          <p:nvPr/>
        </p:nvPicPr>
        <p:blipFill rotWithShape="1">
          <a:blip r:embed="rId3">
            <a:alphaModFix/>
          </a:blip>
          <a:srcRect b="0" l="0" r="0" t="0"/>
          <a:stretch/>
        </p:blipFill>
        <p:spPr>
          <a:xfrm>
            <a:off x="685800" y="457200"/>
            <a:ext cx="7443216" cy="5638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yuva</dc:creator>
</cp:coreProperties>
</file>