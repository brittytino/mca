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3" r:id="rId9"/>
    <p:sldId id="264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B421-F14A-46E7-9DF6-BCA68737D41A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FD5-2E9C-4DBB-849B-C7A3B95D28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B421-F14A-46E7-9DF6-BCA68737D41A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FD5-2E9C-4DBB-849B-C7A3B95D28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B421-F14A-46E7-9DF6-BCA68737D41A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FD5-2E9C-4DBB-849B-C7A3B95D28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B421-F14A-46E7-9DF6-BCA68737D41A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FD5-2E9C-4DBB-849B-C7A3B95D28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B421-F14A-46E7-9DF6-BCA68737D41A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FD5-2E9C-4DBB-849B-C7A3B95D28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B421-F14A-46E7-9DF6-BCA68737D41A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FD5-2E9C-4DBB-849B-C7A3B95D28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B421-F14A-46E7-9DF6-BCA68737D41A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FD5-2E9C-4DBB-849B-C7A3B95D28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B421-F14A-46E7-9DF6-BCA68737D41A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FD5-2E9C-4DBB-849B-C7A3B95D28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B421-F14A-46E7-9DF6-BCA68737D41A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FD5-2E9C-4DBB-849B-C7A3B95D28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B421-F14A-46E7-9DF6-BCA68737D41A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FD5-2E9C-4DBB-849B-C7A3B95D28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B421-F14A-46E7-9DF6-BCA68737D41A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FD5-2E9C-4DBB-849B-C7A3B95D28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9B421-F14A-46E7-9DF6-BCA68737D41A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17FD5-2E9C-4DBB-849B-C7A3B95D285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Case study : Insurance Company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8610600" cy="1752600"/>
          </a:xfrm>
        </p:spPr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Digital Transformation for an Insurance Company in the Health/Automobile Domain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 Existing Business Process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533400"/>
            <a:ext cx="8991600" cy="60198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Business Process: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The customer fills out lengthy paper-based or manual digital forms for policy registration or claims.</a:t>
            </a:r>
          </a:p>
          <a:p>
            <a:r>
              <a:rPr lang="en-US" dirty="0" smtClean="0"/>
              <a:t>Policy processing involves multiple levels of manual verification (policy underwriters, health/vehicle inspectors, and claims processors).</a:t>
            </a:r>
          </a:p>
          <a:p>
            <a:r>
              <a:rPr lang="en-US" dirty="0" smtClean="0"/>
              <a:t>Customer interactions happen through call centers or physical visits to branches.</a:t>
            </a:r>
          </a:p>
          <a:p>
            <a:r>
              <a:rPr lang="en-US" dirty="0" smtClean="0"/>
              <a:t>Renewal reminders are managed using static email campaigns or calls without personalization.</a:t>
            </a:r>
          </a:p>
          <a:p>
            <a:r>
              <a:rPr lang="en-US" dirty="0" smtClean="0"/>
              <a:t>No real-time tracking of claims or policy statuses for customers.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Limitations: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Time-Consuming:</a:t>
            </a:r>
            <a:r>
              <a:rPr lang="en-US" dirty="0" smtClean="0"/>
              <a:t> Policy creation and claims approval take weeks due to manual processes.</a:t>
            </a:r>
          </a:p>
          <a:p>
            <a:r>
              <a:rPr lang="en-US" b="1" dirty="0" smtClean="0"/>
              <a:t>Errors and Fraud:</a:t>
            </a:r>
            <a:r>
              <a:rPr lang="en-US" dirty="0" smtClean="0"/>
              <a:t> Manual processes increase the chances of errors and fraudulent claims.</a:t>
            </a:r>
          </a:p>
          <a:p>
            <a:r>
              <a:rPr lang="en-US" b="1" dirty="0" smtClean="0"/>
              <a:t>Customer Experience:</a:t>
            </a:r>
            <a:r>
              <a:rPr lang="en-US" dirty="0" smtClean="0"/>
              <a:t> Lack of real-time updates and complex processes lead to dissatisfaction.</a:t>
            </a:r>
          </a:p>
          <a:p>
            <a:r>
              <a:rPr lang="en-US" b="1" dirty="0" smtClean="0"/>
              <a:t>Inefficiencies:</a:t>
            </a:r>
            <a:r>
              <a:rPr lang="en-US" dirty="0" smtClean="0"/>
              <a:t> Ineffective utilization of resources due to redundant activities.</a:t>
            </a:r>
          </a:p>
          <a:p>
            <a:r>
              <a:rPr lang="en-US" b="1" dirty="0" smtClean="0"/>
              <a:t>Static Analysis:</a:t>
            </a:r>
            <a:r>
              <a:rPr lang="en-US" dirty="0" smtClean="0"/>
              <a:t> Minimal or no use of data analytics for personalized recommendations or insights.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Existing Business Process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763000" cy="6019800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sz="5100" b="1" dirty="0" smtClean="0">
                <a:solidFill>
                  <a:srgbClr val="FF0000"/>
                </a:solidFill>
              </a:rPr>
              <a:t>Current Process: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800" b="1" dirty="0" smtClean="0">
                <a:latin typeface="Arial" pitchFamily="34" charset="0"/>
                <a:cs typeface="Arial" pitchFamily="34" charset="0"/>
              </a:rPr>
              <a:t>Policy Registration:</a:t>
            </a:r>
            <a:r>
              <a:rPr lang="en-US" sz="3800" dirty="0" smtClean="0">
                <a:latin typeface="Arial" pitchFamily="34" charset="0"/>
                <a:cs typeface="Arial" pitchFamily="34" charset="0"/>
              </a:rPr>
              <a:t> Customers fill out lengthy forms, either paper-based or digital forms, which are time-consuming and prone to human error.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800" b="1" dirty="0" smtClean="0">
                <a:latin typeface="Arial" pitchFamily="34" charset="0"/>
                <a:cs typeface="Arial" pitchFamily="34" charset="0"/>
              </a:rPr>
              <a:t>Claims Processing:</a:t>
            </a:r>
            <a:r>
              <a:rPr lang="en-US" sz="3800" dirty="0" smtClean="0">
                <a:latin typeface="Arial" pitchFamily="34" charset="0"/>
                <a:cs typeface="Arial" pitchFamily="34" charset="0"/>
              </a:rPr>
              <a:t> Claims are reviewed manually by claim agents who verify documents, check the authenticity, and approve/reject claims.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800" b="1" dirty="0" smtClean="0">
                <a:latin typeface="Arial" pitchFamily="34" charset="0"/>
                <a:cs typeface="Arial" pitchFamily="34" charset="0"/>
              </a:rPr>
              <a:t>Customer Interaction:</a:t>
            </a:r>
            <a:r>
              <a:rPr lang="en-US" sz="3800" dirty="0" smtClean="0">
                <a:latin typeface="Arial" pitchFamily="34" charset="0"/>
                <a:cs typeface="Arial" pitchFamily="34" charset="0"/>
              </a:rPr>
              <a:t> The customer is expected to call the service center, visit physical branches, or get assistance via long email exchanges. It's a reactive communication approach—waiting for customers to reach out.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800" b="1" dirty="0" smtClean="0">
                <a:latin typeface="Arial" pitchFamily="34" charset="0"/>
                <a:cs typeface="Arial" pitchFamily="34" charset="0"/>
              </a:rPr>
              <a:t>Renewal Process:</a:t>
            </a:r>
            <a:r>
              <a:rPr lang="en-US" sz="3800" dirty="0" smtClean="0">
                <a:latin typeface="Arial" pitchFamily="34" charset="0"/>
                <a:cs typeface="Arial" pitchFamily="34" charset="0"/>
              </a:rPr>
              <a:t> At the time of policy renewal, agents need to manually contact customers, and reminders often come late, increasing the chance of customer churn.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800" b="1" dirty="0" smtClean="0">
                <a:latin typeface="Arial" pitchFamily="34" charset="0"/>
                <a:cs typeface="Arial" pitchFamily="34" charset="0"/>
              </a:rPr>
              <a:t>Data Analysis:</a:t>
            </a:r>
            <a:r>
              <a:rPr lang="en-US" sz="3800" dirty="0" smtClean="0">
                <a:latin typeface="Arial" pitchFamily="34" charset="0"/>
                <a:cs typeface="Arial" pitchFamily="34" charset="0"/>
              </a:rPr>
              <a:t> Historical data is often underutilized. Limited predictive modeling means high-risk or non-profitable customers might go unnoticed, and no personalized recommendations are provided</a:t>
            </a:r>
            <a:r>
              <a:rPr lang="en-US" sz="3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514350" indent="-514350" algn="just">
              <a:buNone/>
            </a:pPr>
            <a:endParaRPr lang="en-US" sz="3800" dirty="0" smtClean="0">
              <a:latin typeface="Arial" pitchFamily="34" charset="0"/>
              <a:cs typeface="Arial" pitchFamily="34" charset="0"/>
            </a:endParaRPr>
          </a:p>
          <a:p>
            <a:pPr marL="514350" indent="-514350" algn="just">
              <a:buNone/>
            </a:pPr>
            <a:r>
              <a:rPr lang="en-US" sz="3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Limitations and Problems</a:t>
            </a:r>
            <a:r>
              <a:rPr lang="en-US" sz="3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514350" indent="-514350" algn="just">
              <a:buNone/>
            </a:pPr>
            <a:endParaRPr lang="en-US" sz="38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3800" b="1" dirty="0" smtClean="0">
                <a:latin typeface="Arial" pitchFamily="34" charset="0"/>
                <a:cs typeface="Arial" pitchFamily="34" charset="0"/>
              </a:rPr>
              <a:t>Slow Processes:</a:t>
            </a:r>
            <a:r>
              <a:rPr lang="en-US" sz="3800" dirty="0" smtClean="0">
                <a:latin typeface="Arial" pitchFamily="34" charset="0"/>
                <a:cs typeface="Arial" pitchFamily="34" charset="0"/>
              </a:rPr>
              <a:t> Manual forms, claims review, and policy updates slow down business operations.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800" b="1" dirty="0" smtClean="0">
                <a:latin typeface="Arial" pitchFamily="34" charset="0"/>
                <a:cs typeface="Arial" pitchFamily="34" charset="0"/>
              </a:rPr>
              <a:t>Human Errors:</a:t>
            </a:r>
            <a:r>
              <a:rPr lang="en-US" sz="3800" dirty="0" smtClean="0">
                <a:latin typeface="Arial" pitchFamily="34" charset="0"/>
                <a:cs typeface="Arial" pitchFamily="34" charset="0"/>
              </a:rPr>
              <a:t> Data entry and documentation errors can impact the accuracy of policies and claims.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800" b="1" dirty="0" smtClean="0">
                <a:latin typeface="Arial" pitchFamily="34" charset="0"/>
                <a:cs typeface="Arial" pitchFamily="34" charset="0"/>
              </a:rPr>
              <a:t>Customer Experience (CX):</a:t>
            </a:r>
            <a:r>
              <a:rPr lang="en-US" sz="3800" dirty="0" smtClean="0">
                <a:latin typeface="Arial" pitchFamily="34" charset="0"/>
                <a:cs typeface="Arial" pitchFamily="34" charset="0"/>
              </a:rPr>
              <a:t> Customers face delays and lack real-time access to updates or policy information.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800" b="1" dirty="0" smtClean="0">
                <a:latin typeface="Arial" pitchFamily="34" charset="0"/>
                <a:cs typeface="Arial" pitchFamily="34" charset="0"/>
              </a:rPr>
              <a:t>Lack of Automation:</a:t>
            </a:r>
            <a:r>
              <a:rPr lang="en-US" sz="3800" dirty="0" smtClean="0">
                <a:latin typeface="Arial" pitchFamily="34" charset="0"/>
                <a:cs typeface="Arial" pitchFamily="34" charset="0"/>
              </a:rPr>
              <a:t> Many processes require manual input, so employees are bogged down with routine tasks instead of focusing on high-level responsibilities.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800" b="1" dirty="0" smtClean="0">
                <a:latin typeface="Arial" pitchFamily="34" charset="0"/>
                <a:cs typeface="Arial" pitchFamily="34" charset="0"/>
              </a:rPr>
              <a:t>Operational Inefficiencies:</a:t>
            </a:r>
            <a:r>
              <a:rPr lang="en-US" sz="3800" dirty="0" smtClean="0">
                <a:latin typeface="Arial" pitchFamily="34" charset="0"/>
                <a:cs typeface="Arial" pitchFamily="34" charset="0"/>
              </a:rPr>
              <a:t> Repetitive and time-consuming tasks drain the business and make scalability difficult.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Digital Transformation Opportunities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6172200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sz="5000" b="1" dirty="0" smtClean="0">
                <a:solidFill>
                  <a:srgbClr val="FF0000"/>
                </a:solidFill>
              </a:rPr>
              <a:t>Proposed Transformations:</a:t>
            </a:r>
            <a:endParaRPr lang="en-US" sz="5000" dirty="0" smtClean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000" b="1" dirty="0" smtClean="0"/>
              <a:t>Self-Service Portal &amp; Mobile App:</a:t>
            </a:r>
            <a:endParaRPr lang="en-US" sz="3000" dirty="0" smtClean="0"/>
          </a:p>
          <a:p>
            <a:pPr marL="971550" lvl="1" indent="-514350"/>
            <a:r>
              <a:rPr lang="en-US" sz="3000" dirty="0" smtClean="0"/>
              <a:t>Customers can fill out policy applications, check real-time status of claims, request support, and even chat with an AI assistant (e.g., using tools like </a:t>
            </a:r>
            <a:r>
              <a:rPr lang="en-US" sz="3000" dirty="0" err="1" smtClean="0"/>
              <a:t>Dialogflow</a:t>
            </a:r>
            <a:r>
              <a:rPr lang="en-US" sz="3000" dirty="0" smtClean="0"/>
              <a:t> for smart conversational interfaces).</a:t>
            </a:r>
          </a:p>
          <a:p>
            <a:pPr marL="971550" lvl="1" indent="-514350"/>
            <a:r>
              <a:rPr lang="en-US" sz="3000" dirty="0" smtClean="0"/>
              <a:t>Portals should have a comprehensive dashboard where the user sees everything at a glance (e.g., claims, payments, policy expiry date).</a:t>
            </a:r>
          </a:p>
          <a:p>
            <a:pPr marL="971550" lvl="1" indent="-514350"/>
            <a:r>
              <a:rPr lang="en-US" sz="3000" dirty="0" smtClean="0"/>
              <a:t>Customers should also be able to securely upload documents for claims processing.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b="1" dirty="0" smtClean="0"/>
              <a:t>Automated Claims System with AI/ML Integration:</a:t>
            </a:r>
            <a:endParaRPr lang="en-US" sz="3000" dirty="0" smtClean="0"/>
          </a:p>
          <a:p>
            <a:pPr marL="971550" lvl="1" indent="-514350"/>
            <a:r>
              <a:rPr lang="en-US" sz="3000" b="1" dirty="0" smtClean="0"/>
              <a:t>AI-driven Decision Engines:</a:t>
            </a:r>
            <a:r>
              <a:rPr lang="en-US" sz="3000" dirty="0" smtClean="0"/>
              <a:t> An algorithm that evaluates claims based on historical data, comparing it against known fraud patterns and general statistics (i.e., approval </a:t>
            </a:r>
            <a:r>
              <a:rPr lang="en-US" sz="3000" dirty="0" err="1" smtClean="0"/>
              <a:t>vs</a:t>
            </a:r>
            <a:r>
              <a:rPr lang="en-US" sz="3000" dirty="0" smtClean="0"/>
              <a:t> rejection history).</a:t>
            </a:r>
          </a:p>
          <a:p>
            <a:pPr marL="971550" lvl="1" indent="-514350"/>
            <a:r>
              <a:rPr lang="en-US" sz="3000" dirty="0" smtClean="0"/>
              <a:t>Machine learning models that are continuously trained on past claims data can ensure future claims get processed faster and with more precision, flagging fraudulent claims early on.</a:t>
            </a:r>
          </a:p>
          <a:p>
            <a:pPr marL="971550" lvl="1" indent="-514350"/>
            <a:r>
              <a:rPr lang="en-US" sz="3000" dirty="0" smtClean="0"/>
              <a:t>Examples: AI that scans submitted medical or accident images and compares with historical cases.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b="1" dirty="0" err="1" smtClean="0"/>
              <a:t>IoT</a:t>
            </a:r>
            <a:r>
              <a:rPr lang="en-US" sz="3000" b="1" dirty="0" smtClean="0"/>
              <a:t> &amp; </a:t>
            </a:r>
            <a:r>
              <a:rPr lang="en-US" sz="3000" b="1" dirty="0" err="1" smtClean="0"/>
              <a:t>Wearables</a:t>
            </a:r>
            <a:r>
              <a:rPr lang="en-US" sz="3000" b="1" dirty="0" smtClean="0"/>
              <a:t> Data Integration (Health/Automobile):</a:t>
            </a:r>
            <a:endParaRPr lang="en-US" sz="30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3000" b="1" dirty="0" smtClean="0"/>
              <a:t>Health Domain:</a:t>
            </a:r>
            <a:r>
              <a:rPr lang="en-US" sz="3000" dirty="0" smtClean="0"/>
              <a:t> Integration of devices (e.g., fitness trackers, </a:t>
            </a:r>
            <a:r>
              <a:rPr lang="en-US" sz="3000" dirty="0" err="1" smtClean="0"/>
              <a:t>smartwatches</a:t>
            </a:r>
            <a:r>
              <a:rPr lang="en-US" sz="3000" dirty="0" smtClean="0"/>
              <a:t> like </a:t>
            </a:r>
            <a:r>
              <a:rPr lang="en-US" sz="3000" dirty="0" err="1" smtClean="0"/>
              <a:t>Fitbit</a:t>
            </a:r>
            <a:r>
              <a:rPr lang="en-US" sz="3000" dirty="0" smtClean="0"/>
              <a:t>, or heart rate monitors) provides constant tracking of policyholders’ health. If customers maintain a healthy lifestyle, the system could generate automated premium discounts or offer customized wellness advice.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000" b="1" dirty="0" smtClean="0"/>
              <a:t>Automobile Domain:</a:t>
            </a:r>
            <a:r>
              <a:rPr lang="en-US" sz="3000" dirty="0" smtClean="0"/>
              <a:t> Install </a:t>
            </a:r>
            <a:r>
              <a:rPr lang="en-US" sz="3000" dirty="0" err="1" smtClean="0"/>
              <a:t>IoT</a:t>
            </a:r>
            <a:r>
              <a:rPr lang="en-US" sz="3000" dirty="0" smtClean="0"/>
              <a:t> devices in cars (e.g., </a:t>
            </a:r>
            <a:r>
              <a:rPr lang="en-US" sz="3000" dirty="0" err="1" smtClean="0"/>
              <a:t>telematics</a:t>
            </a:r>
            <a:r>
              <a:rPr lang="en-US" sz="3000" dirty="0" smtClean="0"/>
              <a:t> or insurance devices) to monitor driving behavior. This data is fed back to the insurer in real-time. Customers who drive safely are rewarded with discounts (usage-based insurance).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b="1" dirty="0" smtClean="0"/>
              <a:t>Personalized Notifications &amp; Alerts (AI-based):</a:t>
            </a:r>
            <a:endParaRPr lang="en-US" sz="3000" dirty="0" smtClean="0"/>
          </a:p>
          <a:p>
            <a:pPr marL="971550" lvl="1" indent="-514350"/>
            <a:r>
              <a:rPr lang="en-US" sz="3000" dirty="0" smtClean="0"/>
              <a:t>AI can analyze user behaviors and customer interaction patterns (e.g., contact history, types of queries) to create personalized outreach. For example: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3000" dirty="0" smtClean="0"/>
              <a:t>Notifying customers when their policy is about to expire.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3000" dirty="0" smtClean="0"/>
              <a:t>Notifying auto customers in case of unusual driving patterns that increase their premium risk.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b="1" dirty="0" err="1" smtClean="0"/>
              <a:t>Chatbots</a:t>
            </a:r>
            <a:r>
              <a:rPr lang="en-US" sz="3000" b="1" dirty="0" smtClean="0"/>
              <a:t> &amp; Conversational Interfaces:</a:t>
            </a:r>
            <a:endParaRPr lang="en-US" sz="3000" dirty="0" smtClean="0"/>
          </a:p>
          <a:p>
            <a:pPr marL="971550" lvl="1" indent="-514350"/>
            <a:r>
              <a:rPr lang="en-US" sz="3000" dirty="0" smtClean="0"/>
              <a:t>The </a:t>
            </a:r>
            <a:r>
              <a:rPr lang="en-US" sz="3000" dirty="0" err="1" smtClean="0"/>
              <a:t>chatbot</a:t>
            </a:r>
            <a:r>
              <a:rPr lang="en-US" sz="3000" dirty="0" smtClean="0"/>
              <a:t> integrated within the portal or mobile app serves as a 24/7 support channel for customers, automating FAQs, basic claims filing, and guidance in policy inquiries. AI models handle routine tasks, while human agents deal with escalated issues.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b="1" dirty="0" smtClean="0"/>
              <a:t>Advanced Analytics for Customer Insights:</a:t>
            </a:r>
            <a:endParaRPr lang="en-US" sz="3000" dirty="0" smtClean="0"/>
          </a:p>
          <a:p>
            <a:pPr marL="971550" lvl="1" indent="-514350"/>
            <a:r>
              <a:rPr lang="en-US" sz="3000" dirty="0" smtClean="0"/>
              <a:t>Leveraging big data, predictive analytics, and AI, insurers can develop dynamic, personalized policy suggestions based on specific criteria, such as age, health habits, or previous claims history.</a:t>
            </a:r>
          </a:p>
          <a:p>
            <a:pPr marL="971550" lvl="1" indent="-514350"/>
            <a:r>
              <a:rPr lang="en-US" sz="3000" dirty="0" smtClean="0"/>
              <a:t>Building customer lifetime value models to identify high-value customers and offering loyalty rewards, personalized discounts, and alternative products.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Digital Transformation Opportunities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867400"/>
          </a:xfrm>
        </p:spPr>
        <p:txBody>
          <a:bodyPr>
            <a:normAutofit fontScale="40000" lnSpcReduction="20000"/>
          </a:bodyPr>
          <a:lstStyle/>
          <a:p>
            <a:r>
              <a:rPr lang="en-US" sz="6000" b="1" dirty="0" smtClean="0">
                <a:solidFill>
                  <a:srgbClr val="FF0000"/>
                </a:solidFill>
              </a:rPr>
              <a:t>Proposed Transformations:</a:t>
            </a:r>
          </a:p>
          <a:p>
            <a:r>
              <a:rPr lang="en-US" b="1" dirty="0" smtClean="0"/>
              <a:t>Self-Service Portal &amp; Mobile App:</a:t>
            </a:r>
            <a:endParaRPr lang="en-US" dirty="0" smtClean="0"/>
          </a:p>
          <a:p>
            <a:pPr lvl="1"/>
            <a:r>
              <a:rPr lang="en-US" dirty="0" smtClean="0"/>
              <a:t>Customers can fill out policy applications, check real-time status of claims, request support, and even chat with an AI assistant (e.g., using tools like </a:t>
            </a:r>
            <a:r>
              <a:rPr lang="en-US" dirty="0" err="1" smtClean="0"/>
              <a:t>Dialogflow</a:t>
            </a:r>
            <a:r>
              <a:rPr lang="en-US" dirty="0" smtClean="0"/>
              <a:t> for smart conversational interfaces).</a:t>
            </a:r>
          </a:p>
          <a:p>
            <a:pPr lvl="1"/>
            <a:r>
              <a:rPr lang="en-US" dirty="0" smtClean="0"/>
              <a:t>Portals should have a comprehensive dashboard where the user sees everything at a glance (e.g., claims, payments, policy expiry date).</a:t>
            </a:r>
          </a:p>
          <a:p>
            <a:pPr lvl="1"/>
            <a:r>
              <a:rPr lang="en-US" dirty="0" smtClean="0"/>
              <a:t>Customers should also be able to securely upload documents for claims processing.</a:t>
            </a:r>
          </a:p>
          <a:p>
            <a:r>
              <a:rPr lang="en-US" b="1" dirty="0" smtClean="0"/>
              <a:t>Automated Claims System with AI/ML Integration:</a:t>
            </a:r>
            <a:endParaRPr lang="en-US" dirty="0" smtClean="0"/>
          </a:p>
          <a:p>
            <a:pPr lvl="1"/>
            <a:r>
              <a:rPr lang="en-US" b="1" dirty="0" smtClean="0"/>
              <a:t>AI-driven Decision Engines:</a:t>
            </a:r>
            <a:r>
              <a:rPr lang="en-US" dirty="0" smtClean="0"/>
              <a:t> An algorithm that evaluates claims based on historical data, comparing it against known fraud patterns and general statistics (i.e., approval </a:t>
            </a:r>
            <a:r>
              <a:rPr lang="en-US" dirty="0" err="1" smtClean="0"/>
              <a:t>vs</a:t>
            </a:r>
            <a:r>
              <a:rPr lang="en-US" dirty="0" smtClean="0"/>
              <a:t> rejection history).</a:t>
            </a:r>
          </a:p>
          <a:p>
            <a:pPr lvl="1"/>
            <a:r>
              <a:rPr lang="en-US" dirty="0" smtClean="0"/>
              <a:t>Machine learning models that are continuously trained on past claims data can ensure future claims get processed faster and with more precision, flagging fraudulent claims early on.</a:t>
            </a:r>
          </a:p>
          <a:p>
            <a:pPr lvl="1"/>
            <a:r>
              <a:rPr lang="en-US" dirty="0" smtClean="0"/>
              <a:t>Examples: AI that scans submitted medical or accident images and compares with historical cases.</a:t>
            </a:r>
          </a:p>
          <a:p>
            <a:r>
              <a:rPr lang="en-US" b="1" dirty="0" err="1" smtClean="0"/>
              <a:t>IoT</a:t>
            </a:r>
            <a:r>
              <a:rPr lang="en-US" b="1" dirty="0" smtClean="0"/>
              <a:t> &amp; </a:t>
            </a:r>
            <a:r>
              <a:rPr lang="en-US" b="1" dirty="0" err="1" smtClean="0"/>
              <a:t>Wearables</a:t>
            </a:r>
            <a:r>
              <a:rPr lang="en-US" b="1" dirty="0" smtClean="0"/>
              <a:t> Data Integration (Health/Automobile):</a:t>
            </a:r>
            <a:endParaRPr lang="en-US" dirty="0" smtClean="0"/>
          </a:p>
          <a:p>
            <a:pPr lvl="1"/>
            <a:r>
              <a:rPr lang="en-US" b="1" dirty="0" smtClean="0"/>
              <a:t>Health Domain:</a:t>
            </a:r>
            <a:r>
              <a:rPr lang="en-US" dirty="0" smtClean="0"/>
              <a:t> Integration of devices (e.g., fitness trackers, </a:t>
            </a:r>
            <a:r>
              <a:rPr lang="en-US" dirty="0" err="1" smtClean="0"/>
              <a:t>smartwatches</a:t>
            </a:r>
            <a:r>
              <a:rPr lang="en-US" dirty="0" smtClean="0"/>
              <a:t> like </a:t>
            </a:r>
            <a:r>
              <a:rPr lang="en-US" dirty="0" err="1" smtClean="0"/>
              <a:t>Fitbit</a:t>
            </a:r>
            <a:r>
              <a:rPr lang="en-US" dirty="0" smtClean="0"/>
              <a:t>, or heart rate monitors) provides constant tracking of policyholders’ health. If customers maintain a healthy lifestyle, the system could generate automated premium discounts or offer customized wellness advice.</a:t>
            </a:r>
          </a:p>
          <a:p>
            <a:pPr lvl="1"/>
            <a:r>
              <a:rPr lang="en-US" b="1" dirty="0" smtClean="0"/>
              <a:t>Automobile Domain:</a:t>
            </a:r>
            <a:r>
              <a:rPr lang="en-US" dirty="0" smtClean="0"/>
              <a:t> Install </a:t>
            </a:r>
            <a:r>
              <a:rPr lang="en-US" dirty="0" err="1" smtClean="0"/>
              <a:t>IoT</a:t>
            </a:r>
            <a:r>
              <a:rPr lang="en-US" dirty="0" smtClean="0"/>
              <a:t> devices in cars (e.g., </a:t>
            </a:r>
            <a:r>
              <a:rPr lang="en-US" dirty="0" err="1" smtClean="0"/>
              <a:t>telematics</a:t>
            </a:r>
            <a:r>
              <a:rPr lang="en-US" dirty="0" smtClean="0"/>
              <a:t> or insurance devices) to monitor driving behavior. This data is fed back to the insurer in real-time. Customers who drive safely are rewarded with discounts (usage-based insurance).</a:t>
            </a:r>
          </a:p>
          <a:p>
            <a:r>
              <a:rPr lang="en-US" b="1" dirty="0" smtClean="0"/>
              <a:t>Personalized Notifications &amp; Alerts (AI-based):</a:t>
            </a:r>
            <a:endParaRPr lang="en-US" dirty="0" smtClean="0"/>
          </a:p>
          <a:p>
            <a:pPr lvl="1"/>
            <a:r>
              <a:rPr lang="en-US" dirty="0" smtClean="0"/>
              <a:t>AI can analyze user behaviors and customer interaction patterns (e.g., contact history, types of queries) to create personalized outreach. For example:</a:t>
            </a:r>
          </a:p>
          <a:p>
            <a:pPr lvl="2"/>
            <a:r>
              <a:rPr lang="en-US" dirty="0" smtClean="0"/>
              <a:t>Notifying customers when their policy is about to expire.</a:t>
            </a:r>
          </a:p>
          <a:p>
            <a:pPr lvl="2"/>
            <a:r>
              <a:rPr lang="en-US" dirty="0" smtClean="0"/>
              <a:t>Notifying auto customers in case of unusual driving patterns that increase their premium risk.</a:t>
            </a:r>
          </a:p>
          <a:p>
            <a:r>
              <a:rPr lang="en-US" b="1" dirty="0" err="1" smtClean="0"/>
              <a:t>Chatbots</a:t>
            </a:r>
            <a:r>
              <a:rPr lang="en-US" b="1" dirty="0" smtClean="0"/>
              <a:t> &amp; Conversational Interfaces: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 err="1" smtClean="0"/>
              <a:t>chatbot</a:t>
            </a:r>
            <a:r>
              <a:rPr lang="en-US" dirty="0" smtClean="0"/>
              <a:t> integrated within the portal or mobile app serves as a 24/7 support channel for customers, automating FAQs, basic claims filing, and guidance in policy inquiries. AI models handle routine tasks, while human agents deal with escalated issues.</a:t>
            </a:r>
          </a:p>
          <a:p>
            <a:r>
              <a:rPr lang="en-US" b="1" dirty="0" smtClean="0"/>
              <a:t>Advanced Analytics for Customer Insights:</a:t>
            </a:r>
            <a:endParaRPr lang="en-US" dirty="0" smtClean="0"/>
          </a:p>
          <a:p>
            <a:pPr lvl="1"/>
            <a:r>
              <a:rPr lang="en-US" dirty="0" smtClean="0"/>
              <a:t>Leveraging big data, predictive analytics, and AI, insurers can develop dynamic, personalized policy suggestions based on specific criteria, such as age, health habits, or previous claims history.</a:t>
            </a:r>
          </a:p>
          <a:p>
            <a:pPr lvl="1"/>
            <a:r>
              <a:rPr lang="en-US" dirty="0" smtClean="0"/>
              <a:t>Building customer lifetime value models to identify high-value customers and offering loyalty rewards, personalized discounts, and alternative products.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 Full Stack Technology Implementation Details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04800"/>
            <a:ext cx="9296400" cy="6553200"/>
          </a:xfrm>
        </p:spPr>
        <p:txBody>
          <a:bodyPr>
            <a:noAutofit/>
          </a:bodyPr>
          <a:lstStyle/>
          <a:p>
            <a:r>
              <a:rPr lang="en-US" sz="1200" b="1" dirty="0" smtClean="0"/>
              <a:t>Frontend (User Interface):</a:t>
            </a:r>
          </a:p>
          <a:p>
            <a:r>
              <a:rPr lang="en-US" sz="1200" b="1" dirty="0" smtClean="0"/>
              <a:t>React.js or Vue.js:</a:t>
            </a:r>
            <a:endParaRPr lang="en-US" sz="1200" dirty="0" smtClean="0"/>
          </a:p>
          <a:p>
            <a:pPr lvl="1"/>
            <a:r>
              <a:rPr lang="en-US" sz="1200" b="1" dirty="0" smtClean="0"/>
              <a:t>Key Features:</a:t>
            </a:r>
            <a:r>
              <a:rPr lang="en-US" sz="1200" dirty="0" smtClean="0"/>
              <a:t> User-friendly interfaces with dynamic content updates (such as claim statuses, real-time policy rates).</a:t>
            </a:r>
          </a:p>
          <a:p>
            <a:pPr lvl="1"/>
            <a:r>
              <a:rPr lang="en-US" sz="1200" b="1" dirty="0" smtClean="0"/>
              <a:t>Components:</a:t>
            </a:r>
            <a:endParaRPr lang="en-US" sz="1200" dirty="0" smtClean="0"/>
          </a:p>
          <a:p>
            <a:pPr lvl="2"/>
            <a:r>
              <a:rPr lang="en-US" sz="1200" dirty="0" smtClean="0"/>
              <a:t>Policy application form: Responsive UI with validation.</a:t>
            </a:r>
          </a:p>
          <a:p>
            <a:pPr lvl="2"/>
            <a:r>
              <a:rPr lang="en-US" sz="1200" dirty="0" smtClean="0"/>
              <a:t>Claims submission form: Upload functionality for images, PDFs.</a:t>
            </a:r>
          </a:p>
          <a:p>
            <a:pPr lvl="2"/>
            <a:r>
              <a:rPr lang="en-US" sz="1200" dirty="0" smtClean="0"/>
              <a:t>Dashboard view: Overview of claims, renewal dates, payments, alerts, and AI </a:t>
            </a:r>
            <a:r>
              <a:rPr lang="en-US" sz="1200" dirty="0" err="1" smtClean="0"/>
              <a:t>chatbot</a:t>
            </a:r>
            <a:r>
              <a:rPr lang="en-US" sz="1200" dirty="0" smtClean="0"/>
              <a:t> interactions.</a:t>
            </a:r>
          </a:p>
          <a:p>
            <a:r>
              <a:rPr lang="en-US" sz="1200" b="1" dirty="0" smtClean="0"/>
              <a:t>Mobile App (React Native or Flutter):</a:t>
            </a:r>
            <a:endParaRPr lang="en-US" sz="1200" dirty="0" smtClean="0"/>
          </a:p>
          <a:p>
            <a:pPr lvl="1"/>
            <a:r>
              <a:rPr lang="en-US" sz="1200" b="1" dirty="0" smtClean="0"/>
              <a:t>Key Features:</a:t>
            </a:r>
            <a:endParaRPr lang="en-US" sz="1200" dirty="0" smtClean="0"/>
          </a:p>
          <a:p>
            <a:pPr lvl="2"/>
            <a:r>
              <a:rPr lang="en-US" sz="1200" dirty="0" smtClean="0"/>
              <a:t>Push notifications for policy updates, claims progress, or renewal reminders.</a:t>
            </a:r>
          </a:p>
          <a:p>
            <a:pPr lvl="2"/>
            <a:r>
              <a:rPr lang="en-US" sz="1200" dirty="0" smtClean="0"/>
              <a:t>Mobile-responsive payments, document upload.</a:t>
            </a:r>
          </a:p>
          <a:p>
            <a:pPr lvl="2"/>
            <a:r>
              <a:rPr lang="en-US" sz="1200" dirty="0" smtClean="0"/>
              <a:t>Integration with cloud to provide up-to-the-minute claims status and premium rates.</a:t>
            </a:r>
          </a:p>
          <a:p>
            <a:r>
              <a:rPr lang="en-US" sz="1200" b="1" dirty="0" smtClean="0"/>
              <a:t>Backend (Business Logic):</a:t>
            </a:r>
          </a:p>
          <a:p>
            <a:r>
              <a:rPr lang="en-US" sz="1200" b="1" dirty="0" smtClean="0"/>
              <a:t>Node.js (Express.js) or </a:t>
            </a:r>
            <a:r>
              <a:rPr lang="en-US" sz="1200" b="1" dirty="0" err="1" smtClean="0"/>
              <a:t>Django</a:t>
            </a:r>
            <a:r>
              <a:rPr lang="en-US" sz="1200" b="1" dirty="0" smtClean="0"/>
              <a:t>:</a:t>
            </a:r>
            <a:endParaRPr lang="en-US" sz="1200" dirty="0" smtClean="0"/>
          </a:p>
          <a:p>
            <a:pPr lvl="1"/>
            <a:r>
              <a:rPr lang="en-US" sz="1200" dirty="0" smtClean="0"/>
              <a:t>Handling requests from the frontend (policy applications, claims processing, etc.).</a:t>
            </a:r>
          </a:p>
          <a:p>
            <a:pPr lvl="1"/>
            <a:r>
              <a:rPr lang="en-US" sz="1200" dirty="0" smtClean="0"/>
              <a:t>API routes for submitting policies, fetching claim data, or retrieving account details.</a:t>
            </a:r>
          </a:p>
          <a:p>
            <a:pPr lvl="1"/>
            <a:r>
              <a:rPr lang="en-US" sz="1200" dirty="0" smtClean="0"/>
              <a:t>Integration with authentication systems for customer login, policy data retrieval, and payment processing.</a:t>
            </a:r>
          </a:p>
          <a:p>
            <a:r>
              <a:rPr lang="en-US" sz="1200" b="1" dirty="0" smtClean="0"/>
              <a:t>Data Layer:</a:t>
            </a:r>
            <a:endParaRPr lang="en-US" sz="1200" dirty="0" smtClean="0"/>
          </a:p>
          <a:p>
            <a:pPr lvl="1"/>
            <a:r>
              <a:rPr lang="en-US" sz="1200" b="1" dirty="0" smtClean="0"/>
              <a:t>Database:</a:t>
            </a:r>
            <a:r>
              <a:rPr lang="en-US" sz="1200" dirty="0" smtClean="0"/>
              <a:t> </a:t>
            </a:r>
            <a:r>
              <a:rPr lang="en-US" sz="1200" dirty="0" err="1" smtClean="0"/>
              <a:t>MongoDB</a:t>
            </a:r>
            <a:r>
              <a:rPr lang="en-US" sz="1200" dirty="0" smtClean="0"/>
              <a:t> (for flexible schema of health/vehicle data) or </a:t>
            </a:r>
            <a:r>
              <a:rPr lang="en-US" sz="1200" dirty="0" err="1" smtClean="0"/>
              <a:t>PostgreSQL</a:t>
            </a:r>
            <a:r>
              <a:rPr lang="en-US" sz="1200" dirty="0" smtClean="0"/>
              <a:t> (for relational data of policies and claims).</a:t>
            </a:r>
          </a:p>
          <a:p>
            <a:pPr lvl="1"/>
            <a:r>
              <a:rPr lang="en-US" sz="1200" dirty="0" smtClean="0"/>
              <a:t>Efficient indexing is crucial for searching and retrieving policies or claims quickly.</a:t>
            </a:r>
          </a:p>
          <a:p>
            <a:r>
              <a:rPr lang="en-US" sz="1200" b="1" dirty="0" smtClean="0"/>
              <a:t>Real-Time Notifications (SMS, Email, Push Notifications):</a:t>
            </a:r>
          </a:p>
          <a:p>
            <a:r>
              <a:rPr lang="en-US" sz="1200" b="1" dirty="0" smtClean="0"/>
              <a:t>Use of Services like Firebase or </a:t>
            </a:r>
            <a:r>
              <a:rPr lang="en-US" sz="1200" b="1" dirty="0" err="1" smtClean="0"/>
              <a:t>Twilio</a:t>
            </a:r>
            <a:r>
              <a:rPr lang="en-US" sz="1200" b="1" dirty="0" smtClean="0"/>
              <a:t>:</a:t>
            </a:r>
            <a:endParaRPr lang="en-US" sz="1200" dirty="0" smtClean="0"/>
          </a:p>
          <a:p>
            <a:pPr lvl="1"/>
            <a:r>
              <a:rPr lang="en-US" sz="1200" dirty="0" smtClean="0"/>
              <a:t>Integration for push notifications via Firebase or bulk messaging services via </a:t>
            </a:r>
            <a:r>
              <a:rPr lang="en-US" sz="1200" dirty="0" err="1" smtClean="0"/>
              <a:t>Twilio</a:t>
            </a:r>
            <a:r>
              <a:rPr lang="en-US" sz="1200" dirty="0" smtClean="0"/>
              <a:t> for SMS/email alerts (about renewal reminders, claim updates).</a:t>
            </a:r>
          </a:p>
          <a:p>
            <a:pPr lvl="1"/>
            <a:r>
              <a:rPr lang="en-US" sz="1200" dirty="0" smtClean="0"/>
              <a:t>Application sends real-time updates when a policy or claim status changes, keeping customers informed instantly.</a:t>
            </a:r>
          </a:p>
          <a:p>
            <a:r>
              <a:rPr lang="en-US" sz="1200" b="1" dirty="0" err="1" smtClean="0"/>
              <a:t>IoT</a:t>
            </a:r>
            <a:r>
              <a:rPr lang="en-US" sz="1200" b="1" dirty="0" smtClean="0"/>
              <a:t> Integration and Data Collection:</a:t>
            </a:r>
          </a:p>
          <a:p>
            <a:r>
              <a:rPr lang="en-US" sz="1200" b="1" dirty="0" smtClean="0"/>
              <a:t>For Vehicle (Automobile Domain):</a:t>
            </a:r>
            <a:endParaRPr lang="en-US" sz="1200" dirty="0" smtClean="0"/>
          </a:p>
          <a:p>
            <a:pPr lvl="1"/>
            <a:r>
              <a:rPr lang="en-US" sz="1200" dirty="0" smtClean="0"/>
              <a:t>Integrate with </a:t>
            </a:r>
            <a:r>
              <a:rPr lang="en-US" sz="1200" dirty="0" err="1" smtClean="0"/>
              <a:t>telematics</a:t>
            </a:r>
            <a:r>
              <a:rPr lang="en-US" sz="1200" dirty="0" smtClean="0"/>
              <a:t> devices installed in the vehicle.</a:t>
            </a:r>
          </a:p>
          <a:p>
            <a:pPr lvl="1"/>
            <a:r>
              <a:rPr lang="en-US" sz="1200" dirty="0" smtClean="0"/>
              <a:t>Collect data like braking habits, fuel efficiency, and speed. This data is transferred via APIs to the backend to calculate risk and adjust premiums.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 Full Stack Technology </a:t>
            </a:r>
            <a:r>
              <a:rPr lang="en-US" b="1" smtClean="0">
                <a:solidFill>
                  <a:srgbClr val="FF0000"/>
                </a:solidFill>
              </a:rPr>
              <a:t>Implementation </a:t>
            </a:r>
            <a:r>
              <a:rPr lang="en-US" b="1" smtClean="0">
                <a:solidFill>
                  <a:srgbClr val="FF0000"/>
                </a:solidFill>
              </a:rPr>
              <a:t>Details – Cont’d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b="1" dirty="0" smtClean="0"/>
              <a:t>For Health Domain:</a:t>
            </a:r>
            <a:endParaRPr lang="en-US" sz="1600" dirty="0" smtClean="0"/>
          </a:p>
          <a:p>
            <a:pPr lvl="1"/>
            <a:r>
              <a:rPr lang="en-US" sz="1600" dirty="0" err="1" smtClean="0"/>
              <a:t>Wearables</a:t>
            </a:r>
            <a:r>
              <a:rPr lang="en-US" sz="1600" dirty="0" smtClean="0"/>
              <a:t> like fitness trackers feed data directly into the backend for insurers to evaluate.</a:t>
            </a:r>
          </a:p>
          <a:p>
            <a:pPr lvl="1"/>
            <a:r>
              <a:rPr lang="en-US" sz="1600" dirty="0" smtClean="0"/>
              <a:t>APIs for connecting wearable manufacturers with the insurer’s data repository.</a:t>
            </a:r>
          </a:p>
          <a:p>
            <a:r>
              <a:rPr lang="en-US" sz="1600" b="1" dirty="0" smtClean="0"/>
              <a:t>Machine Learning &amp; AI:</a:t>
            </a:r>
          </a:p>
          <a:p>
            <a:r>
              <a:rPr lang="en-US" sz="1600" b="1" dirty="0" smtClean="0"/>
              <a:t>Claim Processing Algorithms (AI/ML):</a:t>
            </a:r>
            <a:endParaRPr lang="en-US" sz="1600" dirty="0" smtClean="0"/>
          </a:p>
          <a:p>
            <a:pPr lvl="1"/>
            <a:r>
              <a:rPr lang="en-US" sz="1600" dirty="0" smtClean="0"/>
              <a:t>Set up AI/ML models (using </a:t>
            </a:r>
            <a:r>
              <a:rPr lang="en-US" sz="1600" dirty="0" err="1" smtClean="0"/>
              <a:t>TensorFlow</a:t>
            </a:r>
            <a:r>
              <a:rPr lang="en-US" sz="1600" dirty="0" smtClean="0"/>
              <a:t> or </a:t>
            </a:r>
            <a:r>
              <a:rPr lang="en-US" sz="1600" dirty="0" err="1" smtClean="0"/>
              <a:t>Scikit</a:t>
            </a:r>
            <a:r>
              <a:rPr lang="en-US" sz="1600" dirty="0" smtClean="0"/>
              <a:t>-learn) trained on historical data for:</a:t>
            </a:r>
          </a:p>
          <a:p>
            <a:pPr lvl="2"/>
            <a:r>
              <a:rPr lang="en-US" sz="1600" b="1" dirty="0" smtClean="0"/>
              <a:t>Fraud Detection:</a:t>
            </a:r>
            <a:r>
              <a:rPr lang="en-US" sz="1600" dirty="0" smtClean="0"/>
              <a:t> Use supervised learning to spot suspicious claim patterns.</a:t>
            </a:r>
          </a:p>
          <a:p>
            <a:pPr lvl="2"/>
            <a:r>
              <a:rPr lang="en-US" sz="1600" b="1" dirty="0" smtClean="0"/>
              <a:t>Claims Assessment:</a:t>
            </a:r>
            <a:r>
              <a:rPr lang="en-US" sz="1600" dirty="0" smtClean="0"/>
              <a:t> Use image processing (computer vision) to assess medical records, injury photos, etc.</a:t>
            </a:r>
          </a:p>
          <a:p>
            <a:r>
              <a:rPr lang="en-US" sz="1600" b="1" dirty="0" smtClean="0"/>
              <a:t>Personalized Premium Calculation:</a:t>
            </a:r>
            <a:endParaRPr lang="en-US" sz="1600" dirty="0" smtClean="0"/>
          </a:p>
          <a:p>
            <a:pPr lvl="1"/>
            <a:r>
              <a:rPr lang="en-US" sz="1600" dirty="0" smtClean="0"/>
              <a:t>Advanced machine learning models to segment customers by lifestyle or behaviors and suggest different premium models.</a:t>
            </a:r>
          </a:p>
          <a:p>
            <a:endParaRPr lang="en-US" sz="10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4. Cloud and Deployment: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err="1" smtClean="0"/>
              <a:t>Serverless</a:t>
            </a:r>
            <a:r>
              <a:rPr lang="en-US" b="1" dirty="0" smtClean="0"/>
              <a:t> Architecture:</a:t>
            </a:r>
            <a:endParaRPr lang="en-US" dirty="0" smtClean="0"/>
          </a:p>
          <a:p>
            <a:pPr lvl="1"/>
            <a:r>
              <a:rPr lang="en-US" dirty="0" smtClean="0"/>
              <a:t>Utilize </a:t>
            </a:r>
            <a:r>
              <a:rPr lang="en-US" b="1" dirty="0" smtClean="0"/>
              <a:t>AWS Lambda</a:t>
            </a:r>
            <a:r>
              <a:rPr lang="en-US" dirty="0" smtClean="0"/>
              <a:t> for </a:t>
            </a:r>
            <a:r>
              <a:rPr lang="en-US" dirty="0" err="1" smtClean="0"/>
              <a:t>serverless</a:t>
            </a:r>
            <a:r>
              <a:rPr lang="en-US" dirty="0" smtClean="0"/>
              <a:t> computing tasks like policy renewals or document uploads, keeping costs low.</a:t>
            </a:r>
          </a:p>
          <a:p>
            <a:pPr lvl="1"/>
            <a:r>
              <a:rPr lang="en-US" dirty="0" smtClean="0"/>
              <a:t>Use </a:t>
            </a:r>
            <a:r>
              <a:rPr lang="en-US" b="1" dirty="0" smtClean="0"/>
              <a:t>API Gateway</a:t>
            </a:r>
            <a:r>
              <a:rPr lang="en-US" dirty="0" smtClean="0"/>
              <a:t> for routing requests to the right service or application function.</a:t>
            </a:r>
          </a:p>
          <a:p>
            <a:r>
              <a:rPr lang="en-US" b="1" dirty="0" smtClean="0"/>
              <a:t>Continuous Integration &amp; Continuous Deployment (CI/CD):</a:t>
            </a:r>
            <a:endParaRPr lang="en-US" dirty="0" smtClean="0"/>
          </a:p>
          <a:p>
            <a:pPr lvl="1"/>
            <a:r>
              <a:rPr lang="en-US" dirty="0" smtClean="0"/>
              <a:t>Use </a:t>
            </a:r>
            <a:r>
              <a:rPr lang="en-US" b="1" dirty="0" smtClean="0"/>
              <a:t>Jenkins</a:t>
            </a:r>
            <a:r>
              <a:rPr lang="en-US" dirty="0" smtClean="0"/>
              <a:t> or </a:t>
            </a:r>
            <a:r>
              <a:rPr lang="en-US" b="1" dirty="0" err="1" smtClean="0"/>
              <a:t>GitHub</a:t>
            </a:r>
            <a:r>
              <a:rPr lang="en-US" b="1" dirty="0" smtClean="0"/>
              <a:t> Actions</a:t>
            </a:r>
            <a:r>
              <a:rPr lang="en-US" dirty="0" smtClean="0"/>
              <a:t> to automate the process of testing, building, and deploying updates to the application with no downtime.</a:t>
            </a:r>
          </a:p>
          <a:p>
            <a:r>
              <a:rPr lang="en-US" b="1" dirty="0" err="1" smtClean="0"/>
              <a:t>Docker</a:t>
            </a:r>
            <a:r>
              <a:rPr lang="en-US" b="1" dirty="0" smtClean="0"/>
              <a:t>:</a:t>
            </a:r>
            <a:endParaRPr lang="en-US" dirty="0" smtClean="0"/>
          </a:p>
          <a:p>
            <a:pPr lvl="1"/>
            <a:r>
              <a:rPr lang="en-US" dirty="0" smtClean="0"/>
              <a:t>Containerize the application to make it portable across environments and ensure scalability.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5. Security Measures: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Encryption (SSL/TLS):</a:t>
            </a:r>
            <a:r>
              <a:rPr lang="en-US" dirty="0" smtClean="0"/>
              <a:t> All sensitive data, such as personal info, medical records, and driving habits, should be transmitted via HTTPS with strong encryption.</a:t>
            </a:r>
          </a:p>
          <a:p>
            <a:r>
              <a:rPr lang="en-US" b="1" dirty="0" err="1" smtClean="0"/>
              <a:t>OAuth</a:t>
            </a:r>
            <a:r>
              <a:rPr lang="en-US" b="1" dirty="0" smtClean="0"/>
              <a:t> 2.0 + JWT Authentication:</a:t>
            </a:r>
            <a:endParaRPr lang="en-US" dirty="0" smtClean="0"/>
          </a:p>
          <a:p>
            <a:pPr lvl="1"/>
            <a:r>
              <a:rPr lang="en-US" dirty="0" smtClean="0"/>
              <a:t>JWT (JSON Web Tokens) for secure login, keeping the user sessions alive but protected from unauthorized access.</a:t>
            </a:r>
          </a:p>
          <a:p>
            <a:r>
              <a:rPr lang="en-US" b="1" dirty="0" smtClean="0"/>
              <a:t>Data Compliance (e.g., HIPAA, GDPR):</a:t>
            </a:r>
            <a:endParaRPr lang="en-US" dirty="0" smtClean="0"/>
          </a:p>
          <a:p>
            <a:pPr lvl="1"/>
            <a:r>
              <a:rPr lang="en-US" dirty="0" smtClean="0"/>
              <a:t>Ensure that any health data follows local laws (e.g., HIPAA in the U.S., GDPR in Europe).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76200"/>
            <a:ext cx="8763000" cy="11430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Example Implementation Workflow in the Health Insurance Domain: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9120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 smtClean="0"/>
              <a:t>Customer </a:t>
            </a:r>
            <a:r>
              <a:rPr lang="en-US" b="1" dirty="0" err="1" smtClean="0"/>
              <a:t>Onboarding</a:t>
            </a:r>
            <a:r>
              <a:rPr lang="en-US" b="1" dirty="0" smtClean="0"/>
              <a:t>:</a:t>
            </a:r>
            <a:endParaRPr lang="en-US" dirty="0" smtClean="0"/>
          </a:p>
          <a:p>
            <a:pPr lvl="1"/>
            <a:r>
              <a:rPr lang="en-US" dirty="0" smtClean="0"/>
              <a:t>Customer registers on the portal, performing e-KYC for identity validation using third-party services.</a:t>
            </a:r>
          </a:p>
          <a:p>
            <a:pPr lvl="1"/>
            <a:r>
              <a:rPr lang="en-US" dirty="0" smtClean="0"/>
              <a:t>Customer fills out the health history and selects a plan.</a:t>
            </a:r>
          </a:p>
          <a:p>
            <a:r>
              <a:rPr lang="en-US" b="1" dirty="0" smtClean="0"/>
              <a:t>AI-Assisted Policy Creation:</a:t>
            </a:r>
            <a:endParaRPr lang="en-US" dirty="0" smtClean="0"/>
          </a:p>
          <a:p>
            <a:pPr lvl="1"/>
            <a:r>
              <a:rPr lang="en-US" dirty="0" smtClean="0"/>
              <a:t>Policy generation is automated based on user health data (wearable device input) and personal preferences.</a:t>
            </a:r>
          </a:p>
          <a:p>
            <a:r>
              <a:rPr lang="en-US" b="1" dirty="0" smtClean="0"/>
              <a:t>Claims Filing:</a:t>
            </a:r>
            <a:endParaRPr lang="en-US" dirty="0" smtClean="0"/>
          </a:p>
          <a:p>
            <a:pPr lvl="1"/>
            <a:r>
              <a:rPr lang="en-US" dirty="0" smtClean="0"/>
              <a:t>The user files a health claim through the portal or mobile app. They submit proof like photos or medical reports.</a:t>
            </a:r>
          </a:p>
          <a:p>
            <a:pPr lvl="1"/>
            <a:r>
              <a:rPr lang="en-US" dirty="0" smtClean="0"/>
              <a:t>AI verifies claim details by comparing them against historical data and approved templates.</a:t>
            </a:r>
          </a:p>
          <a:p>
            <a:r>
              <a:rPr lang="en-US" b="1" dirty="0" smtClean="0"/>
              <a:t>Fraud Detection &amp; Claim Approval:</a:t>
            </a:r>
            <a:endParaRPr lang="en-US" dirty="0" smtClean="0"/>
          </a:p>
          <a:p>
            <a:pPr lvl="1"/>
            <a:r>
              <a:rPr lang="en-US" dirty="0" smtClean="0"/>
              <a:t>AI models flag suspicious claims for human inspection.</a:t>
            </a:r>
          </a:p>
          <a:p>
            <a:pPr lvl="1"/>
            <a:r>
              <a:rPr lang="en-US" dirty="0" smtClean="0"/>
              <a:t>Claims get approved/rejected automatically based on a set algorithm or through manual review.</a:t>
            </a:r>
          </a:p>
          <a:p>
            <a:r>
              <a:rPr lang="en-US" b="1" dirty="0" smtClean="0"/>
              <a:t>Continuous Monitoring via </a:t>
            </a:r>
            <a:r>
              <a:rPr lang="en-US" b="1" dirty="0" err="1" smtClean="0"/>
              <a:t>Wearables</a:t>
            </a:r>
            <a:r>
              <a:rPr lang="en-US" b="1" dirty="0" smtClean="0"/>
              <a:t>:</a:t>
            </a:r>
            <a:endParaRPr lang="en-US" dirty="0" smtClean="0"/>
          </a:p>
          <a:p>
            <a:pPr lvl="1"/>
            <a:r>
              <a:rPr lang="en-US" dirty="0" smtClean="0"/>
              <a:t>For health insurance, wearable devices help track a customer's physical activities and send data to the insurer for adjusting policy terms and rates.</a:t>
            </a:r>
          </a:p>
          <a:p>
            <a:r>
              <a:rPr lang="en-US" dirty="0" smtClean="0"/>
              <a:t>By digitizing each part of the business process and adopting a full-stack technology stack, an insurance company can reduce inefficiencies, automate workflows, and ultimately deliver a much better customer experience while cutting operational costs.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2098</Words>
  <Application>Microsoft Office PowerPoint</Application>
  <PresentationFormat>On-screen Show (4:3)</PresentationFormat>
  <Paragraphs>143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Case study : Insurance Company</vt:lpstr>
      <vt:lpstr> Existing Business Process</vt:lpstr>
      <vt:lpstr>Existing Business Process </vt:lpstr>
      <vt:lpstr>Digital Transformation Opportunities</vt:lpstr>
      <vt:lpstr>Digital Transformation Opportunities</vt:lpstr>
      <vt:lpstr> Full Stack Technology Implementation Details</vt:lpstr>
      <vt:lpstr> Full Stack Technology Implementation Details – Cont’d</vt:lpstr>
      <vt:lpstr>4. Cloud and Deployment:</vt:lpstr>
      <vt:lpstr>5. Security Measures:</vt:lpstr>
      <vt:lpstr>Example Implementation Workflow in the Health Insurance Domain: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: Insurance Company</dc:title>
  <dc:creator>admin</dc:creator>
  <cp:lastModifiedBy>admin</cp:lastModifiedBy>
  <cp:revision>7</cp:revision>
  <dcterms:created xsi:type="dcterms:W3CDTF">2024-12-23T05:46:45Z</dcterms:created>
  <dcterms:modified xsi:type="dcterms:W3CDTF">2025-02-27T05:53:04Z</dcterms:modified>
</cp:coreProperties>
</file>