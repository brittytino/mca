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6" r:id="rId17"/>
    <p:sldId id="277" r:id="rId18"/>
    <p:sldId id="278" r:id="rId19"/>
    <p:sldId id="275" r:id="rId20"/>
    <p:sldId id="274" r:id="rId21"/>
    <p:sldId id="273" r:id="rId22"/>
    <p:sldId id="272" r:id="rId23"/>
    <p:sldId id="271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-560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3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2879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3968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8551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949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2782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1324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723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9015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8775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645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9732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8C62D-3258-47AD-9CAB-0F0CD914DC14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BCD31-6D14-41EC-81D8-53A848D39F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449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026" y="0"/>
            <a:ext cx="10273048" cy="78561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Case study – Manufacturing Firm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549" y="1300765"/>
            <a:ext cx="11359165" cy="534473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Implementation Steps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Requirement Analysis:</a:t>
            </a:r>
            <a:r>
              <a:rPr lang="en-US" dirty="0" smtClean="0"/>
              <a:t> Define use cases and workflows.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System Design:</a:t>
            </a:r>
            <a:r>
              <a:rPr lang="en-US" dirty="0" smtClean="0"/>
              <a:t> Create UML diagrams and data flow models.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Technology Stack Selection:</a:t>
            </a:r>
            <a:r>
              <a:rPr lang="en-US" dirty="0" smtClean="0"/>
              <a:t> Identify tools for frontend, backend, database, and integration.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Development:</a:t>
            </a:r>
            <a:r>
              <a:rPr lang="en-US" dirty="0" smtClean="0"/>
              <a:t> Follow Agile methodology with sprints for modular development.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Testing:</a:t>
            </a:r>
            <a:r>
              <a:rPr lang="en-US" dirty="0" smtClean="0"/>
              <a:t> Conduct unit, integration, and system testing.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Deployment:</a:t>
            </a:r>
            <a:r>
              <a:rPr lang="en-US" dirty="0" smtClean="0"/>
              <a:t> Use CI/CD pipelines for deployment.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 smtClean="0"/>
              <a:t>Monitoring:</a:t>
            </a:r>
            <a:r>
              <a:rPr lang="en-US" dirty="0" smtClean="0"/>
              <a:t> Implement </a:t>
            </a:r>
            <a:r>
              <a:rPr lang="en-US" dirty="0" err="1" smtClean="0"/>
              <a:t>observability</a:t>
            </a:r>
            <a:r>
              <a:rPr lang="en-US" dirty="0" smtClean="0"/>
              <a:t> tools for performance monitoring.</a:t>
            </a:r>
          </a:p>
          <a:p>
            <a:pPr algn="l"/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xmlns="" val="297549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186" y="231820"/>
            <a:ext cx="11573814" cy="837125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Employee Resource Management (Enterprise Scope)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20" y="1068945"/>
            <a:ext cx="11960179" cy="5911403"/>
          </a:xfrm>
        </p:spPr>
        <p:txBody>
          <a:bodyPr>
            <a:noAutofit/>
          </a:bodyPr>
          <a:lstStyle/>
          <a:p>
            <a:r>
              <a:rPr lang="en-US" b="1" dirty="0" smtClean="0"/>
              <a:t>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Employee Scheduling:</a:t>
            </a:r>
            <a:r>
              <a:rPr lang="en-US" dirty="0" smtClean="0"/>
              <a:t> Automate shift allocations and workload distribution.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Performance Tracking:</a:t>
            </a:r>
            <a:r>
              <a:rPr lang="en-US" dirty="0" smtClean="0"/>
              <a:t> Collect and analyze performance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Query Resolution:</a:t>
            </a:r>
            <a:r>
              <a:rPr lang="en-US" dirty="0" smtClean="0"/>
              <a:t> Offer a self-service portal or </a:t>
            </a:r>
            <a:r>
              <a:rPr lang="en-US" dirty="0" err="1" smtClean="0"/>
              <a:t>chatbot</a:t>
            </a:r>
            <a:r>
              <a:rPr lang="en-US" dirty="0" smtClean="0"/>
              <a:t> for HR-related queries.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Compliance:</a:t>
            </a:r>
            <a:r>
              <a:rPr lang="en-US" dirty="0" smtClean="0"/>
              <a:t> Ensure adherence to labor laws and union agreements.</a:t>
            </a:r>
          </a:p>
          <a:p>
            <a:r>
              <a:rPr lang="en-US" b="1" dirty="0" smtClean="0"/>
              <a:t>Digital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HR Management System:</a:t>
            </a:r>
            <a:r>
              <a:rPr lang="en-US" dirty="0" smtClean="0"/>
              <a:t> Centralized HR platform with scheduling, performance tracking, and analytics.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 smtClean="0"/>
              <a:t>Chatbot</a:t>
            </a:r>
            <a:r>
              <a:rPr lang="en-US" b="1" dirty="0" smtClean="0"/>
              <a:t> Integration:</a:t>
            </a:r>
            <a:r>
              <a:rPr lang="en-US" dirty="0" smtClean="0"/>
              <a:t> Use AI-powered </a:t>
            </a:r>
            <a:r>
              <a:rPr lang="en-US" dirty="0" err="1" smtClean="0"/>
              <a:t>chatbots</a:t>
            </a:r>
            <a:r>
              <a:rPr lang="en-US" dirty="0" smtClean="0"/>
              <a:t> for FAQs and leave requests.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Data Visualization:</a:t>
            </a:r>
            <a:r>
              <a:rPr lang="en-US" dirty="0" smtClean="0"/>
              <a:t> Dashboards for managers to view employee performance and workload metrics.</a:t>
            </a:r>
          </a:p>
        </p:txBody>
      </p:sp>
    </p:spTree>
    <p:extLst>
      <p:ext uri="{BB962C8B-B14F-4D97-AF65-F5344CB8AC3E}">
        <p14:creationId xmlns:p14="http://schemas.microsoft.com/office/powerpoint/2010/main" xmlns="" val="59440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152" y="365125"/>
            <a:ext cx="12282152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Employee Resource Management (Enterprise Scope)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958848" cy="50323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Inputs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Employee attendance and shift preferences.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Workload data from production and projects.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HR policies and labor regulations.</a:t>
            </a:r>
          </a:p>
          <a:p>
            <a:r>
              <a:rPr lang="en-US" b="1" dirty="0" smtClean="0"/>
              <a:t>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Updated employee schedules.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Performance reports and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Responses to employee queries and requests.</a:t>
            </a:r>
          </a:p>
          <a:p>
            <a:r>
              <a:rPr lang="en-US" b="1" dirty="0" smtClean="0"/>
              <a:t>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Compliance:</a:t>
            </a:r>
            <a:r>
              <a:rPr lang="en-US" dirty="0" smtClean="0"/>
              <a:t> Adhere to union rules and labor laws.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Privacy:</a:t>
            </a:r>
            <a:r>
              <a:rPr lang="en-US" dirty="0" smtClean="0"/>
              <a:t> Protect sensitive employee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System Downtime:</a:t>
            </a:r>
            <a:r>
              <a:rPr lang="en-US" dirty="0" smtClean="0"/>
              <a:t> Ensure high availability for critical HR operations.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67250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00311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Employee Resource Management (Enterprise Scope)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1493949"/>
            <a:ext cx="11874321" cy="5100034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Multi-Tier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Frontend (Presentation Layer):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Tech Stack:</a:t>
            </a:r>
            <a:r>
              <a:rPr lang="en-US" sz="2000" dirty="0" smtClean="0"/>
              <a:t> Angular for admin dashboards and employee self-service portal.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Features:</a:t>
            </a:r>
            <a:r>
              <a:rPr lang="en-US" sz="2000" dirty="0" smtClean="0"/>
              <a:t> Scheduling interface, performance graphs, </a:t>
            </a:r>
            <a:r>
              <a:rPr lang="en-US" sz="2000" dirty="0" err="1" smtClean="0"/>
              <a:t>chatbot</a:t>
            </a:r>
            <a:r>
              <a:rPr lang="en-US" sz="2000" dirty="0" smtClean="0"/>
              <a:t> integration.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Backend (Business Logic Layer):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Tech Stack:</a:t>
            </a:r>
            <a:r>
              <a:rPr lang="en-US" sz="2000" dirty="0" smtClean="0"/>
              <a:t> </a:t>
            </a:r>
            <a:r>
              <a:rPr lang="en-US" sz="2000" dirty="0" err="1" smtClean="0"/>
              <a:t>Laravel</a:t>
            </a:r>
            <a:r>
              <a:rPr lang="en-US" sz="2000" dirty="0" smtClean="0"/>
              <a:t> for robust HR management APIs.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Features:</a:t>
            </a:r>
            <a:r>
              <a:rPr lang="en-US" sz="2000" dirty="0" smtClean="0"/>
              <a:t> Scheduling algorithms, query handling, and reporting.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Database (Data Layer):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Tech Stack:</a:t>
            </a:r>
            <a:r>
              <a:rPr lang="en-US" sz="2000" dirty="0" smtClean="0"/>
              <a:t> </a:t>
            </a:r>
            <a:r>
              <a:rPr lang="en-US" sz="2000" dirty="0" err="1" smtClean="0"/>
              <a:t>MariaDB</a:t>
            </a:r>
            <a:r>
              <a:rPr lang="en-US" sz="2000" dirty="0" smtClean="0"/>
              <a:t> for relational HR data storage.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Data Stored:</a:t>
            </a:r>
            <a:r>
              <a:rPr lang="en-US" sz="2000" dirty="0" smtClean="0"/>
              <a:t> Employee records, schedules, attendance, performance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AI/ML Layer:</a:t>
            </a:r>
            <a:endParaRPr lang="en-US" sz="2000" dirty="0" smtClean="0"/>
          </a:p>
          <a:p>
            <a:pPr lvl="1"/>
            <a:r>
              <a:rPr lang="en-US" sz="2000" b="1" dirty="0" smtClean="0"/>
              <a:t>Tech Stack:</a:t>
            </a:r>
            <a:r>
              <a:rPr lang="en-US" sz="2000" dirty="0" smtClean="0"/>
              <a:t> Google </a:t>
            </a:r>
            <a:r>
              <a:rPr lang="en-US" sz="2000" dirty="0" err="1" smtClean="0"/>
              <a:t>Dialogflow</a:t>
            </a:r>
            <a:r>
              <a:rPr lang="en-US" sz="2000" dirty="0" smtClean="0"/>
              <a:t> or Microsoft Bot Framework for NLP-based </a:t>
            </a:r>
            <a:r>
              <a:rPr lang="en-US" sz="2000" dirty="0" err="1" smtClean="0"/>
              <a:t>chatbot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b="1" dirty="0" smtClean="0"/>
              <a:t>Features:</a:t>
            </a:r>
            <a:r>
              <a:rPr lang="en-US" sz="2000" dirty="0" smtClean="0"/>
              <a:t> AI </a:t>
            </a:r>
            <a:r>
              <a:rPr lang="en-US" sz="2000" dirty="0" err="1" smtClean="0"/>
              <a:t>chatbot</a:t>
            </a:r>
            <a:r>
              <a:rPr lang="en-US" sz="2000" dirty="0" smtClean="0"/>
              <a:t> for handling leave requests and FAQs.</a:t>
            </a:r>
          </a:p>
          <a:p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168761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Implementation Workflow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Attendance Collection:</a:t>
            </a:r>
            <a:r>
              <a:rPr lang="en-US" dirty="0" smtClean="0"/>
              <a:t> Integrate with biometric systems for real-time attendance updates.</a:t>
            </a:r>
          </a:p>
          <a:p>
            <a:r>
              <a:rPr lang="en-US" b="1" dirty="0" smtClean="0"/>
              <a:t>Shift Scheduling:</a:t>
            </a:r>
            <a:r>
              <a:rPr lang="en-US" dirty="0" smtClean="0"/>
              <a:t> Automate allocation based on availability and workload.</a:t>
            </a:r>
          </a:p>
          <a:p>
            <a:r>
              <a:rPr lang="en-US" b="1" dirty="0" smtClean="0"/>
              <a:t>Performance Metrics:</a:t>
            </a:r>
            <a:r>
              <a:rPr lang="en-US" dirty="0" smtClean="0"/>
              <a:t> Aggregate data from production systems and evaluate KPIs.</a:t>
            </a:r>
          </a:p>
          <a:p>
            <a:r>
              <a:rPr lang="en-US" b="1" dirty="0" smtClean="0"/>
              <a:t>Employee Queries:</a:t>
            </a:r>
            <a:r>
              <a:rPr lang="en-US" dirty="0" smtClean="0"/>
              <a:t> Use </a:t>
            </a:r>
            <a:r>
              <a:rPr lang="en-US" dirty="0" err="1" smtClean="0"/>
              <a:t>chatbot</a:t>
            </a:r>
            <a:r>
              <a:rPr lang="en-US" dirty="0" smtClean="0"/>
              <a:t> to handle routine HR questions.</a:t>
            </a:r>
          </a:p>
          <a:p>
            <a:r>
              <a:rPr lang="en-US" b="1" dirty="0" smtClean="0"/>
              <a:t>Analytics Dashboard:</a:t>
            </a:r>
            <a:r>
              <a:rPr lang="en-US" dirty="0" smtClean="0"/>
              <a:t> Provide insights into employee productivity and satisfaction.</a:t>
            </a:r>
          </a:p>
          <a:p>
            <a:r>
              <a:rPr lang="en-US" b="1" dirty="0" smtClean="0"/>
              <a:t>Feedback Loop:</a:t>
            </a:r>
            <a:r>
              <a:rPr lang="en-US" dirty="0" smtClean="0"/>
              <a:t> Use employee feedback to refine HR policies.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348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456" y="107549"/>
            <a:ext cx="11706896" cy="56215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Customer Order Management (Inter-Enterprise Scope)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914400"/>
            <a:ext cx="11719775" cy="5589431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Order Placement:</a:t>
            </a:r>
            <a:r>
              <a:rPr lang="en-US" dirty="0" smtClean="0"/>
              <a:t> Allow customers to browse products, select items, and place orders via a web or mobile app.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Order Tracking:</a:t>
            </a:r>
            <a:r>
              <a:rPr lang="en-US" dirty="0" smtClean="0"/>
              <a:t> Provide real-time updates on order status (e.g., processed, shipped, delivered).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Integration:</a:t>
            </a:r>
            <a:r>
              <a:rPr lang="en-US" dirty="0" smtClean="0"/>
              <a:t> Connect with logistics providers to ensure seamless tracking and delivery.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Payments:</a:t>
            </a:r>
            <a:r>
              <a:rPr lang="en-US" dirty="0" smtClean="0"/>
              <a:t> Enable secure online payments and payment confirmations.</a:t>
            </a:r>
          </a:p>
          <a:p>
            <a:r>
              <a:rPr lang="en-US" b="1" dirty="0" smtClean="0"/>
              <a:t>Digital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Customer Portal:</a:t>
            </a:r>
            <a:r>
              <a:rPr lang="en-US" dirty="0" smtClean="0"/>
              <a:t> Build a modern, user-friendly customer portal for order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APIs:</a:t>
            </a:r>
            <a:r>
              <a:rPr lang="en-US" dirty="0" smtClean="0"/>
              <a:t> Implement </a:t>
            </a:r>
            <a:r>
              <a:rPr lang="en-US" dirty="0" err="1" smtClean="0"/>
              <a:t>RESTful</a:t>
            </a:r>
            <a:r>
              <a:rPr lang="en-US" dirty="0" smtClean="0"/>
              <a:t> APIs to interact with logistics providers, payment gateways, and inventory systems.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Automation:</a:t>
            </a:r>
            <a:r>
              <a:rPr lang="en-US" dirty="0" smtClean="0"/>
              <a:t> Automate order confirmation emails and SMS notifications.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Cloud Hosting:</a:t>
            </a:r>
            <a:r>
              <a:rPr lang="en-US" dirty="0" smtClean="0"/>
              <a:t> Use scalable cloud infrastructure to handle traffic spikes during sales.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2212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 smtClean="0"/>
              <a:t>Inputs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Product </a:t>
            </a:r>
            <a:r>
              <a:rPr lang="en-IN" dirty="0" err="1" smtClean="0"/>
              <a:t>catalog</a:t>
            </a:r>
            <a:r>
              <a:rPr lang="en-IN" dirty="0" smtClean="0"/>
              <a:t> and pricing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Customer details (address, payment method).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Logistics data (delivery zones, availability).</a:t>
            </a:r>
          </a:p>
          <a:p>
            <a:r>
              <a:rPr lang="en-IN" b="1" dirty="0" smtClean="0"/>
              <a:t>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Order confirmation (email/SMS).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Delivery tracking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Customer satisfaction feedback forms.</a:t>
            </a:r>
          </a:p>
          <a:p>
            <a:r>
              <a:rPr lang="en-IN" b="1" dirty="0" smtClean="0"/>
              <a:t>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Payment Failures:</a:t>
            </a:r>
            <a:r>
              <a:rPr lang="en-IN" dirty="0" smtClean="0"/>
              <a:t> Ensure robust retry mechanisms.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Logistics Delays:</a:t>
            </a:r>
            <a:r>
              <a:rPr lang="en-IN" dirty="0" smtClean="0"/>
              <a:t> Provide dynamic ETA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Data Security:</a:t>
            </a:r>
            <a:r>
              <a:rPr lang="en-IN" dirty="0" smtClean="0"/>
              <a:t> Comply with regulations like GDPR for customer data protection.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72045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 smtClean="0"/>
              <a:t>Multi-Tier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Frontend (Presentation Layer):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 smtClean="0"/>
              <a:t>Tech Stack:</a:t>
            </a:r>
            <a:r>
              <a:rPr lang="en-IN" dirty="0" smtClean="0"/>
              <a:t> React Native for cross-platform mobile and web app.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 smtClean="0"/>
              <a:t>Features:</a:t>
            </a:r>
            <a:r>
              <a:rPr lang="en-IN" dirty="0" smtClean="0"/>
              <a:t> Search, product </a:t>
            </a:r>
            <a:r>
              <a:rPr lang="en-IN" dirty="0" err="1" smtClean="0"/>
              <a:t>catalog</a:t>
            </a:r>
            <a:r>
              <a:rPr lang="en-IN" dirty="0" smtClean="0"/>
              <a:t>, order form, real-time tracking.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Backend (Business Logic Layer):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 smtClean="0"/>
              <a:t>Tech Stack:</a:t>
            </a:r>
            <a:r>
              <a:rPr lang="en-IN" dirty="0" smtClean="0"/>
              <a:t> Express.js with Node.js.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 smtClean="0"/>
              <a:t>APIs:</a:t>
            </a:r>
            <a:r>
              <a:rPr lang="en-IN" dirty="0" smtClean="0"/>
              <a:t> Order processing, payment integration, and tracking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Database (Data Layer):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 smtClean="0"/>
              <a:t>Tech Stack:</a:t>
            </a:r>
            <a:r>
              <a:rPr lang="en-IN" dirty="0" smtClean="0"/>
              <a:t> Firebase for real-time updates and </a:t>
            </a:r>
            <a:r>
              <a:rPr lang="en-IN" dirty="0" err="1" smtClean="0"/>
              <a:t>PostgreSQL</a:t>
            </a:r>
            <a:r>
              <a:rPr lang="en-IN" dirty="0" smtClean="0"/>
              <a:t> for relational data storage.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 smtClean="0"/>
              <a:t>Data Stored:</a:t>
            </a:r>
            <a:r>
              <a:rPr lang="en-IN" dirty="0" smtClean="0"/>
              <a:t> Orders, payment status, customer profiles.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Integration Layer: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Payment gateways (e.g., Stripe, </a:t>
            </a:r>
            <a:r>
              <a:rPr lang="en-IN" dirty="0" err="1" smtClean="0"/>
              <a:t>Razorpay</a:t>
            </a:r>
            <a:r>
              <a:rPr lang="en-IN" dirty="0" smtClean="0"/>
              <a:t>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Logistics providers (e.g., FedEx, DHL).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Inventory APIs for stock validation.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226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Implementation Workflow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Order Placement:</a:t>
            </a:r>
            <a:r>
              <a:rPr lang="en-US" dirty="0" smtClean="0"/>
              <a:t> Customers browse and place orders.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Payment Processing:</a:t>
            </a:r>
            <a:r>
              <a:rPr lang="en-US" dirty="0" smtClean="0"/>
              <a:t> Secure transactions with payment gateway integration.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Inventory Check:</a:t>
            </a:r>
            <a:r>
              <a:rPr lang="en-US" dirty="0" smtClean="0"/>
              <a:t> Backend validates stock availability.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Order Confirmation:</a:t>
            </a:r>
            <a:r>
              <a:rPr lang="en-US" dirty="0" smtClean="0"/>
              <a:t> Notifications sent via email/SMS.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Logistics Coordination:</a:t>
            </a:r>
            <a:r>
              <a:rPr lang="en-US" dirty="0" smtClean="0"/>
              <a:t> Order data shared with logistics via API.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Tracking:</a:t>
            </a:r>
            <a:r>
              <a:rPr lang="en-US" dirty="0" smtClean="0"/>
              <a:t> Provide real-time tracking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Feedback Collection:</a:t>
            </a:r>
            <a:r>
              <a:rPr lang="en-US" dirty="0" smtClean="0"/>
              <a:t> Post-delivery, request customer feedback.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2199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These Two Processes Work Together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Integration:</a:t>
            </a:r>
            <a:r>
              <a:rPr lang="en-US" dirty="0" smtClean="0"/>
              <a:t> Employee availability (from HR system) informs customer order processing, ensuring sufficient workforce for order fulfillment.</a:t>
            </a:r>
          </a:p>
          <a:p>
            <a:r>
              <a:rPr lang="en-US" b="1" dirty="0" smtClean="0"/>
              <a:t>Shared Insights:</a:t>
            </a:r>
            <a:r>
              <a:rPr lang="en-US" dirty="0" smtClean="0"/>
              <a:t> HR dashboards can highlight performance bottlenecks affecting customer satisfaction metrics, helping improve both processes.</a:t>
            </a:r>
          </a:p>
        </p:txBody>
      </p:sp>
    </p:spTree>
    <p:extLst>
      <p:ext uri="{BB962C8B-B14F-4D97-AF65-F5344CB8AC3E}">
        <p14:creationId xmlns:p14="http://schemas.microsoft.com/office/powerpoint/2010/main" xmlns="" val="24121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515" y="0"/>
            <a:ext cx="10515600" cy="5879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Inventory Management (Enterprise Scope)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734096"/>
            <a:ext cx="11835684" cy="6027312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smtClean="0"/>
              <a:t>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Real-time tracking of raw materials and finished goods.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Stock level alerts for reordering.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Integration with suppliers for automated restocking.</a:t>
            </a:r>
          </a:p>
          <a:p>
            <a:r>
              <a:rPr lang="en-US" b="1" dirty="0" smtClean="0"/>
              <a:t>Digital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Implement an </a:t>
            </a:r>
            <a:r>
              <a:rPr lang="en-US" dirty="0" err="1" smtClean="0"/>
              <a:t>IoT</a:t>
            </a:r>
            <a:r>
              <a:rPr lang="en-US" dirty="0" smtClean="0"/>
              <a:t>-enabled inventory tracking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Use a cloud-based database for centralized inventory management.</a:t>
            </a:r>
          </a:p>
          <a:p>
            <a:r>
              <a:rPr lang="en-US" b="1" dirty="0" smtClean="0"/>
              <a:t>Inputs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Raw material purchase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Finished goods data from production.</a:t>
            </a:r>
          </a:p>
          <a:p>
            <a:r>
              <a:rPr lang="en-US" b="1" dirty="0" smtClean="0"/>
              <a:t>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Updated inventory levels.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Restock alerts and supplier orders.</a:t>
            </a:r>
          </a:p>
          <a:p>
            <a:r>
              <a:rPr lang="en-US" b="1" dirty="0" smtClean="0"/>
              <a:t>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Limited storage capacity.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Vendor lead times for raw materials.</a:t>
            </a:r>
          </a:p>
          <a:p>
            <a:r>
              <a:rPr lang="en-US" b="1" dirty="0" smtClean="0"/>
              <a:t>Multi-Tier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Frontend:</a:t>
            </a:r>
            <a:r>
              <a:rPr lang="en-US" dirty="0" smtClean="0"/>
              <a:t> React/Angular web app for real-time inventory tracking.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Backend:</a:t>
            </a:r>
            <a:r>
              <a:rPr lang="en-US" dirty="0" smtClean="0"/>
              <a:t> Node.js/Express for API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Database:</a:t>
            </a:r>
            <a:r>
              <a:rPr lang="en-US" dirty="0" smtClean="0"/>
              <a:t> </a:t>
            </a:r>
            <a:r>
              <a:rPr lang="en-US" dirty="0" err="1" smtClean="0"/>
              <a:t>MongoDB</a:t>
            </a:r>
            <a:r>
              <a:rPr lang="en-US" dirty="0" smtClean="0"/>
              <a:t> for inventory data storage.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Integration Layer:</a:t>
            </a:r>
            <a:r>
              <a:rPr lang="en-US" dirty="0" smtClean="0"/>
              <a:t> APIs for supplier and production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0238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169" y="0"/>
            <a:ext cx="10515600" cy="613669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rgbClr val="FF0000"/>
                </a:solidFill>
              </a:rPr>
              <a:t>Production Planning (Enterprise Scope)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2" y="489396"/>
            <a:ext cx="11771290" cy="6368603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 smtClean="0"/>
              <a:t>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Optimized production schedules based on demand forecasts.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Resource allocation (machinery and </a:t>
            </a:r>
            <a:r>
              <a:rPr lang="en-IN" dirty="0" err="1" smtClean="0"/>
              <a:t>labor</a:t>
            </a:r>
            <a:r>
              <a:rPr lang="en-IN" dirty="0" smtClean="0"/>
              <a:t>).</a:t>
            </a:r>
          </a:p>
          <a:p>
            <a:r>
              <a:rPr lang="en-IN" b="1" dirty="0" smtClean="0"/>
              <a:t>Digital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Use AI/ML for predictive analytics.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Develop a dashboard for real-time monitoring.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 smtClean="0"/>
              <a:t>Inputs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Sales forecasts.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Inventory data.</a:t>
            </a:r>
          </a:p>
          <a:p>
            <a:r>
              <a:rPr lang="en-IN" b="1" dirty="0" smtClean="0"/>
              <a:t>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Production schedules.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Resource utilization metrics.</a:t>
            </a:r>
          </a:p>
          <a:p>
            <a:r>
              <a:rPr lang="en-IN" b="1" dirty="0" smtClean="0"/>
              <a:t>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Machine downtime.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Workforce availability.</a:t>
            </a:r>
          </a:p>
          <a:p>
            <a:r>
              <a:rPr lang="en-IN" b="1" dirty="0" smtClean="0"/>
              <a:t>Multi-Tier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Frontend:</a:t>
            </a:r>
            <a:r>
              <a:rPr lang="en-IN" dirty="0" smtClean="0"/>
              <a:t> Dashboard built using Angular/React.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Backend:</a:t>
            </a:r>
            <a:r>
              <a:rPr lang="en-IN" dirty="0" smtClean="0"/>
              <a:t> Python Flask for predictive analytics APIs.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Database:</a:t>
            </a:r>
            <a:r>
              <a:rPr lang="en-IN" dirty="0" smtClean="0"/>
              <a:t> </a:t>
            </a:r>
            <a:r>
              <a:rPr lang="en-IN" dirty="0" err="1" smtClean="0"/>
              <a:t>PostgreSQL</a:t>
            </a:r>
            <a:r>
              <a:rPr lang="en-IN" dirty="0" smtClean="0"/>
              <a:t> for historical data storage.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AI/ML:</a:t>
            </a:r>
            <a:r>
              <a:rPr lang="en-IN" dirty="0" smtClean="0"/>
              <a:t> </a:t>
            </a:r>
            <a:r>
              <a:rPr lang="en-IN" dirty="0" err="1" smtClean="0"/>
              <a:t>TensorFlow</a:t>
            </a:r>
            <a:r>
              <a:rPr lang="en-IN" dirty="0" smtClean="0"/>
              <a:t> for demand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6548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428" y="0"/>
            <a:ext cx="11353800" cy="690943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FF0000"/>
                </a:solidFill>
              </a:rPr>
              <a:t>Supplier Relationship Management (Inter-Enterprise Scope)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8" y="345470"/>
            <a:ext cx="12192000" cy="6905335"/>
          </a:xfrm>
        </p:spPr>
        <p:txBody>
          <a:bodyPr>
            <a:noAutofit/>
          </a:bodyPr>
          <a:lstStyle/>
          <a:p>
            <a:r>
              <a:rPr lang="en-IN" sz="1400" b="1" dirty="0" smtClean="0"/>
              <a:t>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Centralized supplier communication.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Order tracking and status updates.</a:t>
            </a:r>
          </a:p>
          <a:p>
            <a:r>
              <a:rPr lang="en-IN" sz="1400" b="1" dirty="0" smtClean="0"/>
              <a:t>Digital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Implement supplier portals.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Use </a:t>
            </a:r>
            <a:r>
              <a:rPr lang="en-IN" sz="1400" dirty="0" err="1" smtClean="0"/>
              <a:t>blockchain</a:t>
            </a:r>
            <a:r>
              <a:rPr lang="en-IN" sz="1400" dirty="0" smtClean="0"/>
              <a:t> for secure contract management.</a:t>
            </a:r>
          </a:p>
          <a:p>
            <a:r>
              <a:rPr lang="en-IN" sz="1400" b="1" dirty="0" smtClean="0"/>
              <a:t>Inputs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Purchase orders.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Supplier </a:t>
            </a:r>
            <a:r>
              <a:rPr lang="en-IN" sz="1400" dirty="0" err="1" smtClean="0"/>
              <a:t>catalogs</a:t>
            </a:r>
            <a:r>
              <a:rPr lang="en-IN" sz="1400" dirty="0" smtClean="0"/>
              <a:t>.</a:t>
            </a:r>
          </a:p>
          <a:p>
            <a:r>
              <a:rPr lang="en-IN" sz="1400" b="1" dirty="0" smtClean="0"/>
              <a:t>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Supplier feedback.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Delivery status updates.</a:t>
            </a:r>
          </a:p>
          <a:p>
            <a:r>
              <a:rPr lang="en-IN" sz="1400" b="1" dirty="0" smtClean="0"/>
              <a:t>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Supplier-specific formats for order 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 smtClean="0"/>
              <a:t>Diverse time zones.</a:t>
            </a:r>
          </a:p>
          <a:p>
            <a:r>
              <a:rPr lang="en-IN" sz="1400" b="1" dirty="0" smtClean="0"/>
              <a:t>Multi-Tier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b="1" dirty="0" smtClean="0"/>
              <a:t>Frontend:</a:t>
            </a:r>
            <a:r>
              <a:rPr lang="en-IN" sz="1400" dirty="0" smtClean="0"/>
              <a:t> Supplier portal using Vue.js.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b="1" dirty="0" smtClean="0"/>
              <a:t>Backend:</a:t>
            </a:r>
            <a:r>
              <a:rPr lang="en-IN" sz="1400" dirty="0" smtClean="0"/>
              <a:t> Spring Boot for business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b="1" dirty="0" smtClean="0"/>
              <a:t>Database:</a:t>
            </a:r>
            <a:r>
              <a:rPr lang="en-IN" sz="1400" dirty="0" smtClean="0"/>
              <a:t> MySQL for supplier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b="1" dirty="0" err="1" smtClean="0"/>
              <a:t>Blockchain</a:t>
            </a:r>
            <a:r>
              <a:rPr lang="en-IN" sz="1400" b="1" dirty="0" smtClean="0"/>
              <a:t> Layer:</a:t>
            </a:r>
            <a:r>
              <a:rPr lang="en-IN" sz="1400" dirty="0" smtClean="0"/>
              <a:t> </a:t>
            </a:r>
            <a:r>
              <a:rPr lang="en-IN" sz="1400" dirty="0" err="1" smtClean="0"/>
              <a:t>Hyperledger</a:t>
            </a:r>
            <a:r>
              <a:rPr lang="en-IN" sz="1400" dirty="0" smtClean="0"/>
              <a:t> for contract tracking.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xmlns="" val="336419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758" y="0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Quality Control (Enterprise Scope)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43944"/>
            <a:ext cx="12192000" cy="6123904"/>
          </a:xfrm>
        </p:spPr>
        <p:txBody>
          <a:bodyPr>
            <a:normAutofit fontScale="62500" lnSpcReduction="20000"/>
          </a:bodyPr>
          <a:lstStyle/>
          <a:p>
            <a:r>
              <a:rPr lang="en-IN" sz="2500" b="1" dirty="0" smtClean="0"/>
              <a:t>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Automated quality inspection using sensors.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Reporting and analysis of defect rates.</a:t>
            </a:r>
          </a:p>
          <a:p>
            <a:r>
              <a:rPr lang="en-IN" sz="2500" b="1" dirty="0" smtClean="0"/>
              <a:t>Digital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Deploy </a:t>
            </a:r>
            <a:r>
              <a:rPr lang="en-IN" sz="2500" dirty="0" err="1" smtClean="0"/>
              <a:t>IoT</a:t>
            </a:r>
            <a:r>
              <a:rPr lang="en-IN" sz="2500" dirty="0" smtClean="0"/>
              <a:t> sensors for real-time quality monitoring.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Analytics for defect pattern identification.</a:t>
            </a:r>
          </a:p>
          <a:p>
            <a:r>
              <a:rPr lang="en-IN" sz="2500" b="1" dirty="0" smtClean="0"/>
              <a:t>Inputs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Production line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Quality inspection results.</a:t>
            </a:r>
          </a:p>
          <a:p>
            <a:r>
              <a:rPr lang="en-IN" sz="2500" b="1" dirty="0" smtClean="0"/>
              <a:t>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Defect reports.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Maintenance alerts.</a:t>
            </a:r>
          </a:p>
          <a:p>
            <a:r>
              <a:rPr lang="en-IN" sz="2500" b="1" dirty="0" smtClean="0"/>
              <a:t>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Sensor calibration.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dirty="0" smtClean="0"/>
              <a:t>Data privacy regulations.</a:t>
            </a:r>
          </a:p>
          <a:p>
            <a:r>
              <a:rPr lang="en-IN" sz="2500" b="1" dirty="0" smtClean="0"/>
              <a:t>Multi-Tier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b="1" dirty="0" smtClean="0"/>
              <a:t>Frontend:</a:t>
            </a:r>
            <a:r>
              <a:rPr lang="en-IN" sz="2500" dirty="0" smtClean="0"/>
              <a:t> Data visualization using D3.js.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b="1" dirty="0" smtClean="0"/>
              <a:t>Backend:</a:t>
            </a:r>
            <a:r>
              <a:rPr lang="en-IN" sz="2500" dirty="0" smtClean="0"/>
              <a:t> </a:t>
            </a:r>
            <a:r>
              <a:rPr lang="en-IN" sz="2500" dirty="0" err="1" smtClean="0"/>
              <a:t>Django</a:t>
            </a:r>
            <a:r>
              <a:rPr lang="en-IN" sz="2500" dirty="0" smtClean="0"/>
              <a:t> for defect analysis APIs.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b="1" dirty="0" smtClean="0"/>
              <a:t>Database:</a:t>
            </a:r>
            <a:r>
              <a:rPr lang="en-IN" sz="2500" dirty="0" smtClean="0"/>
              <a:t> </a:t>
            </a:r>
            <a:r>
              <a:rPr lang="en-IN" sz="2500" dirty="0" err="1" smtClean="0"/>
              <a:t>TimescaleDB</a:t>
            </a:r>
            <a:r>
              <a:rPr lang="en-IN" sz="2500" dirty="0" smtClean="0"/>
              <a:t> for sensor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500" b="1" dirty="0" err="1" smtClean="0"/>
              <a:t>IoT</a:t>
            </a:r>
            <a:r>
              <a:rPr lang="en-IN" sz="2500" b="1" dirty="0" smtClean="0"/>
              <a:t> Integration:</a:t>
            </a:r>
            <a:r>
              <a:rPr lang="en-IN" sz="2500" dirty="0" smtClean="0"/>
              <a:t> MQTT protocol for real-time data capture.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88849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255" y="167426"/>
            <a:ext cx="11847490" cy="130432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Detailed Elaboration: Customer Order Management (Inter-Enterprise Scope)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145" y="1597880"/>
            <a:ext cx="11776363" cy="4812147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Customer Order Management System (COMS)</a:t>
            </a:r>
            <a:r>
              <a:rPr lang="en-US" dirty="0" smtClean="0"/>
              <a:t> is a critical business process in a manufacturing firm.</a:t>
            </a:r>
          </a:p>
          <a:p>
            <a:r>
              <a:rPr lang="en-US" dirty="0" smtClean="0"/>
              <a:t> It manages the entire lifecycle of a customer's order — from order placement, payment processing, real-time tracking, inventory management, and logistics coordination to post-order feedback. </a:t>
            </a:r>
          </a:p>
          <a:p>
            <a:r>
              <a:rPr lang="en-US" dirty="0" smtClean="0"/>
              <a:t>Below is a comprehensive breakdown of the system, including its functionalities, components, flow, constraints, and digital transformation requirements.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33508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1. Purpose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Customer Order Management System</a:t>
            </a:r>
            <a:r>
              <a:rPr lang="en-US" dirty="0" smtClean="0"/>
              <a:t> aims to:</a:t>
            </a:r>
          </a:p>
          <a:p>
            <a:r>
              <a:rPr lang="en-US" b="1" dirty="0" smtClean="0"/>
              <a:t>Streamline order processing</a:t>
            </a:r>
            <a:r>
              <a:rPr lang="en-US" dirty="0" smtClean="0"/>
              <a:t> by integrating inventory, logistics, and payment systems.</a:t>
            </a:r>
          </a:p>
          <a:p>
            <a:r>
              <a:rPr lang="en-US" b="1" dirty="0" smtClean="0"/>
              <a:t>Enhance the customer experience</a:t>
            </a:r>
            <a:r>
              <a:rPr lang="en-US" dirty="0" smtClean="0"/>
              <a:t> by providing transparency through order tracking.</a:t>
            </a:r>
          </a:p>
          <a:p>
            <a:r>
              <a:rPr lang="en-US" b="1" dirty="0" smtClean="0"/>
              <a:t>Facilitate real-time logistics tracking</a:t>
            </a:r>
            <a:r>
              <a:rPr lang="en-US" dirty="0" smtClean="0"/>
              <a:t> and integration with third-party delivery services.</a:t>
            </a:r>
          </a:p>
          <a:p>
            <a:r>
              <a:rPr lang="en-US" b="1" dirty="0" smtClean="0"/>
              <a:t>Secure payment processing</a:t>
            </a:r>
            <a:r>
              <a:rPr lang="en-US" dirty="0" smtClean="0"/>
              <a:t> using modern, trusted online payment systems.</a:t>
            </a:r>
          </a:p>
        </p:txBody>
      </p:sp>
    </p:spTree>
    <p:extLst>
      <p:ext uri="{BB962C8B-B14F-4D97-AF65-F5344CB8AC3E}">
        <p14:creationId xmlns:p14="http://schemas.microsoft.com/office/powerpoint/2010/main" xmlns="" val="866656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91" y="-11490"/>
            <a:ext cx="10515600" cy="61366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2. Scope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5458"/>
            <a:ext cx="12003110" cy="602731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/>
              <a:t>Customer Order Management System</a:t>
            </a:r>
            <a:r>
              <a:rPr lang="en-US" sz="2400" dirty="0" smtClean="0"/>
              <a:t> supports:</a:t>
            </a:r>
          </a:p>
          <a:p>
            <a:r>
              <a:rPr lang="en-US" sz="2400" b="1" dirty="0" smtClean="0"/>
              <a:t>Customer Interaction:</a:t>
            </a:r>
            <a:r>
              <a:rPr lang="en-US" sz="2400" dirty="0" smtClean="0"/>
              <a:t> Customers can browse the product catalog, add items to their cart, and place orders through mobile/web platforms.</a:t>
            </a:r>
          </a:p>
          <a:p>
            <a:r>
              <a:rPr lang="en-US" sz="2400" b="1" dirty="0" smtClean="0"/>
              <a:t>Payment Processing:</a:t>
            </a:r>
            <a:r>
              <a:rPr lang="en-US" sz="2400" dirty="0" smtClean="0"/>
              <a:t> Securely process customer payments using payment gateways like Stripe, PayPal, </a:t>
            </a:r>
            <a:r>
              <a:rPr lang="en-US" sz="2400" dirty="0" err="1" smtClean="0"/>
              <a:t>Razorpay</a:t>
            </a:r>
            <a:r>
              <a:rPr lang="en-US" sz="2400" dirty="0" smtClean="0"/>
              <a:t>, etc.</a:t>
            </a:r>
          </a:p>
          <a:p>
            <a:r>
              <a:rPr lang="en-US" sz="2400" b="1" dirty="0" smtClean="0"/>
              <a:t>Inventory Validation:</a:t>
            </a:r>
            <a:r>
              <a:rPr lang="en-US" sz="2400" dirty="0" smtClean="0"/>
              <a:t> Ensure that orders are only fulfilled when the product is available in the inventory.</a:t>
            </a:r>
          </a:p>
          <a:p>
            <a:r>
              <a:rPr lang="en-US" sz="2400" b="1" dirty="0" smtClean="0"/>
              <a:t>Logistics Coordination:</a:t>
            </a:r>
            <a:r>
              <a:rPr lang="en-US" sz="2400" dirty="0" smtClean="0"/>
              <a:t> Integration with logistics partners (FedEx, DHL, etc.) to ensure timely delivery.</a:t>
            </a:r>
          </a:p>
          <a:p>
            <a:r>
              <a:rPr lang="en-US" sz="2400" b="1" dirty="0" smtClean="0"/>
              <a:t>Order Tracking:</a:t>
            </a:r>
            <a:r>
              <a:rPr lang="en-US" sz="2400" dirty="0" smtClean="0"/>
              <a:t> Real-time visibility into the status of orders — shipped, in transit, delivered, etc.</a:t>
            </a:r>
          </a:p>
          <a:p>
            <a:r>
              <a:rPr lang="en-US" sz="2400" b="1" dirty="0" smtClean="0"/>
              <a:t>Post-delivery Feedback:</a:t>
            </a:r>
            <a:r>
              <a:rPr lang="en-US" sz="2400" dirty="0" smtClean="0"/>
              <a:t> Allow customers to submit feedback, thereby improving future order fulfillment and customer satisfaction.</a:t>
            </a:r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64430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90" y="1"/>
            <a:ext cx="10515600" cy="437882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3. Functional Requirements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5910" y="309094"/>
            <a:ext cx="12307910" cy="6800044"/>
          </a:xfrm>
        </p:spPr>
        <p:txBody>
          <a:bodyPr>
            <a:noAutofit/>
          </a:bodyPr>
          <a:lstStyle/>
          <a:p>
            <a:r>
              <a:rPr lang="en-US" sz="900" b="1" dirty="0" smtClean="0"/>
              <a:t>Customer Account Management</a:t>
            </a:r>
            <a:endParaRPr lang="en-US" sz="900" dirty="0" smtClean="0"/>
          </a:p>
          <a:p>
            <a:pPr lvl="1"/>
            <a:r>
              <a:rPr lang="en-US" sz="900" dirty="0" smtClean="0"/>
              <a:t>Customers can create user accounts.</a:t>
            </a:r>
          </a:p>
          <a:p>
            <a:pPr lvl="1"/>
            <a:r>
              <a:rPr lang="en-US" sz="900" dirty="0" smtClean="0"/>
              <a:t>View historical order data and track the delivery status.</a:t>
            </a:r>
          </a:p>
          <a:p>
            <a:r>
              <a:rPr lang="en-US" sz="900" b="1" dirty="0" smtClean="0"/>
              <a:t>Product Catalog Browsing</a:t>
            </a:r>
            <a:endParaRPr lang="en-US" sz="900" dirty="0" smtClean="0"/>
          </a:p>
          <a:p>
            <a:pPr lvl="1"/>
            <a:r>
              <a:rPr lang="en-US" sz="900" dirty="0" smtClean="0"/>
              <a:t>Customers can view available products and check their availability.</a:t>
            </a:r>
          </a:p>
          <a:p>
            <a:pPr lvl="1"/>
            <a:r>
              <a:rPr lang="en-US" sz="900" dirty="0" smtClean="0"/>
              <a:t>Product search must have filtering options by category, price, brand, and availability.</a:t>
            </a:r>
          </a:p>
          <a:p>
            <a:r>
              <a:rPr lang="en-US" sz="900" b="1" dirty="0" smtClean="0"/>
              <a:t>Order Placement</a:t>
            </a:r>
            <a:endParaRPr lang="en-US" sz="900" dirty="0" smtClean="0"/>
          </a:p>
          <a:p>
            <a:pPr lvl="1"/>
            <a:r>
              <a:rPr lang="en-US" sz="900" dirty="0" smtClean="0"/>
              <a:t>Allow customers to add multiple items to their shopping cart and finalize their order.</a:t>
            </a:r>
          </a:p>
          <a:p>
            <a:pPr lvl="1"/>
            <a:r>
              <a:rPr lang="en-US" sz="900" dirty="0" smtClean="0"/>
              <a:t>Ensure stock validation at the time of order placement to prevent order rejection.</a:t>
            </a:r>
          </a:p>
          <a:p>
            <a:r>
              <a:rPr lang="en-US" sz="900" b="1" dirty="0" smtClean="0"/>
              <a:t>Payment Gateway Integration</a:t>
            </a:r>
            <a:endParaRPr lang="en-US" sz="900" dirty="0" smtClean="0"/>
          </a:p>
          <a:p>
            <a:pPr lvl="1"/>
            <a:r>
              <a:rPr lang="en-US" sz="900" dirty="0" smtClean="0"/>
              <a:t>Integration with trusted payment methods (Stripe, PayPal, </a:t>
            </a:r>
            <a:r>
              <a:rPr lang="en-US" sz="900" dirty="0" err="1" smtClean="0"/>
              <a:t>Razorpay</a:t>
            </a:r>
            <a:r>
              <a:rPr lang="en-US" sz="900" dirty="0" smtClean="0"/>
              <a:t>, etc.).</a:t>
            </a:r>
          </a:p>
          <a:p>
            <a:pPr lvl="1"/>
            <a:r>
              <a:rPr lang="en-US" sz="900" dirty="0" smtClean="0"/>
              <a:t>Allow partial payments, refunds, or failed payment retries.</a:t>
            </a:r>
          </a:p>
          <a:p>
            <a:r>
              <a:rPr lang="en-US" sz="900" b="1" dirty="0" smtClean="0"/>
              <a:t>Order Confirmation</a:t>
            </a:r>
            <a:endParaRPr lang="en-US" sz="900" dirty="0" smtClean="0"/>
          </a:p>
          <a:p>
            <a:pPr lvl="1"/>
            <a:r>
              <a:rPr lang="en-US" sz="900" dirty="0" smtClean="0"/>
              <a:t>Customers receive instant confirmation of their order after successful payment.</a:t>
            </a:r>
          </a:p>
          <a:p>
            <a:pPr lvl="1"/>
            <a:r>
              <a:rPr lang="en-US" sz="900" dirty="0" smtClean="0"/>
              <a:t>Confirmation should include order ID, item details, delivery estimate, and payment confirmation.</a:t>
            </a:r>
          </a:p>
          <a:p>
            <a:r>
              <a:rPr lang="en-US" sz="900" b="1" dirty="0" smtClean="0"/>
              <a:t>Inventory Management Integration</a:t>
            </a:r>
            <a:endParaRPr lang="en-US" sz="900" dirty="0" smtClean="0"/>
          </a:p>
          <a:p>
            <a:pPr lvl="1"/>
            <a:r>
              <a:rPr lang="en-US" sz="900" dirty="0" smtClean="0"/>
              <a:t>Ensure real-time inventory checks during order placement.</a:t>
            </a:r>
          </a:p>
          <a:p>
            <a:pPr lvl="1"/>
            <a:r>
              <a:rPr lang="en-US" sz="900" dirty="0" smtClean="0"/>
              <a:t>Notify warehouses about pending orders to prepare for shipment.</a:t>
            </a:r>
          </a:p>
          <a:p>
            <a:r>
              <a:rPr lang="en-US" sz="900" b="1" dirty="0" smtClean="0"/>
              <a:t>Logistics Integration</a:t>
            </a:r>
            <a:endParaRPr lang="en-US" sz="900" dirty="0" smtClean="0"/>
          </a:p>
          <a:p>
            <a:pPr lvl="1"/>
            <a:r>
              <a:rPr lang="en-US" sz="900" dirty="0" smtClean="0"/>
              <a:t>Orders must interface with logistics providers for shipment scheduling and real-time updates.</a:t>
            </a:r>
          </a:p>
          <a:p>
            <a:pPr lvl="1"/>
            <a:r>
              <a:rPr lang="en-US" sz="900" dirty="0" smtClean="0"/>
              <a:t>Provide customers with a tracking number or link for tracking their order.</a:t>
            </a:r>
          </a:p>
          <a:p>
            <a:r>
              <a:rPr lang="en-US" sz="900" b="1" dirty="0" smtClean="0"/>
              <a:t>Order Tracking</a:t>
            </a:r>
            <a:endParaRPr lang="en-US" sz="900" dirty="0" smtClean="0"/>
          </a:p>
          <a:p>
            <a:pPr lvl="1"/>
            <a:r>
              <a:rPr lang="en-US" sz="900" dirty="0" smtClean="0"/>
              <a:t>A web or mobile dashboard displays the order status dynamically, using integration with logistics providers.</a:t>
            </a:r>
          </a:p>
          <a:p>
            <a:pPr lvl="1"/>
            <a:r>
              <a:rPr lang="en-US" sz="900" dirty="0" smtClean="0"/>
              <a:t>Use notifications (SMS/Email) to inform customers about the order's status.</a:t>
            </a:r>
          </a:p>
          <a:p>
            <a:r>
              <a:rPr lang="en-US" sz="900" b="1" dirty="0" smtClean="0"/>
              <a:t>Customer Feedback Post-delivery</a:t>
            </a:r>
            <a:endParaRPr lang="en-US" sz="900" dirty="0" smtClean="0"/>
          </a:p>
          <a:p>
            <a:pPr lvl="1"/>
            <a:r>
              <a:rPr lang="en-US" sz="900" dirty="0" smtClean="0"/>
              <a:t>After successful delivery, customers can rate the service/product or provide feedback on delivery experience.</a:t>
            </a:r>
          </a:p>
          <a:p>
            <a:r>
              <a:rPr lang="en-US" sz="900" b="1" dirty="0" smtClean="0"/>
              <a:t>Notification Mechanism</a:t>
            </a:r>
            <a:endParaRPr lang="en-US" sz="900" dirty="0" smtClean="0"/>
          </a:p>
          <a:p>
            <a:pPr lvl="1"/>
            <a:r>
              <a:rPr lang="en-US" sz="900" dirty="0" smtClean="0"/>
              <a:t>Notifications via email and SMS at key points:</a:t>
            </a:r>
          </a:p>
          <a:p>
            <a:pPr lvl="2"/>
            <a:r>
              <a:rPr lang="en-US" sz="900" dirty="0" smtClean="0"/>
              <a:t>Order confirmation.</a:t>
            </a:r>
          </a:p>
          <a:p>
            <a:pPr lvl="2"/>
            <a:r>
              <a:rPr lang="en-US" sz="900" dirty="0" smtClean="0"/>
              <a:t>Payment confirmation.</a:t>
            </a:r>
          </a:p>
          <a:p>
            <a:pPr lvl="2"/>
            <a:r>
              <a:rPr lang="en-US" sz="900" dirty="0" smtClean="0"/>
              <a:t>Shipment dispatch notifications.</a:t>
            </a:r>
          </a:p>
          <a:p>
            <a:pPr lvl="2"/>
            <a:r>
              <a:rPr lang="en-US" sz="900" dirty="0" smtClean="0"/>
              <a:t>Delivery confirmation.</a:t>
            </a:r>
          </a:p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xmlns="" val="12222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57" y="1"/>
            <a:ext cx="10515600" cy="708338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4. Non-Functional Requirements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08338"/>
            <a:ext cx="12192000" cy="59886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Scalability:</a:t>
            </a:r>
            <a:endParaRPr lang="en-US" dirty="0" smtClean="0"/>
          </a:p>
          <a:p>
            <a:pPr lvl="1"/>
            <a:r>
              <a:rPr lang="en-US" dirty="0" smtClean="0"/>
              <a:t>The system must scale to handle up to 100,000 concurrent users during promotional periods (e.g., holiday sales).</a:t>
            </a:r>
          </a:p>
          <a:p>
            <a:r>
              <a:rPr lang="en-US" b="1" dirty="0" smtClean="0"/>
              <a:t>Performance:</a:t>
            </a:r>
            <a:endParaRPr lang="en-US" dirty="0" smtClean="0"/>
          </a:p>
          <a:p>
            <a:pPr lvl="1"/>
            <a:r>
              <a:rPr lang="en-US" dirty="0" smtClean="0"/>
              <a:t>Payment processing should execute within 2 seconds.</a:t>
            </a:r>
          </a:p>
          <a:p>
            <a:pPr lvl="1"/>
            <a:r>
              <a:rPr lang="en-US" dirty="0" smtClean="0"/>
              <a:t>Order tracking updates should synchronize in near real-time (within 5 seconds).</a:t>
            </a:r>
          </a:p>
          <a:p>
            <a:r>
              <a:rPr lang="en-US" b="1" dirty="0" smtClean="0"/>
              <a:t>Reliability:</a:t>
            </a:r>
            <a:endParaRPr lang="en-US" dirty="0" smtClean="0"/>
          </a:p>
          <a:p>
            <a:pPr lvl="1"/>
            <a:r>
              <a:rPr lang="en-US" dirty="0" smtClean="0"/>
              <a:t>Ensure the system uptime is </a:t>
            </a:r>
            <a:r>
              <a:rPr lang="en-US" b="1" dirty="0" smtClean="0"/>
              <a:t>99.9%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Security:</a:t>
            </a:r>
            <a:endParaRPr lang="en-US" dirty="0" smtClean="0"/>
          </a:p>
          <a:p>
            <a:pPr lvl="1"/>
            <a:r>
              <a:rPr lang="en-US" dirty="0" smtClean="0"/>
              <a:t>Compliance with PCI-DSS for payment processing security.</a:t>
            </a:r>
          </a:p>
          <a:p>
            <a:pPr lvl="1"/>
            <a:r>
              <a:rPr lang="en-US" dirty="0" smtClean="0"/>
              <a:t>Use encryption (SSL/TLS) for sensitive customer and payment data.</a:t>
            </a:r>
          </a:p>
          <a:p>
            <a:r>
              <a:rPr lang="en-US" b="1" dirty="0" smtClean="0"/>
              <a:t>Data Privacy:</a:t>
            </a:r>
            <a:endParaRPr lang="en-US" dirty="0" smtClean="0"/>
          </a:p>
          <a:p>
            <a:pPr lvl="1"/>
            <a:r>
              <a:rPr lang="en-US" dirty="0" smtClean="0"/>
              <a:t>GDPR and other local laws compliance for customer data protection.</a:t>
            </a:r>
          </a:p>
          <a:p>
            <a:r>
              <a:rPr lang="en-US" b="1" dirty="0" smtClean="0"/>
              <a:t>User Experience:</a:t>
            </a:r>
            <a:endParaRPr lang="en-US" dirty="0" smtClean="0"/>
          </a:p>
          <a:p>
            <a:pPr lvl="1"/>
            <a:r>
              <a:rPr lang="en-US" dirty="0" smtClean="0"/>
              <a:t>Intuitive UI for mobile and web interfaces.</a:t>
            </a:r>
          </a:p>
          <a:p>
            <a:pPr lvl="1"/>
            <a:r>
              <a:rPr lang="en-US" dirty="0" smtClean="0"/>
              <a:t>Responsive design for all platforms (mobile/web).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4692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654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Inputs &amp; Outputs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5610"/>
            <a:ext cx="12015989" cy="59500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Inputs:</a:t>
            </a:r>
          </a:p>
          <a:p>
            <a:r>
              <a:rPr lang="en-US" b="1" dirty="0" smtClean="0"/>
              <a:t>Customer Data:</a:t>
            </a:r>
            <a:endParaRPr lang="en-US" dirty="0" smtClean="0"/>
          </a:p>
          <a:p>
            <a:pPr lvl="1"/>
            <a:r>
              <a:rPr lang="en-US" dirty="0" smtClean="0"/>
              <a:t>Name, address, contact details, payment information, and preferences.</a:t>
            </a:r>
          </a:p>
          <a:p>
            <a:r>
              <a:rPr lang="en-US" b="1" dirty="0" smtClean="0"/>
              <a:t>Product Data:</a:t>
            </a:r>
            <a:endParaRPr lang="en-US" dirty="0" smtClean="0"/>
          </a:p>
          <a:p>
            <a:pPr lvl="1"/>
            <a:r>
              <a:rPr lang="en-US" dirty="0" smtClean="0"/>
              <a:t>Product ID, name, category, description, price, and stock status.</a:t>
            </a:r>
          </a:p>
          <a:p>
            <a:r>
              <a:rPr lang="en-US" b="1" dirty="0" smtClean="0"/>
              <a:t>Payment Gateway Confirmation:</a:t>
            </a:r>
            <a:endParaRPr lang="en-US" dirty="0" smtClean="0"/>
          </a:p>
          <a:p>
            <a:pPr lvl="1"/>
            <a:r>
              <a:rPr lang="en-US" dirty="0" smtClean="0"/>
              <a:t>Payment success or failure data from payment gateway integration.</a:t>
            </a:r>
          </a:p>
          <a:p>
            <a:r>
              <a:rPr lang="en-US" b="1" dirty="0" smtClean="0"/>
              <a:t>Logistics Provider Data:</a:t>
            </a:r>
            <a:endParaRPr lang="en-US" dirty="0" smtClean="0"/>
          </a:p>
          <a:p>
            <a:pPr lvl="1"/>
            <a:r>
              <a:rPr lang="en-US" dirty="0" smtClean="0"/>
              <a:t>Delivery address validation, shipment tracking updates.</a:t>
            </a:r>
          </a:p>
          <a:p>
            <a:r>
              <a:rPr lang="en-US" b="1" dirty="0" smtClean="0"/>
              <a:t>Outputs:</a:t>
            </a:r>
          </a:p>
          <a:p>
            <a:r>
              <a:rPr lang="en-US" b="1" dirty="0" smtClean="0"/>
              <a:t>Order Confirmation:</a:t>
            </a:r>
            <a:r>
              <a:rPr lang="en-US" dirty="0" smtClean="0"/>
              <a:t> Sent to customer via email/SMS after order placement.</a:t>
            </a:r>
          </a:p>
          <a:p>
            <a:r>
              <a:rPr lang="en-US" b="1" dirty="0" smtClean="0"/>
              <a:t>Payment Confirmation:</a:t>
            </a:r>
            <a:r>
              <a:rPr lang="en-US" dirty="0" smtClean="0"/>
              <a:t> Confirmation of successful payment sent post-payment gateway interaction.</a:t>
            </a:r>
          </a:p>
          <a:p>
            <a:r>
              <a:rPr lang="en-US" b="1" dirty="0" smtClean="0"/>
              <a:t>Delivery Tracking:</a:t>
            </a:r>
            <a:r>
              <a:rPr lang="en-US" dirty="0" smtClean="0"/>
              <a:t> Live delivery updates visible via web/mobile dashboard and notifications.</a:t>
            </a:r>
          </a:p>
          <a:p>
            <a:r>
              <a:rPr lang="en-US" b="1" dirty="0" smtClean="0"/>
              <a:t>Customer Feedback:</a:t>
            </a:r>
            <a:r>
              <a:rPr lang="en-US" dirty="0" smtClean="0"/>
              <a:t> Submitted feedback post-delivery from the feedback system.</a:t>
            </a:r>
          </a:p>
          <a:p>
            <a:r>
              <a:rPr lang="en-US" b="1" dirty="0" smtClean="0"/>
              <a:t>Inventory Update:</a:t>
            </a:r>
            <a:r>
              <a:rPr lang="en-US" dirty="0" smtClean="0"/>
              <a:t> Inventory management system receives real-time order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3267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839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6. Constraints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4" y="1219200"/>
            <a:ext cx="11159836" cy="4957763"/>
          </a:xfrm>
        </p:spPr>
        <p:txBody>
          <a:bodyPr>
            <a:normAutofit/>
          </a:bodyPr>
          <a:lstStyle/>
          <a:p>
            <a:r>
              <a:rPr lang="en-US" b="1" dirty="0" smtClean="0"/>
              <a:t>Third-party API Reliability:</a:t>
            </a:r>
            <a:endParaRPr lang="en-US" dirty="0" smtClean="0"/>
          </a:p>
          <a:p>
            <a:pPr lvl="1"/>
            <a:r>
              <a:rPr lang="en-US" dirty="0" smtClean="0"/>
              <a:t>The system relies on external APIs like payment gateway providers and logistics partners, which could have downtimes.</a:t>
            </a:r>
          </a:p>
          <a:p>
            <a:r>
              <a:rPr lang="en-US" b="1" dirty="0" smtClean="0"/>
              <a:t>Customer Payment Failures:</a:t>
            </a:r>
            <a:endParaRPr lang="en-US" dirty="0" smtClean="0"/>
          </a:p>
          <a:p>
            <a:pPr lvl="1"/>
            <a:r>
              <a:rPr lang="en-US" dirty="0" smtClean="0"/>
              <a:t>Ensure retry logic for failed payments.</a:t>
            </a:r>
          </a:p>
          <a:p>
            <a:r>
              <a:rPr lang="en-US" b="1" dirty="0" smtClean="0"/>
              <a:t>Data Protection Laws Compliance:</a:t>
            </a:r>
            <a:endParaRPr lang="en-US" dirty="0" smtClean="0"/>
          </a:p>
          <a:p>
            <a:pPr lvl="1"/>
            <a:r>
              <a:rPr lang="en-US" dirty="0" smtClean="0"/>
              <a:t>The system must adhere to GDPR, PCI-DSS, and regional consumer protection laws.</a:t>
            </a:r>
          </a:p>
          <a:p>
            <a:r>
              <a:rPr lang="en-US" b="1" dirty="0" smtClean="0"/>
              <a:t>Third-party logistics delays:</a:t>
            </a:r>
            <a:endParaRPr lang="en-US" dirty="0" smtClean="0"/>
          </a:p>
          <a:p>
            <a:pPr lvl="1"/>
            <a:r>
              <a:rPr lang="en-US" dirty="0" smtClean="0"/>
              <a:t>Ensure customers are notified of delays caused by logistics partners.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65434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54" y="0"/>
            <a:ext cx="10515600" cy="8757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Digital Transformation Needs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772732"/>
            <a:ext cx="11745532" cy="5898524"/>
          </a:xfrm>
        </p:spPr>
        <p:txBody>
          <a:bodyPr>
            <a:normAutofit/>
          </a:bodyPr>
          <a:lstStyle/>
          <a:p>
            <a:r>
              <a:rPr lang="en-US" b="1" dirty="0" smtClean="0"/>
              <a:t>Transition Plan for Business Process Modernization</a:t>
            </a:r>
          </a:p>
          <a:p>
            <a:r>
              <a:rPr lang="en-US" b="1" dirty="0" smtClean="0"/>
              <a:t>Customer Portal Development:</a:t>
            </a:r>
            <a:endParaRPr lang="en-US" dirty="0" smtClean="0"/>
          </a:p>
          <a:p>
            <a:pPr lvl="1"/>
            <a:r>
              <a:rPr lang="en-US" dirty="0" smtClean="0"/>
              <a:t>Create mobile-friendly and responsive interfaces for order placement and tracking.</a:t>
            </a:r>
          </a:p>
          <a:p>
            <a:pPr lvl="1"/>
            <a:r>
              <a:rPr lang="en-US" dirty="0" smtClean="0"/>
              <a:t>React Native for a seamless web and mobile user experience.</a:t>
            </a:r>
          </a:p>
          <a:p>
            <a:r>
              <a:rPr lang="en-US" b="1" dirty="0" smtClean="0"/>
              <a:t>API Development:</a:t>
            </a:r>
            <a:endParaRPr lang="en-US" dirty="0" smtClean="0"/>
          </a:p>
          <a:p>
            <a:pPr lvl="1"/>
            <a:r>
              <a:rPr lang="en-US" dirty="0" err="1" smtClean="0"/>
              <a:t>RESTful</a:t>
            </a:r>
            <a:r>
              <a:rPr lang="en-US" dirty="0" smtClean="0"/>
              <a:t> APIs to integrate inventory, logistics, and payment gateway systems.</a:t>
            </a:r>
          </a:p>
          <a:p>
            <a:r>
              <a:rPr lang="en-US" b="1" dirty="0" smtClean="0"/>
              <a:t>Adopt Real-time Communication:</a:t>
            </a:r>
            <a:endParaRPr lang="en-US" dirty="0" smtClean="0"/>
          </a:p>
          <a:p>
            <a:pPr lvl="1"/>
            <a:r>
              <a:rPr lang="en-US" dirty="0" smtClean="0"/>
              <a:t>Use technologies like Firebase or </a:t>
            </a:r>
            <a:r>
              <a:rPr lang="en-US" dirty="0" err="1" smtClean="0"/>
              <a:t>WebSockets</a:t>
            </a:r>
            <a:r>
              <a:rPr lang="en-US" dirty="0" smtClean="0"/>
              <a:t> for real-time tracking updates.</a:t>
            </a:r>
          </a:p>
          <a:p>
            <a:r>
              <a:rPr lang="en-US" b="1" dirty="0" smtClean="0"/>
              <a:t>AI-Powered Analytics:</a:t>
            </a:r>
            <a:endParaRPr lang="en-US" dirty="0" smtClean="0"/>
          </a:p>
          <a:p>
            <a:pPr lvl="1"/>
            <a:r>
              <a:rPr lang="en-US" dirty="0" smtClean="0"/>
              <a:t>Predictive analysis for tracking customer trends and forecasting inventory needs.</a:t>
            </a:r>
          </a:p>
          <a:p>
            <a:r>
              <a:rPr lang="en-US" b="1" dirty="0" smtClean="0"/>
              <a:t>Cloud Integration:</a:t>
            </a:r>
            <a:endParaRPr lang="en-US" dirty="0" smtClean="0"/>
          </a:p>
          <a:p>
            <a:pPr lvl="1"/>
            <a:r>
              <a:rPr lang="en-US" dirty="0" smtClean="0"/>
              <a:t>Host the solution on AWS/Azure for reliability, scalability, and cost-efficiency.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4362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9579"/>
          </a:xfrm>
        </p:spPr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Multi-Tier System Architecture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03" y="729578"/>
            <a:ext cx="11758411" cy="5967435"/>
          </a:xfrm>
        </p:spPr>
        <p:txBody>
          <a:bodyPr>
            <a:normAutofit/>
          </a:bodyPr>
          <a:lstStyle/>
          <a:p>
            <a:r>
              <a:rPr lang="en-IN" b="1" dirty="0" smtClean="0"/>
              <a:t>Presentation Layer (Frontend):</a:t>
            </a:r>
            <a:endParaRPr lang="en-IN" dirty="0" smtClean="0"/>
          </a:p>
          <a:p>
            <a:pPr lvl="1"/>
            <a:r>
              <a:rPr lang="en-IN" dirty="0" smtClean="0"/>
              <a:t>Mobile &amp; Web App built using </a:t>
            </a:r>
            <a:r>
              <a:rPr lang="en-IN" b="1" dirty="0" smtClean="0"/>
              <a:t>React Native</a:t>
            </a:r>
            <a:r>
              <a:rPr lang="en-IN" dirty="0" smtClean="0"/>
              <a:t> or </a:t>
            </a:r>
            <a:r>
              <a:rPr lang="en-IN" b="1" dirty="0" smtClean="0"/>
              <a:t>Angular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Features: Product search, order placement, payment portal, order tracking.</a:t>
            </a:r>
          </a:p>
          <a:p>
            <a:r>
              <a:rPr lang="en-IN" b="1" dirty="0" smtClean="0"/>
              <a:t>Business Logic Layer (Backend):</a:t>
            </a:r>
            <a:endParaRPr lang="en-IN" dirty="0" smtClean="0"/>
          </a:p>
          <a:p>
            <a:pPr lvl="1"/>
            <a:r>
              <a:rPr lang="en-IN" dirty="0" smtClean="0"/>
              <a:t>Framework: </a:t>
            </a:r>
            <a:r>
              <a:rPr lang="en-IN" b="1" dirty="0" smtClean="0"/>
              <a:t>Node.js + Express.js</a:t>
            </a:r>
            <a:r>
              <a:rPr lang="en-IN" dirty="0" smtClean="0"/>
              <a:t> or </a:t>
            </a:r>
            <a:r>
              <a:rPr lang="en-IN" b="1" dirty="0" err="1" smtClean="0"/>
              <a:t>Laravel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Functions: Payment gateway interaction, order confirmation, real-time logistics updates.</a:t>
            </a:r>
          </a:p>
          <a:p>
            <a:r>
              <a:rPr lang="en-IN" b="1" dirty="0" smtClean="0"/>
              <a:t>Data Layer (Database):</a:t>
            </a:r>
            <a:endParaRPr lang="en-IN" dirty="0" smtClean="0"/>
          </a:p>
          <a:p>
            <a:pPr lvl="1"/>
            <a:r>
              <a:rPr lang="en-IN" b="1" dirty="0" smtClean="0"/>
              <a:t>Firebase:</a:t>
            </a:r>
            <a:r>
              <a:rPr lang="en-IN" dirty="0" smtClean="0"/>
              <a:t> For real-time order updates.</a:t>
            </a:r>
          </a:p>
          <a:p>
            <a:pPr lvl="1"/>
            <a:r>
              <a:rPr lang="en-IN" b="1" dirty="0" err="1" smtClean="0"/>
              <a:t>PostgreSQL</a:t>
            </a:r>
            <a:r>
              <a:rPr lang="en-IN" b="1" dirty="0" smtClean="0"/>
              <a:t>:</a:t>
            </a:r>
            <a:r>
              <a:rPr lang="en-IN" dirty="0" smtClean="0"/>
              <a:t> To maintain relational data like inventory, customer profiles, orders, etc.</a:t>
            </a:r>
          </a:p>
          <a:p>
            <a:r>
              <a:rPr lang="en-IN" b="1" dirty="0" smtClean="0"/>
              <a:t>Integration Layer:</a:t>
            </a:r>
            <a:endParaRPr lang="en-IN" dirty="0" smtClean="0"/>
          </a:p>
          <a:p>
            <a:pPr lvl="1"/>
            <a:r>
              <a:rPr lang="en-IN" dirty="0" smtClean="0"/>
              <a:t>Integration with external logistics providers (DHL, FedEx) and payment systems (Stripe, PayPal).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8997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Implementation Workflow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Customer logs into the system and searches for products.</a:t>
            </a:r>
            <a:endParaRPr lang="en-US" dirty="0" smtClean="0"/>
          </a:p>
          <a:p>
            <a:r>
              <a:rPr lang="en-US" dirty="0" smtClean="0"/>
              <a:t>Customer adds desired products to the cart and proceeds to checkout.</a:t>
            </a:r>
          </a:p>
          <a:p>
            <a:r>
              <a:rPr lang="en-US" dirty="0" smtClean="0"/>
              <a:t>Payment is processed securely through the payment gateway.</a:t>
            </a:r>
          </a:p>
          <a:p>
            <a:r>
              <a:rPr lang="en-US" dirty="0" smtClean="0"/>
              <a:t>Inventory validation ensures products are available for order.</a:t>
            </a:r>
          </a:p>
          <a:p>
            <a:r>
              <a:rPr lang="en-US" dirty="0" smtClean="0"/>
              <a:t>Upon successful payment, a confirmation is sent to the customer.</a:t>
            </a:r>
          </a:p>
          <a:p>
            <a:r>
              <a:rPr lang="en-US" dirty="0" smtClean="0"/>
              <a:t>Logistics providers are notified to prepare and dispatch the shipment.</a:t>
            </a:r>
          </a:p>
          <a:p>
            <a:r>
              <a:rPr lang="en-US" dirty="0" smtClean="0"/>
              <a:t>The customer receives real-time updates on the shipment's status.</a:t>
            </a:r>
          </a:p>
          <a:p>
            <a:r>
              <a:rPr lang="en-US" dirty="0" smtClean="0"/>
              <a:t>Delivery is completed, and feedback is requested.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1959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2387</Words>
  <Application>Microsoft Office PowerPoint</Application>
  <PresentationFormat>Custom</PresentationFormat>
  <Paragraphs>312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Case study – Manufacturing Firm</vt:lpstr>
      <vt:lpstr>Employee Resource Management (Enterprise Scope)</vt:lpstr>
      <vt:lpstr>Employee Resource Management (Enterprise Scope)</vt:lpstr>
      <vt:lpstr>Employee Resource Management (Enterprise Scope)</vt:lpstr>
      <vt:lpstr>Implementation Workflow</vt:lpstr>
      <vt:lpstr>Customer Order Management (Inter-Enterprise Scope)</vt:lpstr>
      <vt:lpstr>Slide 7</vt:lpstr>
      <vt:lpstr>Slide 8</vt:lpstr>
      <vt:lpstr>Slide 9</vt:lpstr>
      <vt:lpstr>How These Two Processes Work Together</vt:lpstr>
      <vt:lpstr>Inventory Management (Enterprise Scope)</vt:lpstr>
      <vt:lpstr>Production Planning (Enterprise Scope)</vt:lpstr>
      <vt:lpstr>Supplier Relationship Management (Inter-Enterprise Scope)</vt:lpstr>
      <vt:lpstr>Quality Control (Enterprise Scope)</vt:lpstr>
      <vt:lpstr>Detailed Elaboration: Customer Order Management (Inter-Enterprise Scope)</vt:lpstr>
      <vt:lpstr>1. Purpose</vt:lpstr>
      <vt:lpstr>2. Scope</vt:lpstr>
      <vt:lpstr>3. Functional Requirements</vt:lpstr>
      <vt:lpstr>4. Non-Functional Requirements</vt:lpstr>
      <vt:lpstr>5. Inputs &amp; Outputs</vt:lpstr>
      <vt:lpstr>6. Constraints</vt:lpstr>
      <vt:lpstr>Digital Transformation Needs</vt:lpstr>
      <vt:lpstr>Multi-Tier System Architecture</vt:lpstr>
      <vt:lpstr>Implementation Workflow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Manufacturing Firm</dc:title>
  <dc:creator>Dr.RM</dc:creator>
  <cp:lastModifiedBy>admin</cp:lastModifiedBy>
  <cp:revision>15</cp:revision>
  <dcterms:created xsi:type="dcterms:W3CDTF">2024-12-09T10:36:17Z</dcterms:created>
  <dcterms:modified xsi:type="dcterms:W3CDTF">2025-01-21T10:59:10Z</dcterms:modified>
</cp:coreProperties>
</file>