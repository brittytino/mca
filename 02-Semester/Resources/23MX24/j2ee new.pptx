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  <p:sldMasterId id="2147483704" r:id="rId5"/>
    <p:sldMasterId id="2147483705" r:id="rId6"/>
    <p:sldMasterId id="2147483706" r:id="rId7"/>
    <p:sldMasterId id="2147483707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</p:sldIdLst>
  <p:sldSz cy="6858000" cx="12188825"/>
  <p:notesSz cx="6858000" cy="9144000"/>
  <p:embeddedFontLst>
    <p:embeddedFont>
      <p:font typeface="Arimo"/>
      <p:regular r:id="rId90"/>
      <p:bold r:id="rId91"/>
      <p:italic r:id="rId92"/>
      <p:boldItalic r:id="rId93"/>
    </p:embeddedFont>
    <p:embeddedFont>
      <p:font typeface="Libre Baskerville"/>
      <p:regular r:id="rId94"/>
      <p:bold r:id="rId95"/>
      <p:italic r:id="rId9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84" Type="http://schemas.openxmlformats.org/officeDocument/2006/relationships/slide" Target="slides/slide75.xml"/><Relationship Id="rId83" Type="http://schemas.openxmlformats.org/officeDocument/2006/relationships/slide" Target="slides/slide74.xml"/><Relationship Id="rId42" Type="http://schemas.openxmlformats.org/officeDocument/2006/relationships/slide" Target="slides/slide33.xml"/><Relationship Id="rId86" Type="http://schemas.openxmlformats.org/officeDocument/2006/relationships/slide" Target="slides/slide77.xml"/><Relationship Id="rId41" Type="http://schemas.openxmlformats.org/officeDocument/2006/relationships/slide" Target="slides/slide32.xml"/><Relationship Id="rId85" Type="http://schemas.openxmlformats.org/officeDocument/2006/relationships/slide" Target="slides/slide76.xml"/><Relationship Id="rId44" Type="http://schemas.openxmlformats.org/officeDocument/2006/relationships/slide" Target="slides/slide35.xml"/><Relationship Id="rId88" Type="http://schemas.openxmlformats.org/officeDocument/2006/relationships/slide" Target="slides/slide79.xml"/><Relationship Id="rId43" Type="http://schemas.openxmlformats.org/officeDocument/2006/relationships/slide" Target="slides/slide34.xml"/><Relationship Id="rId87" Type="http://schemas.openxmlformats.org/officeDocument/2006/relationships/slide" Target="slides/slide7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89" Type="http://schemas.openxmlformats.org/officeDocument/2006/relationships/slide" Target="slides/slide80.xml"/><Relationship Id="rId80" Type="http://schemas.openxmlformats.org/officeDocument/2006/relationships/slide" Target="slides/slide71.xml"/><Relationship Id="rId82" Type="http://schemas.openxmlformats.org/officeDocument/2006/relationships/slide" Target="slides/slide73.xml"/><Relationship Id="rId81" Type="http://schemas.openxmlformats.org/officeDocument/2006/relationships/slide" Target="slides/slide72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73" Type="http://schemas.openxmlformats.org/officeDocument/2006/relationships/slide" Target="slides/slide64.xml"/><Relationship Id="rId72" Type="http://schemas.openxmlformats.org/officeDocument/2006/relationships/slide" Target="slides/slide63.xml"/><Relationship Id="rId31" Type="http://schemas.openxmlformats.org/officeDocument/2006/relationships/slide" Target="slides/slide22.xml"/><Relationship Id="rId75" Type="http://schemas.openxmlformats.org/officeDocument/2006/relationships/slide" Target="slides/slide66.xml"/><Relationship Id="rId30" Type="http://schemas.openxmlformats.org/officeDocument/2006/relationships/slide" Target="slides/slide21.xml"/><Relationship Id="rId74" Type="http://schemas.openxmlformats.org/officeDocument/2006/relationships/slide" Target="slides/slide65.xml"/><Relationship Id="rId33" Type="http://schemas.openxmlformats.org/officeDocument/2006/relationships/slide" Target="slides/slide24.xml"/><Relationship Id="rId77" Type="http://schemas.openxmlformats.org/officeDocument/2006/relationships/slide" Target="slides/slide68.xml"/><Relationship Id="rId32" Type="http://schemas.openxmlformats.org/officeDocument/2006/relationships/slide" Target="slides/slide23.xml"/><Relationship Id="rId76" Type="http://schemas.openxmlformats.org/officeDocument/2006/relationships/slide" Target="slides/slide67.xml"/><Relationship Id="rId35" Type="http://schemas.openxmlformats.org/officeDocument/2006/relationships/slide" Target="slides/slide26.xml"/><Relationship Id="rId79" Type="http://schemas.openxmlformats.org/officeDocument/2006/relationships/slide" Target="slides/slide70.xml"/><Relationship Id="rId34" Type="http://schemas.openxmlformats.org/officeDocument/2006/relationships/slide" Target="slides/slide25.xml"/><Relationship Id="rId78" Type="http://schemas.openxmlformats.org/officeDocument/2006/relationships/slide" Target="slides/slide69.xml"/><Relationship Id="rId71" Type="http://schemas.openxmlformats.org/officeDocument/2006/relationships/slide" Target="slides/slide62.xml"/><Relationship Id="rId70" Type="http://schemas.openxmlformats.org/officeDocument/2006/relationships/slide" Target="slides/slide61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20" Type="http://schemas.openxmlformats.org/officeDocument/2006/relationships/slide" Target="slides/slide11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22" Type="http://schemas.openxmlformats.org/officeDocument/2006/relationships/slide" Target="slides/slide13.xml"/><Relationship Id="rId66" Type="http://schemas.openxmlformats.org/officeDocument/2006/relationships/slide" Target="slides/slide57.xml"/><Relationship Id="rId21" Type="http://schemas.openxmlformats.org/officeDocument/2006/relationships/slide" Target="slides/slide12.xml"/><Relationship Id="rId65" Type="http://schemas.openxmlformats.org/officeDocument/2006/relationships/slide" Target="slides/slide56.xml"/><Relationship Id="rId24" Type="http://schemas.openxmlformats.org/officeDocument/2006/relationships/slide" Target="slides/slide15.xml"/><Relationship Id="rId68" Type="http://schemas.openxmlformats.org/officeDocument/2006/relationships/slide" Target="slides/slide59.xml"/><Relationship Id="rId23" Type="http://schemas.openxmlformats.org/officeDocument/2006/relationships/slide" Target="slides/slide14.xml"/><Relationship Id="rId67" Type="http://schemas.openxmlformats.org/officeDocument/2006/relationships/slide" Target="slides/slide58.xml"/><Relationship Id="rId60" Type="http://schemas.openxmlformats.org/officeDocument/2006/relationships/slide" Target="slides/slide5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69" Type="http://schemas.openxmlformats.org/officeDocument/2006/relationships/slide" Target="slides/slide6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slide" Target="slides/slide42.xml"/><Relationship Id="rId95" Type="http://schemas.openxmlformats.org/officeDocument/2006/relationships/font" Target="fonts/LibreBaskerville-bold.fntdata"/><Relationship Id="rId50" Type="http://schemas.openxmlformats.org/officeDocument/2006/relationships/slide" Target="slides/slide41.xml"/><Relationship Id="rId94" Type="http://schemas.openxmlformats.org/officeDocument/2006/relationships/font" Target="fonts/LibreBaskerville-regular.fntdata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96" Type="http://schemas.openxmlformats.org/officeDocument/2006/relationships/font" Target="fonts/LibreBaskerville-italic.fntdata"/><Relationship Id="rId11" Type="http://schemas.openxmlformats.org/officeDocument/2006/relationships/slide" Target="slides/slide2.xml"/><Relationship Id="rId55" Type="http://schemas.openxmlformats.org/officeDocument/2006/relationships/slide" Target="slides/slide46.xml"/><Relationship Id="rId10" Type="http://schemas.openxmlformats.org/officeDocument/2006/relationships/slide" Target="slides/slide1.xml"/><Relationship Id="rId54" Type="http://schemas.openxmlformats.org/officeDocument/2006/relationships/slide" Target="slides/slide45.xml"/><Relationship Id="rId13" Type="http://schemas.openxmlformats.org/officeDocument/2006/relationships/slide" Target="slides/slide4.xml"/><Relationship Id="rId57" Type="http://schemas.openxmlformats.org/officeDocument/2006/relationships/slide" Target="slides/slide48.xml"/><Relationship Id="rId12" Type="http://schemas.openxmlformats.org/officeDocument/2006/relationships/slide" Target="slides/slide3.xml"/><Relationship Id="rId56" Type="http://schemas.openxmlformats.org/officeDocument/2006/relationships/slide" Target="slides/slide47.xml"/><Relationship Id="rId91" Type="http://schemas.openxmlformats.org/officeDocument/2006/relationships/font" Target="fonts/Arimo-bold.fntdata"/><Relationship Id="rId90" Type="http://schemas.openxmlformats.org/officeDocument/2006/relationships/font" Target="fonts/Arimo-regular.fntdata"/><Relationship Id="rId93" Type="http://schemas.openxmlformats.org/officeDocument/2006/relationships/font" Target="fonts/Arimo-boldItalic.fntdata"/><Relationship Id="rId92" Type="http://schemas.openxmlformats.org/officeDocument/2006/relationships/font" Target="fonts/Arimo-italic.fntdata"/><Relationship Id="rId15" Type="http://schemas.openxmlformats.org/officeDocument/2006/relationships/slide" Target="slides/slide6.xml"/><Relationship Id="rId59" Type="http://schemas.openxmlformats.org/officeDocument/2006/relationships/slide" Target="slides/slide50.xml"/><Relationship Id="rId14" Type="http://schemas.openxmlformats.org/officeDocument/2006/relationships/slide" Target="slides/slide5.xml"/><Relationship Id="rId58" Type="http://schemas.openxmlformats.org/officeDocument/2006/relationships/slide" Target="slides/slide4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6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7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8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9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0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2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3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4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5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6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7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8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9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0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1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2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3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4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5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6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7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28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9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0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1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2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3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4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5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6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7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0" name="Google Shape;102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8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9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40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41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42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43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44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45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46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47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48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49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50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51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52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53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54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55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56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57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58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5" name="Google Shape;1325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9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60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61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62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63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64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65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66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67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68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69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70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71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6" name="Google Shape;1466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72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3" name="Google Shape;1483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73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9" name="Google Shape;1499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74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4" name="Google Shape;1514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75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9" name="Google Shape;1529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76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9" name="Google Shape;1539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77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78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79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80:notes"/>
          <p:cNvSpPr/>
          <p:nvPr>
            <p:ph idx="2" type="sldImg"/>
          </p:nvPr>
        </p:nvSpPr>
        <p:spPr>
          <a:xfrm>
            <a:off x="687388" y="1143000"/>
            <a:ext cx="5483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162" y="2130508"/>
            <a:ext cx="10360501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Baskervil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324" y="3886200"/>
            <a:ext cx="853217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Baskervil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441" y="1600206"/>
            <a:ext cx="1096994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2833" y="4406983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Baskerville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441" y="1600206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5986" y="1600206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Baskervil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441" y="1535113"/>
            <a:ext cx="5385514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441" y="2174875"/>
            <a:ext cx="5385514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1754" y="1535113"/>
            <a:ext cx="538763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1754" y="2174875"/>
            <a:ext cx="538763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497" y="273050"/>
            <a:ext cx="4010039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Baskerville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5492" y="273133"/>
            <a:ext cx="6813892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497" y="1435103"/>
            <a:ext cx="4010039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095" y="4800600"/>
            <a:ext cx="7313295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Baskerville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095" y="612775"/>
            <a:ext cx="7313295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095" y="5367338"/>
            <a:ext cx="7313295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831431" y="-1621784"/>
            <a:ext cx="4525963" cy="10969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2379" y="1829240"/>
            <a:ext cx="5851525" cy="2742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5834" y="-811672"/>
            <a:ext cx="5851525" cy="802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609441" y="1600206"/>
            <a:ext cx="1096994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914162" y="2130508"/>
            <a:ext cx="10360501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1828324" y="3886200"/>
            <a:ext cx="853217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962833" y="4406983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609441" y="1600206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7"/>
          <p:cNvSpPr txBox="1"/>
          <p:nvPr>
            <p:ph idx="2" type="body"/>
          </p:nvPr>
        </p:nvSpPr>
        <p:spPr>
          <a:xfrm>
            <a:off x="6195986" y="1600206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7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609441" y="1535113"/>
            <a:ext cx="5385514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609441" y="2174875"/>
            <a:ext cx="5385514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8"/>
          <p:cNvSpPr txBox="1"/>
          <p:nvPr>
            <p:ph idx="3" type="body"/>
          </p:nvPr>
        </p:nvSpPr>
        <p:spPr>
          <a:xfrm>
            <a:off x="6191754" y="1535113"/>
            <a:ext cx="538763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8"/>
          <p:cNvSpPr txBox="1"/>
          <p:nvPr>
            <p:ph idx="4" type="body"/>
          </p:nvPr>
        </p:nvSpPr>
        <p:spPr>
          <a:xfrm>
            <a:off x="6191754" y="2174875"/>
            <a:ext cx="538763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609497" y="273050"/>
            <a:ext cx="4010039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4765492" y="273133"/>
            <a:ext cx="6813892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609497" y="1435103"/>
            <a:ext cx="4010039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2389095" y="4800600"/>
            <a:ext cx="7313295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/>
          <p:nvPr>
            <p:ph idx="2" type="pic"/>
          </p:nvPr>
        </p:nvSpPr>
        <p:spPr>
          <a:xfrm>
            <a:off x="2389095" y="612775"/>
            <a:ext cx="7313295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2389095" y="5367338"/>
            <a:ext cx="7313295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22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 rot="5400000">
            <a:off x="3831431" y="-1621784"/>
            <a:ext cx="4525963" cy="10969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 rot="5400000">
            <a:off x="7282379" y="1829240"/>
            <a:ext cx="5851525" cy="2742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 rot="5400000">
            <a:off x="1695834" y="-811672"/>
            <a:ext cx="5851525" cy="802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609441" y="1600206"/>
            <a:ext cx="1096994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6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ctrTitle"/>
          </p:nvPr>
        </p:nvSpPr>
        <p:spPr>
          <a:xfrm>
            <a:off x="914162" y="2130508"/>
            <a:ext cx="10360501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idx="1" type="subTitle"/>
          </p:nvPr>
        </p:nvSpPr>
        <p:spPr>
          <a:xfrm>
            <a:off x="1828324" y="3886200"/>
            <a:ext cx="853217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4" name="Google Shape;174;p27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7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7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962833" y="4406983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609441" y="1600206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86" name="Google Shape;186;p29"/>
          <p:cNvSpPr txBox="1"/>
          <p:nvPr>
            <p:ph idx="2" type="body"/>
          </p:nvPr>
        </p:nvSpPr>
        <p:spPr>
          <a:xfrm>
            <a:off x="6195986" y="1600206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87" name="Google Shape;187;p29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9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9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609441" y="1535113"/>
            <a:ext cx="5385514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p30"/>
          <p:cNvSpPr txBox="1"/>
          <p:nvPr>
            <p:ph idx="2" type="body"/>
          </p:nvPr>
        </p:nvSpPr>
        <p:spPr>
          <a:xfrm>
            <a:off x="609441" y="2174875"/>
            <a:ext cx="5385514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4" name="Google Shape;194;p30"/>
          <p:cNvSpPr txBox="1"/>
          <p:nvPr>
            <p:ph idx="3" type="body"/>
          </p:nvPr>
        </p:nvSpPr>
        <p:spPr>
          <a:xfrm>
            <a:off x="6191754" y="1535113"/>
            <a:ext cx="538763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30"/>
          <p:cNvSpPr txBox="1"/>
          <p:nvPr>
            <p:ph idx="4" type="body"/>
          </p:nvPr>
        </p:nvSpPr>
        <p:spPr>
          <a:xfrm>
            <a:off x="6191754" y="2174875"/>
            <a:ext cx="538763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6" name="Google Shape;196;p30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0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1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2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2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609497" y="273050"/>
            <a:ext cx="4010039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4765492" y="273133"/>
            <a:ext cx="6813892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1" name="Google Shape;211;p33"/>
          <p:cNvSpPr txBox="1"/>
          <p:nvPr>
            <p:ph idx="2" type="body"/>
          </p:nvPr>
        </p:nvSpPr>
        <p:spPr>
          <a:xfrm>
            <a:off x="609497" y="1435103"/>
            <a:ext cx="4010039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2" name="Google Shape;212;p33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3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2389095" y="4800600"/>
            <a:ext cx="7313295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4"/>
          <p:cNvSpPr/>
          <p:nvPr>
            <p:ph idx="2" type="pic"/>
          </p:nvPr>
        </p:nvSpPr>
        <p:spPr>
          <a:xfrm>
            <a:off x="2389095" y="612775"/>
            <a:ext cx="7313295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2389095" y="5367338"/>
            <a:ext cx="7313295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9" name="Google Shape;219;p34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4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4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 rot="5400000">
            <a:off x="3831431" y="-1621784"/>
            <a:ext cx="4525963" cy="10969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5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5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 rot="5400000">
            <a:off x="7282379" y="1829240"/>
            <a:ext cx="5851525" cy="2742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6"/>
          <p:cNvSpPr txBox="1"/>
          <p:nvPr>
            <p:ph idx="1" type="body"/>
          </p:nvPr>
        </p:nvSpPr>
        <p:spPr>
          <a:xfrm rot="5400000">
            <a:off x="1695834" y="-811672"/>
            <a:ext cx="5851525" cy="802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p36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6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962833" y="4406983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ibre Baskerville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8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8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type="ctrTitle"/>
          </p:nvPr>
        </p:nvSpPr>
        <p:spPr>
          <a:xfrm>
            <a:off x="914162" y="2130508"/>
            <a:ext cx="10360501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Baskervil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9"/>
          <p:cNvSpPr txBox="1"/>
          <p:nvPr>
            <p:ph idx="1" type="subTitle"/>
          </p:nvPr>
        </p:nvSpPr>
        <p:spPr>
          <a:xfrm>
            <a:off x="1828324" y="3886200"/>
            <a:ext cx="853217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9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9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Baskervil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40"/>
          <p:cNvSpPr txBox="1"/>
          <p:nvPr>
            <p:ph idx="1" type="body"/>
          </p:nvPr>
        </p:nvSpPr>
        <p:spPr>
          <a:xfrm>
            <a:off x="609441" y="1600206"/>
            <a:ext cx="1096994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p40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0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40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1"/>
          <p:cNvSpPr txBox="1"/>
          <p:nvPr>
            <p:ph idx="1" type="body"/>
          </p:nvPr>
        </p:nvSpPr>
        <p:spPr>
          <a:xfrm>
            <a:off x="609441" y="1600206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1" name="Google Shape;261;p41"/>
          <p:cNvSpPr txBox="1"/>
          <p:nvPr>
            <p:ph idx="2" type="body"/>
          </p:nvPr>
        </p:nvSpPr>
        <p:spPr>
          <a:xfrm>
            <a:off x="6195986" y="1600206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2" name="Google Shape;262;p41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1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1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Baskervil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2"/>
          <p:cNvSpPr txBox="1"/>
          <p:nvPr>
            <p:ph idx="1" type="body"/>
          </p:nvPr>
        </p:nvSpPr>
        <p:spPr>
          <a:xfrm>
            <a:off x="609441" y="1535113"/>
            <a:ext cx="5385514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8" name="Google Shape;268;p42"/>
          <p:cNvSpPr txBox="1"/>
          <p:nvPr>
            <p:ph idx="2" type="body"/>
          </p:nvPr>
        </p:nvSpPr>
        <p:spPr>
          <a:xfrm>
            <a:off x="609441" y="2174875"/>
            <a:ext cx="5385514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69" name="Google Shape;269;p42"/>
          <p:cNvSpPr txBox="1"/>
          <p:nvPr>
            <p:ph idx="3" type="body"/>
          </p:nvPr>
        </p:nvSpPr>
        <p:spPr>
          <a:xfrm>
            <a:off x="6191754" y="1535113"/>
            <a:ext cx="538763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0" name="Google Shape;270;p42"/>
          <p:cNvSpPr txBox="1"/>
          <p:nvPr>
            <p:ph idx="4" type="body"/>
          </p:nvPr>
        </p:nvSpPr>
        <p:spPr>
          <a:xfrm>
            <a:off x="6191754" y="2174875"/>
            <a:ext cx="538763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1" name="Google Shape;271;p42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2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2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3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43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3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44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4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609497" y="273050"/>
            <a:ext cx="4010039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Baskerville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5"/>
          <p:cNvSpPr txBox="1"/>
          <p:nvPr>
            <p:ph idx="1" type="body"/>
          </p:nvPr>
        </p:nvSpPr>
        <p:spPr>
          <a:xfrm>
            <a:off x="4765492" y="273133"/>
            <a:ext cx="6813892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86" name="Google Shape;286;p45"/>
          <p:cNvSpPr txBox="1"/>
          <p:nvPr>
            <p:ph idx="2" type="body"/>
          </p:nvPr>
        </p:nvSpPr>
        <p:spPr>
          <a:xfrm>
            <a:off x="609497" y="1435103"/>
            <a:ext cx="4010039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87" name="Google Shape;287;p45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45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45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6"/>
          <p:cNvSpPr txBox="1"/>
          <p:nvPr>
            <p:ph type="title"/>
          </p:nvPr>
        </p:nvSpPr>
        <p:spPr>
          <a:xfrm>
            <a:off x="2389095" y="4800600"/>
            <a:ext cx="7313295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Baskerville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6"/>
          <p:cNvSpPr/>
          <p:nvPr>
            <p:ph idx="2" type="pic"/>
          </p:nvPr>
        </p:nvSpPr>
        <p:spPr>
          <a:xfrm>
            <a:off x="2389095" y="612775"/>
            <a:ext cx="7313295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46"/>
          <p:cNvSpPr txBox="1"/>
          <p:nvPr>
            <p:ph idx="1" type="body"/>
          </p:nvPr>
        </p:nvSpPr>
        <p:spPr>
          <a:xfrm>
            <a:off x="2389095" y="5367338"/>
            <a:ext cx="7313295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4" name="Google Shape;294;p46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46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46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47"/>
          <p:cNvSpPr txBox="1"/>
          <p:nvPr>
            <p:ph idx="1" type="body"/>
          </p:nvPr>
        </p:nvSpPr>
        <p:spPr>
          <a:xfrm rot="5400000">
            <a:off x="3831431" y="-1621784"/>
            <a:ext cx="4525963" cy="10969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0" name="Google Shape;300;p47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47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47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/>
          <p:nvPr>
            <p:ph type="title"/>
          </p:nvPr>
        </p:nvSpPr>
        <p:spPr>
          <a:xfrm rot="5400000">
            <a:off x="7282379" y="1829240"/>
            <a:ext cx="5851525" cy="2742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48"/>
          <p:cNvSpPr txBox="1"/>
          <p:nvPr>
            <p:ph idx="1" type="body"/>
          </p:nvPr>
        </p:nvSpPr>
        <p:spPr>
          <a:xfrm rot="5400000">
            <a:off x="1695834" y="-811672"/>
            <a:ext cx="5851525" cy="802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6" name="Google Shape;306;p48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48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48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50"/>
          <p:cNvSpPr txBox="1"/>
          <p:nvPr>
            <p:ph idx="1" type="body"/>
          </p:nvPr>
        </p:nvSpPr>
        <p:spPr>
          <a:xfrm>
            <a:off x="609441" y="1600206"/>
            <a:ext cx="1096994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8" name="Google Shape;318;p50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50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50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1"/>
          <p:cNvSpPr txBox="1"/>
          <p:nvPr>
            <p:ph type="ctrTitle"/>
          </p:nvPr>
        </p:nvSpPr>
        <p:spPr>
          <a:xfrm>
            <a:off x="914162" y="2130508"/>
            <a:ext cx="10360501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51"/>
          <p:cNvSpPr txBox="1"/>
          <p:nvPr>
            <p:ph idx="1" type="subTitle"/>
          </p:nvPr>
        </p:nvSpPr>
        <p:spPr>
          <a:xfrm>
            <a:off x="1828324" y="3886200"/>
            <a:ext cx="853217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4" name="Google Shape;324;p51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51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51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/>
          <p:nvPr>
            <p:ph type="title"/>
          </p:nvPr>
        </p:nvSpPr>
        <p:spPr>
          <a:xfrm>
            <a:off x="962833" y="4406983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52"/>
          <p:cNvSpPr txBox="1"/>
          <p:nvPr>
            <p:ph idx="1" type="body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0" name="Google Shape;330;p52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52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52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3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53"/>
          <p:cNvSpPr txBox="1"/>
          <p:nvPr>
            <p:ph idx="1" type="body"/>
          </p:nvPr>
        </p:nvSpPr>
        <p:spPr>
          <a:xfrm>
            <a:off x="609441" y="1600206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6" name="Google Shape;336;p53"/>
          <p:cNvSpPr txBox="1"/>
          <p:nvPr>
            <p:ph idx="2" type="body"/>
          </p:nvPr>
        </p:nvSpPr>
        <p:spPr>
          <a:xfrm>
            <a:off x="6195986" y="1600206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7" name="Google Shape;337;p53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53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53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4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54"/>
          <p:cNvSpPr txBox="1"/>
          <p:nvPr>
            <p:ph idx="1" type="body"/>
          </p:nvPr>
        </p:nvSpPr>
        <p:spPr>
          <a:xfrm>
            <a:off x="609441" y="1535113"/>
            <a:ext cx="5385514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3" name="Google Shape;343;p54"/>
          <p:cNvSpPr txBox="1"/>
          <p:nvPr>
            <p:ph idx="2" type="body"/>
          </p:nvPr>
        </p:nvSpPr>
        <p:spPr>
          <a:xfrm>
            <a:off x="609441" y="2174875"/>
            <a:ext cx="5385514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44" name="Google Shape;344;p54"/>
          <p:cNvSpPr txBox="1"/>
          <p:nvPr>
            <p:ph idx="3" type="body"/>
          </p:nvPr>
        </p:nvSpPr>
        <p:spPr>
          <a:xfrm>
            <a:off x="6191754" y="1535113"/>
            <a:ext cx="538763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5" name="Google Shape;345;p54"/>
          <p:cNvSpPr txBox="1"/>
          <p:nvPr>
            <p:ph idx="4" type="body"/>
          </p:nvPr>
        </p:nvSpPr>
        <p:spPr>
          <a:xfrm>
            <a:off x="6191754" y="2174875"/>
            <a:ext cx="538763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46" name="Google Shape;346;p54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54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54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5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5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55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55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6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56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56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7"/>
          <p:cNvSpPr txBox="1"/>
          <p:nvPr>
            <p:ph type="title"/>
          </p:nvPr>
        </p:nvSpPr>
        <p:spPr>
          <a:xfrm>
            <a:off x="609497" y="273050"/>
            <a:ext cx="4010039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4765492" y="273133"/>
            <a:ext cx="6813892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61" name="Google Shape;361;p57"/>
          <p:cNvSpPr txBox="1"/>
          <p:nvPr>
            <p:ph idx="2" type="body"/>
          </p:nvPr>
        </p:nvSpPr>
        <p:spPr>
          <a:xfrm>
            <a:off x="609497" y="1435103"/>
            <a:ext cx="4010039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62" name="Google Shape;362;p57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57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57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8"/>
          <p:cNvSpPr txBox="1"/>
          <p:nvPr>
            <p:ph type="title"/>
          </p:nvPr>
        </p:nvSpPr>
        <p:spPr>
          <a:xfrm>
            <a:off x="2389095" y="4800600"/>
            <a:ext cx="7313295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58"/>
          <p:cNvSpPr/>
          <p:nvPr>
            <p:ph idx="2" type="pic"/>
          </p:nvPr>
        </p:nvSpPr>
        <p:spPr>
          <a:xfrm>
            <a:off x="2389095" y="612775"/>
            <a:ext cx="7313295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58"/>
          <p:cNvSpPr txBox="1"/>
          <p:nvPr>
            <p:ph idx="1" type="body"/>
          </p:nvPr>
        </p:nvSpPr>
        <p:spPr>
          <a:xfrm>
            <a:off x="2389095" y="5367338"/>
            <a:ext cx="7313295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69" name="Google Shape;369;p58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58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58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9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59"/>
          <p:cNvSpPr txBox="1"/>
          <p:nvPr>
            <p:ph idx="1" type="body"/>
          </p:nvPr>
        </p:nvSpPr>
        <p:spPr>
          <a:xfrm rot="5400000">
            <a:off x="3831431" y="-1621784"/>
            <a:ext cx="4525963" cy="10969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5" name="Google Shape;375;p59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9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59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0"/>
          <p:cNvSpPr txBox="1"/>
          <p:nvPr>
            <p:ph type="title"/>
          </p:nvPr>
        </p:nvSpPr>
        <p:spPr>
          <a:xfrm rot="5400000">
            <a:off x="7282379" y="1829240"/>
            <a:ext cx="5851525" cy="2742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60"/>
          <p:cNvSpPr txBox="1"/>
          <p:nvPr>
            <p:ph idx="1" type="body"/>
          </p:nvPr>
        </p:nvSpPr>
        <p:spPr>
          <a:xfrm rot="5400000">
            <a:off x="1695834" y="-811672"/>
            <a:ext cx="5851525" cy="802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p60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60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60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44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55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Baskerville"/>
              <a:buNone/>
              <a:defRPr b="0" i="0" sz="4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41" y="1600206"/>
            <a:ext cx="1096994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609441" y="1600206"/>
            <a:ext cx="1096994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609441" y="1600206"/>
            <a:ext cx="1096994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5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25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Baskerville"/>
              <a:buNone/>
              <a:defRPr b="0" i="0" sz="4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609441" y="1600206"/>
            <a:ext cx="1096994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 txBox="1"/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1" name="Google Shape;311;p49"/>
          <p:cNvSpPr txBox="1"/>
          <p:nvPr>
            <p:ph idx="1" type="body"/>
          </p:nvPr>
        </p:nvSpPr>
        <p:spPr>
          <a:xfrm>
            <a:off x="609441" y="1600206"/>
            <a:ext cx="1096994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2" name="Google Shape;312;p49"/>
          <p:cNvSpPr txBox="1"/>
          <p:nvPr>
            <p:ph idx="10" type="dt"/>
          </p:nvPr>
        </p:nvSpPr>
        <p:spPr>
          <a:xfrm>
            <a:off x="609441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3" name="Google Shape;313;p49"/>
          <p:cNvSpPr txBox="1"/>
          <p:nvPr>
            <p:ph idx="11" type="ftr"/>
          </p:nvPr>
        </p:nvSpPr>
        <p:spPr>
          <a:xfrm>
            <a:off x="4164515" y="6356433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49"/>
          <p:cNvSpPr txBox="1"/>
          <p:nvPr>
            <p:ph idx="12" type="sldNum"/>
          </p:nvPr>
        </p:nvSpPr>
        <p:spPr>
          <a:xfrm>
            <a:off x="8735326" y="6356433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jp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jp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jp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jpg"/><Relationship Id="rId4" Type="http://schemas.openxmlformats.org/officeDocument/2006/relationships/image" Target="../media/image3.png"/><Relationship Id="rId9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jp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jpg"/><Relationship Id="rId4" Type="http://schemas.openxmlformats.org/officeDocument/2006/relationships/image" Target="../media/image43.png"/><Relationship Id="rId5" Type="http://schemas.openxmlformats.org/officeDocument/2006/relationships/image" Target="../media/image32.png"/><Relationship Id="rId6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3.jpg"/><Relationship Id="rId4" Type="http://schemas.openxmlformats.org/officeDocument/2006/relationships/image" Target="../media/image3.png"/><Relationship Id="rId5" Type="http://schemas.openxmlformats.org/officeDocument/2006/relationships/image" Target="../media/image3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3.jpg"/><Relationship Id="rId4" Type="http://schemas.openxmlformats.org/officeDocument/2006/relationships/image" Target="../media/image3.png"/><Relationship Id="rId5" Type="http://schemas.openxmlformats.org/officeDocument/2006/relationships/image" Target="../media/image3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3.jpg"/><Relationship Id="rId4" Type="http://schemas.openxmlformats.org/officeDocument/2006/relationships/image" Target="../media/image43.png"/><Relationship Id="rId5" Type="http://schemas.openxmlformats.org/officeDocument/2006/relationships/image" Target="../media/image32.png"/><Relationship Id="rId6" Type="http://schemas.openxmlformats.org/officeDocument/2006/relationships/image" Target="../media/image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png"/></Relationships>
</file>

<file path=ppt/slides/_rels/slide70.xml.rels><?xml version="1.0" encoding="UTF-8" standalone="yes"?><Relationships xmlns="http://schemas.openxmlformats.org/package/2006/relationships"><Relationship Id="rId10" Type="http://schemas.openxmlformats.org/officeDocument/2006/relationships/image" Target="../media/image44.gi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3.jpg"/><Relationship Id="rId4" Type="http://schemas.openxmlformats.org/officeDocument/2006/relationships/image" Target="../media/image42.png"/><Relationship Id="rId9" Type="http://schemas.openxmlformats.org/officeDocument/2006/relationships/image" Target="../media/image41.png"/><Relationship Id="rId5" Type="http://schemas.openxmlformats.org/officeDocument/2006/relationships/image" Target="../media/image3.png"/><Relationship Id="rId6" Type="http://schemas.openxmlformats.org/officeDocument/2006/relationships/image" Target="../media/image34.png"/><Relationship Id="rId7" Type="http://schemas.openxmlformats.org/officeDocument/2006/relationships/image" Target="../media/image36.png"/><Relationship Id="rId8" Type="http://schemas.openxmlformats.org/officeDocument/2006/relationships/image" Target="../media/image38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3.jpg"/><Relationship Id="rId4" Type="http://schemas.openxmlformats.org/officeDocument/2006/relationships/image" Target="../media/image3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3.jpg"/><Relationship Id="rId4" Type="http://schemas.openxmlformats.org/officeDocument/2006/relationships/image" Target="../media/image3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3.jpg"/><Relationship Id="rId4" Type="http://schemas.openxmlformats.org/officeDocument/2006/relationships/image" Target="../media/image3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3.jpg"/><Relationship Id="rId4" Type="http://schemas.openxmlformats.org/officeDocument/2006/relationships/image" Target="../media/image3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3.jpg"/><Relationship Id="rId4" Type="http://schemas.openxmlformats.org/officeDocument/2006/relationships/image" Target="../media/image43.png"/><Relationship Id="rId5" Type="http://schemas.openxmlformats.org/officeDocument/2006/relationships/image" Target="../media/image32.png"/><Relationship Id="rId6" Type="http://schemas.openxmlformats.org/officeDocument/2006/relationships/image" Target="../media/image3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3.jpg"/><Relationship Id="rId4" Type="http://schemas.openxmlformats.org/officeDocument/2006/relationships/image" Target="../media/image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1"/>
          <p:cNvSpPr/>
          <p:nvPr/>
        </p:nvSpPr>
        <p:spPr>
          <a:xfrm>
            <a:off x="684212" y="3501008"/>
            <a:ext cx="606851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99F1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Java EE</a:t>
            </a:r>
            <a:endParaRPr/>
          </a:p>
        </p:txBody>
      </p:sp>
      <p:pic>
        <p:nvPicPr>
          <p:cNvPr descr="http://wilddiary.com/wp-content/uploads/2015/07/java_1.png" id="389" name="Google Shape;38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77" y="188640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"/>
          <p:cNvSpPr txBox="1"/>
          <p:nvPr>
            <p:ph type="title"/>
          </p:nvPr>
        </p:nvSpPr>
        <p:spPr>
          <a:xfrm>
            <a:off x="0" y="76201"/>
            <a:ext cx="10558908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ibre Baskerville"/>
              <a:buNone/>
            </a:pPr>
            <a:r>
              <a:rPr b="1" lang="en-US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Topics To Be Covered</a:t>
            </a:r>
            <a:endParaRPr/>
          </a:p>
        </p:txBody>
      </p:sp>
      <p:sp>
        <p:nvSpPr>
          <p:cNvPr id="395" name="Google Shape;395;p62"/>
          <p:cNvSpPr txBox="1"/>
          <p:nvPr>
            <p:ph idx="1" type="body"/>
          </p:nvPr>
        </p:nvSpPr>
        <p:spPr>
          <a:xfrm>
            <a:off x="1485900" y="1622059"/>
            <a:ext cx="6093143" cy="52359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Introduction and Objectives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Introduction to Java EE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Enterprise Tiers </a:t>
            </a:r>
            <a:endParaRPr>
              <a:solidFill>
                <a:srgbClr val="610786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Why Jaw EE?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APIs and Technologies </a:t>
            </a:r>
            <a:endParaRPr>
              <a:solidFill>
                <a:srgbClr val="610786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Java EE Roles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Summary</a:t>
            </a:r>
            <a:endParaRPr>
              <a:solidFill>
                <a:srgbClr val="610786"/>
              </a:solidFill>
            </a:endParaRPr>
          </a:p>
        </p:txBody>
      </p:sp>
      <p:pic>
        <p:nvPicPr>
          <p:cNvPr descr="http://wilddiary.com/wp-content/uploads/2015/07/java_1.png" id="396" name="Google Shape;39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77" y="188640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3"/>
          <p:cNvSpPr txBox="1"/>
          <p:nvPr>
            <p:ph type="title"/>
          </p:nvPr>
        </p:nvSpPr>
        <p:spPr>
          <a:xfrm>
            <a:off x="760414" y="3048000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ct val="100000"/>
              <a:buFont typeface="Libre Baskerville"/>
              <a:buNone/>
            </a:pPr>
            <a:r>
              <a:rPr lang="en-US" sz="7200">
                <a:solidFill>
                  <a:srgbClr val="F99F1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 </a:t>
            </a:r>
            <a:br>
              <a:rPr lang="en-US" sz="7200">
                <a:solidFill>
                  <a:srgbClr val="F99F1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-US" sz="7200">
                <a:solidFill>
                  <a:srgbClr val="F99F1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AND OBJECTIVES</a:t>
            </a:r>
            <a:endParaRPr sz="7200" cap="none">
              <a:solidFill>
                <a:srgbClr val="F99F1B"/>
              </a:solidFill>
            </a:endParaRPr>
          </a:p>
        </p:txBody>
      </p:sp>
      <p:pic>
        <p:nvPicPr>
          <p:cNvPr descr="http://wilddiary.com/wp-content/uploads/2015/07/java_1.png" id="402" name="Google Shape;40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77" y="188640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4"/>
          <p:cNvSpPr txBox="1"/>
          <p:nvPr>
            <p:ph type="title"/>
          </p:nvPr>
        </p:nvSpPr>
        <p:spPr>
          <a:xfrm>
            <a:off x="0" y="188639"/>
            <a:ext cx="10342884" cy="4621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400"/>
              <a:buFont typeface="Libre Baskerville"/>
              <a:buNone/>
            </a:pPr>
            <a:r>
              <a:rPr b="1" lang="en-US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</a:t>
            </a:r>
            <a:endParaRPr b="1">
              <a:solidFill>
                <a:srgbClr val="610786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descr="http://wilddiary.com/wp-content/uploads/2015/07/java_1.png" id="408" name="Google Shape;408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1934" y="5564397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409" name="Google Shape;409;p64"/>
          <p:cNvSpPr/>
          <p:nvPr/>
        </p:nvSpPr>
        <p:spPr>
          <a:xfrm>
            <a:off x="189756" y="836712"/>
            <a:ext cx="10770206" cy="5755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Welcome to the course on Java EE!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The Java Platform, Enterprise Edition or Java EE (formerly known as Java 2 Platform, Enterprise Edition or J2EE) has undergone several changes since 1.0 as well as numerous additions of new specifications.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Java EE is Oracle's enterprise Java computing platform. The platform provides an API and runtime environment for developing and running enterprise software, including network and web services, and other large-scale, multi-tiered, scalable, reliable, and secure network applications.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10" name="Google Shape;410;p64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4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4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4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4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4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5"/>
          <p:cNvSpPr txBox="1"/>
          <p:nvPr>
            <p:ph type="title"/>
          </p:nvPr>
        </p:nvSpPr>
        <p:spPr>
          <a:xfrm>
            <a:off x="0" y="449924"/>
            <a:ext cx="10342884" cy="4621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400"/>
              <a:buFont typeface="Libre Baskerville"/>
              <a:buNone/>
            </a:pPr>
            <a:r>
              <a:rPr b="1" lang="en-US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</a:t>
            </a:r>
            <a:endParaRPr b="1">
              <a:solidFill>
                <a:srgbClr val="610786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descr="http://wilddiary.com/wp-content/uploads/2015/07/java_1.png" id="416" name="Google Shape;41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1934" y="5564397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417" name="Google Shape;417;p65"/>
          <p:cNvSpPr/>
          <p:nvPr/>
        </p:nvSpPr>
        <p:spPr>
          <a:xfrm>
            <a:off x="189756" y="1052736"/>
            <a:ext cx="10585176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Java EE extends the Java Platform, Standard Edition (Java SE). providing an API for object-relational mapping, distributed and multitier architectures, and web services. The platform incorporates a design based largely on modular components running on an application server. Software for Java EE is primarily developed in the Java programming language.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This course first introduces you to Java EE. Then, you will learn about Java 2 Platform. Enterprise tiers. Java EE specifications, platform architectures, Java APIs and technologies, and at the end about Java EE roles.</a:t>
            </a:r>
            <a:endParaRPr/>
          </a:p>
        </p:txBody>
      </p:sp>
      <p:sp>
        <p:nvSpPr>
          <p:cNvPr id="418" name="Google Shape;418;p65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6"/>
          <p:cNvSpPr txBox="1"/>
          <p:nvPr>
            <p:ph type="title"/>
          </p:nvPr>
        </p:nvSpPr>
        <p:spPr>
          <a:xfrm>
            <a:off x="0" y="449924"/>
            <a:ext cx="10342884" cy="4621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400"/>
              <a:buFont typeface="Libre Baskerville"/>
              <a:buNone/>
            </a:pPr>
            <a:r>
              <a:rPr b="1" lang="en-US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Objectives</a:t>
            </a:r>
            <a:endParaRPr b="1">
              <a:solidFill>
                <a:srgbClr val="610786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descr="http://wilddiary.com/wp-content/uploads/2015/07/java_1.png" id="424" name="Google Shape;42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1934" y="5564397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425" name="Google Shape;425;p66"/>
          <p:cNvSpPr/>
          <p:nvPr/>
        </p:nvSpPr>
        <p:spPr>
          <a:xfrm>
            <a:off x="189756" y="363915"/>
            <a:ext cx="10585176" cy="6494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When you complete this course, you will be able to: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Define need for Java EE.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List different editions in Java.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Explain different types of enterprise tiers.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Identify different layers in multi-tired distributed programming.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Describe Java EE platform architecture.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List specifications of Java EE.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Explain Java EE APIs &amp; technologies.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Describe various roles in Java EE.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Explain about the latest developments in Java EE</a:t>
            </a:r>
            <a:endParaRPr/>
          </a:p>
        </p:txBody>
      </p:sp>
      <p:sp>
        <p:nvSpPr>
          <p:cNvPr id="426" name="Google Shape;426;p66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7"/>
          <p:cNvSpPr txBox="1"/>
          <p:nvPr>
            <p:ph type="title"/>
          </p:nvPr>
        </p:nvSpPr>
        <p:spPr>
          <a:xfrm>
            <a:off x="760414" y="3048000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7200"/>
              <a:buFont typeface="Libre Baskerville"/>
              <a:buNone/>
            </a:pPr>
            <a:r>
              <a:rPr lang="en-US" sz="7200" cap="none">
                <a:solidFill>
                  <a:srgbClr val="F99F1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 to Java EE</a:t>
            </a:r>
            <a:endParaRPr sz="7200" cap="none">
              <a:solidFill>
                <a:srgbClr val="F99F1B"/>
              </a:solidFill>
            </a:endParaRPr>
          </a:p>
        </p:txBody>
      </p:sp>
      <p:pic>
        <p:nvPicPr>
          <p:cNvPr descr="http://wilddiary.com/wp-content/uploads/2015/07/java_1.png" id="432" name="Google Shape;43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77" y="188640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8"/>
          <p:cNvSpPr txBox="1"/>
          <p:nvPr>
            <p:ph idx="1" type="body"/>
          </p:nvPr>
        </p:nvSpPr>
        <p:spPr>
          <a:xfrm>
            <a:off x="316639" y="1791040"/>
            <a:ext cx="10181188" cy="488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None/>
            </a:pPr>
            <a:r>
              <a:rPr lang="en-US">
                <a:solidFill>
                  <a:srgbClr val="610786"/>
                </a:solidFill>
              </a:rPr>
              <a:t>Sun Microsystems, together with one of its partner IBM, designed Java EE to define a multi-tier architecture for developing Enterprise Information Systems (EIS) to answer the needs from various industries.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Goals: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99F1B"/>
              </a:buClr>
              <a:buSzPts val="2800"/>
              <a:buChar char="–"/>
            </a:pPr>
            <a:r>
              <a:rPr lang="en-US">
                <a:solidFill>
                  <a:srgbClr val="610786"/>
                </a:solidFill>
              </a:rPr>
              <a:t>To reduce the cost and complexity of development.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99F1B"/>
              </a:buClr>
              <a:buSzPts val="2800"/>
              <a:buChar char="–"/>
            </a:pPr>
            <a:r>
              <a:rPr lang="en-US">
                <a:solidFill>
                  <a:srgbClr val="610786"/>
                </a:solidFill>
              </a:rPr>
              <a:t>To allow Java EE applications to be rapidly deployed and easily enhanced.</a:t>
            </a:r>
            <a:endParaRPr/>
          </a:p>
        </p:txBody>
      </p:sp>
      <p:sp>
        <p:nvSpPr>
          <p:cNvPr id="438" name="Google Shape;438;p68"/>
          <p:cNvSpPr/>
          <p:nvPr/>
        </p:nvSpPr>
        <p:spPr>
          <a:xfrm>
            <a:off x="297196" y="868977"/>
            <a:ext cx="360868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Java EE Origin</a:t>
            </a:r>
            <a:endParaRPr b="1" sz="40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439" name="Google Shape;439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7827" y="5558333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440" name="Google Shape;440;p68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1" name="Google Shape;441;p68"/>
          <p:cNvSpPr txBox="1"/>
          <p:nvPr>
            <p:ph type="title"/>
          </p:nvPr>
        </p:nvSpPr>
        <p:spPr>
          <a:xfrm>
            <a:off x="261764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 to Java EE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9"/>
          <p:cNvSpPr txBox="1"/>
          <p:nvPr>
            <p:ph idx="1" type="body"/>
          </p:nvPr>
        </p:nvSpPr>
        <p:spPr>
          <a:xfrm>
            <a:off x="0" y="1083382"/>
            <a:ext cx="10181188" cy="668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None/>
            </a:pPr>
            <a:r>
              <a:rPr lang="en-US" sz="2400">
                <a:solidFill>
                  <a:srgbClr val="610786"/>
                </a:solidFill>
              </a:rPr>
              <a:t>Let us take a look at the history of Java EE </a:t>
            </a:r>
            <a:endParaRPr sz="2400">
              <a:solidFill>
                <a:srgbClr val="610786"/>
              </a:solidFill>
            </a:endParaRPr>
          </a:p>
        </p:txBody>
      </p:sp>
      <p:sp>
        <p:nvSpPr>
          <p:cNvPr id="447" name="Google Shape;447;p69"/>
          <p:cNvSpPr/>
          <p:nvPr/>
        </p:nvSpPr>
        <p:spPr>
          <a:xfrm>
            <a:off x="1181439" y="515316"/>
            <a:ext cx="280878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The History</a:t>
            </a:r>
            <a:endParaRPr b="1" sz="40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448" name="Google Shape;448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55294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449" name="Google Shape;449;p69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0" name="Google Shape;450;p69"/>
          <p:cNvSpPr txBox="1"/>
          <p:nvPr>
            <p:ph type="title"/>
          </p:nvPr>
        </p:nvSpPr>
        <p:spPr>
          <a:xfrm>
            <a:off x="1125860" y="-23446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 to Java EE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1" name="Google Shape;451;p69"/>
          <p:cNvSpPr/>
          <p:nvPr/>
        </p:nvSpPr>
        <p:spPr>
          <a:xfrm>
            <a:off x="126923" y="5296848"/>
            <a:ext cx="1287916" cy="953068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EJB 1.0 Servlet 2.1</a:t>
            </a:r>
            <a:endParaRPr/>
          </a:p>
        </p:txBody>
      </p:sp>
      <p:sp>
        <p:nvSpPr>
          <p:cNvPr id="452" name="Google Shape;452;p69"/>
          <p:cNvSpPr/>
          <p:nvPr/>
        </p:nvSpPr>
        <p:spPr>
          <a:xfrm>
            <a:off x="1414839" y="4444063"/>
            <a:ext cx="1511221" cy="1805853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J2EE 1.2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EJB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Servlet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JSP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JMS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JavaMail</a:t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3" name="Google Shape;453;p69"/>
          <p:cNvSpPr/>
          <p:nvPr/>
        </p:nvSpPr>
        <p:spPr>
          <a:xfrm>
            <a:off x="2926060" y="3789040"/>
            <a:ext cx="3168351" cy="2460876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J2EE 1.3</a:t>
            </a:r>
            <a:endParaRPr b="1"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EJB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Local EJBs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abs CMP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MDB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Connectors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JAAS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Servlet 2.3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Events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Filters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JSP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XML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JXAP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Connectors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JAAS</a:t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4" name="Google Shape;454;p69"/>
          <p:cNvSpPr/>
          <p:nvPr/>
        </p:nvSpPr>
        <p:spPr>
          <a:xfrm>
            <a:off x="6094411" y="2932327"/>
            <a:ext cx="2237049" cy="3336210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J2EE1.4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EJB 2.1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timers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pluggable JMS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 Services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Basic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SOAP/HTTP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Registry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JMX Mgmt</a:t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J2EE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Deployment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JACC</a:t>
            </a:r>
            <a:endParaRPr/>
          </a:p>
        </p:txBody>
      </p:sp>
      <p:sp>
        <p:nvSpPr>
          <p:cNvPr id="455" name="Google Shape;455;p69"/>
          <p:cNvSpPr/>
          <p:nvPr/>
        </p:nvSpPr>
        <p:spPr>
          <a:xfrm>
            <a:off x="8339566" y="2132856"/>
            <a:ext cx="2813828" cy="4117060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Java EE 5</a:t>
            </a:r>
            <a:endParaRPr b="1"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EJB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POJO components POJO persistence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 Services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POJO components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Protocol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independence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JAXB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StAX</a:t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JSF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JSP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Com mom 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Annotation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loc</a:t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6" name="Google Shape;456;p69"/>
          <p:cNvSpPr/>
          <p:nvPr/>
        </p:nvSpPr>
        <p:spPr>
          <a:xfrm rot="-1029259">
            <a:off x="-108676" y="2924643"/>
            <a:ext cx="10657870" cy="20853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99F1B"/>
          </a:solidFill>
          <a:ln cap="flat" cmpd="sng" w="25400">
            <a:solidFill>
              <a:srgbClr val="F99F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7" name="Google Shape;457;p69"/>
          <p:cNvSpPr txBox="1"/>
          <p:nvPr/>
        </p:nvSpPr>
        <p:spPr>
          <a:xfrm>
            <a:off x="385428" y="3822054"/>
            <a:ext cx="770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1998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8" name="Google Shape;458;p69"/>
          <p:cNvSpPr txBox="1"/>
          <p:nvPr/>
        </p:nvSpPr>
        <p:spPr>
          <a:xfrm>
            <a:off x="1784996" y="3419708"/>
            <a:ext cx="770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2000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9" name="Google Shape;459;p69"/>
          <p:cNvSpPr txBox="1"/>
          <p:nvPr/>
        </p:nvSpPr>
        <p:spPr>
          <a:xfrm>
            <a:off x="4124782" y="2562995"/>
            <a:ext cx="770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2001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60" name="Google Shape;460;p69"/>
          <p:cNvSpPr txBox="1"/>
          <p:nvPr/>
        </p:nvSpPr>
        <p:spPr>
          <a:xfrm>
            <a:off x="6827482" y="1781375"/>
            <a:ext cx="770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2003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61" name="Google Shape;461;p69"/>
          <p:cNvSpPr txBox="1"/>
          <p:nvPr/>
        </p:nvSpPr>
        <p:spPr>
          <a:xfrm>
            <a:off x="9190756" y="1222920"/>
            <a:ext cx="770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2006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62" name="Google Shape;462;p69"/>
          <p:cNvSpPr txBox="1"/>
          <p:nvPr/>
        </p:nvSpPr>
        <p:spPr>
          <a:xfrm>
            <a:off x="2433777" y="2224549"/>
            <a:ext cx="770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BPEL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63" name="Google Shape;463;p69"/>
          <p:cNvSpPr txBox="1"/>
          <p:nvPr/>
        </p:nvSpPr>
        <p:spPr>
          <a:xfrm>
            <a:off x="4630299" y="2039883"/>
            <a:ext cx="15686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Portlets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64" name="Google Shape;464;p69"/>
          <p:cNvSpPr txBox="1"/>
          <p:nvPr/>
        </p:nvSpPr>
        <p:spPr>
          <a:xfrm>
            <a:off x="3291337" y="1763370"/>
            <a:ext cx="15686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Hibermate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65" name="Google Shape;465;p69"/>
          <p:cNvSpPr txBox="1"/>
          <p:nvPr/>
        </p:nvSpPr>
        <p:spPr>
          <a:xfrm>
            <a:off x="5672004" y="1592252"/>
            <a:ext cx="15686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SDO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66" name="Google Shape;466;p69"/>
          <p:cNvSpPr txBox="1"/>
          <p:nvPr/>
        </p:nvSpPr>
        <p:spPr>
          <a:xfrm>
            <a:off x="6608705" y="1172865"/>
            <a:ext cx="15686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Spring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67" name="Google Shape;467;p69"/>
          <p:cNvSpPr txBox="1"/>
          <p:nvPr/>
        </p:nvSpPr>
        <p:spPr>
          <a:xfrm>
            <a:off x="7999622" y="999068"/>
            <a:ext cx="15686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SCA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0"/>
          <p:cNvSpPr/>
          <p:nvPr/>
        </p:nvSpPr>
        <p:spPr>
          <a:xfrm>
            <a:off x="1197868" y="515034"/>
            <a:ext cx="514916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Enterprise Computing</a:t>
            </a:r>
            <a:endParaRPr b="1" sz="40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473" name="Google Shape;473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55294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474" name="Google Shape;474;p70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5" name="Google Shape;475;p70"/>
          <p:cNvSpPr txBox="1"/>
          <p:nvPr>
            <p:ph type="title"/>
          </p:nvPr>
        </p:nvSpPr>
        <p:spPr>
          <a:xfrm>
            <a:off x="1125860" y="-23446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 to Java EE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6" name="Google Shape;476;p70"/>
          <p:cNvSpPr txBox="1"/>
          <p:nvPr>
            <p:ph idx="1" type="body"/>
          </p:nvPr>
        </p:nvSpPr>
        <p:spPr>
          <a:xfrm>
            <a:off x="0" y="1083382"/>
            <a:ext cx="10181188" cy="668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None/>
            </a:pPr>
            <a:r>
              <a:rPr lang="en-US" sz="2400">
                <a:solidFill>
                  <a:srgbClr val="610786"/>
                </a:solidFill>
              </a:rPr>
              <a:t>Let us take a look at the enterprise Computing of Java EE </a:t>
            </a:r>
            <a:endParaRPr sz="2400">
              <a:solidFill>
                <a:srgbClr val="610786"/>
              </a:solidFill>
            </a:endParaRPr>
          </a:p>
        </p:txBody>
      </p:sp>
      <p:sp>
        <p:nvSpPr>
          <p:cNvPr id="477" name="Google Shape;477;p70"/>
          <p:cNvSpPr/>
          <p:nvPr/>
        </p:nvSpPr>
        <p:spPr>
          <a:xfrm>
            <a:off x="85700" y="1718990"/>
            <a:ext cx="2448272" cy="648072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Challanges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8" name="Google Shape;478;p70"/>
          <p:cNvSpPr/>
          <p:nvPr/>
        </p:nvSpPr>
        <p:spPr>
          <a:xfrm>
            <a:off x="2894364" y="1718990"/>
            <a:ext cx="2448272" cy="648072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Key Technologies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9" name="Google Shape;479;p70"/>
          <p:cNvSpPr/>
          <p:nvPr/>
        </p:nvSpPr>
        <p:spPr>
          <a:xfrm>
            <a:off x="5703028" y="1718990"/>
            <a:ext cx="2448272" cy="648072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Products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80" name="Google Shape;480;p70"/>
          <p:cNvSpPr/>
          <p:nvPr/>
        </p:nvSpPr>
        <p:spPr>
          <a:xfrm>
            <a:off x="8511691" y="1718990"/>
            <a:ext cx="2448272" cy="648072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Legacy Systems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81" name="Google Shape;481;p70"/>
          <p:cNvSpPr/>
          <p:nvPr/>
        </p:nvSpPr>
        <p:spPr>
          <a:xfrm>
            <a:off x="85700" y="2708920"/>
            <a:ext cx="2448272" cy="2664296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Portability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Diverse Environments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Time-to-market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   Competence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Assembly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    Integration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82" name="Google Shape;482;p70"/>
          <p:cNvSpPr/>
          <p:nvPr/>
        </p:nvSpPr>
        <p:spPr>
          <a:xfrm>
            <a:off x="2894364" y="2708920"/>
            <a:ext cx="2448272" cy="2664296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J2SE™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J2EE™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JMS Servlet,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JSP Connector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XML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Data Binding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XSLT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83" name="Google Shape;483;p70"/>
          <p:cNvSpPr/>
          <p:nvPr/>
        </p:nvSpPr>
        <p:spPr>
          <a:xfrm>
            <a:off x="5703028" y="2708920"/>
            <a:ext cx="2448272" cy="2664296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App Servers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 Servers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Components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Databases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Object to DB tools</a:t>
            </a:r>
            <a:endParaRPr/>
          </a:p>
        </p:txBody>
      </p:sp>
      <p:sp>
        <p:nvSpPr>
          <p:cNvPr id="484" name="Google Shape;484;p70"/>
          <p:cNvSpPr/>
          <p:nvPr/>
        </p:nvSpPr>
        <p:spPr>
          <a:xfrm>
            <a:off x="8511691" y="2708920"/>
            <a:ext cx="2448272" cy="2664296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Databases 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TP Monitors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EIS Systems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1"/>
          <p:cNvSpPr/>
          <p:nvPr/>
        </p:nvSpPr>
        <p:spPr>
          <a:xfrm>
            <a:off x="1197867" y="515033"/>
            <a:ext cx="39292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The Java Platform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490" name="Google Shape;49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55294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491" name="Google Shape;491;p71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92" name="Google Shape;492;p71"/>
          <p:cNvSpPr txBox="1"/>
          <p:nvPr>
            <p:ph type="title"/>
          </p:nvPr>
        </p:nvSpPr>
        <p:spPr>
          <a:xfrm>
            <a:off x="1125860" y="-23446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 to Java EE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93" name="Google Shape;493;p71"/>
          <p:cNvSpPr txBox="1"/>
          <p:nvPr>
            <p:ph idx="1" type="body"/>
          </p:nvPr>
        </p:nvSpPr>
        <p:spPr>
          <a:xfrm>
            <a:off x="0" y="1083382"/>
            <a:ext cx="10181188" cy="126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None/>
            </a:pPr>
            <a:r>
              <a:rPr lang="en-US" sz="2400">
                <a:solidFill>
                  <a:srgbClr val="610786"/>
                </a:solidFill>
              </a:rPr>
              <a:t>Java platform consists of three levels of APIs &amp; technologies such as Java Micro Edition, Java Standard Edition, and Java Enterprise Edition. Let us learn about each of them in detail.</a:t>
            </a:r>
            <a:endParaRPr sz="2400">
              <a:solidFill>
                <a:srgbClr val="610786"/>
              </a:solidFill>
            </a:endParaRPr>
          </a:p>
        </p:txBody>
      </p:sp>
      <p:sp>
        <p:nvSpPr>
          <p:cNvPr descr="http://www.iconarchive.com/download/i76288/wallpaperfx/3d-bluefx-desktop/Monitor.ico" id="494" name="Google Shape;494;p7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http://www.iconarchive.com/download/i76288/wallpaperfx/3d-bluefx-desktop/Monitor.ico" id="495" name="Google Shape;495;p71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496" name="Google Shape;496;p71"/>
          <p:cNvGrpSpPr/>
          <p:nvPr/>
        </p:nvGrpSpPr>
        <p:grpSpPr>
          <a:xfrm>
            <a:off x="460375" y="2242182"/>
            <a:ext cx="10314557" cy="3563082"/>
            <a:chOff x="460375" y="2242182"/>
            <a:chExt cx="9399473" cy="3563082"/>
          </a:xfrm>
        </p:grpSpPr>
        <p:cxnSp>
          <p:nvCxnSpPr>
            <p:cNvPr id="497" name="Google Shape;497;p71"/>
            <p:cNvCxnSpPr/>
            <p:nvPr/>
          </p:nvCxnSpPr>
          <p:spPr>
            <a:xfrm>
              <a:off x="8419848" y="3429000"/>
              <a:ext cx="0" cy="1728192"/>
            </a:xfrm>
            <a:prstGeom prst="straightConnector1">
              <a:avLst/>
            </a:prstGeom>
            <a:noFill/>
            <a:ln cap="flat" cmpd="sng" w="38100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8" name="Google Shape;498;p71"/>
            <p:cNvCxnSpPr/>
            <p:nvPr/>
          </p:nvCxnSpPr>
          <p:spPr>
            <a:xfrm>
              <a:off x="6094412" y="3675070"/>
              <a:ext cx="23853" cy="1482121"/>
            </a:xfrm>
            <a:prstGeom prst="straightConnector1">
              <a:avLst/>
            </a:prstGeom>
            <a:noFill/>
            <a:ln cap="flat" cmpd="sng" w="38100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9" name="Google Shape;499;p71"/>
            <p:cNvCxnSpPr>
              <a:stCxn id="500" idx="2"/>
            </p:cNvCxnSpPr>
            <p:nvPr/>
          </p:nvCxnSpPr>
          <p:spPr>
            <a:xfrm>
              <a:off x="4296850" y="3675071"/>
              <a:ext cx="24000" cy="1482000"/>
            </a:xfrm>
            <a:prstGeom prst="straightConnector1">
              <a:avLst/>
            </a:prstGeom>
            <a:noFill/>
            <a:ln cap="flat" cmpd="sng" w="38100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1" name="Google Shape;501;p71"/>
            <p:cNvCxnSpPr>
              <a:stCxn id="502" idx="2"/>
              <a:endCxn id="503" idx="0"/>
            </p:cNvCxnSpPr>
            <p:nvPr/>
          </p:nvCxnSpPr>
          <p:spPr>
            <a:xfrm>
              <a:off x="1902134" y="3796466"/>
              <a:ext cx="0" cy="1360800"/>
            </a:xfrm>
            <a:prstGeom prst="straightConnector1">
              <a:avLst/>
            </a:prstGeom>
            <a:noFill/>
            <a:ln cap="flat" cmpd="sng" w="38100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03" name="Google Shape;503;p71"/>
            <p:cNvSpPr/>
            <p:nvPr/>
          </p:nvSpPr>
          <p:spPr>
            <a:xfrm>
              <a:off x="462134" y="5157192"/>
              <a:ext cx="2880000" cy="648072"/>
            </a:xfrm>
            <a:prstGeom prst="roundRect">
              <a:avLst>
                <a:gd fmla="val 16667" name="adj"/>
              </a:avLst>
            </a:prstGeom>
            <a:solidFill>
              <a:srgbClr val="8A4CA6"/>
            </a:solidFill>
            <a:ln>
              <a:noFill/>
            </a:ln>
            <a:effectLst>
              <a:reflection blurRad="0" dir="0" dist="0" endA="0" endPos="22000" kx="0" rotWithShape="0" algn="bl" stA="45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Java Micro Edition</a:t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04" name="Google Shape;504;p71"/>
            <p:cNvSpPr/>
            <p:nvPr/>
          </p:nvSpPr>
          <p:spPr>
            <a:xfrm>
              <a:off x="3720991" y="5157192"/>
              <a:ext cx="2880000" cy="648072"/>
            </a:xfrm>
            <a:prstGeom prst="roundRect">
              <a:avLst>
                <a:gd fmla="val 16667" name="adj"/>
              </a:avLst>
            </a:prstGeom>
            <a:solidFill>
              <a:srgbClr val="8A4CA6"/>
            </a:solidFill>
            <a:ln>
              <a:noFill/>
            </a:ln>
            <a:effectLst>
              <a:reflection blurRad="0" dir="0" dist="0" endA="0" endPos="22000" kx="0" rotWithShape="0" algn="bl" stA="45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Java Standard Edition</a:t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05" name="Google Shape;505;p71"/>
            <p:cNvSpPr/>
            <p:nvPr/>
          </p:nvSpPr>
          <p:spPr>
            <a:xfrm>
              <a:off x="6979848" y="5157192"/>
              <a:ext cx="2880000" cy="648072"/>
            </a:xfrm>
            <a:prstGeom prst="roundRect">
              <a:avLst>
                <a:gd fmla="val 16667" name="adj"/>
              </a:avLst>
            </a:prstGeom>
            <a:solidFill>
              <a:srgbClr val="8A4CA6"/>
            </a:solidFill>
            <a:ln>
              <a:noFill/>
            </a:ln>
            <a:effectLst>
              <a:reflection blurRad="0" dir="0" dist="0" endA="0" endPos="22000" kx="0" rotWithShape="0" algn="bl" stA="45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Java Enterprise Edition</a:t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06" name="Google Shape;506;p71"/>
            <p:cNvSpPr/>
            <p:nvPr/>
          </p:nvSpPr>
          <p:spPr>
            <a:xfrm>
              <a:off x="460375" y="4171688"/>
              <a:ext cx="2946952" cy="648072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  <a:effectLst>
              <a:reflection blurRad="0" dir="0" dist="0" endA="0" endPos="22000" kx="0" rotWithShape="0" algn="bl" stA="45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Java Technology Enabled Devices</a:t>
              </a:r>
              <a:endParaRPr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07" name="Google Shape;507;p71"/>
            <p:cNvSpPr/>
            <p:nvPr/>
          </p:nvSpPr>
          <p:spPr>
            <a:xfrm>
              <a:off x="3307790" y="4183077"/>
              <a:ext cx="2570597" cy="625294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  <a:effectLst>
              <a:reflection blurRad="0" dir="0" dist="0" endA="0" endPos="22000" kx="0" rotWithShape="0" algn="bl" stA="45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Java Technology Enabled Desktop</a:t>
              </a:r>
              <a:endParaRPr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08" name="Google Shape;508;p71"/>
            <p:cNvSpPr/>
            <p:nvPr/>
          </p:nvSpPr>
          <p:spPr>
            <a:xfrm>
              <a:off x="5584519" y="4171688"/>
              <a:ext cx="1644016" cy="648072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  <a:effectLst>
              <a:reflection blurRad="0" dir="0" dist="0" endA="0" endPos="22000" kx="0" rotWithShape="0" algn="bl" stA="45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Workgroup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Server</a:t>
              </a:r>
              <a:endParaRPr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pic>
          <p:nvPicPr>
            <p:cNvPr descr="https://openclipart.org/image/2400px/svg_to_png/227433/desktop-tablet-mobile.png" id="500" name="Google Shape;500;p71"/>
            <p:cNvPicPr preferRelativeResize="0"/>
            <p:nvPr/>
          </p:nvPicPr>
          <p:blipFill rotWithShape="1">
            <a:blip r:embed="rId5">
              <a:alphaModFix/>
            </a:blip>
            <a:srcRect b="-1549" l="32556" r="0" t="0"/>
            <a:stretch/>
          </p:blipFill>
          <p:spPr>
            <a:xfrm>
              <a:off x="3595447" y="2492244"/>
              <a:ext cx="1402805" cy="11828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s://cdn2.iconfinder.com/data/icons/modern-future-technology-2/128/database-128.png" id="509" name="Google Shape;509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10248" y="2409724"/>
              <a:ext cx="1219200" cy="1219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://www.smartnest-backup.com/static/img/pictos/server.png" id="510" name="Google Shape;510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741870" y="2334901"/>
              <a:ext cx="1130240" cy="13688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s://upload.wikimedia.org/wikipedia/commons/thumb/a/ae/Cellphone-circular-button.svg/2000px-Cellphone-circular-button.svg.png" id="502" name="Google Shape;502;p7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24992" y="2242182"/>
              <a:ext cx="1554284" cy="1554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71"/>
            <p:cNvSpPr/>
            <p:nvPr/>
          </p:nvSpPr>
          <p:spPr>
            <a:xfrm>
              <a:off x="6979848" y="4171688"/>
              <a:ext cx="2880000" cy="648072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  <a:effectLst>
              <a:reflection blurRad="0" dir="0" dist="0" endA="0" endPos="22000" kx="0" rotWithShape="0" algn="bl" stA="45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Hight-End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Server</a:t>
              </a:r>
              <a:endParaRPr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2"/>
          <p:cNvSpPr txBox="1"/>
          <p:nvPr>
            <p:ph idx="1" type="body"/>
          </p:nvPr>
        </p:nvSpPr>
        <p:spPr>
          <a:xfrm>
            <a:off x="316639" y="1791040"/>
            <a:ext cx="10181188" cy="488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600"/>
              <a:buChar char="•"/>
            </a:pPr>
            <a:r>
              <a:rPr lang="en-US" sz="3600">
                <a:solidFill>
                  <a:srgbClr val="610786"/>
                </a:solidFill>
              </a:rPr>
              <a:t>Use "component and container" model in which container provides system services in a well-defined and as industry standard.</a:t>
            </a:r>
            <a:endParaRPr/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F99F1B"/>
              </a:buClr>
              <a:buSzPts val="3600"/>
              <a:buChar char="•"/>
            </a:pPr>
            <a:r>
              <a:rPr lang="en-US" sz="3600">
                <a:solidFill>
                  <a:srgbClr val="610786"/>
                </a:solidFill>
              </a:rPr>
              <a:t>Java EE is a standard that provides portability of code, because it is based on Java technology and standard-based Java programming APIs.</a:t>
            </a:r>
            <a:endParaRPr/>
          </a:p>
        </p:txBody>
      </p:sp>
      <p:sp>
        <p:nvSpPr>
          <p:cNvPr id="517" name="Google Shape;517;p72"/>
          <p:cNvSpPr/>
          <p:nvPr/>
        </p:nvSpPr>
        <p:spPr>
          <a:xfrm>
            <a:off x="297196" y="868977"/>
            <a:ext cx="614944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Open &amp; Standard Solution</a:t>
            </a:r>
            <a:endParaRPr b="1" sz="40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518" name="Google Shape;518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7827" y="5558333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519" name="Google Shape;519;p72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20" name="Google Shape;520;p72"/>
          <p:cNvSpPr txBox="1"/>
          <p:nvPr>
            <p:ph type="title"/>
          </p:nvPr>
        </p:nvSpPr>
        <p:spPr>
          <a:xfrm>
            <a:off x="261764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 to Java EE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3"/>
          <p:cNvSpPr/>
          <p:nvPr/>
        </p:nvSpPr>
        <p:spPr>
          <a:xfrm>
            <a:off x="1431024" y="496864"/>
            <a:ext cx="54601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Java EE Classic Architecture</a:t>
            </a:r>
            <a:endParaRPr b="1" sz="32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526" name="Google Shape;526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551" y="0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527" name="Google Shape;527;p73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28" name="Google Shape;528;p73"/>
          <p:cNvSpPr txBox="1"/>
          <p:nvPr>
            <p:ph type="title"/>
          </p:nvPr>
        </p:nvSpPr>
        <p:spPr>
          <a:xfrm>
            <a:off x="1322966" y="-149063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 to Java EE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29" name="Google Shape;529;p73"/>
          <p:cNvSpPr txBox="1"/>
          <p:nvPr>
            <p:ph idx="1" type="body"/>
          </p:nvPr>
        </p:nvSpPr>
        <p:spPr>
          <a:xfrm>
            <a:off x="236941" y="1078859"/>
            <a:ext cx="10969943" cy="357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1800"/>
              <a:buNone/>
            </a:pPr>
            <a:r>
              <a:rPr lang="en-US" sz="1800">
                <a:solidFill>
                  <a:srgbClr val="610786"/>
                </a:solidFill>
              </a:rPr>
              <a:t>The figure illustrates the availability of the J2EE 14 platform APIs in each Java EE container type.</a:t>
            </a:r>
            <a:endParaRPr/>
          </a:p>
        </p:txBody>
      </p:sp>
      <p:grpSp>
        <p:nvGrpSpPr>
          <p:cNvPr id="530" name="Google Shape;530;p73"/>
          <p:cNvGrpSpPr/>
          <p:nvPr/>
        </p:nvGrpSpPr>
        <p:grpSpPr>
          <a:xfrm>
            <a:off x="285991" y="3342504"/>
            <a:ext cx="2875317" cy="3524406"/>
            <a:chOff x="432427" y="3333719"/>
            <a:chExt cx="2959736" cy="2928419"/>
          </a:xfrm>
        </p:grpSpPr>
        <p:grpSp>
          <p:nvGrpSpPr>
            <p:cNvPr id="531" name="Google Shape;531;p73"/>
            <p:cNvGrpSpPr/>
            <p:nvPr/>
          </p:nvGrpSpPr>
          <p:grpSpPr>
            <a:xfrm>
              <a:off x="432427" y="3333719"/>
              <a:ext cx="2959736" cy="2928419"/>
              <a:chOff x="-672220" y="3377743"/>
              <a:chExt cx="2959736" cy="2928419"/>
            </a:xfrm>
          </p:grpSpPr>
          <p:grpSp>
            <p:nvGrpSpPr>
              <p:cNvPr id="532" name="Google Shape;532;p73"/>
              <p:cNvGrpSpPr/>
              <p:nvPr/>
            </p:nvGrpSpPr>
            <p:grpSpPr>
              <a:xfrm>
                <a:off x="-672220" y="3377743"/>
                <a:ext cx="2959736" cy="2928419"/>
                <a:chOff x="2230595" y="2617437"/>
                <a:chExt cx="2959736" cy="2928419"/>
              </a:xfrm>
            </p:grpSpPr>
            <p:sp>
              <p:nvSpPr>
                <p:cNvPr id="533" name="Google Shape;533;p73"/>
                <p:cNvSpPr/>
                <p:nvPr/>
              </p:nvSpPr>
              <p:spPr>
                <a:xfrm>
                  <a:off x="2230595" y="2617437"/>
                  <a:ext cx="2959736" cy="2928419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8A4CA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34" name="Google Shape;534;p73"/>
                <p:cNvSpPr/>
                <p:nvPr/>
              </p:nvSpPr>
              <p:spPr>
                <a:xfrm rot="5400000">
                  <a:off x="3208283" y="4186300"/>
                  <a:ext cx="1004360" cy="309562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JMS</a:t>
                  </a:r>
                  <a:endParaRPr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35" name="Google Shape;535;p73"/>
                <p:cNvSpPr/>
                <p:nvPr/>
              </p:nvSpPr>
              <p:spPr>
                <a:xfrm rot="5400000">
                  <a:off x="3517845" y="4186300"/>
                  <a:ext cx="1004360" cy="309562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Web Srvcs</a:t>
                  </a:r>
                  <a:endParaRPr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36" name="Google Shape;536;p73"/>
                <p:cNvSpPr/>
                <p:nvPr/>
              </p:nvSpPr>
              <p:spPr>
                <a:xfrm>
                  <a:off x="4174805" y="3838901"/>
                  <a:ext cx="931107" cy="502180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Mgmt</a:t>
                  </a:r>
                  <a:endParaRPr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37" name="Google Shape;537;p73"/>
                <p:cNvSpPr/>
                <p:nvPr/>
              </p:nvSpPr>
              <p:spPr>
                <a:xfrm>
                  <a:off x="4174805" y="4384004"/>
                  <a:ext cx="931107" cy="459257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JMX</a:t>
                  </a:r>
                  <a:endParaRPr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38" name="Google Shape;538;p73"/>
                <p:cNvSpPr/>
                <p:nvPr/>
              </p:nvSpPr>
              <p:spPr>
                <a:xfrm rot="5400000">
                  <a:off x="2907066" y="4186300"/>
                  <a:ext cx="1004360" cy="309562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JAXR</a:t>
                  </a:r>
                  <a:endParaRPr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</p:grpSp>
          <p:grpSp>
            <p:nvGrpSpPr>
              <p:cNvPr id="539" name="Google Shape;539;p73"/>
              <p:cNvGrpSpPr/>
              <p:nvPr/>
            </p:nvGrpSpPr>
            <p:grpSpPr>
              <a:xfrm>
                <a:off x="-579457" y="4599206"/>
                <a:ext cx="931107" cy="1004360"/>
                <a:chOff x="-579457" y="4599206"/>
                <a:chExt cx="931107" cy="1004360"/>
              </a:xfrm>
            </p:grpSpPr>
            <p:sp>
              <p:nvSpPr>
                <p:cNvPr id="540" name="Google Shape;540;p73"/>
                <p:cNvSpPr/>
                <p:nvPr/>
              </p:nvSpPr>
              <p:spPr>
                <a:xfrm>
                  <a:off x="-579457" y="4599206"/>
                  <a:ext cx="931107" cy="502180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JAX-RPC</a:t>
                  </a:r>
                  <a:endParaRPr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541" name="Google Shape;541;p73"/>
                <p:cNvSpPr/>
                <p:nvPr/>
              </p:nvSpPr>
              <p:spPr>
                <a:xfrm>
                  <a:off x="-579457" y="5144309"/>
                  <a:ext cx="931107" cy="459257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SAAJ</a:t>
                  </a:r>
                  <a:endParaRPr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</p:grpSp>
        </p:grpSp>
        <p:sp>
          <p:nvSpPr>
            <p:cNvPr id="542" name="Google Shape;542;p73"/>
            <p:cNvSpPr/>
            <p:nvPr/>
          </p:nvSpPr>
          <p:spPr>
            <a:xfrm>
              <a:off x="1462296" y="5656061"/>
              <a:ext cx="936104" cy="359220"/>
            </a:xfrm>
            <a:prstGeom prst="roundRect">
              <a:avLst>
                <a:gd fmla="val 16667" name="adj"/>
              </a:avLst>
            </a:prstGeom>
            <a:solidFill>
              <a:srgbClr val="610786"/>
            </a:solidFill>
            <a:ln cap="flat" cmpd="sng" w="25400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J2SE</a:t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43" name="Google Shape;543;p73"/>
            <p:cNvSpPr/>
            <p:nvPr/>
          </p:nvSpPr>
          <p:spPr>
            <a:xfrm>
              <a:off x="1213537" y="3836171"/>
              <a:ext cx="1397516" cy="647252"/>
            </a:xfrm>
            <a:prstGeom prst="roundRect">
              <a:avLst>
                <a:gd fmla="val 50000" name="adj"/>
              </a:avLst>
            </a:prstGeom>
            <a:solidFill>
              <a:srgbClr val="610786"/>
            </a:solidFill>
            <a:ln cap="flat" cmpd="sng" w="25400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Application Client</a:t>
              </a:r>
              <a:endParaRPr sz="1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44" name="Google Shape;544;p73"/>
            <p:cNvSpPr/>
            <p:nvPr/>
          </p:nvSpPr>
          <p:spPr>
            <a:xfrm>
              <a:off x="888154" y="3333719"/>
              <a:ext cx="2090964" cy="537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Application Client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Container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545" name="Google Shape;545;p73"/>
          <p:cNvGrpSpPr/>
          <p:nvPr/>
        </p:nvGrpSpPr>
        <p:grpSpPr>
          <a:xfrm>
            <a:off x="285991" y="1518036"/>
            <a:ext cx="2073950" cy="1692483"/>
            <a:chOff x="914676" y="3059884"/>
            <a:chExt cx="2073950" cy="2839792"/>
          </a:xfrm>
        </p:grpSpPr>
        <p:sp>
          <p:nvSpPr>
            <p:cNvPr id="546" name="Google Shape;546;p73"/>
            <p:cNvSpPr/>
            <p:nvPr/>
          </p:nvSpPr>
          <p:spPr>
            <a:xfrm>
              <a:off x="914676" y="3059884"/>
              <a:ext cx="2073950" cy="2839792"/>
            </a:xfrm>
            <a:prstGeom prst="roundRect">
              <a:avLst>
                <a:gd fmla="val 16667" name="adj"/>
              </a:avLst>
            </a:prstGeom>
            <a:solidFill>
              <a:srgbClr val="8A4C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47" name="Google Shape;547;p73"/>
            <p:cNvSpPr/>
            <p:nvPr/>
          </p:nvSpPr>
          <p:spPr>
            <a:xfrm>
              <a:off x="1382307" y="5129087"/>
              <a:ext cx="1058097" cy="574608"/>
            </a:xfrm>
            <a:prstGeom prst="roundRect">
              <a:avLst>
                <a:gd fmla="val 16667" name="adj"/>
              </a:avLst>
            </a:prstGeom>
            <a:solidFill>
              <a:srgbClr val="610786"/>
            </a:solidFill>
            <a:ln cap="flat" cmpd="sng" w="25400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J2SE</a:t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48" name="Google Shape;548;p73"/>
            <p:cNvSpPr/>
            <p:nvPr/>
          </p:nvSpPr>
          <p:spPr>
            <a:xfrm>
              <a:off x="1213537" y="4232857"/>
              <a:ext cx="1397516" cy="793374"/>
            </a:xfrm>
            <a:prstGeom prst="roundRect">
              <a:avLst>
                <a:gd fmla="val 50000" name="adj"/>
              </a:avLst>
            </a:prstGeom>
            <a:solidFill>
              <a:srgbClr val="610786"/>
            </a:solidFill>
            <a:ln cap="flat" cmpd="sng" w="25400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Applet</a:t>
              </a:r>
              <a:endPara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49" name="Google Shape;549;p73"/>
            <p:cNvSpPr/>
            <p:nvPr/>
          </p:nvSpPr>
          <p:spPr>
            <a:xfrm>
              <a:off x="1341166" y="3168350"/>
              <a:ext cx="1184940" cy="10844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Applet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Container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550" name="Google Shape;550;p73"/>
          <p:cNvGrpSpPr/>
          <p:nvPr/>
        </p:nvGrpSpPr>
        <p:grpSpPr>
          <a:xfrm>
            <a:off x="3502124" y="1582680"/>
            <a:ext cx="3851273" cy="3297818"/>
            <a:chOff x="3646141" y="1906676"/>
            <a:chExt cx="4896544" cy="2746461"/>
          </a:xfrm>
        </p:grpSpPr>
        <p:grpSp>
          <p:nvGrpSpPr>
            <p:cNvPr id="551" name="Google Shape;551;p73"/>
            <p:cNvGrpSpPr/>
            <p:nvPr/>
          </p:nvGrpSpPr>
          <p:grpSpPr>
            <a:xfrm>
              <a:off x="3646141" y="1906676"/>
              <a:ext cx="4896544" cy="2746461"/>
              <a:chOff x="432428" y="3356196"/>
              <a:chExt cx="4896544" cy="2746461"/>
            </a:xfrm>
          </p:grpSpPr>
          <p:grpSp>
            <p:nvGrpSpPr>
              <p:cNvPr id="552" name="Google Shape;552;p73"/>
              <p:cNvGrpSpPr/>
              <p:nvPr/>
            </p:nvGrpSpPr>
            <p:grpSpPr>
              <a:xfrm>
                <a:off x="432428" y="3356196"/>
                <a:ext cx="4896544" cy="2746461"/>
                <a:chOff x="-672219" y="3400220"/>
                <a:chExt cx="4896544" cy="2746461"/>
              </a:xfrm>
            </p:grpSpPr>
            <p:grpSp>
              <p:nvGrpSpPr>
                <p:cNvPr id="553" name="Google Shape;553;p73"/>
                <p:cNvGrpSpPr/>
                <p:nvPr/>
              </p:nvGrpSpPr>
              <p:grpSpPr>
                <a:xfrm>
                  <a:off x="-672219" y="3400220"/>
                  <a:ext cx="4896544" cy="2746461"/>
                  <a:chOff x="2230596" y="2639914"/>
                  <a:chExt cx="4896544" cy="2746461"/>
                </a:xfrm>
              </p:grpSpPr>
              <p:sp>
                <p:nvSpPr>
                  <p:cNvPr id="554" name="Google Shape;554;p73"/>
                  <p:cNvSpPr/>
                  <p:nvPr/>
                </p:nvSpPr>
                <p:spPr>
                  <a:xfrm>
                    <a:off x="2230596" y="2639914"/>
                    <a:ext cx="4896544" cy="2746461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rgbClr val="8A4CA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555" name="Google Shape;555;p73"/>
                  <p:cNvSpPr/>
                  <p:nvPr/>
                </p:nvSpPr>
                <p:spPr>
                  <a:xfrm rot="5400000">
                    <a:off x="3208283" y="4186300"/>
                    <a:ext cx="1004360" cy="309562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JACC</a:t>
                    </a:r>
                    <a:endParaRPr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556" name="Google Shape;556;p73"/>
                  <p:cNvSpPr/>
                  <p:nvPr/>
                </p:nvSpPr>
                <p:spPr>
                  <a:xfrm rot="5400000">
                    <a:off x="3517845" y="4186300"/>
                    <a:ext cx="1004360" cy="309562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Web Srvcs</a:t>
                    </a:r>
                    <a:endParaRPr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557" name="Google Shape;557;p73"/>
                  <p:cNvSpPr/>
                  <p:nvPr/>
                </p:nvSpPr>
                <p:spPr>
                  <a:xfrm>
                    <a:off x="4174805" y="3838901"/>
                    <a:ext cx="931107" cy="502180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Mgmt</a:t>
                    </a:r>
                    <a:endParaRPr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558" name="Google Shape;558;p73"/>
                  <p:cNvSpPr/>
                  <p:nvPr/>
                </p:nvSpPr>
                <p:spPr>
                  <a:xfrm>
                    <a:off x="4174805" y="4384004"/>
                    <a:ext cx="931107" cy="459257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JMX</a:t>
                    </a:r>
                    <a:endParaRPr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559" name="Google Shape;559;p73"/>
                  <p:cNvSpPr/>
                  <p:nvPr/>
                </p:nvSpPr>
                <p:spPr>
                  <a:xfrm rot="5400000">
                    <a:off x="2907066" y="4186300"/>
                    <a:ext cx="1004360" cy="309562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JAXR</a:t>
                    </a:r>
                    <a:endParaRPr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  <p:grpSp>
              <p:nvGrpSpPr>
                <p:cNvPr id="560" name="Google Shape;560;p73"/>
                <p:cNvGrpSpPr/>
                <p:nvPr/>
              </p:nvGrpSpPr>
              <p:grpSpPr>
                <a:xfrm>
                  <a:off x="-579457" y="4599206"/>
                  <a:ext cx="931107" cy="1004360"/>
                  <a:chOff x="-579457" y="4599206"/>
                  <a:chExt cx="931107" cy="1004360"/>
                </a:xfrm>
              </p:grpSpPr>
              <p:sp>
                <p:nvSpPr>
                  <p:cNvPr id="561" name="Google Shape;561;p73"/>
                  <p:cNvSpPr/>
                  <p:nvPr/>
                </p:nvSpPr>
                <p:spPr>
                  <a:xfrm>
                    <a:off x="-579457" y="4599206"/>
                    <a:ext cx="931107" cy="502180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JAX-RPC</a:t>
                    </a:r>
                    <a:endParaRPr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562" name="Google Shape;562;p73"/>
                  <p:cNvSpPr/>
                  <p:nvPr/>
                </p:nvSpPr>
                <p:spPr>
                  <a:xfrm>
                    <a:off x="-579457" y="5144309"/>
                    <a:ext cx="931107" cy="459257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SAAJ</a:t>
                    </a:r>
                    <a:endParaRPr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</p:grpSp>
          <p:sp>
            <p:nvSpPr>
              <p:cNvPr id="563" name="Google Shape;563;p73"/>
              <p:cNvSpPr/>
              <p:nvPr/>
            </p:nvSpPr>
            <p:spPr>
              <a:xfrm>
                <a:off x="2278368" y="5640071"/>
                <a:ext cx="1204660" cy="294574"/>
              </a:xfrm>
              <a:prstGeom prst="roundRect">
                <a:avLst>
                  <a:gd fmla="val 16667" name="adj"/>
                </a:avLst>
              </a:prstGeom>
              <a:solidFill>
                <a:srgbClr val="610786"/>
              </a:solidFill>
              <a:ln cap="flat" cmpd="sng" w="25400">
                <a:solidFill>
                  <a:srgbClr val="F99F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J2SE</a:t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64" name="Google Shape;564;p73"/>
              <p:cNvSpPr/>
              <p:nvPr/>
            </p:nvSpPr>
            <p:spPr>
              <a:xfrm>
                <a:off x="1213537" y="3824751"/>
                <a:ext cx="1667968" cy="647252"/>
              </a:xfrm>
              <a:prstGeom prst="roundRect">
                <a:avLst>
                  <a:gd fmla="val 50000" name="adj"/>
                </a:avLst>
              </a:prstGeom>
              <a:solidFill>
                <a:srgbClr val="610786"/>
              </a:solidFill>
              <a:ln cap="flat" cmpd="sng" w="25400">
                <a:solidFill>
                  <a:srgbClr val="F99F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JSP</a:t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65" name="Google Shape;565;p73"/>
              <p:cNvSpPr/>
              <p:nvPr/>
            </p:nvSpPr>
            <p:spPr>
              <a:xfrm>
                <a:off x="990743" y="3466839"/>
                <a:ext cx="4106731" cy="307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Web Container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566" name="Google Shape;566;p73"/>
            <p:cNvGrpSpPr/>
            <p:nvPr/>
          </p:nvGrpSpPr>
          <p:grpSpPr>
            <a:xfrm>
              <a:off x="6287042" y="2384306"/>
              <a:ext cx="2106157" cy="1725718"/>
              <a:chOff x="6287042" y="2384306"/>
              <a:chExt cx="2106157" cy="1725718"/>
            </a:xfrm>
          </p:grpSpPr>
          <p:sp>
            <p:nvSpPr>
              <p:cNvPr id="567" name="Google Shape;567;p73"/>
              <p:cNvSpPr/>
              <p:nvPr/>
            </p:nvSpPr>
            <p:spPr>
              <a:xfrm rot="5400000">
                <a:off x="6174058" y="3453061"/>
                <a:ext cx="1004360" cy="309562"/>
              </a:xfrm>
              <a:prstGeom prst="rect">
                <a:avLst/>
              </a:prstGeom>
              <a:solidFill>
                <a:srgbClr val="610786"/>
              </a:solidFill>
              <a:ln cap="flat" cmpd="sng" w="25400">
                <a:solidFill>
                  <a:srgbClr val="FCC3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JAAS</a:t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68" name="Google Shape;568;p73"/>
              <p:cNvSpPr/>
              <p:nvPr/>
            </p:nvSpPr>
            <p:spPr>
              <a:xfrm rot="5400000">
                <a:off x="6483620" y="3453062"/>
                <a:ext cx="1004360" cy="309562"/>
              </a:xfrm>
              <a:prstGeom prst="rect">
                <a:avLst/>
              </a:prstGeom>
              <a:solidFill>
                <a:srgbClr val="610786"/>
              </a:solidFill>
              <a:ln cap="flat" cmpd="sng" w="25400">
                <a:solidFill>
                  <a:srgbClr val="FCC3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JAAS</a:t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69" name="Google Shape;569;p73"/>
              <p:cNvSpPr/>
              <p:nvPr/>
            </p:nvSpPr>
            <p:spPr>
              <a:xfrm rot="5400000">
                <a:off x="7736238" y="3453063"/>
                <a:ext cx="1004360" cy="309562"/>
              </a:xfrm>
              <a:prstGeom prst="rect">
                <a:avLst/>
              </a:prstGeom>
              <a:solidFill>
                <a:srgbClr val="610786"/>
              </a:solidFill>
              <a:ln cap="flat" cmpd="sng" w="25400">
                <a:solidFill>
                  <a:srgbClr val="FCC3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JAXP</a:t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70" name="Google Shape;570;p73"/>
              <p:cNvSpPr/>
              <p:nvPr/>
            </p:nvSpPr>
            <p:spPr>
              <a:xfrm>
                <a:off x="7152530" y="3105663"/>
                <a:ext cx="931107" cy="502180"/>
              </a:xfrm>
              <a:prstGeom prst="rect">
                <a:avLst/>
              </a:prstGeom>
              <a:solidFill>
                <a:srgbClr val="610786"/>
              </a:solidFill>
              <a:ln cap="flat" cmpd="sng" w="25400">
                <a:solidFill>
                  <a:srgbClr val="FCC3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JAVA Mail</a:t>
                </a:r>
                <a:endParaRPr sz="16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71" name="Google Shape;571;p73"/>
              <p:cNvSpPr/>
              <p:nvPr/>
            </p:nvSpPr>
            <p:spPr>
              <a:xfrm>
                <a:off x="7152530" y="3650766"/>
                <a:ext cx="931107" cy="459257"/>
              </a:xfrm>
              <a:prstGeom prst="rect">
                <a:avLst/>
              </a:prstGeom>
              <a:solidFill>
                <a:srgbClr val="610786"/>
              </a:solidFill>
              <a:ln cap="flat" cmpd="sng" w="25400">
                <a:solidFill>
                  <a:srgbClr val="FCC3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JAF</a:t>
                </a:r>
                <a:endParaRPr sz="16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72" name="Google Shape;572;p73"/>
              <p:cNvSpPr/>
              <p:nvPr/>
            </p:nvSpPr>
            <p:spPr>
              <a:xfrm>
                <a:off x="6287042" y="2384306"/>
                <a:ext cx="1667967" cy="647252"/>
              </a:xfrm>
              <a:prstGeom prst="roundRect">
                <a:avLst>
                  <a:gd fmla="val 50000" name="adj"/>
                </a:avLst>
              </a:prstGeom>
              <a:solidFill>
                <a:srgbClr val="610786"/>
              </a:solidFill>
              <a:ln cap="flat" cmpd="sng" w="25400">
                <a:solidFill>
                  <a:srgbClr val="F99F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Servlet</a:t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sp>
        <p:nvSpPr>
          <p:cNvPr id="573" name="Google Shape;573;p73"/>
          <p:cNvSpPr/>
          <p:nvPr/>
        </p:nvSpPr>
        <p:spPr>
          <a:xfrm>
            <a:off x="9679315" y="5656101"/>
            <a:ext cx="1773735" cy="832567"/>
          </a:xfrm>
          <a:prstGeom prst="flowChartMagneticDisk">
            <a:avLst/>
          </a:prstGeom>
          <a:solidFill>
            <a:srgbClr val="FCC370"/>
          </a:solidFill>
          <a:ln cap="flat" cmpd="sng" w="25400">
            <a:solidFill>
              <a:srgbClr val="7008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Database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74" name="Google Shape;574;p73"/>
          <p:cNvGrpSpPr/>
          <p:nvPr/>
        </p:nvGrpSpPr>
        <p:grpSpPr>
          <a:xfrm>
            <a:off x="7750835" y="1972473"/>
            <a:ext cx="3851273" cy="3297818"/>
            <a:chOff x="3646141" y="1906676"/>
            <a:chExt cx="4896544" cy="2746461"/>
          </a:xfrm>
        </p:grpSpPr>
        <p:grpSp>
          <p:nvGrpSpPr>
            <p:cNvPr id="575" name="Google Shape;575;p73"/>
            <p:cNvGrpSpPr/>
            <p:nvPr/>
          </p:nvGrpSpPr>
          <p:grpSpPr>
            <a:xfrm>
              <a:off x="3646141" y="1906676"/>
              <a:ext cx="4896544" cy="2746461"/>
              <a:chOff x="432428" y="3356196"/>
              <a:chExt cx="4896544" cy="2746461"/>
            </a:xfrm>
          </p:grpSpPr>
          <p:grpSp>
            <p:nvGrpSpPr>
              <p:cNvPr id="576" name="Google Shape;576;p73"/>
              <p:cNvGrpSpPr/>
              <p:nvPr/>
            </p:nvGrpSpPr>
            <p:grpSpPr>
              <a:xfrm>
                <a:off x="432428" y="3356196"/>
                <a:ext cx="4896544" cy="2746461"/>
                <a:chOff x="-672219" y="3400220"/>
                <a:chExt cx="4896544" cy="2746461"/>
              </a:xfrm>
            </p:grpSpPr>
            <p:grpSp>
              <p:nvGrpSpPr>
                <p:cNvPr id="577" name="Google Shape;577;p73"/>
                <p:cNvGrpSpPr/>
                <p:nvPr/>
              </p:nvGrpSpPr>
              <p:grpSpPr>
                <a:xfrm>
                  <a:off x="-672219" y="3400220"/>
                  <a:ext cx="4896544" cy="2746461"/>
                  <a:chOff x="2230596" y="2639914"/>
                  <a:chExt cx="4896544" cy="2746461"/>
                </a:xfrm>
              </p:grpSpPr>
              <p:sp>
                <p:nvSpPr>
                  <p:cNvPr id="578" name="Google Shape;578;p73"/>
                  <p:cNvSpPr/>
                  <p:nvPr/>
                </p:nvSpPr>
                <p:spPr>
                  <a:xfrm>
                    <a:off x="2230596" y="2639914"/>
                    <a:ext cx="4896544" cy="2746461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rgbClr val="8A4CA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579" name="Google Shape;579;p73"/>
                  <p:cNvSpPr/>
                  <p:nvPr/>
                </p:nvSpPr>
                <p:spPr>
                  <a:xfrm rot="5400000">
                    <a:off x="3208283" y="4186300"/>
                    <a:ext cx="1004360" cy="309562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JACC</a:t>
                    </a:r>
                    <a:endParaRPr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580" name="Google Shape;580;p73"/>
                  <p:cNvSpPr/>
                  <p:nvPr/>
                </p:nvSpPr>
                <p:spPr>
                  <a:xfrm rot="5400000">
                    <a:off x="3517845" y="4186300"/>
                    <a:ext cx="1004360" cy="309562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Web Srvcs</a:t>
                    </a:r>
                    <a:endParaRPr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581" name="Google Shape;581;p73"/>
                  <p:cNvSpPr/>
                  <p:nvPr/>
                </p:nvSpPr>
                <p:spPr>
                  <a:xfrm>
                    <a:off x="4174805" y="3838901"/>
                    <a:ext cx="931107" cy="502180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Mgmt</a:t>
                    </a:r>
                    <a:endParaRPr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582" name="Google Shape;582;p73"/>
                  <p:cNvSpPr/>
                  <p:nvPr/>
                </p:nvSpPr>
                <p:spPr>
                  <a:xfrm>
                    <a:off x="4174805" y="4384004"/>
                    <a:ext cx="931107" cy="459257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JMX</a:t>
                    </a:r>
                    <a:endParaRPr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583" name="Google Shape;583;p73"/>
                  <p:cNvSpPr/>
                  <p:nvPr/>
                </p:nvSpPr>
                <p:spPr>
                  <a:xfrm rot="5400000">
                    <a:off x="2907066" y="4186300"/>
                    <a:ext cx="1004360" cy="309562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JAXR</a:t>
                    </a:r>
                    <a:endParaRPr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  <p:grpSp>
              <p:nvGrpSpPr>
                <p:cNvPr id="584" name="Google Shape;584;p73"/>
                <p:cNvGrpSpPr/>
                <p:nvPr/>
              </p:nvGrpSpPr>
              <p:grpSpPr>
                <a:xfrm>
                  <a:off x="-579457" y="4599206"/>
                  <a:ext cx="931107" cy="1004360"/>
                  <a:chOff x="-579457" y="4599206"/>
                  <a:chExt cx="931107" cy="1004360"/>
                </a:xfrm>
              </p:grpSpPr>
              <p:sp>
                <p:nvSpPr>
                  <p:cNvPr id="585" name="Google Shape;585;p73"/>
                  <p:cNvSpPr/>
                  <p:nvPr/>
                </p:nvSpPr>
                <p:spPr>
                  <a:xfrm>
                    <a:off x="-579457" y="4599206"/>
                    <a:ext cx="931107" cy="502180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JAX-RPC</a:t>
                    </a:r>
                    <a:endParaRPr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  <p:sp>
                <p:nvSpPr>
                  <p:cNvPr id="586" name="Google Shape;586;p73"/>
                  <p:cNvSpPr/>
                  <p:nvPr/>
                </p:nvSpPr>
                <p:spPr>
                  <a:xfrm>
                    <a:off x="-579457" y="5144309"/>
                    <a:ext cx="931107" cy="459257"/>
                  </a:xfrm>
                  <a:prstGeom prst="rect">
                    <a:avLst/>
                  </a:prstGeom>
                  <a:solidFill>
                    <a:srgbClr val="FCC370"/>
                  </a:solidFill>
                  <a:ln cap="flat" cmpd="sng" w="25400">
                    <a:solidFill>
                      <a:srgbClr val="70089A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>
                        <a:solidFill>
                          <a:srgbClr val="610786"/>
                        </a:solidFill>
                        <a:latin typeface="Arimo"/>
                        <a:ea typeface="Arimo"/>
                        <a:cs typeface="Arimo"/>
                        <a:sym typeface="Arimo"/>
                      </a:rPr>
                      <a:t>SAAJ</a:t>
                    </a:r>
                    <a:endParaRPr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endParaRPr>
                  </a:p>
                </p:txBody>
              </p:sp>
            </p:grpSp>
          </p:grpSp>
          <p:sp>
            <p:nvSpPr>
              <p:cNvPr id="587" name="Google Shape;587;p73"/>
              <p:cNvSpPr/>
              <p:nvPr/>
            </p:nvSpPr>
            <p:spPr>
              <a:xfrm>
                <a:off x="2278368" y="5640071"/>
                <a:ext cx="1204660" cy="294574"/>
              </a:xfrm>
              <a:prstGeom prst="roundRect">
                <a:avLst>
                  <a:gd fmla="val 16667" name="adj"/>
                </a:avLst>
              </a:prstGeom>
              <a:solidFill>
                <a:srgbClr val="610786"/>
              </a:solidFill>
              <a:ln cap="flat" cmpd="sng" w="25400">
                <a:solidFill>
                  <a:srgbClr val="F99F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J2SE</a:t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88" name="Google Shape;588;p73"/>
              <p:cNvSpPr/>
              <p:nvPr/>
            </p:nvSpPr>
            <p:spPr>
              <a:xfrm>
                <a:off x="990743" y="3466839"/>
                <a:ext cx="4106731" cy="307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Web Container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589" name="Google Shape;589;p73"/>
            <p:cNvGrpSpPr/>
            <p:nvPr/>
          </p:nvGrpSpPr>
          <p:grpSpPr>
            <a:xfrm>
              <a:off x="4824790" y="2324903"/>
              <a:ext cx="3568409" cy="1785121"/>
              <a:chOff x="4824790" y="2324903"/>
              <a:chExt cx="3568409" cy="1785121"/>
            </a:xfrm>
          </p:grpSpPr>
          <p:sp>
            <p:nvSpPr>
              <p:cNvPr id="590" name="Google Shape;590;p73"/>
              <p:cNvSpPr/>
              <p:nvPr/>
            </p:nvSpPr>
            <p:spPr>
              <a:xfrm rot="5400000">
                <a:off x="6174058" y="3453061"/>
                <a:ext cx="1004360" cy="309562"/>
              </a:xfrm>
              <a:prstGeom prst="rect">
                <a:avLst/>
              </a:prstGeom>
              <a:solidFill>
                <a:srgbClr val="610786"/>
              </a:solidFill>
              <a:ln cap="flat" cmpd="sng" w="25400">
                <a:solidFill>
                  <a:srgbClr val="FCC3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JAAS</a:t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91" name="Google Shape;591;p73"/>
              <p:cNvSpPr/>
              <p:nvPr/>
            </p:nvSpPr>
            <p:spPr>
              <a:xfrm rot="5400000">
                <a:off x="6483620" y="3453062"/>
                <a:ext cx="1004360" cy="309562"/>
              </a:xfrm>
              <a:prstGeom prst="rect">
                <a:avLst/>
              </a:prstGeom>
              <a:solidFill>
                <a:srgbClr val="610786"/>
              </a:solidFill>
              <a:ln cap="flat" cmpd="sng" w="25400">
                <a:solidFill>
                  <a:srgbClr val="FCC3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JAAS</a:t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92" name="Google Shape;592;p73"/>
              <p:cNvSpPr/>
              <p:nvPr/>
            </p:nvSpPr>
            <p:spPr>
              <a:xfrm rot="5400000">
                <a:off x="7736238" y="3453063"/>
                <a:ext cx="1004360" cy="309562"/>
              </a:xfrm>
              <a:prstGeom prst="rect">
                <a:avLst/>
              </a:prstGeom>
              <a:solidFill>
                <a:srgbClr val="610786"/>
              </a:solidFill>
              <a:ln cap="flat" cmpd="sng" w="25400">
                <a:solidFill>
                  <a:srgbClr val="FCC3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JAXP</a:t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93" name="Google Shape;593;p73"/>
              <p:cNvSpPr/>
              <p:nvPr/>
            </p:nvSpPr>
            <p:spPr>
              <a:xfrm>
                <a:off x="7152530" y="3105663"/>
                <a:ext cx="931107" cy="502180"/>
              </a:xfrm>
              <a:prstGeom prst="rect">
                <a:avLst/>
              </a:prstGeom>
              <a:solidFill>
                <a:srgbClr val="610786"/>
              </a:solidFill>
              <a:ln cap="flat" cmpd="sng" w="25400">
                <a:solidFill>
                  <a:srgbClr val="FCC3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JAVA Mail</a:t>
                </a:r>
                <a:endParaRPr sz="16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94" name="Google Shape;594;p73"/>
              <p:cNvSpPr/>
              <p:nvPr/>
            </p:nvSpPr>
            <p:spPr>
              <a:xfrm>
                <a:off x="7152530" y="3650766"/>
                <a:ext cx="931107" cy="459257"/>
              </a:xfrm>
              <a:prstGeom prst="rect">
                <a:avLst/>
              </a:prstGeom>
              <a:solidFill>
                <a:srgbClr val="610786"/>
              </a:solidFill>
              <a:ln cap="flat" cmpd="sng" w="25400">
                <a:solidFill>
                  <a:srgbClr val="FCC37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JAF</a:t>
                </a:r>
                <a:endParaRPr sz="16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595" name="Google Shape;595;p73"/>
              <p:cNvSpPr/>
              <p:nvPr/>
            </p:nvSpPr>
            <p:spPr>
              <a:xfrm>
                <a:off x="4824790" y="2324903"/>
                <a:ext cx="2975439" cy="647252"/>
              </a:xfrm>
              <a:prstGeom prst="roundRect">
                <a:avLst>
                  <a:gd fmla="val 50000" name="adj"/>
                </a:avLst>
              </a:prstGeom>
              <a:solidFill>
                <a:srgbClr val="610786"/>
              </a:solidFill>
              <a:ln cap="flat" cmpd="sng" w="25400">
                <a:solidFill>
                  <a:srgbClr val="F99F1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EJB</a:t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cxnSp>
        <p:nvCxnSpPr>
          <p:cNvPr id="596" name="Google Shape;596;p73"/>
          <p:cNvCxnSpPr/>
          <p:nvPr/>
        </p:nvCxnSpPr>
        <p:spPr>
          <a:xfrm>
            <a:off x="2359941" y="2533892"/>
            <a:ext cx="1142183" cy="0"/>
          </a:xfrm>
          <a:prstGeom prst="straightConnector1">
            <a:avLst/>
          </a:prstGeom>
          <a:noFill/>
          <a:ln cap="flat" cmpd="sng" w="2857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7" name="Google Shape;597;p73"/>
          <p:cNvCxnSpPr/>
          <p:nvPr/>
        </p:nvCxnSpPr>
        <p:spPr>
          <a:xfrm flipH="1" rot="10800000">
            <a:off x="3161308" y="6021323"/>
            <a:ext cx="6484874" cy="1"/>
          </a:xfrm>
          <a:prstGeom prst="straightConnector1">
            <a:avLst/>
          </a:prstGeom>
          <a:noFill/>
          <a:ln cap="flat" cmpd="sng" w="2857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8" name="Google Shape;598;p73"/>
          <p:cNvCxnSpPr/>
          <p:nvPr/>
        </p:nvCxnSpPr>
        <p:spPr>
          <a:xfrm>
            <a:off x="10566182" y="5270291"/>
            <a:ext cx="0" cy="318950"/>
          </a:xfrm>
          <a:prstGeom prst="straightConnector1">
            <a:avLst/>
          </a:prstGeom>
          <a:noFill/>
          <a:ln cap="flat" cmpd="sng" w="2857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9" name="Google Shape;599;p73"/>
          <p:cNvCxnSpPr/>
          <p:nvPr/>
        </p:nvCxnSpPr>
        <p:spPr>
          <a:xfrm>
            <a:off x="7353397" y="2493948"/>
            <a:ext cx="397438" cy="0"/>
          </a:xfrm>
          <a:prstGeom prst="straightConnector1">
            <a:avLst/>
          </a:prstGeom>
          <a:noFill/>
          <a:ln cap="flat" cmpd="sng" w="2857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00" name="Google Shape;600;p73"/>
          <p:cNvCxnSpPr/>
          <p:nvPr/>
        </p:nvCxnSpPr>
        <p:spPr>
          <a:xfrm>
            <a:off x="3161308" y="5114749"/>
            <a:ext cx="4662487" cy="0"/>
          </a:xfrm>
          <a:prstGeom prst="straightConnector1">
            <a:avLst/>
          </a:prstGeom>
          <a:noFill/>
          <a:ln cap="flat" cmpd="sng" w="2857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01" name="Google Shape;601;p73"/>
          <p:cNvCxnSpPr/>
          <p:nvPr/>
        </p:nvCxnSpPr>
        <p:spPr>
          <a:xfrm>
            <a:off x="5397471" y="4891695"/>
            <a:ext cx="4248600" cy="985500"/>
          </a:xfrm>
          <a:prstGeom prst="bentConnector3">
            <a:avLst>
              <a:gd fmla="val 141" name="adj1"/>
            </a:avLst>
          </a:prstGeom>
          <a:noFill/>
          <a:ln cap="flat" cmpd="sng" w="2857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02" name="Google Shape;602;p73"/>
          <p:cNvSpPr/>
          <p:nvPr/>
        </p:nvSpPr>
        <p:spPr>
          <a:xfrm>
            <a:off x="2483897" y="1807204"/>
            <a:ext cx="8515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HTTP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SSL</a:t>
            </a:r>
            <a:endParaRPr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03" name="Google Shape;603;p73"/>
          <p:cNvSpPr/>
          <p:nvPr/>
        </p:nvSpPr>
        <p:spPr>
          <a:xfrm rot="5400000">
            <a:off x="2658119" y="3898238"/>
            <a:ext cx="140304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HTTP SSL</a:t>
            </a:r>
            <a:endParaRPr sz="16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604" name="Google Shape;604;p73"/>
          <p:cNvCxnSpPr/>
          <p:nvPr/>
        </p:nvCxnSpPr>
        <p:spPr>
          <a:xfrm>
            <a:off x="3144197" y="4682809"/>
            <a:ext cx="430887" cy="0"/>
          </a:xfrm>
          <a:prstGeom prst="straightConnector1">
            <a:avLst/>
          </a:prstGeom>
          <a:noFill/>
          <a:ln cap="flat" cmpd="sng" w="2857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4"/>
          <p:cNvSpPr txBox="1"/>
          <p:nvPr>
            <p:ph type="title"/>
          </p:nvPr>
        </p:nvSpPr>
        <p:spPr>
          <a:xfrm>
            <a:off x="760414" y="3048000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7200"/>
              <a:buFont typeface="Libre Baskerville"/>
              <a:buNone/>
            </a:pPr>
            <a:r>
              <a:rPr lang="en-US" sz="7200" cap="none">
                <a:solidFill>
                  <a:srgbClr val="F99F1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Enterprise Tiers</a:t>
            </a:r>
            <a:endParaRPr sz="7200" cap="none">
              <a:solidFill>
                <a:srgbClr val="F99F1B"/>
              </a:solidFill>
            </a:endParaRPr>
          </a:p>
        </p:txBody>
      </p:sp>
      <p:pic>
        <p:nvPicPr>
          <p:cNvPr descr="http://wilddiary.com/wp-content/uploads/2015/07/java_1.png" id="610" name="Google Shape;61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77" y="188640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5"/>
          <p:cNvSpPr txBox="1"/>
          <p:nvPr>
            <p:ph idx="1" type="body"/>
          </p:nvPr>
        </p:nvSpPr>
        <p:spPr>
          <a:xfrm>
            <a:off x="316639" y="1791040"/>
            <a:ext cx="10181188" cy="488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600"/>
              <a:buNone/>
            </a:pPr>
            <a:r>
              <a:rPr lang="en-US" sz="3600">
                <a:solidFill>
                  <a:srgbClr val="610786"/>
                </a:solidFill>
              </a:rPr>
              <a:t>The evolution of enterprise application framework consists of:</a:t>
            </a:r>
            <a:endParaRPr/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F99F1B"/>
              </a:buClr>
              <a:buSzPts val="3600"/>
              <a:buChar char="•"/>
            </a:pPr>
            <a:r>
              <a:rPr lang="en-US" sz="3600">
                <a:solidFill>
                  <a:srgbClr val="610786"/>
                </a:solidFill>
              </a:rPr>
              <a:t>Single-tier (Mainframe based)</a:t>
            </a:r>
            <a:endParaRPr/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F99F1B"/>
              </a:buClr>
              <a:buSzPts val="3600"/>
              <a:buChar char="•"/>
            </a:pPr>
            <a:r>
              <a:rPr lang="en-US" sz="3600">
                <a:solidFill>
                  <a:srgbClr val="610786"/>
                </a:solidFill>
              </a:rPr>
              <a:t>Two-tier</a:t>
            </a:r>
            <a:endParaRPr/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F99F1B"/>
              </a:buClr>
              <a:buSzPts val="3600"/>
              <a:buChar char="•"/>
            </a:pPr>
            <a:r>
              <a:rPr lang="en-US" sz="3600">
                <a:solidFill>
                  <a:srgbClr val="610786"/>
                </a:solidFill>
              </a:rPr>
              <a:t>Three-tier (HTML browser and Web server)</a:t>
            </a:r>
            <a:endParaRPr/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F99F1B"/>
              </a:buClr>
              <a:buSzPts val="3600"/>
              <a:buChar char="•"/>
            </a:pPr>
            <a:r>
              <a:rPr lang="en-US" sz="3600">
                <a:solidFill>
                  <a:srgbClr val="610786"/>
                </a:solidFill>
              </a:rPr>
              <a:t>Proprietary application server</a:t>
            </a:r>
            <a:endParaRPr/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F99F1B"/>
              </a:buClr>
              <a:buSzPts val="3600"/>
              <a:buChar char="•"/>
            </a:pPr>
            <a:r>
              <a:rPr lang="en-US" sz="3600">
                <a:solidFill>
                  <a:srgbClr val="610786"/>
                </a:solidFill>
              </a:rPr>
              <a:t>Standard application server</a:t>
            </a:r>
            <a:endParaRPr/>
          </a:p>
        </p:txBody>
      </p:sp>
      <p:sp>
        <p:nvSpPr>
          <p:cNvPr id="616" name="Google Shape;616;p75"/>
          <p:cNvSpPr/>
          <p:nvPr/>
        </p:nvSpPr>
        <p:spPr>
          <a:xfrm>
            <a:off x="297196" y="868977"/>
            <a:ext cx="85892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Evolution of Enterprise Application Framework</a:t>
            </a:r>
            <a:endParaRPr/>
          </a:p>
        </p:txBody>
      </p:sp>
      <p:pic>
        <p:nvPicPr>
          <p:cNvPr descr="http://wilddiary.com/wp-content/uploads/2015/07/java_1.png" id="617" name="Google Shape;617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7827" y="5558333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618" name="Google Shape;618;p75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19" name="Google Shape;619;p75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Enterprise Tiers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6"/>
          <p:cNvSpPr txBox="1"/>
          <p:nvPr>
            <p:ph idx="1" type="body"/>
          </p:nvPr>
        </p:nvSpPr>
        <p:spPr>
          <a:xfrm>
            <a:off x="297196" y="1453752"/>
            <a:ext cx="10181188" cy="488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Dumb terminals are directly connected to mainframe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Centralized model (as opposed distributed model).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Presentation, business logic, and data access are intertwined in one monolithic mainframe application.</a:t>
            </a:r>
            <a:endParaRPr/>
          </a:p>
        </p:txBody>
      </p:sp>
      <p:sp>
        <p:nvSpPr>
          <p:cNvPr id="625" name="Google Shape;625;p76"/>
          <p:cNvSpPr/>
          <p:nvPr/>
        </p:nvSpPr>
        <p:spPr>
          <a:xfrm>
            <a:off x="297196" y="868977"/>
            <a:ext cx="310854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Single-tier is a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626" name="Google Shape;626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7827" y="5558333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627" name="Google Shape;627;p76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28" name="Google Shape;628;p76"/>
          <p:cNvSpPr txBox="1"/>
          <p:nvPr>
            <p:ph type="title"/>
          </p:nvPr>
        </p:nvSpPr>
        <p:spPr>
          <a:xfrm>
            <a:off x="351394" y="132223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Enterprise Tiers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fortiustechsoft.com/img/page-titles/mainframe.png" id="629" name="Google Shape;629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2404" y="3924967"/>
            <a:ext cx="3314700" cy="2095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findicons.com/files/icons/59/crystal_bw/256/cran_pc.png" id="630" name="Google Shape;630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5400" y="3582068"/>
            <a:ext cx="2438400" cy="2438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1" name="Google Shape;631;p76"/>
          <p:cNvCxnSpPr>
            <a:stCxn id="630" idx="3"/>
          </p:cNvCxnSpPr>
          <p:nvPr/>
        </p:nvCxnSpPr>
        <p:spPr>
          <a:xfrm>
            <a:off x="4443800" y="4801268"/>
            <a:ext cx="2442600" cy="0"/>
          </a:xfrm>
          <a:prstGeom prst="straightConnector1">
            <a:avLst/>
          </a:prstGeom>
          <a:noFill/>
          <a:ln cap="flat" cmpd="sng" w="38100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32" name="Google Shape;632;p76"/>
          <p:cNvSpPr txBox="1"/>
          <p:nvPr/>
        </p:nvSpPr>
        <p:spPr>
          <a:xfrm>
            <a:off x="1227498" y="5846737"/>
            <a:ext cx="3994204" cy="930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Personal Computer</a:t>
            </a:r>
            <a:endParaRPr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33" name="Google Shape;633;p76"/>
          <p:cNvSpPr txBox="1"/>
          <p:nvPr/>
        </p:nvSpPr>
        <p:spPr>
          <a:xfrm>
            <a:off x="5736897" y="5886456"/>
            <a:ext cx="3994204" cy="930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Mainframe</a:t>
            </a:r>
            <a:endParaRPr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7"/>
          <p:cNvSpPr txBox="1"/>
          <p:nvPr>
            <p:ph idx="1" type="body"/>
          </p:nvPr>
        </p:nvSpPr>
        <p:spPr>
          <a:xfrm>
            <a:off x="297195" y="1453752"/>
            <a:ext cx="10662768" cy="2128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Char char="•"/>
            </a:pPr>
            <a:r>
              <a:rPr lang="en-US" sz="2800">
                <a:solidFill>
                  <a:srgbClr val="610786"/>
                </a:solidFill>
              </a:rPr>
              <a:t>Fat client talking to back end database.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F99F1B"/>
              </a:buClr>
              <a:buSzPts val="2800"/>
              <a:buChar char="•"/>
            </a:pPr>
            <a:r>
              <a:rPr lang="en-US" sz="2800">
                <a:solidFill>
                  <a:srgbClr val="610786"/>
                </a:solidFill>
              </a:rPr>
              <a:t>SQL queries sent, raw data returned.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F99F1B"/>
              </a:buClr>
              <a:buSzPts val="2800"/>
              <a:buChar char="•"/>
            </a:pPr>
            <a:r>
              <a:rPr lang="en-US" sz="2800">
                <a:solidFill>
                  <a:srgbClr val="610786"/>
                </a:solidFill>
              </a:rPr>
              <a:t>Presentation, business logic, and data model processing logic in client application.</a:t>
            </a:r>
            <a:endParaRPr/>
          </a:p>
        </p:txBody>
      </p:sp>
      <p:sp>
        <p:nvSpPr>
          <p:cNvPr id="639" name="Google Shape;639;p77"/>
          <p:cNvSpPr/>
          <p:nvPr/>
        </p:nvSpPr>
        <p:spPr>
          <a:xfrm>
            <a:off x="297196" y="868977"/>
            <a:ext cx="26981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Two-tier is a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640" name="Google Shape;640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7827" y="5558333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641" name="Google Shape;641;p77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2" name="Google Shape;642;p77"/>
          <p:cNvSpPr txBox="1"/>
          <p:nvPr>
            <p:ph type="title"/>
          </p:nvPr>
        </p:nvSpPr>
        <p:spPr>
          <a:xfrm>
            <a:off x="282364" y="100692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Enterprise Tiers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findicons.com/files/icons/59/crystal_bw/256/cran_pc.png" id="643" name="Google Shape;643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5400" y="3582068"/>
            <a:ext cx="2438400" cy="2438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4" name="Google Shape;644;p77"/>
          <p:cNvCxnSpPr>
            <a:stCxn id="643" idx="3"/>
          </p:cNvCxnSpPr>
          <p:nvPr/>
        </p:nvCxnSpPr>
        <p:spPr>
          <a:xfrm>
            <a:off x="4443800" y="4801268"/>
            <a:ext cx="3599400" cy="0"/>
          </a:xfrm>
          <a:prstGeom prst="straightConnector1">
            <a:avLst/>
          </a:prstGeom>
          <a:noFill/>
          <a:ln cap="flat" cmpd="sng" w="38100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45" name="Google Shape;645;p77"/>
          <p:cNvSpPr txBox="1"/>
          <p:nvPr/>
        </p:nvSpPr>
        <p:spPr>
          <a:xfrm>
            <a:off x="1227498" y="5846737"/>
            <a:ext cx="3994204" cy="930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Personal Computer</a:t>
            </a:r>
            <a:endParaRPr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6" name="Google Shape;646;p77"/>
          <p:cNvSpPr txBox="1"/>
          <p:nvPr/>
        </p:nvSpPr>
        <p:spPr>
          <a:xfrm>
            <a:off x="6893660" y="5886456"/>
            <a:ext cx="3994204" cy="930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Database</a:t>
            </a:r>
            <a:endParaRPr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findicons.com/files/icons/730/soft/128/database.png" id="647" name="Google Shape;647;p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3263" y="3981997"/>
            <a:ext cx="1490293" cy="1490294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77"/>
          <p:cNvSpPr txBox="1"/>
          <p:nvPr/>
        </p:nvSpPr>
        <p:spPr>
          <a:xfrm>
            <a:off x="4495226" y="4262087"/>
            <a:ext cx="3341497" cy="465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SQL request</a:t>
            </a:r>
            <a:endParaRPr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49" name="Google Shape;649;p77"/>
          <p:cNvSpPr txBox="1"/>
          <p:nvPr/>
        </p:nvSpPr>
        <p:spPr>
          <a:xfrm>
            <a:off x="4572782" y="4879544"/>
            <a:ext cx="3341497" cy="465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SQL response</a:t>
            </a:r>
            <a:endParaRPr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8"/>
          <p:cNvSpPr txBox="1"/>
          <p:nvPr>
            <p:ph idx="1" type="body"/>
          </p:nvPr>
        </p:nvSpPr>
        <p:spPr>
          <a:xfrm>
            <a:off x="297195" y="1453752"/>
            <a:ext cx="10662768" cy="2128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Char char="•"/>
            </a:pPr>
            <a:r>
              <a:rPr lang="en-US" sz="2400">
                <a:solidFill>
                  <a:srgbClr val="610786"/>
                </a:solidFill>
              </a:rPr>
              <a:t>Thinner client: Business and data model separated from presentation.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F99F1B"/>
              </a:buClr>
              <a:buSzPts val="2000"/>
              <a:buChar char="–"/>
            </a:pPr>
            <a:r>
              <a:rPr lang="en-US" sz="2000">
                <a:solidFill>
                  <a:srgbClr val="610786"/>
                </a:solidFill>
              </a:rPr>
              <a:t>Business logic &amp; data access logic reside in middle tier server, while client handles presentation.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99F1B"/>
              </a:buClr>
              <a:buSzPts val="2400"/>
              <a:buChar char="•"/>
            </a:pPr>
            <a:r>
              <a:rPr lang="en-US" sz="2400">
                <a:solidFill>
                  <a:srgbClr val="610786"/>
                </a:solidFill>
              </a:rPr>
              <a:t>Middle tier server is now required to handle system services.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F99F1B"/>
              </a:buClr>
              <a:buSzPts val="2000"/>
              <a:buChar char="–"/>
            </a:pPr>
            <a:r>
              <a:rPr lang="en-US" sz="2000">
                <a:solidFill>
                  <a:srgbClr val="610786"/>
                </a:solidFill>
              </a:rPr>
              <a:t>Concurrency control, threading, transaction, security, persistence, multiplexing, performance, etc.</a:t>
            </a:r>
            <a:endParaRPr/>
          </a:p>
        </p:txBody>
      </p:sp>
      <p:sp>
        <p:nvSpPr>
          <p:cNvPr id="655" name="Google Shape;655;p78"/>
          <p:cNvSpPr/>
          <p:nvPr/>
        </p:nvSpPr>
        <p:spPr>
          <a:xfrm>
            <a:off x="297196" y="868977"/>
            <a:ext cx="30315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Three-tier is a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656" name="Google Shape;656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558333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657" name="Google Shape;657;p78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58" name="Google Shape;658;p78"/>
          <p:cNvSpPr txBox="1"/>
          <p:nvPr>
            <p:ph type="title"/>
          </p:nvPr>
        </p:nvSpPr>
        <p:spPr>
          <a:xfrm>
            <a:off x="297196" y="132223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Enterprise Tiers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findicons.com/files/icons/59/crystal_bw/256/cran_pc.png" id="659" name="Google Shape;659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445" y="3567272"/>
            <a:ext cx="2166161" cy="21661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0" name="Google Shape;660;p78"/>
          <p:cNvCxnSpPr/>
          <p:nvPr/>
        </p:nvCxnSpPr>
        <p:spPr>
          <a:xfrm>
            <a:off x="6527529" y="4787050"/>
            <a:ext cx="2411495" cy="0"/>
          </a:xfrm>
          <a:prstGeom prst="straightConnector1">
            <a:avLst/>
          </a:prstGeom>
          <a:noFill/>
          <a:ln cap="flat" cmpd="sng" w="38100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61" name="Google Shape;661;p78"/>
          <p:cNvSpPr txBox="1"/>
          <p:nvPr/>
        </p:nvSpPr>
        <p:spPr>
          <a:xfrm>
            <a:off x="0" y="5699502"/>
            <a:ext cx="3299778" cy="641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Personal Computer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findicons.com/files/icons/730/soft/128/database.png" id="662" name="Google Shape;662;p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85954" y="3839664"/>
            <a:ext cx="1490293" cy="1490294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78"/>
          <p:cNvSpPr txBox="1"/>
          <p:nvPr/>
        </p:nvSpPr>
        <p:spPr>
          <a:xfrm>
            <a:off x="6527529" y="4247869"/>
            <a:ext cx="2243322" cy="465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SQL request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64" name="Google Shape;664;p78"/>
          <p:cNvSpPr txBox="1"/>
          <p:nvPr/>
        </p:nvSpPr>
        <p:spPr>
          <a:xfrm>
            <a:off x="6605085" y="4865326"/>
            <a:ext cx="2243322" cy="465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SQL response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s://cdn4.iconfinder.com/data/icons/SOPHISTIQUE/web_design/png/400/dedicated_server.png" id="665" name="Google Shape;665;p7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5118" y="3574682"/>
            <a:ext cx="2189553" cy="2189553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78"/>
          <p:cNvSpPr txBox="1"/>
          <p:nvPr/>
        </p:nvSpPr>
        <p:spPr>
          <a:xfrm>
            <a:off x="2901560" y="4208521"/>
            <a:ext cx="2243322" cy="465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HTML request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67" name="Google Shape;667;p78"/>
          <p:cNvSpPr txBox="1"/>
          <p:nvPr/>
        </p:nvSpPr>
        <p:spPr>
          <a:xfrm>
            <a:off x="2817473" y="4825978"/>
            <a:ext cx="2404965" cy="503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HTML response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668" name="Google Shape;668;p78"/>
          <p:cNvCxnSpPr/>
          <p:nvPr/>
        </p:nvCxnSpPr>
        <p:spPr>
          <a:xfrm>
            <a:off x="2817473" y="4753584"/>
            <a:ext cx="2411495" cy="0"/>
          </a:xfrm>
          <a:prstGeom prst="straightConnector1">
            <a:avLst/>
          </a:prstGeom>
          <a:noFill/>
          <a:ln cap="flat" cmpd="sng" w="38100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69" name="Google Shape;669;p78"/>
          <p:cNvSpPr txBox="1"/>
          <p:nvPr/>
        </p:nvSpPr>
        <p:spPr>
          <a:xfrm>
            <a:off x="4130006" y="5718163"/>
            <a:ext cx="3299778" cy="641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Web Server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70" name="Google Shape;670;p78"/>
          <p:cNvSpPr txBox="1"/>
          <p:nvPr/>
        </p:nvSpPr>
        <p:spPr>
          <a:xfrm>
            <a:off x="8444569" y="5699501"/>
            <a:ext cx="2498206" cy="641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Database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9"/>
          <p:cNvSpPr txBox="1"/>
          <p:nvPr>
            <p:ph idx="1" type="body"/>
          </p:nvPr>
        </p:nvSpPr>
        <p:spPr>
          <a:xfrm>
            <a:off x="105052" y="1145609"/>
            <a:ext cx="10165823" cy="1516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400"/>
              <a:buNone/>
            </a:pPr>
            <a:r>
              <a:rPr lang="en-US" sz="2400">
                <a:solidFill>
                  <a:srgbClr val="610786"/>
                </a:solidFill>
              </a:rPr>
              <a:t>The N-tier architecture model describes any type of application architecture that programmatically separates application functionality across three or more tiers. The components in each tier, as well as the server-side infrastructure that is available in each tier, are generally distinctly suited to a particular task. </a:t>
            </a:r>
            <a:endParaRPr sz="2400">
              <a:solidFill>
                <a:srgbClr val="610786"/>
              </a:solidFill>
            </a:endParaRPr>
          </a:p>
        </p:txBody>
      </p:sp>
      <p:sp>
        <p:nvSpPr>
          <p:cNvPr id="676" name="Google Shape;676;p79"/>
          <p:cNvSpPr/>
          <p:nvPr/>
        </p:nvSpPr>
        <p:spPr>
          <a:xfrm>
            <a:off x="135479" y="436260"/>
            <a:ext cx="41174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N-tier Architecture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677" name="Google Shape;677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558333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678" name="Google Shape;678;p79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79" name="Google Shape;679;p79"/>
          <p:cNvSpPr txBox="1"/>
          <p:nvPr>
            <p:ph type="title"/>
          </p:nvPr>
        </p:nvSpPr>
        <p:spPr>
          <a:xfrm>
            <a:off x="105053" y="-46533"/>
            <a:ext cx="6315578" cy="605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Enterprise Tiers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data:image/png;base64,iVBORw0KGgoAAAANSUhEUgAAAPcAAADMCAMAAACY78UPAAAA+VBMVEX////FxcV7hY4Ar9jzLUD/oC7BwcEArdcAq9ZxfIbzJTryEi780dRyyOS74/H1aHL/mQz/+/f39/f/mATT09OSmqHzJzz/niTS7farsbbj5efu7u7yGDH82NtDvN7/79/1VmT/qkv6u7/3gYryACeIkZnW1tb/nB3/9u3+8fJteYOv3+/m6On3j5bzOkv+9/iJ0ej/xIv/3sD7xcn0TVv/uXL/59Kypn+fpqz2eYKCi5T94OL4oKb5rLF2qqqyuLz/pT3/yZX/1rDG6PP/sF3/4MTlaHI5udz/tWnp9vvYk5iFz+ee2ez4mqD/z6L3jJP1YWz/rlf0RFMQWVlrAAATCklEQVR4nN2deUPisNbGiyhLGRTLKiC4sAi44XZRxwvqeNXXbfT7f5i3OUkLbXPSAG0p8/ylhSq/npPkJCVPFSUkKr2na9Fo9Dn9Xlr0RwlQ79FEIh7XuePxRCJ6qi368wSjdx06OpaOfrrojxSAXp8TUbsS0ddFfyy/VYrHjSiDjN8eF/3B/FWJgiYStV7pVdFKvXSChj+xvuiP5qdeATueeBvntXbKwP/ljv0ZkjpqRaQtPh5d0GcKQBDa+LPjeI0cT6QX8IkC0Ssa1+f4v5zpbxBW3pClwRWpBf6JghHAvXNf6qGXZPm1DmzIi3r+RxP8a7LsShO0N+TF98Q/m+ik80L7LujzlnYoe3yr4YoL0pw2/iVt4DC9dEw6rEJPFmZDmKVxJlp2CYqy2rKO4FG3UP+b3NB8zeklT1Fh+4aBbPnad49ipddLqKLCnks0uHutzauns7OnAy/+FGR5XJinJCMSPeTFxwR3xuKD6v1RNtNutzOZzMvD5px/rJRwb57v5NJgaMKixkM97WaKa4aK7Ux/PnLC5FZuvQquDX3N98Wmg+8JalA78zDPH0yLctgQrDrwA07agP8rD08mdVEX+zHzMsdfBG63JbJHCCpv0ZhOx/yeljxkjezevez3/6xl2jTko9lzXYqbBpyTFo+BLDQx7OyfM8ZZv28DeXE089+U4y7Rwc4eVzYG+ty6r7I0uFeTB/twsDhzqstxw2xTf2NtchTX0vSg3505tOf2pe3oVQba+KydmyS3QhnjibTRrZfe2Iq633PvPknpdt9xvE7BZ2zistwMnNSztfTpWy1u3DbwG/uAJHTxD+cVyP+i84JISZpbOTWnqvFE3PjR/zXkPknzNjeq9yQTsrMFXJ5beYza56vxuP83iSDLkVZcFLzmoim4SXE3sTwRzG1g6L7ayIufbaQJuGsqbkVZT5sT1ppbleeJAA1rwwfkomRn+rs87ko5F4nEYpFI65Bzxutjr9d7DGrCfanncvsMe3VEkuGpjukAb/tO7nJEJ2aKxXIL/i7HLhmr6tirl9DCM7h2PxF0O3d5DM3Qc16jTKWRcIzu2yZpTmHTNht3zo5NyHnZHpTEtcm9K7d+tr3SA1m4tXF+g4zfyr4gSWneePNrPSu3FjNS+xBadcVo6rGWL0wy+kO4r9BXCfdoF9ManbZnn5xnTnJHnJCHi444iShemrgVbAd9KOLXnK9McOcoo60Db0HIY4vq1h9EpYmwqGHnk7dknAEfcx/SnHa8o4wcD0Z1MvnIICvHZBgrcrutsV6K3MJnzB3B8CDiC+vUSceGsMFMFG/8VJATI8dhkxvCGqvwTs0tMuAP0Ia5cN9Fftu1aJPfFkxuYOP32xp+SQIQwBU5mQ4LEq4LLsCdcRw2uCkb0nvl8Gviv87IBy+uOcDv4fiu2+ku3GWChpWkldgCEx16prVi0ZbqlzBCZdHS3ZALd07Yd0EyzPCRvdEarT4uJ0J+Ru8eZN0XHVy4xYN0zlm1W5Qr+zm+H7RpG8++PNT1IuXg6r5Ibxxk7t1PluFGT265cLtM2zrndx9HH3e/OhKQPB3QiJMbJtlsNmPcNMpKYLtxizPZnRvv8Dsfx41UtapWq6nGz+/Z0DdfMo7pRrHNKbs5p/obbwy8c92oFlYNFaqN/dnIz1hqm9TZS7mF1PnbdwwXA3ee/7uhrlqlpu6mwJ3QwyjTZumu5/ula0fOJNOfo6UJDaeGqsy6N/t5f1MsznqWV1UW99SGPKxF9c+XUTHTXvvun8kvmrtwQyZjpYnmPo7lOAE/+VFpcqd2vu7u7r4uGlUAr+5If+r55cItLE1a3GBaBQG3TtMvALu6enfCDnR+q0Cu7kz98WeWCzdNZWR5QWZCBtNYy7W5BsbGh+VtXw24FvtTffZ55MZNu2zuqS1xZ0+l2RPmHAhTv2zvo4cb9sO+yY2bfm5eMtMm4DotsXNDkqduHe/7RcALq1N89Lnkxs2i6sSj2K7VuT3ev0mWN84579wjnfyso9nUcuVW+PUmw3ZdbrFzk3Cr19y3buivFY7lP/pccueusPLDMorTZUW3zlxxcP+CoPJrs1uS6Y3tqT7+zHLnNlYWYzkjuBVGLYFt5/5S0XDTgFc/kBc9lgS3eXNMLzxzrVzOvEEodYvMOh78FDh9uaE9ve0XdqYEmFEy3GaqW+cbWFd+e743of8jMn8jvVrqBDmxQxI95QGUhKS4FY1zY5DfpXW+VDK9HEslMn9bFXZdpFJvzDobn05y3HrII5PksQhSwjknWg4JMvm4EDpuPeYt835oDhu+rlNu1EJu0vobzpLGD8lzE2kVXfia2RHFVnER7h/0/NXw5bmMtunkorqxP6H/EZm/EfAqdv4JDODTEswmL7kvoF86sh60jmNQnGOlCSlqBNngqTzkhnor9dt60Fa3XJO6xXZlTJFsUAOainrIfUfKjgvbQRs3DOAq//wTGNx5UxYf5CE3iWXVPp+yz0tITlRtOcF0VBU1fo/lITcprx01qJ0bejbO9Js1kyrWBrxW0NxQixaOnaXqyWpBVMN6raC5lQ9o4T92vs6xGuSyQ/DcCqwiq6r1jedw9yTABdXguTuAWGhsjBv59gZUPAU1qCxfBLdym4I7JGrj5+N8+3b7/OOnwW4kBFOagxbArdwW6KStUK2mUinjRpG6yqvMK63IcDjEpn+zaxHcysnfxvhmKJulNTi3xw63VpJM3by3XyhZCLdet62mJsnV1LGzTivnuysTSiaH030eoRbErZPvNKqqWigUVLXa+LvnfMOWhRrIV6ZJ99feW+35uYY4XS6MW+/Y9442Ln52No7OOQ27cpM045w0flzpyoZcY1aXcXBqSDvRF8gtUsWEzg/187duGHtyS+r0U7vVZc2+8SWc3BqjbpprtpWhPHjJsaNNJ7dt3g0nd5MyWhbotQGQd11X7XuGuWV8wunSvoUxlNw0tjf2hbwY9HRJl+/EvbMdqona+2PpFZwuOTt1w8hdAb4b5wsRuB4D4ck9tkN5wrV3PZpwRDyM3AMIK+/bRFsEvCu6CfvK2ZHOjCAtG/RDyK2RcCf556y4BfyZvx15PWFz2QkhdyzJz3KiFnktiZ8LWR7n7MJetzk+hpC7iYebBjyJf7kkinrpnFrdZkLI3RV12kMCjlZt6wIrHXJJxpmAcINr3JSGHNNwl1s5TJDmTeyfQKKjDTwd52c5kdUGk8/9OotLoDT34SApkrDrqgivitBVKjoZSz436RWndtOS5XZOtJxCM1kTdHrMTwY79W3S2nQz2263bXvjX6nN77Qb9yW5m0lXagG3Amcjr5FUxtKcvfqcZvovUXpS1FdxepshOe68BPXKCjr70ER5TkpU3F0CsiGOi9XxU3sjSnHTUjO5MtjCBNVaHvsn5aTgVTJWIcbFilHKiTWLUb8UN8UWzqm6otIEenusFUC85+COJ6IzOGHKcOeg3hIvF92ISpOm6LK9C03+mIvWhOyumc8zeZHIcA+EjZdqKEh0SPMuVtTAEI06JEENW1vvUf2HqDepWc1IZLghlm5fWe/iOZEXNv5XoYknFDXjcaxYLE7n8bJZr1/VOTs5ZLghzd0208FqC3eMhl5RUJ7D+IuV15aiBqlTUT31R9QCZe3SbtrpGTfUoryoQpbj1RoNKWbxCeswceO36bg/i2P/SmLaadmN6xk3zeako1al2F1Br0jtT/kBt5pBTsN91rZuUlsrWrYkeset0dGuaV1yidDlNeESOn2wCO8fUNtys+uagvvS3JRoenautUfjkHvHrZRpCd8djt/aYvUt2qmBHpEni7Dp97iGlefepcEu6k37+4/eyI1fzR16HnIrOTZ36eYjrcNKObe1wqp6QeMGpSm4/V+80Rp1fECae0Q3HWcur2h3Vjd3HRvgXnKzvm1lZWU8NyW/iKNNRI2d45Zy87XmcPiU5QYLnLWMZdfpJ+3kiuyYp9xKhTNvk7k9ZjwpqmZCltLs0GQFK8n9SV0qbVuMDyAJDP8Yb7nJYG0lT+alTFMYeDQRr532eu/pqPG7ZaImx31APVqdm213CXiGGsB5za2TNw10PdUHsjeBS4ZTf5wU4Obz0azzFTluMHLjuaVs0p4dfvaeW8/23NYg38wPpnOCqjkeR+GYaElxQ7jbXPsAcCulDlF+cM+ox2cLeYIzObV0yYg+22ZQHQIzpG/yU4i4oTMzxbW6BIMmFx/l0Rru+gUOUVlSvYSKW1dp/f309LSHrCSA743Y+YP6cmJ76XcNa0tvuMG1MxLJtfw2QKL15p+rTUzKU9tIZZ5MK1MPuLWW6WJITDt9RX/KsvIzi4m0btxoGa4KaSjzc7dMaIbuq13pvdMExan2J3Y6sTuDbJiX+5Bn2umnk+F9VoIbtTwCmzfifzUntxlsq2mnnz6tVyP74zCCjzfDjunzL2KBUmkZGxR9Nah96u/CszD4CqB9G3uOJ0pwY2vmwpx5iRch7uRGbNaLZBych5vZB9hWDOnFWJhbKdSyWeyxR1DUzDt+I51YZbFupVCaIA28bl6UObipeyUnrhXUTiQIQX1e5L8GdS7MwLncihQ3TlcWGTz6LTof4/ZsTxlzAo5zj91O+NyHAqMnaAGLMq8Eg2mej/IBzNRG8DOfGz63mcF8bpExp+ia+K5NuszkWHjYBKc/tvzE5y5beiY+tzCX4fxFubQ+UHtOW9FWB2zDrpfPrVkMbsjycNf+FrEfacuSMEHrEhI68zKxQrHJHoJkLEjwuQ3n7Aj5jlZrSOT46pawCUOiB9XAT7b39u72tic2QHzTR1xlX85gIN986rOHXrWNgR3hVpyzDZ7QiFYcTmZ+6fbjgnqRpBrHR+Zetj/sBkk7UxyN1gzXzgmnXoxbChx3etIC4r7dmLC6LKiNHQOlz5m2Zb7HyzAot2NeHUbufbsDS6GxwbZtXq3ZZurWp2Hg3LCOMp5dcm03F5vnneOqEWhdLOyqajhRjE07yQpN+96y5ibgVgwLlLyu5mHFKqH5NB0Ife7XbmmGF6qN4+uvo+sLlvGFsVFc/f47k81kMtndvr2MEXNTcb+WI/7Ostia2hOxnbqp4zvWkZ/sXdBDFuPDzYMD3uRMlttZt0DyI6WJ0IHdI4HVQMG66f6cbt6VsNGZnVtkSCowtvRK17AT/9hGeLIDzgR2gxKnZueGrosfcA2boXon6mjJcQn7K2e9MDs3/tAMtiDh9q/nEtgMVXn5fFzA3WbGmoObGds53099hv0PN98uh1qrcPYqW0SuG+q9xIStM+X4Ec9h18NDkdaNeaMRtxmHBZFN1E3LpftD11NZ2WYZryqslPO3Mxe5I91KMO3L2J+i3JqxfG6SV1iwfR67wTwNbcMkh6tCy6iPFO68NBZ+38B82lcs1yqXW6Zrp99PAiJOWaizKbjsqPu325j2LqC+dbUZEtwnMp/uZp2v+L3SQsjwcJ3DGJ5CRevZhlvXJ74f6py2BfD8RuJki3fZvyQMI1dT7p5x4vvAFatdaQzxKvVUYu5td+5CQ8Li1+37DtS0E6aqEd+/8QA64rnGmaLxLqBSq40LGUdnie+3aJXDcrkscO30VsSYHHU+BA/B1eMdVNe/5byVgvxej5zOU6LSZF+YDfIKH3dHWJrAzMQDa/LwcYNJL+Y+fg5FiQf/JITc8OSBKr/wIBMyT5xNQ8jdITHlV2z0YQxeuMKFkFv5AjpO5wUzVPWvF/8jjNwnVX6tScdub/y5w8htPDPGNojfwVG77/GMCiW38gWRrU56323v0GOeZHlYuZUNSPVC6vjjV+fkpPPr9w81QpRYTZVTSLmV/QadY6iphi42vUSirZXJHe3pHhkZVm69NTsezFCwt3iiMrHAo2pOsTYQWm6l89dKrqY4E62WZXNXMjmQJQ8vN7j2Mi9XMr3cca6qaXnHljZZw8cwc+sj+fnXTiHVUHf29zgTlTLPgCXZlKIJN7dQxpZVvWFvDYeDm66xtU0m15eXu9VlmxaNW/FahO3VleFZWu4Ki7bllhU1o0Ftkya0tNw3NNi2o9TmVcLbdFm5wS7H6bygaHA9hI6PoGXlRg01NMyDw3n+EnJDQ+5yO+6cq8UnkYstZFgFdjtIiQJuMy7lS1nknhZeQWeOuSO1JJjg2shZWodJEZH5Gc1hYfEykHDjCqO2VgTOpuCyk4yQmzx8RejI7+ZEEkLlheECF2s3o0yJsS58AtM39HNHZAwj3e3LQ6imsAXLcAs8xEIscZ7H3LiT3cHylSxExCUQ94Tcgl4rj2orspzUrOdCSxMZD8HllLA0qSxpDSojkb3hUFjULLcGeOEBEzKxIezyCuYV/IqNPowh6A8UlGBiwXN2pAsSi9q/6rsOqbejo9dmNcsiPlIwGnKNnbdcHT6XXtS/PJmfYGzRhWRPn4sWPt2worMZI7dCK62hsXy+fOsJ08m4OzY5u5zikWjLK96DGf7Vkdui8o1t6rWsE62p1cp3TfRkcvBPzkb40nLDfHPlpjkYLmAp4f8BhJ8OPgVwS1AAAAAASUVORK5CYII=" id="680" name="Google Shape;680;p7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data:image/png;base64,iVBORw0KGgoAAAANSUhEUgAAAPcAAADMCAMAAACY78UPAAAA+VBMVEX////FxcV7hY4Ar9jzLUD/oC7BwcEArdcAq9ZxfIbzJTryEi780dRyyOS74/H1aHL/mQz/+/f39/f/mATT09OSmqHzJzz/niTS7farsbbj5efu7u7yGDH82NtDvN7/79/1VmT/qkv6u7/3gYryACeIkZnW1tb/nB3/9u3+8fJteYOv3+/m6On3j5bzOkv+9/iJ0ej/xIv/3sD7xcn0TVv/uXL/59Kypn+fpqz2eYKCi5T94OL4oKb5rLF2qqqyuLz/pT3/yZX/1rDG6PP/sF3/4MTlaHI5udz/tWnp9vvYk5iFz+ee2ez4mqD/z6L3jJP1YWz/rlf0RFMQWVlrAAATCklEQVR4nN2deUPisNbGiyhLGRTLKiC4sAi44XZRxwvqeNXXbfT7f5i3OUkLbXPSAG0p8/ylhSq/npPkJCVPFSUkKr2na9Fo9Dn9Xlr0RwlQ79FEIh7XuePxRCJ6qi368wSjdx06OpaOfrrojxSAXp8TUbsS0ddFfyy/VYrHjSiDjN8eF/3B/FWJgiYStV7pVdFKvXSChj+xvuiP5qdeATueeBvntXbKwP/ljv0ZkjpqRaQtPh5d0GcKQBDa+LPjeI0cT6QX8IkC0Ssa1+f4v5zpbxBW3pClwRWpBf6JghHAvXNf6qGXZPm1DmzIi3r+RxP8a7LsShO0N+TF98Q/m+ik80L7LujzlnYoe3yr4YoL0pw2/iVt4DC9dEw6rEJPFmZDmKVxJlp2CYqy2rKO4FG3UP+b3NB8zeklT1Fh+4aBbPnad49ipddLqKLCnks0uHutzauns7OnAy/+FGR5XJinJCMSPeTFxwR3xuKD6v1RNtNutzOZzMvD5px/rJRwb57v5NJgaMKixkM97WaKa4aK7Ux/PnLC5FZuvQquDX3N98Wmg+8JalA78zDPH0yLctgQrDrwA07agP8rD08mdVEX+zHzMsdfBG63JbJHCCpv0ZhOx/yeljxkjezevez3/6xl2jTko9lzXYqbBpyTFo+BLDQx7OyfM8ZZv28DeXE089+U4y7Rwc4eVzYG+ty6r7I0uFeTB/twsDhzqstxw2xTf2NtchTX0vSg3505tOf2pe3oVQba+KydmyS3QhnjibTRrZfe2Iq633PvPknpdt9xvE7BZ2zistwMnNSztfTpWy1u3DbwG/uAJHTxD+cVyP+i84JISZpbOTWnqvFE3PjR/zXkPknzNjeq9yQTsrMFXJ5beYza56vxuP83iSDLkVZcFLzmoim4SXE3sTwRzG1g6L7ayIufbaQJuGsqbkVZT5sT1ppbleeJAA1rwwfkomRn+rs87ko5F4nEYpFI65Bzxutjr9d7DGrCfanncvsMe3VEkuGpjukAb/tO7nJEJ2aKxXIL/i7HLhmr6tirl9DCM7h2PxF0O3d5DM3Qc16jTKWRcIzu2yZpTmHTNht3zo5NyHnZHpTEtcm9K7d+tr3SA1m4tXF+g4zfyr4gSWneePNrPSu3FjNS+xBadcVo6rGWL0wy+kO4r9BXCfdoF9ManbZnn5xnTnJHnJCHi444iShemrgVbAd9KOLXnK9McOcoo60Db0HIY4vq1h9EpYmwqGHnk7dknAEfcx/SnHa8o4wcD0Z1MvnIICvHZBgrcrutsV6K3MJnzB3B8CDiC+vUSceGsMFMFG/8VJATI8dhkxvCGqvwTs0tMuAP0Ia5cN9Fftu1aJPfFkxuYOP32xp+SQIQwBU5mQ4LEq4LLsCdcRw2uCkb0nvl8Gviv87IBy+uOcDv4fiu2+ku3GWChpWkldgCEx16prVi0ZbqlzBCZdHS3ZALd07Yd0EyzPCRvdEarT4uJ0J+Ru8eZN0XHVy4xYN0zlm1W5Qr+zm+H7RpG8++PNT1IuXg6r5Ibxxk7t1PluFGT265cLtM2zrndx9HH3e/OhKQPB3QiJMbJtlsNmPcNMpKYLtxizPZnRvv8Dsfx41UtapWq6nGz+/Z0DdfMo7pRrHNKbs5p/obbwy8c92oFlYNFaqN/dnIz1hqm9TZS7mF1PnbdwwXA3ee/7uhrlqlpu6mwJ3QwyjTZumu5/ula0fOJNOfo6UJDaeGqsy6N/t5f1MsznqWV1UW99SGPKxF9c+XUTHTXvvun8kvmrtwQyZjpYnmPo7lOAE/+VFpcqd2vu7u7r4uGlUAr+5If+r55cItLE1a3GBaBQG3TtMvALu6enfCDnR+q0Cu7kz98WeWCzdNZWR5QWZCBtNYy7W5BsbGh+VtXw24FvtTffZ55MZNu2zuqS1xZ0+l2RPmHAhTv2zvo4cb9sO+yY2bfm5eMtMm4DotsXNDkqduHe/7RcALq1N89Lnkxs2i6sSj2K7VuT3ev0mWN84579wjnfyso9nUcuVW+PUmw3ZdbrFzk3Cr19y3buivFY7lP/pccueusPLDMorTZUW3zlxxcP+CoPJrs1uS6Y3tqT7+zHLnNlYWYzkjuBVGLYFt5/5S0XDTgFc/kBc9lgS3eXNMLzxzrVzOvEEodYvMOh78FDh9uaE9ve0XdqYEmFEy3GaqW+cbWFd+e743of8jMn8jvVrqBDmxQxI95QGUhKS4FY1zY5DfpXW+VDK9HEslMn9bFXZdpFJvzDobn05y3HrII5PksQhSwjknWg4JMvm4EDpuPeYt835oDhu+rlNu1EJu0vobzpLGD8lzE2kVXfia2RHFVnER7h/0/NXw5bmMtunkorqxP6H/EZm/EfAqdv4JDODTEswmL7kvoF86sh60jmNQnGOlCSlqBNngqTzkhnor9dt60Fa3XJO6xXZlTJFsUAOainrIfUfKjgvbQRs3DOAq//wTGNx5UxYf5CE3iWXVPp+yz0tITlRtOcF0VBU1fo/lITcprx01qJ0bejbO9Js1kyrWBrxW0NxQixaOnaXqyWpBVMN6raC5lQ9o4T92vs6xGuSyQ/DcCqwiq6r1jedw9yTABdXguTuAWGhsjBv59gZUPAU1qCxfBLdym4I7JGrj5+N8+3b7/OOnwW4kBFOagxbArdwW6KStUK2mUinjRpG6yqvMK63IcDjEpn+zaxHcysnfxvhmKJulNTi3xw63VpJM3by3XyhZCLdet62mJsnV1LGzTivnuysTSiaH030eoRbErZPvNKqqWigUVLXa+LvnfMOWhRrIV6ZJ99feW+35uYY4XS6MW+/Y9442Ln52No7OOQ27cpM045w0flzpyoZcY1aXcXBqSDvRF8gtUsWEzg/187duGHtyS+r0U7vVZc2+8SWc3BqjbpprtpWhPHjJsaNNJ7dt3g0nd5MyWhbotQGQd11X7XuGuWV8wunSvoUxlNw0tjf2hbwY9HRJl+/EvbMdqona+2PpFZwuOTt1w8hdAb4b5wsRuB4D4ck9tkN5wrV3PZpwRDyM3AMIK+/bRFsEvCu6CfvK2ZHOjCAtG/RDyK2RcCf556y4BfyZvx15PWFz2QkhdyzJz3KiFnktiZ8LWR7n7MJetzk+hpC7iYebBjyJf7kkinrpnFrdZkLI3RV12kMCjlZt6wIrHXJJxpmAcINr3JSGHNNwl1s5TJDmTeyfQKKjDTwd52c5kdUGk8/9OotLoDT34SApkrDrqgivitBVKjoZSz436RWndtOS5XZOtJxCM1kTdHrMTwY79W3S2nQz2263bXvjX6nN77Qb9yW5m0lXagG3Amcjr5FUxtKcvfqcZvovUXpS1FdxepshOe68BPXKCjr70ER5TkpU3F0CsiGOi9XxU3sjSnHTUjO5MtjCBNVaHvsn5aTgVTJWIcbFilHKiTWLUb8UN8UWzqm6otIEenusFUC85+COJ6IzOGHKcOeg3hIvF92ISpOm6LK9C03+mIvWhOyumc8zeZHIcA+EjZdqKEh0SPMuVtTAEI06JEENW1vvUf2HqDepWc1IZLghlm5fWe/iOZEXNv5XoYknFDXjcaxYLE7n8bJZr1/VOTs5ZLghzd0208FqC3eMhl5RUJ7D+IuV15aiBqlTUT31R9QCZe3SbtrpGTfUoryoQpbj1RoNKWbxCeswceO36bg/i2P/SmLaadmN6xk3zeako1al2F1Br0jtT/kBt5pBTsN91rZuUlsrWrYkeset0dGuaV1yidDlNeESOn2wCO8fUNtys+uagvvS3JRoenautUfjkHvHrZRpCd8djt/aYvUt2qmBHpEni7Dp97iGlefepcEu6k37+4/eyI1fzR16HnIrOTZ36eYjrcNKObe1wqp6QeMGpSm4/V+80Rp1fECae0Q3HWcur2h3Vjd3HRvgXnKzvm1lZWU8NyW/iKNNRI2d45Zy87XmcPiU5QYLnLWMZdfpJ+3kiuyYp9xKhTNvk7k9ZjwpqmZCltLs0GQFK8n9SV0qbVuMDyAJDP8Yb7nJYG0lT+alTFMYeDQRr532eu/pqPG7ZaImx31APVqdm213CXiGGsB5za2TNw10PdUHsjeBS4ZTf5wU4Obz0azzFTluMHLjuaVs0p4dfvaeW8/23NYg38wPpnOCqjkeR+GYaElxQ7jbXPsAcCulDlF+cM+ox2cLeYIzObV0yYg+22ZQHQIzpG/yU4i4oTMzxbW6BIMmFx/l0Rru+gUOUVlSvYSKW1dp/f309LSHrCSA743Y+YP6cmJ76XcNa0tvuMG1MxLJtfw2QKL15p+rTUzKU9tIZZ5MK1MPuLWW6WJITDt9RX/KsvIzi4m0btxoGa4KaSjzc7dMaIbuq13pvdMExan2J3Y6sTuDbJiX+5Bn2umnk+F9VoIbtTwCmzfifzUntxlsq2mnnz6tVyP74zCCjzfDjunzL2KBUmkZGxR9Nah96u/CszD4CqB9G3uOJ0pwY2vmwpx5iRch7uRGbNaLZBych5vZB9hWDOnFWJhbKdSyWeyxR1DUzDt+I51YZbFupVCaIA28bl6UObipeyUnrhXUTiQIQX1e5L8GdS7MwLncihQ3TlcWGTz6LTof4/ZsTxlzAo5zj91O+NyHAqMnaAGLMq8Eg2mej/IBzNRG8DOfGz63mcF8bpExp+ia+K5NuszkWHjYBKc/tvzE5y5beiY+tzCX4fxFubQ+UHtOW9FWB2zDrpfPrVkMbsjycNf+FrEfacuSMEHrEhI68zKxQrHJHoJkLEjwuQ3n7Aj5jlZrSOT46pawCUOiB9XAT7b39u72tic2QHzTR1xlX85gIN986rOHXrWNgR3hVpyzDZ7QiFYcTmZ+6fbjgnqRpBrHR+Zetj/sBkk7UxyN1gzXzgmnXoxbChx3etIC4r7dmLC6LKiNHQOlz5m2Zb7HyzAot2NeHUbufbsDS6GxwbZtXq3ZZurWp2Hg3LCOMp5dcm03F5vnneOqEWhdLOyqajhRjE07yQpN+96y5ibgVgwLlLyu5mHFKqH5NB0Ife7XbmmGF6qN4+uvo+sLlvGFsVFc/f47k81kMtndvr2MEXNTcb+WI/7Ostia2hOxnbqp4zvWkZ/sXdBDFuPDzYMD3uRMlttZt0DyI6WJ0IHdI4HVQMG66f6cbt6VsNGZnVtkSCowtvRK17AT/9hGeLIDzgR2gxKnZueGrosfcA2boXon6mjJcQn7K2e9MDs3/tAMtiDh9q/nEtgMVXn5fFzA3WbGmoObGds53099hv0PN98uh1qrcPYqW0SuG+q9xIStM+X4Ec9h18NDkdaNeaMRtxmHBZFN1E3LpftD11NZ2WYZryqslPO3Mxe5I91KMO3L2J+i3JqxfG6SV1iwfR67wTwNbcMkh6tCy6iPFO68NBZ+38B82lcs1yqXW6Zrp99PAiJOWaizKbjsqPu325j2LqC+dbUZEtwnMp/uZp2v+L3SQsjwcJ3DGJ5CRevZhlvXJ74f6py2BfD8RuJki3fZvyQMI1dT7p5x4vvAFatdaQzxKvVUYu5td+5CQ8Li1+37DtS0E6aqEd+/8QA64rnGmaLxLqBSq40LGUdnie+3aJXDcrkscO30VsSYHHU+BA/B1eMdVNe/5byVgvxej5zOU6LSZF+YDfIKH3dHWJrAzMQDa/LwcYNJL+Y+fg5FiQf/JITc8OSBKr/wIBMyT5xNQ8jdITHlV2z0YQxeuMKFkFv5AjpO5wUzVPWvF/8jjNwnVX6tScdub/y5w8htPDPGNojfwVG77/GMCiW38gWRrU56323v0GOeZHlYuZUNSPVC6vjjV+fkpPPr9w81QpRYTZVTSLmV/QadY6iphi42vUSirZXJHe3pHhkZVm69NTsezFCwt3iiMrHAo2pOsTYQWm6l89dKrqY4E62WZXNXMjmQJQ8vN7j2Mi9XMr3cca6qaXnHljZZw8cwc+sj+fnXTiHVUHf29zgTlTLPgCXZlKIJN7dQxpZVvWFvDYeDm66xtU0m15eXu9VlmxaNW/FahO3VleFZWu4Ki7bllhU1o0Ftkya0tNw3NNi2o9TmVcLbdFm5wS7H6bygaHA9hI6PoGXlRg01NMyDw3n+EnJDQ+5yO+6cq8UnkYstZFgFdjtIiQJuMy7lS1nknhZeQWeOuSO1JJjg2shZWodJEZH5Gc1hYfEykHDjCqO2VgTOpuCyk4yQmzx8RejI7+ZEEkLlheECF2s3o0yJsS58AtM39HNHZAwj3e3LQ6imsAXLcAs8xEIscZ7H3LiT3cHylSxExCUQ94Tcgl4rj2orspzUrOdCSxMZD8HllLA0qSxpDSojkb3hUFjULLcGeOEBEzKxIezyCuYV/IqNPowh6A8UlGBiwXN2pAsSi9q/6rsOqbejo9dmNcsiPlIwGnKNnbdcHT6XXtS/PJmfYGzRhWRPn4sWPt2worMZI7dCK62hsXy+fOsJ08m4OzY5u5zikWjLK96DGf7Vkdui8o1t6rWsE62p1cp3TfRkcvBPzkb40nLDfHPlpjkYLmAp4f8BhJ8OPgVwS1AAAAAASUVORK5CYII=" id="681" name="Google Shape;681;p79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data:image/png;base64,iVBORw0KGgoAAAANSUhEUgAAAPcAAADMCAMAAACY78UPAAAA+VBMVEX////FxcV7hY4Ar9jzLUD/oC7BwcEArdcAq9ZxfIbzJTryEi780dRyyOS74/H1aHL/mQz/+/f39/f/mATT09OSmqHzJzz/niTS7farsbbj5efu7u7yGDH82NtDvN7/79/1VmT/qkv6u7/3gYryACeIkZnW1tb/nB3/9u3+8fJteYOv3+/m6On3j5bzOkv+9/iJ0ej/xIv/3sD7xcn0TVv/uXL/59Kypn+fpqz2eYKCi5T94OL4oKb5rLF2qqqyuLz/pT3/yZX/1rDG6PP/sF3/4MTlaHI5udz/tWnp9vvYk5iFz+ee2ez4mqD/z6L3jJP1YWz/rlf0RFMQWVlrAAATCklEQVR4nN2deUPisNbGiyhLGRTLKiC4sAi44XZRxwvqeNXXbfT7f5i3OUkLbXPSAG0p8/ylhSq/npPkJCVPFSUkKr2na9Fo9Dn9Xlr0RwlQ79FEIh7XuePxRCJ6qi368wSjdx06OpaOfrrojxSAXp8TUbsS0ddFfyy/VYrHjSiDjN8eF/3B/FWJgiYStV7pVdFKvXSChj+xvuiP5qdeATueeBvntXbKwP/ljv0ZkjpqRaQtPh5d0GcKQBDa+LPjeI0cT6QX8IkC0Ssa1+f4v5zpbxBW3pClwRWpBf6JghHAvXNf6qGXZPm1DmzIi3r+RxP8a7LsShO0N+TF98Q/m+ik80L7LujzlnYoe3yr4YoL0pw2/iVt4DC9dEw6rEJPFmZDmKVxJlp2CYqy2rKO4FG3UP+b3NB8zeklT1Fh+4aBbPnad49ipddLqKLCnks0uHutzauns7OnAy/+FGR5XJinJCMSPeTFxwR3xuKD6v1RNtNutzOZzMvD5px/rJRwb57v5NJgaMKixkM97WaKa4aK7Ux/PnLC5FZuvQquDX3N98Wmg+8JalA78zDPH0yLctgQrDrwA07agP8rD08mdVEX+zHzMsdfBG63JbJHCCpv0ZhOx/yeljxkjezevez3/6xl2jTko9lzXYqbBpyTFo+BLDQx7OyfM8ZZv28DeXE089+U4y7Rwc4eVzYG+ty6r7I0uFeTB/twsDhzqstxw2xTf2NtchTX0vSg3505tOf2pe3oVQba+KydmyS3QhnjibTRrZfe2Iq633PvPknpdt9xvE7BZ2zistwMnNSztfTpWy1u3DbwG/uAJHTxD+cVyP+i84JISZpbOTWnqvFE3PjR/zXkPknzNjeq9yQTsrMFXJ5beYza56vxuP83iSDLkVZcFLzmoim4SXE3sTwRzG1g6L7ayIufbaQJuGsqbkVZT5sT1ppbleeJAA1rwwfkomRn+rs87ko5F4nEYpFI65Bzxutjr9d7DGrCfanncvsMe3VEkuGpjukAb/tO7nJEJ2aKxXIL/i7HLhmr6tirl9DCM7h2PxF0O3d5DM3Qc16jTKWRcIzu2yZpTmHTNht3zo5NyHnZHpTEtcm9K7d+tr3SA1m4tXF+g4zfyr4gSWneePNrPSu3FjNS+xBadcVo6rGWL0wy+kO4r9BXCfdoF9ManbZnn5xnTnJHnJCHi444iShemrgVbAd9KOLXnK9McOcoo60Db0HIY4vq1h9EpYmwqGHnk7dknAEfcx/SnHa8o4wcD0Z1MvnIICvHZBgrcrutsV6K3MJnzB3B8CDiC+vUSceGsMFMFG/8VJATI8dhkxvCGqvwTs0tMuAP0Ia5cN9Fftu1aJPfFkxuYOP32xp+SQIQwBU5mQ4LEq4LLsCdcRw2uCkb0nvl8Gviv87IBy+uOcDv4fiu2+ku3GWChpWkldgCEx16prVi0ZbqlzBCZdHS3ZALd07Yd0EyzPCRvdEarT4uJ0J+Ru8eZN0XHVy4xYN0zlm1W5Qr+zm+H7RpG8++PNT1IuXg6r5Ibxxk7t1PluFGT265cLtM2zrndx9HH3e/OhKQPB3QiJMbJtlsNmPcNMpKYLtxizPZnRvv8Dsfx41UtapWq6nGz+/Z0DdfMo7pRrHNKbs5p/obbwy8c92oFlYNFaqN/dnIz1hqm9TZS7mF1PnbdwwXA3ee/7uhrlqlpu6mwJ3QwyjTZumu5/ula0fOJNOfo6UJDaeGqsy6N/t5f1MsznqWV1UW99SGPKxF9c+XUTHTXvvun8kvmrtwQyZjpYnmPo7lOAE/+VFpcqd2vu7u7r4uGlUAr+5If+r55cItLE1a3GBaBQG3TtMvALu6enfCDnR+q0Cu7kz98WeWCzdNZWR5QWZCBtNYy7W5BsbGh+VtXw24FvtTffZ55MZNu2zuqS1xZ0+l2RPmHAhTv2zvo4cb9sO+yY2bfm5eMtMm4DotsXNDkqduHe/7RcALq1N89Lnkxs2i6sSj2K7VuT3ev0mWN84579wjnfyso9nUcuVW+PUmw3ZdbrFzk3Cr19y3buivFY7lP/pccueusPLDMorTZUW3zlxxcP+CoPJrs1uS6Y3tqT7+zHLnNlYWYzkjuBVGLYFt5/5S0XDTgFc/kBc9lgS3eXNMLzxzrVzOvEEodYvMOh78FDh9uaE9ve0XdqYEmFEy3GaqW+cbWFd+e743of8jMn8jvVrqBDmxQxI95QGUhKS4FY1zY5DfpXW+VDK9HEslMn9bFXZdpFJvzDobn05y3HrII5PksQhSwjknWg4JMvm4EDpuPeYt835oDhu+rlNu1EJu0vobzpLGD8lzE2kVXfia2RHFVnER7h/0/NXw5bmMtunkorqxP6H/EZm/EfAqdv4JDODTEswmL7kvoF86sh60jmNQnGOlCSlqBNngqTzkhnor9dt60Fa3XJO6xXZlTJFsUAOainrIfUfKjgvbQRs3DOAq//wTGNx5UxYf5CE3iWXVPp+yz0tITlRtOcF0VBU1fo/lITcprx01qJ0bejbO9Js1kyrWBrxW0NxQixaOnaXqyWpBVMN6raC5lQ9o4T92vs6xGuSyQ/DcCqwiq6r1jedw9yTABdXguTuAWGhsjBv59gZUPAU1qCxfBLdym4I7JGrj5+N8+3b7/OOnwW4kBFOagxbArdwW6KStUK2mUinjRpG6yqvMK63IcDjEpn+zaxHcysnfxvhmKJulNTi3xw63VpJM3by3XyhZCLdet62mJsnV1LGzTivnuysTSiaH030eoRbErZPvNKqqWigUVLXa+LvnfMOWhRrIV6ZJ99feW+35uYY4XS6MW+/Y9442Ln52No7OOQ27cpM045w0flzpyoZcY1aXcXBqSDvRF8gtUsWEzg/187duGHtyS+r0U7vVZc2+8SWc3BqjbpprtpWhPHjJsaNNJ7dt3g0nd5MyWhbotQGQd11X7XuGuWV8wunSvoUxlNw0tjf2hbwY9HRJl+/EvbMdqona+2PpFZwuOTt1w8hdAb4b5wsRuB4D4ck9tkN5wrV3PZpwRDyM3AMIK+/bRFsEvCu6CfvK2ZHOjCAtG/RDyK2RcCf556y4BfyZvx15PWFz2QkhdyzJz3KiFnktiZ8LWR7n7MJetzk+hpC7iYebBjyJf7kkinrpnFrdZkLI3RV12kMCjlZt6wIrHXJJxpmAcINr3JSGHNNwl1s5TJDmTeyfQKKjDTwd52c5kdUGk8/9OotLoDT34SApkrDrqgivitBVKjoZSz436RWndtOS5XZOtJxCM1kTdHrMTwY79W3S2nQz2263bXvjX6nN77Qb9yW5m0lXagG3Amcjr5FUxtKcvfqcZvovUXpS1FdxepshOe68BPXKCjr70ER5TkpU3F0CsiGOi9XxU3sjSnHTUjO5MtjCBNVaHvsn5aTgVTJWIcbFilHKiTWLUb8UN8UWzqm6otIEenusFUC85+COJ6IzOGHKcOeg3hIvF92ISpOm6LK9C03+mIvWhOyumc8zeZHIcA+EjZdqKEh0SPMuVtTAEI06JEENW1vvUf2HqDepWc1IZLghlm5fWe/iOZEXNv5XoYknFDXjcaxYLE7n8bJZr1/VOTs5ZLghzd0208FqC3eMhl5RUJ7D+IuV15aiBqlTUT31R9QCZe3SbtrpGTfUoryoQpbj1RoNKWbxCeswceO36bg/i2P/SmLaadmN6xk3zeako1al2F1Br0jtT/kBt5pBTsN91rZuUlsrWrYkeset0dGuaV1yidDlNeESOn2wCO8fUNtys+uagvvS3JRoenautUfjkHvHrZRpCd8djt/aYvUt2qmBHpEni7Dp97iGlefepcEu6k37+4/eyI1fzR16HnIrOTZ36eYjrcNKObe1wqp6QeMGpSm4/V+80Rp1fECae0Q3HWcur2h3Vjd3HRvgXnKzvm1lZWU8NyW/iKNNRI2d45Zy87XmcPiU5QYLnLWMZdfpJ+3kiuyYp9xKhTNvk7k9ZjwpqmZCltLs0GQFK8n9SV0qbVuMDyAJDP8Yb7nJYG0lT+alTFMYeDQRr532eu/pqPG7ZaImx31APVqdm213CXiGGsB5za2TNw10PdUHsjeBS4ZTf5wU4Obz0azzFTluMHLjuaVs0p4dfvaeW8/23NYg38wPpnOCqjkeR+GYaElxQ7jbXPsAcCulDlF+cM+ox2cLeYIzObV0yYg+22ZQHQIzpG/yU4i4oTMzxbW6BIMmFx/l0Rru+gUOUVlSvYSKW1dp/f309LSHrCSA743Y+YP6cmJ76XcNa0tvuMG1MxLJtfw2QKL15p+rTUzKU9tIZZ5MK1MPuLWW6WJITDt9RX/KsvIzi4m0btxoGa4KaSjzc7dMaIbuq13pvdMExan2J3Y6sTuDbJiX+5Bn2umnk+F9VoIbtTwCmzfifzUntxlsq2mnnz6tVyP74zCCjzfDjunzL2KBUmkZGxR9Nah96u/CszD4CqB9G3uOJ0pwY2vmwpx5iRch7uRGbNaLZBych5vZB9hWDOnFWJhbKdSyWeyxR1DUzDt+I51YZbFupVCaIA28bl6UObipeyUnrhXUTiQIQX1e5L8GdS7MwLncihQ3TlcWGTz6LTof4/ZsTxlzAo5zj91O+NyHAqMnaAGLMq8Eg2mej/IBzNRG8DOfGz63mcF8bpExp+ia+K5NuszkWHjYBKc/tvzE5y5beiY+tzCX4fxFubQ+UHtOW9FWB2zDrpfPrVkMbsjycNf+FrEfacuSMEHrEhI68zKxQrHJHoJkLEjwuQ3n7Aj5jlZrSOT46pawCUOiB9XAT7b39u72tic2QHzTR1xlX85gIN986rOHXrWNgR3hVpyzDZ7QiFYcTmZ+6fbjgnqRpBrHR+Zetj/sBkk7UxyN1gzXzgmnXoxbChx3etIC4r7dmLC6LKiNHQOlz5m2Zb7HyzAot2NeHUbufbsDS6GxwbZtXq3ZZurWp2Hg3LCOMp5dcm03F5vnneOqEWhdLOyqajhRjE07yQpN+96y5ibgVgwLlLyu5mHFKqH5NB0Ife7XbmmGF6qN4+uvo+sLlvGFsVFc/f47k81kMtndvr2MEXNTcb+WI/7Ostia2hOxnbqp4zvWkZ/sXdBDFuPDzYMD3uRMlttZt0DyI6WJ0IHdI4HVQMG66f6cbt6VsNGZnVtkSCowtvRK17AT/9hGeLIDzgR2gxKnZueGrosfcA2boXon6mjJcQn7K2e9MDs3/tAMtiDh9q/nEtgMVXn5fFzA3WbGmoObGds53099hv0PN98uh1qrcPYqW0SuG+q9xIStM+X4Ec9h18NDkdaNeaMRtxmHBZFN1E3LpftD11NZ2WYZryqslPO3Mxe5I91KMO3L2J+i3JqxfG6SV1iwfR67wTwNbcMkh6tCy6iPFO68NBZ+38B82lcs1yqXW6Zrp99PAiJOWaizKbjsqPu325j2LqC+dbUZEtwnMp/uZp2v+L3SQsjwcJ3DGJ5CRevZhlvXJ74f6py2BfD8RuJki3fZvyQMI1dT7p5x4vvAFatdaQzxKvVUYu5td+5CQ8Li1+37DtS0E6aqEd+/8QA64rnGmaLxLqBSq40LGUdnie+3aJXDcrkscO30VsSYHHU+BA/B1eMdVNe/5byVgvxej5zOU6LSZF+YDfIKH3dHWJrAzMQDa/LwcYNJL+Y+fg5FiQf/JITc8OSBKr/wIBMyT5xNQ8jdITHlV2z0YQxeuMKFkFv5AjpO5wUzVPWvF/8jjNwnVX6tScdub/y5w8htPDPGNojfwVG77/GMCiW38gWRrU56323v0GOeZHlYuZUNSPVC6vjjV+fkpPPr9w81QpRYTZVTSLmV/QadY6iphi42vUSirZXJHe3pHhkZVm69NTsezFCwt3iiMrHAo2pOsTYQWm6l89dKrqY4E62WZXNXMjmQJQ8vN7j2Mi9XMr3cca6qaXnHljZZw8cwc+sj+fnXTiHVUHf29zgTlTLPgCXZlKIJN7dQxpZVvWFvDYeDm66xtU0m15eXu9VlmxaNW/FahO3VleFZWu4Ki7bllhU1o0Ftkya0tNw3NNi2o9TmVcLbdFm5wS7H6bygaHA9hI6PoGXlRg01NMyDw3n+EnJDQ+5yO+6cq8UnkYstZFgFdjtIiQJuMy7lS1nknhZeQWeOuSO1JJjg2shZWodJEZH5Gc1hYfEykHDjCqO2VgTOpuCyk4yQmzx8RejI7+ZEEkLlheECF2s3o0yJsS58AtM39HNHZAwj3e3LQ6imsAXLcAs8xEIscZ7H3LiT3cHylSxExCUQ94Tcgl4rj2orspzUrOdCSxMZD8HllLA0qSxpDSojkb3hUFjULLcGeOEBEzKxIezyCuYV/IqNPowh6A8UlGBiwXN2pAsSi9q/6rsOqbejo9dmNcsiPlIwGnKNnbdcHT6XXtS/PJmfYGzRhWRPn4sWPt2worMZI7dCK62hsXy+fOsJ08m4OzY5u5zikWjLK96DGf7Vkdui8o1t6rWsE62p1cp3TfRkcvBPzkb40nLDfHPlpjkYLmAp4f8BhJ8OPgVwS1AAAAAASUVORK5CYII=" id="682" name="Google Shape;682;p79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683" name="Google Shape;683;p79"/>
          <p:cNvGrpSpPr/>
          <p:nvPr/>
        </p:nvGrpSpPr>
        <p:grpSpPr>
          <a:xfrm>
            <a:off x="260679" y="2995293"/>
            <a:ext cx="9582122" cy="3678040"/>
            <a:chOff x="260679" y="2995293"/>
            <a:chExt cx="9582122" cy="3678040"/>
          </a:xfrm>
        </p:grpSpPr>
        <p:sp>
          <p:nvSpPr>
            <p:cNvPr id="684" name="Google Shape;684;p79"/>
            <p:cNvSpPr/>
            <p:nvPr/>
          </p:nvSpPr>
          <p:spPr>
            <a:xfrm>
              <a:off x="2388514" y="2995293"/>
              <a:ext cx="4925555" cy="1995672"/>
            </a:xfrm>
            <a:prstGeom prst="roundRect">
              <a:avLst>
                <a:gd fmla="val 16667" name="adj"/>
              </a:avLst>
            </a:prstGeom>
            <a:solidFill>
              <a:srgbClr val="8A4C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N-Tier Architectural Model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685" name="Google Shape;685;p79"/>
            <p:cNvCxnSpPr>
              <a:stCxn id="686" idx="2"/>
            </p:cNvCxnSpPr>
            <p:nvPr/>
          </p:nvCxnSpPr>
          <p:spPr>
            <a:xfrm>
              <a:off x="4766172" y="4990490"/>
              <a:ext cx="0" cy="251100"/>
            </a:xfrm>
            <a:prstGeom prst="straightConnector1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87" name="Google Shape;687;p79"/>
            <p:cNvGrpSpPr/>
            <p:nvPr/>
          </p:nvGrpSpPr>
          <p:grpSpPr>
            <a:xfrm>
              <a:off x="260679" y="3404821"/>
              <a:ext cx="9582122" cy="3268512"/>
              <a:chOff x="785729" y="3141888"/>
              <a:chExt cx="9968510" cy="3440484"/>
            </a:xfrm>
          </p:grpSpPr>
          <p:sp>
            <p:nvSpPr>
              <p:cNvPr id="688" name="Google Shape;688;p79"/>
              <p:cNvSpPr txBox="1"/>
              <p:nvPr/>
            </p:nvSpPr>
            <p:spPr>
              <a:xfrm>
                <a:off x="785729" y="4490021"/>
                <a:ext cx="1649889" cy="3209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99F1B"/>
                  </a:buClr>
                  <a:buSzPts val="1800"/>
                  <a:buFont typeface="Arial"/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Client Tier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pic>
            <p:nvPicPr>
              <p:cNvPr descr="https://d30y9cdsu7xlg0.cloudfront.net/png/21070-200.png" id="689" name="Google Shape;689;p7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93478" y="3231161"/>
                <a:ext cx="1234391" cy="123439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0" name="Google Shape;690;p79"/>
              <p:cNvSpPr txBox="1"/>
              <p:nvPr/>
            </p:nvSpPr>
            <p:spPr>
              <a:xfrm>
                <a:off x="2998068" y="4169056"/>
                <a:ext cx="1649889" cy="641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99F1B"/>
                  </a:buClr>
                  <a:buSzPts val="1800"/>
                  <a:buFont typeface="Arial"/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Presentation Tier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86" name="Google Shape;686;p79"/>
              <p:cNvSpPr txBox="1"/>
              <p:nvPr/>
            </p:nvSpPr>
            <p:spPr>
              <a:xfrm>
                <a:off x="4647956" y="4169056"/>
                <a:ext cx="1649889" cy="641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99F1B"/>
                  </a:buClr>
                  <a:buSzPts val="1800"/>
                  <a:buFont typeface="Arial"/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Business Tier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91" name="Google Shape;691;p79"/>
              <p:cNvSpPr txBox="1"/>
              <p:nvPr/>
            </p:nvSpPr>
            <p:spPr>
              <a:xfrm>
                <a:off x="6272281" y="4169056"/>
                <a:ext cx="1649889" cy="641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99F1B"/>
                  </a:buClr>
                  <a:buSzPts val="1800"/>
                  <a:buFont typeface="Arial"/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Integration</a:t>
                </a:r>
                <a:endParaRPr/>
              </a:p>
              <a:p>
                <a:pPr indent="0" lvl="0" marL="0" marR="0" rtl="0" algn="ctr">
                  <a:spcBef>
                    <a:spcPts val="360"/>
                  </a:spcBef>
                  <a:spcAft>
                    <a:spcPts val="0"/>
                  </a:spcAft>
                  <a:buClr>
                    <a:srgbClr val="F99F1B"/>
                  </a:buClr>
                  <a:buSzPts val="1800"/>
                  <a:buFont typeface="Arial"/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Tier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92" name="Google Shape;692;p79"/>
              <p:cNvSpPr txBox="1"/>
              <p:nvPr/>
            </p:nvSpPr>
            <p:spPr>
              <a:xfrm>
                <a:off x="8597431" y="4169555"/>
                <a:ext cx="2156808" cy="641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99F1B"/>
                  </a:buClr>
                  <a:buSzPts val="1800"/>
                  <a:buFont typeface="Arial"/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EIS/Data (Resource) Tier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pic>
            <p:nvPicPr>
              <p:cNvPr descr="http://www.iconsdb.com/icons/preview/purple/text-file-xxl.png" id="693" name="Google Shape;693;p7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980118" y="5465402"/>
                <a:ext cx="747638" cy="7476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ttp://www.iconsdb.com/icons/preview/purple/text-file-xxl.png" id="694" name="Google Shape;694;p7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337724" y="5465402"/>
                <a:ext cx="747638" cy="7476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5" name="Google Shape;695;p79"/>
              <p:cNvSpPr txBox="1"/>
              <p:nvPr/>
            </p:nvSpPr>
            <p:spPr>
              <a:xfrm>
                <a:off x="1361582" y="6213040"/>
                <a:ext cx="398471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99F1B"/>
                  </a:buClr>
                  <a:buSzPts val="1800"/>
                  <a:buFont typeface="Arial"/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Separates Application Functionality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696" name="Google Shape;696;p79"/>
              <p:cNvSpPr txBox="1"/>
              <p:nvPr/>
            </p:nvSpPr>
            <p:spPr>
              <a:xfrm>
                <a:off x="5751063" y="6180774"/>
                <a:ext cx="398471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99F1B"/>
                  </a:buClr>
                  <a:buSzPts val="1800"/>
                  <a:buFont typeface="Arial"/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Includes Tier Components and Server-side Infrastructure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pic>
            <p:nvPicPr>
              <p:cNvPr descr="https://d30y9cdsu7xlg0.cloudfront.net/png/17847-200.png" id="697" name="Google Shape;697;p7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250190" y="3141888"/>
                <a:ext cx="1145643" cy="11456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ttps://www.icims.com/sites/www.icims.com/files/public/build_talent_pools%5B1%5D.png" id="698" name="Google Shape;698;p7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4933150" y="3141888"/>
                <a:ext cx="1079499" cy="10794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ttps://medisas.com/assets/integration_octopus-b224f046d40de76376604eebb80e1c98.png" id="699" name="Google Shape;699;p7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444005" y="3173826"/>
                <a:ext cx="1306439" cy="108176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ttp://www.iconsdb.com/icons/download/purple/data-configuration-512.png" id="700" name="Google Shape;700;p7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154693" y="3150548"/>
                <a:ext cx="1042284" cy="104228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701" name="Google Shape;701;p79"/>
            <p:cNvCxnSpPr/>
            <p:nvPr/>
          </p:nvCxnSpPr>
          <p:spPr>
            <a:xfrm>
              <a:off x="7333033" y="3993129"/>
              <a:ext cx="722815" cy="0"/>
            </a:xfrm>
            <a:prstGeom prst="straightConnector1">
              <a:avLst/>
            </a:prstGeom>
            <a:noFill/>
            <a:ln cap="flat" cmpd="sng" w="28575">
              <a:solidFill>
                <a:srgbClr val="F99F1B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702" name="Google Shape;702;p79"/>
            <p:cNvCxnSpPr/>
            <p:nvPr/>
          </p:nvCxnSpPr>
          <p:spPr>
            <a:xfrm>
              <a:off x="1722532" y="3917591"/>
              <a:ext cx="665982" cy="0"/>
            </a:xfrm>
            <a:prstGeom prst="straightConnector1">
              <a:avLst/>
            </a:prstGeom>
            <a:noFill/>
            <a:ln cap="flat" cmpd="sng" w="28575">
              <a:solidFill>
                <a:srgbClr val="F99F1B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703" name="Google Shape;703;p79"/>
            <p:cNvCxnSpPr>
              <a:endCxn id="693" idx="0"/>
            </p:cNvCxnSpPr>
            <p:nvPr/>
          </p:nvCxnSpPr>
          <p:spPr>
            <a:xfrm flipH="1">
              <a:off x="2729341" y="5241695"/>
              <a:ext cx="2067600" cy="370500"/>
            </a:xfrm>
            <a:prstGeom prst="bentConnector2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704" name="Google Shape;704;p79"/>
            <p:cNvCxnSpPr>
              <a:endCxn id="694" idx="0"/>
            </p:cNvCxnSpPr>
            <p:nvPr/>
          </p:nvCxnSpPr>
          <p:spPr>
            <a:xfrm>
              <a:off x="4766143" y="5241695"/>
              <a:ext cx="2151900" cy="370500"/>
            </a:xfrm>
            <a:prstGeom prst="bentConnector2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0"/>
          <p:cNvSpPr txBox="1"/>
          <p:nvPr>
            <p:ph type="title"/>
          </p:nvPr>
        </p:nvSpPr>
        <p:spPr>
          <a:xfrm>
            <a:off x="760414" y="3048000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7200"/>
              <a:buFont typeface="Libre Baskerville"/>
              <a:buNone/>
            </a:pPr>
            <a:r>
              <a:rPr lang="en-US" sz="7200" cap="none">
                <a:solidFill>
                  <a:srgbClr val="F99F1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sz="7200" cap="none">
              <a:solidFill>
                <a:srgbClr val="F99F1B"/>
              </a:solidFill>
            </a:endParaRPr>
          </a:p>
        </p:txBody>
      </p:sp>
      <p:pic>
        <p:nvPicPr>
          <p:cNvPr descr="http://wilddiary.com/wp-content/uploads/2015/07/java_1.png" id="710" name="Google Shape;71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77" y="188640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81"/>
          <p:cNvSpPr txBox="1"/>
          <p:nvPr>
            <p:ph idx="1" type="body"/>
          </p:nvPr>
        </p:nvSpPr>
        <p:spPr>
          <a:xfrm>
            <a:off x="0" y="1263118"/>
            <a:ext cx="10959963" cy="5410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300"/>
              <a:buNone/>
            </a:pPr>
            <a:r>
              <a:rPr lang="en-US" sz="2300">
                <a:solidFill>
                  <a:srgbClr val="610786"/>
                </a:solidFill>
              </a:rPr>
              <a:t>Java EE specification comprises suite of other APIs such as: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Enterprise JavaBeans Technology (EJB)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Database Connectivity {JDBC) API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Servlet Technology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Server Pages (JSP) Technology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Message Service (JMS)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Naming and Directory Interface (JNDI)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Transaction API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Mail API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JavaBeans Activation Framework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API for XML Processing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EE Connector Architecture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Authentication and Authorization Service (JAAS)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Architecture for XML Binding (JAXB)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Persistence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Server Faces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API for XML Web Services (JAX-WS)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Java Specification Request (JSR-181), and</a:t>
            </a:r>
            <a:endParaRPr/>
          </a:p>
          <a:p>
            <a:pPr indent="-342900" lvl="0" marL="342900" rtl="0" algn="l">
              <a:spcBef>
                <a:spcPts val="460"/>
              </a:spcBef>
              <a:spcAft>
                <a:spcPts val="0"/>
              </a:spcAft>
              <a:buClr>
                <a:srgbClr val="F99F1B"/>
              </a:buClr>
              <a:buSzPts val="2300"/>
              <a:buChar char="•"/>
            </a:pPr>
            <a:r>
              <a:rPr lang="en-US" sz="2300">
                <a:solidFill>
                  <a:srgbClr val="610786"/>
                </a:solidFill>
              </a:rPr>
              <a:t>Streaming API for XML (StAX)</a:t>
            </a:r>
            <a:endParaRPr/>
          </a:p>
        </p:txBody>
      </p:sp>
      <p:sp>
        <p:nvSpPr>
          <p:cNvPr id="716" name="Google Shape;716;p81"/>
          <p:cNvSpPr/>
          <p:nvPr/>
        </p:nvSpPr>
        <p:spPr>
          <a:xfrm>
            <a:off x="297196" y="618656"/>
            <a:ext cx="48013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Java EE specifications</a:t>
            </a:r>
            <a:endParaRPr/>
          </a:p>
        </p:txBody>
      </p:sp>
      <p:pic>
        <p:nvPicPr>
          <p:cNvPr descr="http://wilddiary.com/wp-content/uploads/2015/07/java_1.png" id="717" name="Google Shape;717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718" name="Google Shape;718;p81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19" name="Google Shape;719;p81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82"/>
          <p:cNvSpPr txBox="1"/>
          <p:nvPr>
            <p:ph idx="1" type="body"/>
          </p:nvPr>
        </p:nvSpPr>
        <p:spPr>
          <a:xfrm>
            <a:off x="211199" y="2132856"/>
            <a:ext cx="10959963" cy="1157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3200"/>
              <a:buNone/>
            </a:pPr>
            <a:r>
              <a:rPr lang="en-US">
                <a:solidFill>
                  <a:srgbClr val="610786"/>
                </a:solidFill>
              </a:rPr>
              <a:t>Let us take a look at the different types of Java EE suite.</a:t>
            </a:r>
            <a:endParaRPr>
              <a:solidFill>
                <a:srgbClr val="610786"/>
              </a:solidFill>
            </a:endParaRPr>
          </a:p>
        </p:txBody>
      </p:sp>
      <p:sp>
        <p:nvSpPr>
          <p:cNvPr id="725" name="Google Shape;725;p82"/>
          <p:cNvSpPr/>
          <p:nvPr/>
        </p:nvSpPr>
        <p:spPr>
          <a:xfrm>
            <a:off x="297196" y="618656"/>
            <a:ext cx="32111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Java EE  Suite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726" name="Google Shape;726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727" name="Google Shape;727;p82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28" name="Google Shape;728;p82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29" name="Google Shape;729;p82"/>
          <p:cNvSpPr/>
          <p:nvPr/>
        </p:nvSpPr>
        <p:spPr>
          <a:xfrm>
            <a:off x="107652" y="3284984"/>
            <a:ext cx="2112363" cy="1656184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Core Technology</a:t>
            </a:r>
            <a:endParaRPr sz="24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30" name="Google Shape;730;p82"/>
          <p:cNvSpPr/>
          <p:nvPr/>
        </p:nvSpPr>
        <p:spPr>
          <a:xfrm>
            <a:off x="2432419" y="3284984"/>
            <a:ext cx="2112363" cy="1656184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 Technology</a:t>
            </a:r>
            <a:endParaRPr sz="24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31" name="Google Shape;731;p82"/>
          <p:cNvSpPr/>
          <p:nvPr/>
        </p:nvSpPr>
        <p:spPr>
          <a:xfrm>
            <a:off x="4757186" y="3284984"/>
            <a:ext cx="2112363" cy="1656184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Enterprise Java Bean (EJB) Technology</a:t>
            </a:r>
            <a:endParaRPr sz="24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32" name="Google Shape;732;p82"/>
          <p:cNvSpPr/>
          <p:nvPr/>
        </p:nvSpPr>
        <p:spPr>
          <a:xfrm>
            <a:off x="7081953" y="3284984"/>
            <a:ext cx="2112363" cy="1656184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XML Technology</a:t>
            </a:r>
            <a:endParaRPr sz="24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33" name="Google Shape;733;p82"/>
          <p:cNvSpPr/>
          <p:nvPr/>
        </p:nvSpPr>
        <p:spPr>
          <a:xfrm>
            <a:off x="9406720" y="3284984"/>
            <a:ext cx="2112363" cy="1656184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Platform Services</a:t>
            </a:r>
            <a:endParaRPr sz="24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3"/>
          <p:cNvSpPr/>
          <p:nvPr/>
        </p:nvSpPr>
        <p:spPr>
          <a:xfrm>
            <a:off x="1341884" y="675806"/>
            <a:ext cx="32111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Java EE  Suite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739" name="Google Shape;739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333" y="213670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740" name="Google Shape;740;p83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41" name="Google Shape;741;p83"/>
          <p:cNvSpPr txBox="1"/>
          <p:nvPr>
            <p:ph type="title"/>
          </p:nvPr>
        </p:nvSpPr>
        <p:spPr>
          <a:xfrm>
            <a:off x="1341884" y="5715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42" name="Google Shape;742;p83"/>
          <p:cNvSpPr/>
          <p:nvPr/>
        </p:nvSpPr>
        <p:spPr>
          <a:xfrm>
            <a:off x="238344" y="1628800"/>
            <a:ext cx="3268599" cy="1656184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Core Technology</a:t>
            </a:r>
            <a:endParaRPr sz="24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43" name="Google Shape;743;p83"/>
          <p:cNvSpPr/>
          <p:nvPr/>
        </p:nvSpPr>
        <p:spPr>
          <a:xfrm>
            <a:off x="4195921" y="1628800"/>
            <a:ext cx="3268599" cy="1656184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 Technology</a:t>
            </a:r>
            <a:endParaRPr sz="24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44" name="Google Shape;744;p83"/>
          <p:cNvSpPr/>
          <p:nvPr/>
        </p:nvSpPr>
        <p:spPr>
          <a:xfrm>
            <a:off x="8153498" y="1628800"/>
            <a:ext cx="3268599" cy="1656184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Enterprise Java Bean (EJB) Technology</a:t>
            </a:r>
            <a:endParaRPr sz="24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45" name="Google Shape;745;p83"/>
          <p:cNvSpPr/>
          <p:nvPr/>
        </p:nvSpPr>
        <p:spPr>
          <a:xfrm>
            <a:off x="218567" y="3645024"/>
            <a:ext cx="3289764" cy="2664296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Core technology consists of: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Container infrastructure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Language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Environment support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46" name="Google Shape;746;p83"/>
          <p:cNvSpPr/>
          <p:nvPr/>
        </p:nvSpPr>
        <p:spPr>
          <a:xfrm>
            <a:off x="4174791" y="3645024"/>
            <a:ext cx="3289764" cy="2664296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 technology consists of: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Java Servlets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Java Server Pages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Java Server Pages standard tag library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47" name="Google Shape;747;p83"/>
          <p:cNvSpPr/>
          <p:nvPr/>
        </p:nvSpPr>
        <p:spPr>
          <a:xfrm>
            <a:off x="8086219" y="3645024"/>
            <a:ext cx="3289764" cy="2664296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Enterprise Java Bean (EJB) technology comprises of 3 kinds of bears: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Session beans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Entity beans Message-driven beans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84"/>
          <p:cNvSpPr/>
          <p:nvPr/>
        </p:nvSpPr>
        <p:spPr>
          <a:xfrm>
            <a:off x="297196" y="618656"/>
            <a:ext cx="32111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Java EE  Suite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753" name="Google Shape;753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3056" y="5564397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754" name="Google Shape;754;p84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55" name="Google Shape;755;p84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56" name="Google Shape;756;p84"/>
          <p:cNvSpPr/>
          <p:nvPr/>
        </p:nvSpPr>
        <p:spPr>
          <a:xfrm>
            <a:off x="521734" y="1772816"/>
            <a:ext cx="4761511" cy="1656184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XML Technology</a:t>
            </a:r>
            <a:endParaRPr sz="24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57" name="Google Shape;757;p84"/>
          <p:cNvSpPr/>
          <p:nvPr/>
        </p:nvSpPr>
        <p:spPr>
          <a:xfrm>
            <a:off x="6171846" y="1772816"/>
            <a:ext cx="4761511" cy="1656184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Platform Services</a:t>
            </a:r>
            <a:endParaRPr sz="24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58" name="Google Shape;758;p84"/>
          <p:cNvSpPr/>
          <p:nvPr/>
        </p:nvSpPr>
        <p:spPr>
          <a:xfrm>
            <a:off x="521734" y="3642238"/>
            <a:ext cx="4761511" cy="2846429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XML technology is classified into: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The Java API for XML Processing (JAXP).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The Java API for XML-based RPC (JAX-RPC).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SOAP with Attachments API for Java (SAAJ).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The Java API for XML Registries (JAXR)</a:t>
            </a:r>
            <a:endParaRPr/>
          </a:p>
        </p:txBody>
      </p:sp>
      <p:sp>
        <p:nvSpPr>
          <p:cNvPr id="759" name="Google Shape;759;p84"/>
          <p:cNvSpPr/>
          <p:nvPr/>
        </p:nvSpPr>
        <p:spPr>
          <a:xfrm>
            <a:off x="6171846" y="3645024"/>
            <a:ext cx="4788117" cy="2843643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Platform services are classified as: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Security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Transactions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Resources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Connectors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Java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Message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Service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85"/>
          <p:cNvSpPr txBox="1"/>
          <p:nvPr>
            <p:ph idx="1" type="body"/>
          </p:nvPr>
        </p:nvSpPr>
        <p:spPr>
          <a:xfrm>
            <a:off x="270591" y="1388551"/>
            <a:ext cx="10504341" cy="5284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500"/>
              <a:buChar char="•"/>
            </a:pPr>
            <a:r>
              <a:rPr b="1" lang="en-US" sz="2500">
                <a:solidFill>
                  <a:srgbClr val="610786"/>
                </a:solidFill>
              </a:rPr>
              <a:t>Web client: </a:t>
            </a:r>
            <a:r>
              <a:rPr lang="en-US" sz="2500">
                <a:solidFill>
                  <a:srgbClr val="610786"/>
                </a:solidFill>
              </a:rPr>
              <a:t>Browser that access resources located in the web tier (web pages written in HTML or XML, JSP or servlets). Protocol used: HTTP or HTTPS.</a:t>
            </a:r>
            <a:endParaRPr sz="2500">
              <a:solidFill>
                <a:srgbClr val="610786"/>
              </a:solidFill>
            </a:endParaRPr>
          </a:p>
          <a:p>
            <a:pPr indent="-342900" lvl="0" marL="342900" rtl="0" algn="l">
              <a:spcBef>
                <a:spcPts val="500"/>
              </a:spcBef>
              <a:spcAft>
                <a:spcPts val="0"/>
              </a:spcAft>
              <a:buClr>
                <a:srgbClr val="F99F1B"/>
              </a:buClr>
              <a:buSzPts val="2500"/>
              <a:buChar char="•"/>
            </a:pPr>
            <a:r>
              <a:rPr b="1" lang="en-US" sz="2500">
                <a:solidFill>
                  <a:srgbClr val="610786"/>
                </a:solidFill>
              </a:rPr>
              <a:t>Enterprise Java bean client: </a:t>
            </a:r>
            <a:r>
              <a:rPr lang="en-US" sz="2500">
                <a:solidFill>
                  <a:srgbClr val="610786"/>
                </a:solidFill>
              </a:rPr>
              <a:t>Access to one or more Enterprise Java bean located on the Enterprise Java Bean Tier. Protocol used are Java Remote Method Protocol or Internet Inter-ORB Protocol.</a:t>
            </a:r>
            <a:endParaRPr/>
          </a:p>
          <a:p>
            <a:pPr indent="-342900" lvl="0" marL="342900" rtl="0" algn="l">
              <a:spcBef>
                <a:spcPts val="500"/>
              </a:spcBef>
              <a:spcAft>
                <a:spcPts val="0"/>
              </a:spcAft>
              <a:buClr>
                <a:srgbClr val="F99F1B"/>
              </a:buClr>
              <a:buSzPts val="2500"/>
              <a:buChar char="•"/>
            </a:pPr>
            <a:r>
              <a:rPr b="1" lang="en-US" sz="2500">
                <a:solidFill>
                  <a:srgbClr val="610786"/>
                </a:solidFill>
              </a:rPr>
              <a:t>Enterprise information system client: </a:t>
            </a:r>
            <a:r>
              <a:rPr lang="en-US" sz="2500">
                <a:solidFill>
                  <a:srgbClr val="610786"/>
                </a:solidFill>
              </a:rPr>
              <a:t>Interface between the users and the resources located on the EIS tier. Protocol used: proprietary to utilize resources such as DBMS and legacy data sources.</a:t>
            </a:r>
            <a:endParaRPr/>
          </a:p>
          <a:p>
            <a:pPr indent="-342900" lvl="0" marL="342900" rtl="0" algn="l">
              <a:spcBef>
                <a:spcPts val="500"/>
              </a:spcBef>
              <a:spcAft>
                <a:spcPts val="0"/>
              </a:spcAft>
              <a:buClr>
                <a:srgbClr val="F99F1B"/>
              </a:buClr>
              <a:buSzPts val="2500"/>
              <a:buChar char="•"/>
            </a:pPr>
            <a:r>
              <a:rPr b="1" lang="en-US" sz="2500">
                <a:solidFill>
                  <a:srgbClr val="610786"/>
                </a:solidFill>
              </a:rPr>
              <a:t>Multi-tier client: </a:t>
            </a:r>
            <a:r>
              <a:rPr lang="en-US" sz="2500">
                <a:solidFill>
                  <a:srgbClr val="610786"/>
                </a:solidFill>
              </a:rPr>
              <a:t>Uses the Java Message Service to asynchronously communicate with other tiers.</a:t>
            </a:r>
            <a:endParaRPr/>
          </a:p>
        </p:txBody>
      </p:sp>
      <p:sp>
        <p:nvSpPr>
          <p:cNvPr id="765" name="Google Shape;765;p85"/>
          <p:cNvSpPr/>
          <p:nvPr/>
        </p:nvSpPr>
        <p:spPr>
          <a:xfrm>
            <a:off x="297196" y="618656"/>
            <a:ext cx="81099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Java EE Communication Technologies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766" name="Google Shape;766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767" name="Google Shape;767;p85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68" name="Google Shape;768;p85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86"/>
          <p:cNvSpPr/>
          <p:nvPr/>
        </p:nvSpPr>
        <p:spPr>
          <a:xfrm>
            <a:off x="297196" y="618656"/>
            <a:ext cx="55964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Component and Container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774" name="Google Shape;774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3056" y="5564397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775" name="Google Shape;775;p86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76" name="Google Shape;776;p86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77" name="Google Shape;777;p86"/>
          <p:cNvSpPr/>
          <p:nvPr/>
        </p:nvSpPr>
        <p:spPr>
          <a:xfrm>
            <a:off x="521733" y="2420888"/>
            <a:ext cx="4204527" cy="1008112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Component</a:t>
            </a:r>
            <a:endParaRPr sz="24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78" name="Google Shape;778;p86"/>
          <p:cNvSpPr/>
          <p:nvPr/>
        </p:nvSpPr>
        <p:spPr>
          <a:xfrm>
            <a:off x="6171846" y="1772816"/>
            <a:ext cx="4603087" cy="2088232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 component is an application level software unit. The Java EE supports the components such as: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Applets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Application clients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 components 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Enterprise Java Beans (EJB)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79" name="Google Shape;779;p86"/>
          <p:cNvSpPr/>
          <p:nvPr/>
        </p:nvSpPr>
        <p:spPr>
          <a:xfrm>
            <a:off x="6171847" y="4221088"/>
            <a:ext cx="4603086" cy="2267579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All Java EE components depend on the runtime support of a system level entity called a Container. Containers provide components with services such as: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Connection &amp; Object pooling 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Security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Transaction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Deployment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80" name="Google Shape;780;p86"/>
          <p:cNvSpPr/>
          <p:nvPr/>
        </p:nvSpPr>
        <p:spPr>
          <a:xfrm>
            <a:off x="305682" y="1265378"/>
            <a:ext cx="84673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Let us take a look at the Java EE Component and Container.</a:t>
            </a:r>
            <a:endParaRPr/>
          </a:p>
        </p:txBody>
      </p:sp>
      <p:sp>
        <p:nvSpPr>
          <p:cNvPr id="781" name="Google Shape;781;p86"/>
          <p:cNvSpPr/>
          <p:nvPr/>
        </p:nvSpPr>
        <p:spPr>
          <a:xfrm>
            <a:off x="521732" y="4672715"/>
            <a:ext cx="4204527" cy="1008112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Container</a:t>
            </a:r>
            <a:endParaRPr sz="24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782" name="Google Shape;782;p86"/>
          <p:cNvCxnSpPr>
            <a:stCxn id="777" idx="3"/>
            <a:endCxn id="778" idx="1"/>
          </p:cNvCxnSpPr>
          <p:nvPr/>
        </p:nvCxnSpPr>
        <p:spPr>
          <a:xfrm flipH="1" rot="10800000">
            <a:off x="4726260" y="2816944"/>
            <a:ext cx="1445700" cy="108000"/>
          </a:xfrm>
          <a:prstGeom prst="straightConnector1">
            <a:avLst/>
          </a:prstGeom>
          <a:noFill/>
          <a:ln cap="flat" cmpd="sng" w="38100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3" name="Google Shape;783;p86"/>
          <p:cNvCxnSpPr>
            <a:stCxn id="781" idx="3"/>
            <a:endCxn id="779" idx="1"/>
          </p:cNvCxnSpPr>
          <p:nvPr/>
        </p:nvCxnSpPr>
        <p:spPr>
          <a:xfrm>
            <a:off x="4726259" y="5176771"/>
            <a:ext cx="1445700" cy="178200"/>
          </a:xfrm>
          <a:prstGeom prst="straightConnector1">
            <a:avLst/>
          </a:prstGeom>
          <a:noFill/>
          <a:ln cap="flat" cmpd="sng" w="38100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87"/>
          <p:cNvSpPr/>
          <p:nvPr/>
        </p:nvSpPr>
        <p:spPr>
          <a:xfrm>
            <a:off x="1168944" y="548179"/>
            <a:ext cx="44935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Platform Architecture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789" name="Google Shape;789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845" y="0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790" name="Google Shape;790;p87"/>
          <p:cNvSpPr/>
          <p:nvPr/>
        </p:nvSpPr>
        <p:spPr>
          <a:xfrm>
            <a:off x="9792569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91" name="Google Shape;791;p87"/>
          <p:cNvSpPr txBox="1"/>
          <p:nvPr>
            <p:ph type="title"/>
          </p:nvPr>
        </p:nvSpPr>
        <p:spPr>
          <a:xfrm>
            <a:off x="1087094" y="42352"/>
            <a:ext cx="6336704" cy="49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92" name="Google Shape;792;p87"/>
          <p:cNvSpPr/>
          <p:nvPr/>
        </p:nvSpPr>
        <p:spPr>
          <a:xfrm>
            <a:off x="3865244" y="1108224"/>
            <a:ext cx="592732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This figure shows the required relationships of architectural elements of the Java EE platform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793" name="Google Shape;793;p87"/>
          <p:cNvGrpSpPr/>
          <p:nvPr/>
        </p:nvGrpSpPr>
        <p:grpSpPr>
          <a:xfrm>
            <a:off x="91537" y="1405187"/>
            <a:ext cx="12011895" cy="4734403"/>
            <a:chOff x="118462" y="1928132"/>
            <a:chExt cx="12011895" cy="4734403"/>
          </a:xfrm>
        </p:grpSpPr>
        <p:grpSp>
          <p:nvGrpSpPr>
            <p:cNvPr id="794" name="Google Shape;794;p87"/>
            <p:cNvGrpSpPr/>
            <p:nvPr/>
          </p:nvGrpSpPr>
          <p:grpSpPr>
            <a:xfrm>
              <a:off x="118462" y="1928132"/>
              <a:ext cx="2589055" cy="1669929"/>
              <a:chOff x="521733" y="1903087"/>
              <a:chExt cx="3124407" cy="1525913"/>
            </a:xfrm>
          </p:grpSpPr>
          <p:sp>
            <p:nvSpPr>
              <p:cNvPr id="795" name="Google Shape;795;p87"/>
              <p:cNvSpPr/>
              <p:nvPr/>
            </p:nvSpPr>
            <p:spPr>
              <a:xfrm>
                <a:off x="521733" y="1903087"/>
                <a:ext cx="3124407" cy="1525913"/>
              </a:xfrm>
              <a:prstGeom prst="roundRect">
                <a:avLst>
                  <a:gd fmla="val 16667" name="adj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Applet Constanter</a:t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 J2SE</a:t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796" name="Google Shape;796;p87"/>
              <p:cNvSpPr/>
              <p:nvPr/>
            </p:nvSpPr>
            <p:spPr>
              <a:xfrm>
                <a:off x="1341884" y="2348880"/>
                <a:ext cx="1440160" cy="317164"/>
              </a:xfrm>
              <a:prstGeom prst="rect">
                <a:avLst/>
              </a:prstGeom>
              <a:solidFill>
                <a:srgbClr val="F2F2F2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Applet</a:t>
                </a:r>
                <a:endParaRPr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797" name="Google Shape;797;p87"/>
              <p:cNvSpPr/>
              <p:nvPr/>
            </p:nvSpPr>
            <p:spPr>
              <a:xfrm rot="10800000">
                <a:off x="1341884" y="2666042"/>
                <a:ext cx="1440160" cy="150889"/>
              </a:xfrm>
              <a:prstGeom prst="triangle">
                <a:avLst>
                  <a:gd fmla="val 50000" name="adj"/>
                </a:avLst>
              </a:prstGeom>
              <a:solidFill>
                <a:srgbClr val="F2F2F2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cxnSp>
            <p:nvCxnSpPr>
              <p:cNvPr id="798" name="Google Shape;798;p87"/>
              <p:cNvCxnSpPr/>
              <p:nvPr/>
            </p:nvCxnSpPr>
            <p:spPr>
              <a:xfrm>
                <a:off x="521733" y="2829019"/>
                <a:ext cx="312440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9" name="Google Shape;799;p87"/>
            <p:cNvGrpSpPr/>
            <p:nvPr/>
          </p:nvGrpSpPr>
          <p:grpSpPr>
            <a:xfrm>
              <a:off x="128742" y="3682009"/>
              <a:ext cx="2162680" cy="2980408"/>
              <a:chOff x="74815" y="3877592"/>
              <a:chExt cx="2632702" cy="3005453"/>
            </a:xfrm>
          </p:grpSpPr>
          <p:sp>
            <p:nvSpPr>
              <p:cNvPr id="800" name="Google Shape;800;p87"/>
              <p:cNvSpPr/>
              <p:nvPr/>
            </p:nvSpPr>
            <p:spPr>
              <a:xfrm>
                <a:off x="82045" y="3877592"/>
                <a:ext cx="2625472" cy="3005453"/>
              </a:xfrm>
              <a:prstGeom prst="roundRect">
                <a:avLst>
                  <a:gd fmla="val 16667" name="adj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Application Client Container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J2SE</a:t>
                </a:r>
                <a:endParaRPr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01" name="Google Shape;801;p87"/>
              <p:cNvSpPr/>
              <p:nvPr/>
            </p:nvSpPr>
            <p:spPr>
              <a:xfrm>
                <a:off x="82045" y="4735490"/>
                <a:ext cx="2625472" cy="559350"/>
              </a:xfrm>
              <a:prstGeom prst="rect">
                <a:avLst/>
              </a:prstGeom>
              <a:solidFill>
                <a:srgbClr val="F2F2F2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Application Client</a:t>
                </a:r>
                <a:endParaRPr sz="14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cxnSp>
            <p:nvCxnSpPr>
              <p:cNvPr id="802" name="Google Shape;802;p87"/>
              <p:cNvCxnSpPr/>
              <p:nvPr/>
            </p:nvCxnSpPr>
            <p:spPr>
              <a:xfrm>
                <a:off x="74815" y="5380318"/>
                <a:ext cx="258905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03" name="Google Shape;803;p87"/>
              <p:cNvSpPr/>
              <p:nvPr/>
            </p:nvSpPr>
            <p:spPr>
              <a:xfrm rot="5400000">
                <a:off x="70879" y="5639574"/>
                <a:ext cx="954047" cy="435536"/>
              </a:xfrm>
              <a:prstGeom prst="rect">
                <a:avLst/>
              </a:prstGeom>
              <a:solidFill>
                <a:srgbClr val="FCC370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JMS</a:t>
                </a:r>
                <a:endParaRPr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04" name="Google Shape;804;p87"/>
              <p:cNvSpPr/>
              <p:nvPr/>
            </p:nvSpPr>
            <p:spPr>
              <a:xfrm rot="5400000">
                <a:off x="646229" y="5639574"/>
                <a:ext cx="954047" cy="435536"/>
              </a:xfrm>
              <a:prstGeom prst="rect">
                <a:avLst/>
              </a:prstGeom>
              <a:solidFill>
                <a:srgbClr val="FCC370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JAAS</a:t>
                </a:r>
                <a:endParaRPr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05" name="Google Shape;805;p87"/>
              <p:cNvSpPr/>
              <p:nvPr/>
            </p:nvSpPr>
            <p:spPr>
              <a:xfrm rot="5400000">
                <a:off x="1221579" y="5639574"/>
                <a:ext cx="954047" cy="435536"/>
              </a:xfrm>
              <a:prstGeom prst="rect">
                <a:avLst/>
              </a:prstGeom>
              <a:solidFill>
                <a:srgbClr val="FCC370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JAXP</a:t>
                </a:r>
                <a:endParaRPr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06" name="Google Shape;806;p87"/>
              <p:cNvSpPr/>
              <p:nvPr/>
            </p:nvSpPr>
            <p:spPr>
              <a:xfrm rot="5400000">
                <a:off x="1796931" y="5639574"/>
                <a:ext cx="954047" cy="435536"/>
              </a:xfrm>
              <a:prstGeom prst="rect">
                <a:avLst/>
              </a:prstGeom>
              <a:solidFill>
                <a:srgbClr val="FCC370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JOBC</a:t>
                </a:r>
                <a:endParaRPr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807" name="Google Shape;807;p87"/>
            <p:cNvGrpSpPr/>
            <p:nvPr/>
          </p:nvGrpSpPr>
          <p:grpSpPr>
            <a:xfrm>
              <a:off x="6864690" y="2812489"/>
              <a:ext cx="2954804" cy="3626846"/>
              <a:chOff x="7534571" y="3366075"/>
              <a:chExt cx="3096344" cy="3287799"/>
            </a:xfrm>
          </p:grpSpPr>
          <p:grpSp>
            <p:nvGrpSpPr>
              <p:cNvPr id="808" name="Google Shape;808;p87"/>
              <p:cNvGrpSpPr/>
              <p:nvPr/>
            </p:nvGrpSpPr>
            <p:grpSpPr>
              <a:xfrm>
                <a:off x="7534571" y="3366075"/>
                <a:ext cx="3096344" cy="3287799"/>
                <a:chOff x="7281069" y="3198755"/>
                <a:chExt cx="4164174" cy="3005453"/>
              </a:xfrm>
            </p:grpSpPr>
            <p:sp>
              <p:nvSpPr>
                <p:cNvPr id="809" name="Google Shape;809;p87"/>
                <p:cNvSpPr/>
                <p:nvPr/>
              </p:nvSpPr>
              <p:spPr>
                <a:xfrm>
                  <a:off x="7281069" y="3198755"/>
                  <a:ext cx="4164174" cy="3005453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8A4CA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Web Container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 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J2SE</a:t>
                  </a:r>
                  <a:endParaRPr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10" name="Google Shape;810;p87"/>
                <p:cNvSpPr/>
                <p:nvPr/>
              </p:nvSpPr>
              <p:spPr>
                <a:xfrm rot="5400000">
                  <a:off x="7212166" y="4819814"/>
                  <a:ext cx="954047" cy="435535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JMS</a:t>
                  </a:r>
                  <a:endParaRPr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11" name="Google Shape;811;p87"/>
                <p:cNvSpPr/>
                <p:nvPr/>
              </p:nvSpPr>
              <p:spPr>
                <a:xfrm rot="5400000">
                  <a:off x="7647702" y="4819814"/>
                  <a:ext cx="954047" cy="435535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JAAS</a:t>
                  </a:r>
                  <a:endParaRPr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12" name="Google Shape;812;p87"/>
                <p:cNvSpPr/>
                <p:nvPr/>
              </p:nvSpPr>
              <p:spPr>
                <a:xfrm rot="5400000">
                  <a:off x="8083237" y="4819814"/>
                  <a:ext cx="954047" cy="435535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JAXP</a:t>
                  </a:r>
                  <a:endParaRPr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13" name="Google Shape;813;p87"/>
                <p:cNvSpPr/>
                <p:nvPr/>
              </p:nvSpPr>
              <p:spPr>
                <a:xfrm>
                  <a:off x="8778028" y="4560558"/>
                  <a:ext cx="1310012" cy="477023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JAVA Mail</a:t>
                  </a:r>
                  <a:endParaRPr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14" name="Google Shape;814;p87"/>
                <p:cNvSpPr/>
                <p:nvPr/>
              </p:nvSpPr>
              <p:spPr>
                <a:xfrm>
                  <a:off x="8778028" y="5078354"/>
                  <a:ext cx="1310012" cy="436251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JAF</a:t>
                  </a:r>
                  <a:endParaRPr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15" name="Google Shape;815;p87"/>
                <p:cNvSpPr/>
                <p:nvPr/>
              </p:nvSpPr>
              <p:spPr>
                <a:xfrm rot="5400000">
                  <a:off x="9775807" y="4819814"/>
                  <a:ext cx="954047" cy="435535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JAXP</a:t>
                  </a:r>
                  <a:endParaRPr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16" name="Google Shape;816;p87"/>
                <p:cNvSpPr/>
                <p:nvPr/>
              </p:nvSpPr>
              <p:spPr>
                <a:xfrm rot="5400000">
                  <a:off x="10177639" y="4819813"/>
                  <a:ext cx="954047" cy="435535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JDBC</a:t>
                  </a:r>
                  <a:endParaRPr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817" name="Google Shape;817;p87"/>
                <p:cNvSpPr/>
                <p:nvPr/>
              </p:nvSpPr>
              <p:spPr>
                <a:xfrm rot="5400000">
                  <a:off x="10566732" y="4819814"/>
                  <a:ext cx="954047" cy="435535"/>
                </a:xfrm>
                <a:prstGeom prst="rect">
                  <a:avLst/>
                </a:prstGeom>
                <a:solidFill>
                  <a:srgbClr val="FCC370"/>
                </a:solidFill>
                <a:ln cap="flat" cmpd="sng" w="25400">
                  <a:solidFill>
                    <a:srgbClr val="70089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610786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Connectors</a:t>
                  </a:r>
                  <a:endParaRPr sz="12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</p:grpSp>
          <p:sp>
            <p:nvSpPr>
              <p:cNvPr id="818" name="Google Shape;818;p87"/>
              <p:cNvSpPr/>
              <p:nvPr/>
            </p:nvSpPr>
            <p:spPr>
              <a:xfrm>
                <a:off x="8323812" y="4110644"/>
                <a:ext cx="1693012" cy="495802"/>
              </a:xfrm>
              <a:prstGeom prst="ellipse">
                <a:avLst/>
              </a:prstGeom>
              <a:solidFill>
                <a:srgbClr val="F2F2F2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EJB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819" name="Google Shape;819;p87"/>
            <p:cNvGrpSpPr/>
            <p:nvPr/>
          </p:nvGrpSpPr>
          <p:grpSpPr>
            <a:xfrm>
              <a:off x="3137749" y="2928226"/>
              <a:ext cx="2959736" cy="3163951"/>
              <a:chOff x="7281069" y="3198755"/>
              <a:chExt cx="4164174" cy="3005453"/>
            </a:xfrm>
          </p:grpSpPr>
          <p:sp>
            <p:nvSpPr>
              <p:cNvPr id="820" name="Google Shape;820;p87"/>
              <p:cNvSpPr/>
              <p:nvPr/>
            </p:nvSpPr>
            <p:spPr>
              <a:xfrm>
                <a:off x="7281069" y="3198755"/>
                <a:ext cx="4164174" cy="3005453"/>
              </a:xfrm>
              <a:prstGeom prst="roundRect">
                <a:avLst>
                  <a:gd fmla="val 16667" name="adj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Web Container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J2SE</a:t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21" name="Google Shape;821;p87"/>
              <p:cNvSpPr/>
              <p:nvPr/>
            </p:nvSpPr>
            <p:spPr>
              <a:xfrm rot="5400000">
                <a:off x="7212166" y="4819814"/>
                <a:ext cx="954047" cy="435535"/>
              </a:xfrm>
              <a:prstGeom prst="rect">
                <a:avLst/>
              </a:prstGeom>
              <a:solidFill>
                <a:srgbClr val="FCC370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JMS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22" name="Google Shape;822;p87"/>
              <p:cNvSpPr/>
              <p:nvPr/>
            </p:nvSpPr>
            <p:spPr>
              <a:xfrm rot="5400000">
                <a:off x="7647702" y="4819814"/>
                <a:ext cx="954047" cy="435535"/>
              </a:xfrm>
              <a:prstGeom prst="rect">
                <a:avLst/>
              </a:prstGeom>
              <a:solidFill>
                <a:srgbClr val="FCC370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JAAS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23" name="Google Shape;823;p87"/>
              <p:cNvSpPr/>
              <p:nvPr/>
            </p:nvSpPr>
            <p:spPr>
              <a:xfrm rot="5400000">
                <a:off x="8083237" y="4819814"/>
                <a:ext cx="954047" cy="435535"/>
              </a:xfrm>
              <a:prstGeom prst="rect">
                <a:avLst/>
              </a:prstGeom>
              <a:solidFill>
                <a:srgbClr val="FCC370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JAXP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24" name="Google Shape;824;p87"/>
              <p:cNvSpPr/>
              <p:nvPr/>
            </p:nvSpPr>
            <p:spPr>
              <a:xfrm>
                <a:off x="8778028" y="4560558"/>
                <a:ext cx="1310012" cy="477023"/>
              </a:xfrm>
              <a:prstGeom prst="rect">
                <a:avLst/>
              </a:prstGeom>
              <a:solidFill>
                <a:srgbClr val="FCC370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JAVA Mail</a:t>
                </a:r>
                <a:endParaRPr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25" name="Google Shape;825;p87"/>
              <p:cNvSpPr/>
              <p:nvPr/>
            </p:nvSpPr>
            <p:spPr>
              <a:xfrm>
                <a:off x="8778028" y="5078354"/>
                <a:ext cx="1310012" cy="436251"/>
              </a:xfrm>
              <a:prstGeom prst="rect">
                <a:avLst/>
              </a:prstGeom>
              <a:solidFill>
                <a:srgbClr val="FCC370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JAF</a:t>
                </a:r>
                <a:endParaRPr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26" name="Google Shape;826;p87"/>
              <p:cNvSpPr/>
              <p:nvPr/>
            </p:nvSpPr>
            <p:spPr>
              <a:xfrm rot="5400000">
                <a:off x="9775807" y="4819814"/>
                <a:ext cx="954047" cy="435535"/>
              </a:xfrm>
              <a:prstGeom prst="rect">
                <a:avLst/>
              </a:prstGeom>
              <a:solidFill>
                <a:srgbClr val="FCC370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JAXP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27" name="Google Shape;827;p87"/>
              <p:cNvSpPr/>
              <p:nvPr/>
            </p:nvSpPr>
            <p:spPr>
              <a:xfrm rot="5400000">
                <a:off x="10177639" y="4819813"/>
                <a:ext cx="954047" cy="435535"/>
              </a:xfrm>
              <a:prstGeom prst="rect">
                <a:avLst/>
              </a:prstGeom>
              <a:solidFill>
                <a:srgbClr val="FCC370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JDBC</a:t>
                </a:r>
                <a:endParaRPr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28" name="Google Shape;828;p87"/>
              <p:cNvSpPr/>
              <p:nvPr/>
            </p:nvSpPr>
            <p:spPr>
              <a:xfrm rot="5400000">
                <a:off x="10566732" y="4819814"/>
                <a:ext cx="954047" cy="435535"/>
              </a:xfrm>
              <a:prstGeom prst="rect">
                <a:avLst/>
              </a:prstGeom>
              <a:solidFill>
                <a:srgbClr val="FCC370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Connectors</a:t>
                </a:r>
                <a:endParaRPr sz="12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829" name="Google Shape;829;p87"/>
            <p:cNvGrpSpPr/>
            <p:nvPr/>
          </p:nvGrpSpPr>
          <p:grpSpPr>
            <a:xfrm>
              <a:off x="3550895" y="3682009"/>
              <a:ext cx="2371338" cy="590155"/>
              <a:chOff x="3550895" y="3682009"/>
              <a:chExt cx="2371338" cy="590155"/>
            </a:xfrm>
          </p:grpSpPr>
          <p:sp>
            <p:nvSpPr>
              <p:cNvPr id="830" name="Google Shape;830;p87"/>
              <p:cNvSpPr/>
              <p:nvPr/>
            </p:nvSpPr>
            <p:spPr>
              <a:xfrm>
                <a:off x="5046403" y="3890761"/>
                <a:ext cx="875830" cy="379706"/>
              </a:xfrm>
              <a:prstGeom prst="rect">
                <a:avLst/>
              </a:prstGeom>
              <a:solidFill>
                <a:srgbClr val="F2F2F2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Servlet</a:t>
                </a:r>
                <a:endParaRPr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31" name="Google Shape;831;p87"/>
              <p:cNvSpPr/>
              <p:nvPr/>
            </p:nvSpPr>
            <p:spPr>
              <a:xfrm>
                <a:off x="5046403" y="3682009"/>
                <a:ext cx="875830" cy="180643"/>
              </a:xfrm>
              <a:prstGeom prst="triangle">
                <a:avLst>
                  <a:gd fmla="val 50000" name="adj"/>
                </a:avLst>
              </a:prstGeom>
              <a:solidFill>
                <a:srgbClr val="F2F2F2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832" name="Google Shape;832;p87"/>
              <p:cNvSpPr/>
              <p:nvPr/>
            </p:nvSpPr>
            <p:spPr>
              <a:xfrm>
                <a:off x="3550895" y="3892458"/>
                <a:ext cx="875830" cy="379706"/>
              </a:xfrm>
              <a:prstGeom prst="rect">
                <a:avLst/>
              </a:prstGeom>
              <a:solidFill>
                <a:srgbClr val="F2F2F2"/>
              </a:solidFill>
              <a:ln cap="flat" cmpd="sng" w="25400">
                <a:solidFill>
                  <a:srgbClr val="70089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JSP</a:t>
                </a:r>
                <a:endParaRPr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sp>
          <p:nvSpPr>
            <p:cNvPr id="833" name="Google Shape;833;p87"/>
            <p:cNvSpPr/>
            <p:nvPr/>
          </p:nvSpPr>
          <p:spPr>
            <a:xfrm>
              <a:off x="10356622" y="4755929"/>
              <a:ext cx="1773735" cy="832567"/>
            </a:xfrm>
            <a:prstGeom prst="flowChartMagneticDisk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Database</a:t>
              </a:r>
              <a:endParaRPr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834" name="Google Shape;834;p87"/>
            <p:cNvCxnSpPr/>
            <p:nvPr/>
          </p:nvCxnSpPr>
          <p:spPr>
            <a:xfrm>
              <a:off x="2291422" y="6436317"/>
              <a:ext cx="4796839" cy="0"/>
            </a:xfrm>
            <a:prstGeom prst="straightConnector1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35" name="Google Shape;835;p87"/>
            <p:cNvCxnSpPr>
              <a:endCxn id="833" idx="3"/>
            </p:cNvCxnSpPr>
            <p:nvPr/>
          </p:nvCxnSpPr>
          <p:spPr>
            <a:xfrm flipH="1" rot="10800000">
              <a:off x="1991490" y="5588496"/>
              <a:ext cx="9252000" cy="1074000"/>
            </a:xfrm>
            <a:prstGeom prst="bentConnector2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36" name="Google Shape;836;p87"/>
            <p:cNvCxnSpPr/>
            <p:nvPr/>
          </p:nvCxnSpPr>
          <p:spPr>
            <a:xfrm flipH="1" rot="10800000">
              <a:off x="6097485" y="4818718"/>
              <a:ext cx="767205" cy="12975"/>
            </a:xfrm>
            <a:prstGeom prst="straightConnector1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37" name="Google Shape;837;p87"/>
            <p:cNvCxnSpPr/>
            <p:nvPr/>
          </p:nvCxnSpPr>
          <p:spPr>
            <a:xfrm>
              <a:off x="2301630" y="4825206"/>
              <a:ext cx="836119" cy="0"/>
            </a:xfrm>
            <a:prstGeom prst="straightConnector1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38" name="Google Shape;838;p87"/>
            <p:cNvCxnSpPr/>
            <p:nvPr/>
          </p:nvCxnSpPr>
          <p:spPr>
            <a:xfrm>
              <a:off x="2707517" y="2941454"/>
              <a:ext cx="708196" cy="0"/>
            </a:xfrm>
            <a:prstGeom prst="straightConnector1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39" name="Google Shape;839;p87"/>
            <p:cNvCxnSpPr/>
            <p:nvPr/>
          </p:nvCxnSpPr>
          <p:spPr>
            <a:xfrm>
              <a:off x="4617617" y="6125456"/>
              <a:ext cx="0" cy="536961"/>
            </a:xfrm>
            <a:prstGeom prst="straightConnector1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0" name="Google Shape;840;p87"/>
            <p:cNvCxnSpPr>
              <a:stCxn id="809" idx="2"/>
            </p:cNvCxnSpPr>
            <p:nvPr/>
          </p:nvCxnSpPr>
          <p:spPr>
            <a:xfrm>
              <a:off x="8342092" y="6439335"/>
              <a:ext cx="0" cy="223200"/>
            </a:xfrm>
            <a:prstGeom prst="straightConnector1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1" name="Google Shape;841;p87"/>
            <p:cNvSpPr/>
            <p:nvPr/>
          </p:nvSpPr>
          <p:spPr>
            <a:xfrm>
              <a:off x="2827620" y="2307094"/>
              <a:ext cx="85151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HTTP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SSL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42" name="Google Shape;842;p87"/>
            <p:cNvSpPr/>
            <p:nvPr/>
          </p:nvSpPr>
          <p:spPr>
            <a:xfrm>
              <a:off x="2301630" y="4208065"/>
              <a:ext cx="85151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HTTP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SSL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8"/>
          <p:cNvSpPr/>
          <p:nvPr/>
        </p:nvSpPr>
        <p:spPr>
          <a:xfrm>
            <a:off x="1168944" y="548179"/>
            <a:ext cx="44935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Runtime Architecture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848" name="Google Shape;848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1845" y="0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849" name="Google Shape;849;p88"/>
          <p:cNvSpPr/>
          <p:nvPr/>
        </p:nvSpPr>
        <p:spPr>
          <a:xfrm>
            <a:off x="9792569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50" name="Google Shape;850;p88"/>
          <p:cNvSpPr txBox="1"/>
          <p:nvPr>
            <p:ph type="title"/>
          </p:nvPr>
        </p:nvSpPr>
        <p:spPr>
          <a:xfrm>
            <a:off x="1087094" y="42352"/>
            <a:ext cx="6336704" cy="49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851" name="Google Shape;851;p88"/>
          <p:cNvGrpSpPr/>
          <p:nvPr/>
        </p:nvGrpSpPr>
        <p:grpSpPr>
          <a:xfrm>
            <a:off x="257675" y="4341080"/>
            <a:ext cx="2959736" cy="1864450"/>
            <a:chOff x="3160490" y="3580774"/>
            <a:chExt cx="2959736" cy="1864450"/>
          </a:xfrm>
        </p:grpSpPr>
        <p:sp>
          <p:nvSpPr>
            <p:cNvPr id="852" name="Google Shape;852;p88"/>
            <p:cNvSpPr/>
            <p:nvPr/>
          </p:nvSpPr>
          <p:spPr>
            <a:xfrm>
              <a:off x="3160490" y="3580774"/>
              <a:ext cx="2959736" cy="1864450"/>
            </a:xfrm>
            <a:prstGeom prst="roundRect">
              <a:avLst>
                <a:gd fmla="val 16667" name="adj"/>
              </a:avLst>
            </a:prstGeom>
            <a:solidFill>
              <a:srgbClr val="8A4C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J2EE Server Code</a:t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53" name="Google Shape;853;p88"/>
            <p:cNvSpPr/>
            <p:nvPr/>
          </p:nvSpPr>
          <p:spPr>
            <a:xfrm rot="5400000">
              <a:off x="3208283" y="4186300"/>
              <a:ext cx="1004360" cy="309562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JAAS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54" name="Google Shape;854;p88"/>
            <p:cNvSpPr/>
            <p:nvPr/>
          </p:nvSpPr>
          <p:spPr>
            <a:xfrm rot="5400000">
              <a:off x="3517845" y="4186300"/>
              <a:ext cx="1004360" cy="309562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JAXP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55" name="Google Shape;855;p88"/>
            <p:cNvSpPr/>
            <p:nvPr/>
          </p:nvSpPr>
          <p:spPr>
            <a:xfrm>
              <a:off x="4174805" y="3838901"/>
              <a:ext cx="931107" cy="502180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JAVA Mail</a:t>
              </a:r>
              <a:endParaRPr sz="16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56" name="Google Shape;856;p88"/>
            <p:cNvSpPr/>
            <p:nvPr/>
          </p:nvSpPr>
          <p:spPr>
            <a:xfrm>
              <a:off x="4174805" y="4384004"/>
              <a:ext cx="931107" cy="459257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JAF</a:t>
              </a:r>
              <a:endParaRPr sz="16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57" name="Google Shape;857;p88"/>
            <p:cNvSpPr/>
            <p:nvPr/>
          </p:nvSpPr>
          <p:spPr>
            <a:xfrm rot="5400000">
              <a:off x="4720859" y="4186300"/>
              <a:ext cx="1004360" cy="309562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JAXP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58" name="Google Shape;858;p88"/>
            <p:cNvSpPr/>
            <p:nvPr/>
          </p:nvSpPr>
          <p:spPr>
            <a:xfrm rot="5400000">
              <a:off x="5006466" y="4186299"/>
              <a:ext cx="1004360" cy="309562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JDBC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859" name="Google Shape;859;p88"/>
          <p:cNvGrpSpPr/>
          <p:nvPr/>
        </p:nvGrpSpPr>
        <p:grpSpPr>
          <a:xfrm>
            <a:off x="3725264" y="4341080"/>
            <a:ext cx="2959736" cy="1864450"/>
            <a:chOff x="3160490" y="3580774"/>
            <a:chExt cx="2959736" cy="1864450"/>
          </a:xfrm>
        </p:grpSpPr>
        <p:sp>
          <p:nvSpPr>
            <p:cNvPr id="860" name="Google Shape;860;p88"/>
            <p:cNvSpPr/>
            <p:nvPr/>
          </p:nvSpPr>
          <p:spPr>
            <a:xfrm>
              <a:off x="3160490" y="3580774"/>
              <a:ext cx="2959736" cy="1864450"/>
            </a:xfrm>
            <a:prstGeom prst="roundRect">
              <a:avLst>
                <a:gd fmla="val 16667" name="adj"/>
              </a:avLst>
            </a:prstGeom>
            <a:solidFill>
              <a:srgbClr val="8A4C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J2EE Server Code</a:t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61" name="Google Shape;861;p88"/>
            <p:cNvSpPr/>
            <p:nvPr/>
          </p:nvSpPr>
          <p:spPr>
            <a:xfrm rot="5400000">
              <a:off x="3208283" y="4186300"/>
              <a:ext cx="1004360" cy="309562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JAAS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62" name="Google Shape;862;p88"/>
            <p:cNvSpPr/>
            <p:nvPr/>
          </p:nvSpPr>
          <p:spPr>
            <a:xfrm rot="5400000">
              <a:off x="3517845" y="4186300"/>
              <a:ext cx="1004360" cy="309562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JAXP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63" name="Google Shape;863;p88"/>
            <p:cNvSpPr/>
            <p:nvPr/>
          </p:nvSpPr>
          <p:spPr>
            <a:xfrm>
              <a:off x="4174805" y="3838901"/>
              <a:ext cx="931107" cy="502180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JAVA Mail</a:t>
              </a:r>
              <a:endParaRPr sz="16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64" name="Google Shape;864;p88"/>
            <p:cNvSpPr/>
            <p:nvPr/>
          </p:nvSpPr>
          <p:spPr>
            <a:xfrm>
              <a:off x="4174805" y="4384004"/>
              <a:ext cx="931107" cy="459257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JAF</a:t>
              </a:r>
              <a:endParaRPr sz="16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65" name="Google Shape;865;p88"/>
            <p:cNvSpPr/>
            <p:nvPr/>
          </p:nvSpPr>
          <p:spPr>
            <a:xfrm rot="5400000">
              <a:off x="4720859" y="4186300"/>
              <a:ext cx="1004360" cy="309562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JAXP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66" name="Google Shape;866;p88"/>
            <p:cNvSpPr/>
            <p:nvPr/>
          </p:nvSpPr>
          <p:spPr>
            <a:xfrm rot="5400000">
              <a:off x="5006466" y="4186299"/>
              <a:ext cx="1004360" cy="309562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JDBC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867" name="Google Shape;867;p88"/>
          <p:cNvGrpSpPr/>
          <p:nvPr/>
        </p:nvGrpSpPr>
        <p:grpSpPr>
          <a:xfrm>
            <a:off x="7192852" y="4341080"/>
            <a:ext cx="2959736" cy="1864450"/>
            <a:chOff x="3160490" y="3580774"/>
            <a:chExt cx="2959736" cy="1864450"/>
          </a:xfrm>
        </p:grpSpPr>
        <p:sp>
          <p:nvSpPr>
            <p:cNvPr id="868" name="Google Shape;868;p88"/>
            <p:cNvSpPr/>
            <p:nvPr/>
          </p:nvSpPr>
          <p:spPr>
            <a:xfrm>
              <a:off x="3160490" y="3580774"/>
              <a:ext cx="2959736" cy="1864450"/>
            </a:xfrm>
            <a:prstGeom prst="roundRect">
              <a:avLst>
                <a:gd fmla="val 16667" name="adj"/>
              </a:avLst>
            </a:prstGeom>
            <a:solidFill>
              <a:srgbClr val="8A4C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J2EE Server Code</a:t>
              </a:r>
              <a:endParaRPr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69" name="Google Shape;869;p88"/>
            <p:cNvSpPr/>
            <p:nvPr/>
          </p:nvSpPr>
          <p:spPr>
            <a:xfrm rot="5400000">
              <a:off x="3208283" y="4186300"/>
              <a:ext cx="1004360" cy="309562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JAAS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70" name="Google Shape;870;p88"/>
            <p:cNvSpPr/>
            <p:nvPr/>
          </p:nvSpPr>
          <p:spPr>
            <a:xfrm rot="5400000">
              <a:off x="3517845" y="4186300"/>
              <a:ext cx="1004360" cy="309562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JAXP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71" name="Google Shape;871;p88"/>
            <p:cNvSpPr/>
            <p:nvPr/>
          </p:nvSpPr>
          <p:spPr>
            <a:xfrm>
              <a:off x="4174805" y="3838901"/>
              <a:ext cx="931107" cy="502180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JAVA Mail</a:t>
              </a:r>
              <a:endParaRPr sz="16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72" name="Google Shape;872;p88"/>
            <p:cNvSpPr/>
            <p:nvPr/>
          </p:nvSpPr>
          <p:spPr>
            <a:xfrm>
              <a:off x="4174805" y="4384004"/>
              <a:ext cx="931107" cy="459257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JAF</a:t>
              </a:r>
              <a:endParaRPr sz="16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73" name="Google Shape;873;p88"/>
            <p:cNvSpPr/>
            <p:nvPr/>
          </p:nvSpPr>
          <p:spPr>
            <a:xfrm rot="5400000">
              <a:off x="4720859" y="4186300"/>
              <a:ext cx="1004360" cy="309562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JAXP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874" name="Google Shape;874;p88"/>
            <p:cNvSpPr/>
            <p:nvPr/>
          </p:nvSpPr>
          <p:spPr>
            <a:xfrm rot="5400000">
              <a:off x="5006466" y="4186299"/>
              <a:ext cx="1004360" cy="309562"/>
            </a:xfrm>
            <a:prstGeom prst="rect">
              <a:avLst/>
            </a:prstGeom>
            <a:solidFill>
              <a:srgbClr val="FCC370"/>
            </a:solidFill>
            <a:ln cap="flat" cmpd="sng" w="25400">
              <a:solidFill>
                <a:srgbClr val="7008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JDBC</a:t>
              </a:r>
              <a:endParaRPr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875" name="Google Shape;875;p88"/>
          <p:cNvSpPr/>
          <p:nvPr/>
        </p:nvSpPr>
        <p:spPr>
          <a:xfrm>
            <a:off x="10693222" y="2936587"/>
            <a:ext cx="1449861" cy="850653"/>
          </a:xfrm>
          <a:prstGeom prst="flowChartMagneticDisk">
            <a:avLst/>
          </a:prstGeom>
          <a:solidFill>
            <a:srgbClr val="F99F1B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Datasystem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76" name="Google Shape;876;p88"/>
          <p:cNvSpPr/>
          <p:nvPr/>
        </p:nvSpPr>
        <p:spPr>
          <a:xfrm>
            <a:off x="257675" y="2636911"/>
            <a:ext cx="2959736" cy="1536091"/>
          </a:xfrm>
          <a:prstGeom prst="roundRect">
            <a:avLst>
              <a:gd fmla="val 16667" name="adj"/>
            </a:avLst>
          </a:prstGeom>
          <a:solidFill>
            <a:srgbClr val="F99F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Client Container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77" name="Google Shape;877;p88"/>
          <p:cNvSpPr/>
          <p:nvPr/>
        </p:nvSpPr>
        <p:spPr>
          <a:xfrm>
            <a:off x="3725264" y="2636910"/>
            <a:ext cx="2959736" cy="1536091"/>
          </a:xfrm>
          <a:prstGeom prst="roundRect">
            <a:avLst>
              <a:gd fmla="val 16667" name="adj"/>
            </a:avLst>
          </a:prstGeom>
          <a:solidFill>
            <a:srgbClr val="F99F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 Container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78" name="Google Shape;878;p88"/>
          <p:cNvSpPr/>
          <p:nvPr/>
        </p:nvSpPr>
        <p:spPr>
          <a:xfrm>
            <a:off x="7192852" y="2636909"/>
            <a:ext cx="2959736" cy="1536091"/>
          </a:xfrm>
          <a:prstGeom prst="roundRect">
            <a:avLst>
              <a:gd fmla="val 16667" name="adj"/>
            </a:avLst>
          </a:prstGeom>
          <a:solidFill>
            <a:srgbClr val="F99F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 Container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79" name="Google Shape;879;p88"/>
          <p:cNvSpPr/>
          <p:nvPr/>
        </p:nvSpPr>
        <p:spPr>
          <a:xfrm>
            <a:off x="8153812" y="2794048"/>
            <a:ext cx="1037815" cy="784264"/>
          </a:xfrm>
          <a:prstGeom prst="ellipse">
            <a:avLst/>
          </a:prstGeom>
          <a:solidFill>
            <a:srgbClr val="F2F2F2"/>
          </a:solidFill>
          <a:ln cap="flat" cmpd="sng" w="25400">
            <a:solidFill>
              <a:srgbClr val="7008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EJB</a:t>
            </a:r>
            <a:endParaRPr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80" name="Google Shape;880;p88"/>
          <p:cNvSpPr/>
          <p:nvPr/>
        </p:nvSpPr>
        <p:spPr>
          <a:xfrm>
            <a:off x="5480724" y="3300573"/>
            <a:ext cx="875830" cy="379706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7008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Servlet</a:t>
            </a:r>
            <a:endParaRPr sz="16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81" name="Google Shape;881;p88"/>
          <p:cNvSpPr/>
          <p:nvPr/>
        </p:nvSpPr>
        <p:spPr>
          <a:xfrm>
            <a:off x="4118955" y="2875247"/>
            <a:ext cx="875830" cy="379706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7008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JSP</a:t>
            </a:r>
            <a:endParaRPr sz="16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s://d30y9cdsu7xlg0.cloudfront.net/png/21070-200.png" id="882" name="Google Shape;882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1990" y="2808075"/>
            <a:ext cx="1107678" cy="1107678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88"/>
          <p:cNvSpPr/>
          <p:nvPr/>
        </p:nvSpPr>
        <p:spPr>
          <a:xfrm>
            <a:off x="780389" y="1405962"/>
            <a:ext cx="191430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Tier-0: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Client-Side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Presentation</a:t>
            </a:r>
            <a:endParaRPr sz="24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84" name="Google Shape;884;p88"/>
          <p:cNvSpPr/>
          <p:nvPr/>
        </p:nvSpPr>
        <p:spPr>
          <a:xfrm>
            <a:off x="4247978" y="1405961"/>
            <a:ext cx="191430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Tier-1: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Server-Side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Presentation</a:t>
            </a:r>
            <a:endParaRPr sz="24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85" name="Google Shape;885;p88"/>
          <p:cNvSpPr/>
          <p:nvPr/>
        </p:nvSpPr>
        <p:spPr>
          <a:xfrm>
            <a:off x="7544044" y="1405960"/>
            <a:ext cx="225734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Tier-2: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Server-Side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Business Logic</a:t>
            </a:r>
            <a:endParaRPr sz="24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886" name="Google Shape;886;p88"/>
          <p:cNvCxnSpPr/>
          <p:nvPr/>
        </p:nvCxnSpPr>
        <p:spPr>
          <a:xfrm>
            <a:off x="3217410" y="3186180"/>
            <a:ext cx="507853" cy="0"/>
          </a:xfrm>
          <a:prstGeom prst="straightConnector1">
            <a:avLst/>
          </a:prstGeom>
          <a:noFill/>
          <a:ln cap="flat" cmpd="sng" w="9525">
            <a:solidFill>
              <a:srgbClr val="61078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7" name="Google Shape;887;p88"/>
          <p:cNvCxnSpPr/>
          <p:nvPr/>
        </p:nvCxnSpPr>
        <p:spPr>
          <a:xfrm rot="10800000">
            <a:off x="3217410" y="3699392"/>
            <a:ext cx="507853" cy="0"/>
          </a:xfrm>
          <a:prstGeom prst="straightConnector1">
            <a:avLst/>
          </a:prstGeom>
          <a:noFill/>
          <a:ln cap="flat" cmpd="sng" w="9525">
            <a:solidFill>
              <a:srgbClr val="61078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8" name="Google Shape;888;p88"/>
          <p:cNvCxnSpPr/>
          <p:nvPr/>
        </p:nvCxnSpPr>
        <p:spPr>
          <a:xfrm>
            <a:off x="6684999" y="3210253"/>
            <a:ext cx="507853" cy="0"/>
          </a:xfrm>
          <a:prstGeom prst="straightConnector1">
            <a:avLst/>
          </a:prstGeom>
          <a:noFill/>
          <a:ln cap="flat" cmpd="sng" w="9525">
            <a:solidFill>
              <a:srgbClr val="61078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89" name="Google Shape;889;p88"/>
          <p:cNvCxnSpPr/>
          <p:nvPr/>
        </p:nvCxnSpPr>
        <p:spPr>
          <a:xfrm rot="10800000">
            <a:off x="6684999" y="3723465"/>
            <a:ext cx="507853" cy="0"/>
          </a:xfrm>
          <a:prstGeom prst="straightConnector1">
            <a:avLst/>
          </a:prstGeom>
          <a:noFill/>
          <a:ln cap="flat" cmpd="sng" w="9525">
            <a:solidFill>
              <a:srgbClr val="61078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90" name="Google Shape;890;p88"/>
          <p:cNvCxnSpPr/>
          <p:nvPr/>
        </p:nvCxnSpPr>
        <p:spPr>
          <a:xfrm>
            <a:off x="10162824" y="3143906"/>
            <a:ext cx="507853" cy="0"/>
          </a:xfrm>
          <a:prstGeom prst="straightConnector1">
            <a:avLst/>
          </a:prstGeom>
          <a:noFill/>
          <a:ln cap="flat" cmpd="sng" w="9525">
            <a:solidFill>
              <a:srgbClr val="610786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91" name="Google Shape;891;p88"/>
          <p:cNvCxnSpPr/>
          <p:nvPr/>
        </p:nvCxnSpPr>
        <p:spPr>
          <a:xfrm rot="10800000">
            <a:off x="10162824" y="3657118"/>
            <a:ext cx="507853" cy="0"/>
          </a:xfrm>
          <a:prstGeom prst="straightConnector1">
            <a:avLst/>
          </a:prstGeom>
          <a:noFill/>
          <a:ln cap="flat" cmpd="sng" w="9525">
            <a:solidFill>
              <a:srgbClr val="61078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92" name="Google Shape;892;p88"/>
          <p:cNvSpPr/>
          <p:nvPr/>
        </p:nvSpPr>
        <p:spPr>
          <a:xfrm rot="5400000">
            <a:off x="2626657" y="5042473"/>
            <a:ext cx="1515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HTTP/HTTPS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93" name="Google Shape;893;p88"/>
          <p:cNvSpPr/>
          <p:nvPr/>
        </p:nvSpPr>
        <p:spPr>
          <a:xfrm rot="5400000">
            <a:off x="6328674" y="5103605"/>
            <a:ext cx="10413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RMI/IIOP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94" name="Google Shape;894;p88"/>
          <p:cNvSpPr/>
          <p:nvPr/>
        </p:nvSpPr>
        <p:spPr>
          <a:xfrm rot="5400000">
            <a:off x="9333623" y="4911664"/>
            <a:ext cx="193899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JDBC/Connectors</a:t>
            </a:r>
            <a:endParaRPr b="1" sz="1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89"/>
          <p:cNvSpPr txBox="1"/>
          <p:nvPr>
            <p:ph idx="1" type="body"/>
          </p:nvPr>
        </p:nvSpPr>
        <p:spPr>
          <a:xfrm>
            <a:off x="297196" y="1269581"/>
            <a:ext cx="10504341" cy="5284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Can use any Java EE implementation for development and deployment, such as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99F1B"/>
              </a:buClr>
              <a:buSzPts val="2800"/>
              <a:buChar char="–"/>
            </a:pPr>
            <a:r>
              <a:rPr lang="en-US">
                <a:solidFill>
                  <a:srgbClr val="610786"/>
                </a:solidFill>
              </a:rPr>
              <a:t>Production-quality standard implementation which is free for development/deployment.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99F1B"/>
              </a:buClr>
              <a:buSzPts val="2800"/>
              <a:buChar char="–"/>
            </a:pPr>
            <a:r>
              <a:rPr lang="en-US">
                <a:solidFill>
                  <a:srgbClr val="610786"/>
                </a:solidFill>
              </a:rPr>
              <a:t>High-end commercial Java EE products for scalability and fault-tolerance.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Vast amount of Java EE community resources: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F99F1B"/>
              </a:buClr>
              <a:buSzPts val="2800"/>
              <a:buChar char="–"/>
            </a:pPr>
            <a:r>
              <a:rPr lang="en-US">
                <a:solidFill>
                  <a:srgbClr val="610786"/>
                </a:solidFill>
              </a:rPr>
              <a:t>Many Java EE related books, articles, tutorials, quality code can be used as best practice guidelines, design patterns, etc.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Can use off-the-shelf 3rd-party business components.</a:t>
            </a:r>
            <a:endParaRPr/>
          </a:p>
        </p:txBody>
      </p:sp>
      <p:sp>
        <p:nvSpPr>
          <p:cNvPr id="900" name="Google Shape;900;p89"/>
          <p:cNvSpPr/>
          <p:nvPr/>
        </p:nvSpPr>
        <p:spPr>
          <a:xfrm>
            <a:off x="297196" y="618656"/>
            <a:ext cx="61863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Platform Value to Developers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901" name="Google Shape;901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902" name="Google Shape;902;p89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3" name="Google Shape;903;p89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90"/>
          <p:cNvSpPr txBox="1"/>
          <p:nvPr>
            <p:ph idx="1" type="body"/>
          </p:nvPr>
        </p:nvSpPr>
        <p:spPr>
          <a:xfrm>
            <a:off x="297196" y="1417862"/>
            <a:ext cx="10981792" cy="5284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3200"/>
              <a:buNone/>
            </a:pPr>
            <a:r>
              <a:rPr lang="en-US">
                <a:solidFill>
                  <a:srgbClr val="610786"/>
                </a:solidFill>
              </a:rPr>
              <a:t>Java EE value proposition to vendors are: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Vendors work together on specifications, and then compete in implementations. The areas in which they compete are scalability, performance, reliability, availability, management, development tools, and so 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Freedom to innovate, while maintaining the portability of applications.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Do not have to create/maintain their own proprietary APIs.</a:t>
            </a:r>
            <a:endParaRPr/>
          </a:p>
        </p:txBody>
      </p:sp>
      <p:sp>
        <p:nvSpPr>
          <p:cNvPr id="909" name="Google Shape;909;p90"/>
          <p:cNvSpPr/>
          <p:nvPr/>
        </p:nvSpPr>
        <p:spPr>
          <a:xfrm>
            <a:off x="297196" y="618656"/>
            <a:ext cx="55707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Platform Value to Vendors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910" name="Google Shape;910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911" name="Google Shape;911;p90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12" name="Google Shape;912;p90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91"/>
          <p:cNvSpPr txBox="1"/>
          <p:nvPr>
            <p:ph idx="1" type="body"/>
          </p:nvPr>
        </p:nvSpPr>
        <p:spPr>
          <a:xfrm>
            <a:off x="297196" y="1417862"/>
            <a:ext cx="10981792" cy="5284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3600"/>
              <a:buNone/>
            </a:pPr>
            <a:r>
              <a:rPr b="1" lang="en-US" sz="3600">
                <a:solidFill>
                  <a:srgbClr val="610786"/>
                </a:solidFill>
              </a:rPr>
              <a:t>Application Portability:</a:t>
            </a:r>
            <a:endParaRPr/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610786"/>
              </a:buClr>
              <a:buSzPts val="3600"/>
              <a:buChar char="•"/>
            </a:pPr>
            <a:r>
              <a:rPr lang="en-US" sz="3600">
                <a:solidFill>
                  <a:srgbClr val="610786"/>
                </a:solidFill>
              </a:rPr>
              <a:t>Many implementation choices are possible based on various requirements: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–"/>
            </a:pPr>
            <a:r>
              <a:rPr lang="en-US" sz="3200">
                <a:solidFill>
                  <a:srgbClr val="610786"/>
                </a:solidFill>
              </a:rPr>
              <a:t>Price (free to high-end), scalability (single CPU to clustered model), reliability, performance, tools, and more.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–"/>
            </a:pPr>
            <a:r>
              <a:rPr lang="en-US" sz="3200">
                <a:solidFill>
                  <a:srgbClr val="610786"/>
                </a:solidFill>
              </a:rPr>
              <a:t>Best of breed of applications and platforms.</a:t>
            </a:r>
            <a:endParaRPr/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610786"/>
              </a:buClr>
              <a:buSzPts val="3600"/>
              <a:buChar char="•"/>
            </a:pPr>
            <a:r>
              <a:rPr lang="en-US" sz="3600">
                <a:solidFill>
                  <a:srgbClr val="610786"/>
                </a:solidFill>
              </a:rPr>
              <a:t>Large developer pool.</a:t>
            </a:r>
            <a:endParaRPr/>
          </a:p>
        </p:txBody>
      </p:sp>
      <p:sp>
        <p:nvSpPr>
          <p:cNvPr id="918" name="Google Shape;918;p91"/>
          <p:cNvSpPr/>
          <p:nvPr/>
        </p:nvSpPr>
        <p:spPr>
          <a:xfrm>
            <a:off x="297196" y="618656"/>
            <a:ext cx="80842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Platform Value to Business Customers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919" name="Google Shape;919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920" name="Google Shape;920;p91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21" name="Google Shape;921;p91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92"/>
          <p:cNvSpPr txBox="1"/>
          <p:nvPr>
            <p:ph idx="1" type="body"/>
          </p:nvPr>
        </p:nvSpPr>
        <p:spPr>
          <a:xfrm>
            <a:off x="297196" y="1417862"/>
            <a:ext cx="10981792" cy="5284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None/>
            </a:pPr>
            <a:r>
              <a:rPr lang="en-US">
                <a:solidFill>
                  <a:srgbClr val="610786"/>
                </a:solidFill>
              </a:rPr>
              <a:t>A typical Enterprise Application is made up of: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b="1" lang="en-US">
                <a:solidFill>
                  <a:srgbClr val="610786"/>
                </a:solidFill>
              </a:rPr>
              <a:t>Presentation logic: </a:t>
            </a:r>
            <a:r>
              <a:rPr lang="en-US">
                <a:solidFill>
                  <a:srgbClr val="610786"/>
                </a:solidFill>
              </a:rPr>
              <a:t>It deals with how to present information to the end-users.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b="1" lang="en-US">
                <a:solidFill>
                  <a:srgbClr val="610786"/>
                </a:solidFill>
              </a:rPr>
              <a:t>Business logic: </a:t>
            </a:r>
            <a:r>
              <a:rPr lang="en-US">
                <a:solidFill>
                  <a:srgbClr val="610786"/>
                </a:solidFill>
              </a:rPr>
              <a:t>It includes the business logic of the application.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b="1" lang="en-US">
                <a:solidFill>
                  <a:srgbClr val="610786"/>
                </a:solidFill>
              </a:rPr>
              <a:t>Data access logic: </a:t>
            </a:r>
            <a:r>
              <a:rPr lang="en-US">
                <a:solidFill>
                  <a:srgbClr val="610786"/>
                </a:solidFill>
              </a:rPr>
              <a:t>It deals with accessing data in the back-end database.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Char char="•"/>
            </a:pPr>
            <a:r>
              <a:rPr b="1" lang="en-US">
                <a:solidFill>
                  <a:srgbClr val="610786"/>
                </a:solidFill>
              </a:rPr>
              <a:t>System services: </a:t>
            </a:r>
            <a:r>
              <a:rPr lang="en-US">
                <a:solidFill>
                  <a:srgbClr val="610786"/>
                </a:solidFill>
              </a:rPr>
              <a:t>It includes security, caching, logging, transaction, and other services.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F99F1B"/>
              </a:buClr>
              <a:buSzPts val="3200"/>
              <a:buNone/>
            </a:pPr>
            <a:r>
              <a:t/>
            </a:r>
            <a:endParaRPr>
              <a:solidFill>
                <a:srgbClr val="610786"/>
              </a:solidFill>
            </a:endParaRPr>
          </a:p>
        </p:txBody>
      </p:sp>
      <p:sp>
        <p:nvSpPr>
          <p:cNvPr id="927" name="Google Shape;927;p92"/>
          <p:cNvSpPr/>
          <p:nvPr/>
        </p:nvSpPr>
        <p:spPr>
          <a:xfrm>
            <a:off x="297196" y="618656"/>
            <a:ext cx="46730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Enterprise Application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928" name="Google Shape;928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929" name="Google Shape;929;p92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30" name="Google Shape;930;p92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93"/>
          <p:cNvSpPr txBox="1"/>
          <p:nvPr>
            <p:ph idx="1" type="body"/>
          </p:nvPr>
        </p:nvSpPr>
        <p:spPr>
          <a:xfrm>
            <a:off x="297196" y="1417862"/>
            <a:ext cx="10981792" cy="5284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3600"/>
              <a:buNone/>
            </a:pPr>
            <a:r>
              <a:rPr lang="en-US" sz="3600">
                <a:solidFill>
                  <a:srgbClr val="610786"/>
                </a:solidFill>
              </a:rPr>
              <a:t>Features of Enterprise Applications are: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Scalability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Availability (24/7 without any downtime}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Maintainability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Reliable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Speed/Performance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Multi-User</a:t>
            </a:r>
            <a:endParaRPr>
              <a:solidFill>
                <a:srgbClr val="610786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610786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610786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solidFill>
                <a:srgbClr val="610786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Fault-Tolerant</a:t>
            </a:r>
            <a:endParaRPr>
              <a:solidFill>
                <a:srgbClr val="610786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Secure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Robust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Distributed</a:t>
            </a:r>
            <a:endParaRPr>
              <a:solidFill>
                <a:srgbClr val="610786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Transactional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Vendor Independent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Flexible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rgbClr val="F99F1B"/>
              </a:buClr>
              <a:buSzPts val="2800"/>
              <a:buNone/>
            </a:pPr>
            <a:r>
              <a:t/>
            </a:r>
            <a:endParaRPr sz="2800">
              <a:solidFill>
                <a:srgbClr val="610786"/>
              </a:solidFill>
            </a:endParaRPr>
          </a:p>
        </p:txBody>
      </p:sp>
      <p:sp>
        <p:nvSpPr>
          <p:cNvPr id="936" name="Google Shape;936;p93"/>
          <p:cNvSpPr/>
          <p:nvPr/>
        </p:nvSpPr>
        <p:spPr>
          <a:xfrm>
            <a:off x="297196" y="618656"/>
            <a:ext cx="46730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Enterprise Application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937" name="Google Shape;937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938" name="Google Shape;938;p93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39" name="Google Shape;939;p93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94"/>
          <p:cNvSpPr txBox="1"/>
          <p:nvPr>
            <p:ph idx="1" type="body"/>
          </p:nvPr>
        </p:nvSpPr>
        <p:spPr>
          <a:xfrm>
            <a:off x="86865" y="1547933"/>
            <a:ext cx="8898592" cy="5001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3200"/>
              <a:buNone/>
            </a:pPr>
            <a:r>
              <a:rPr lang="en-US">
                <a:solidFill>
                  <a:srgbClr val="610786"/>
                </a:solidFill>
              </a:rPr>
              <a:t>An architecture of an enterprise application has: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Java EE components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610786"/>
              </a:buClr>
              <a:buSzPts val="2800"/>
              <a:buChar char="–"/>
            </a:pPr>
            <a:r>
              <a:rPr lang="en-US">
                <a:solidFill>
                  <a:srgbClr val="610786"/>
                </a:solidFill>
              </a:rPr>
              <a:t>Web components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610786"/>
              </a:buClr>
              <a:buSzPts val="2800"/>
              <a:buChar char="–"/>
            </a:pPr>
            <a:r>
              <a:rPr lang="en-US">
                <a:solidFill>
                  <a:srgbClr val="610786"/>
                </a:solidFill>
              </a:rPr>
              <a:t>EJB components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610786"/>
              </a:buClr>
              <a:buSzPts val="2800"/>
              <a:buChar char="–"/>
            </a:pPr>
            <a:r>
              <a:rPr lang="en-US">
                <a:solidFill>
                  <a:srgbClr val="610786"/>
                </a:solidFill>
              </a:rPr>
              <a:t>Utility jars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610786"/>
              </a:buClr>
              <a:buSzPts val="3200"/>
              <a:buChar char="•"/>
            </a:pPr>
            <a:r>
              <a:rPr lang="en-US">
                <a:solidFill>
                  <a:srgbClr val="610786"/>
                </a:solidFill>
              </a:rPr>
              <a:t>Deployment descriptor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610786"/>
              </a:buClr>
              <a:buSzPts val="2800"/>
              <a:buChar char="–"/>
            </a:pPr>
            <a:r>
              <a:rPr lang="en-US">
                <a:solidFill>
                  <a:srgbClr val="610786"/>
                </a:solidFill>
              </a:rPr>
              <a:t>application.xml</a:t>
            </a:r>
            <a:endParaRPr>
              <a:solidFill>
                <a:srgbClr val="610786"/>
              </a:solidFill>
            </a:endParaRPr>
          </a:p>
        </p:txBody>
      </p:sp>
      <p:sp>
        <p:nvSpPr>
          <p:cNvPr id="945" name="Google Shape;945;p94"/>
          <p:cNvSpPr/>
          <p:nvPr/>
        </p:nvSpPr>
        <p:spPr>
          <a:xfrm>
            <a:off x="297196" y="893212"/>
            <a:ext cx="72635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Enterprise Application Architecture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946" name="Google Shape;946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947" name="Google Shape;947;p94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48" name="Google Shape;948;p94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949" name="Google Shape;949;p94"/>
          <p:cNvGrpSpPr/>
          <p:nvPr/>
        </p:nvGrpSpPr>
        <p:grpSpPr>
          <a:xfrm>
            <a:off x="6389342" y="2376381"/>
            <a:ext cx="4570621" cy="4445648"/>
            <a:chOff x="8340934" y="2377256"/>
            <a:chExt cx="3847891" cy="3708055"/>
          </a:xfrm>
        </p:grpSpPr>
        <p:sp>
          <p:nvSpPr>
            <p:cNvPr id="950" name="Google Shape;950;p94"/>
            <p:cNvSpPr/>
            <p:nvPr/>
          </p:nvSpPr>
          <p:spPr>
            <a:xfrm>
              <a:off x="8340934" y="2377256"/>
              <a:ext cx="723900" cy="452438"/>
            </a:xfrm>
            <a:custGeom>
              <a:rect b="b" l="l" r="r" t="t"/>
              <a:pathLst>
                <a:path extrusionOk="0" h="21600" w="21600">
                  <a:moveTo>
                    <a:pt x="19790" y="3240"/>
                  </a:moveTo>
                  <a:cubicBezTo>
                    <a:pt x="10981" y="3240"/>
                    <a:pt x="9171" y="3240"/>
                    <a:pt x="9050" y="3086"/>
                  </a:cubicBezTo>
                  <a:cubicBezTo>
                    <a:pt x="9050" y="2931"/>
                    <a:pt x="8930" y="2777"/>
                    <a:pt x="8930" y="2469"/>
                  </a:cubicBezTo>
                  <a:cubicBezTo>
                    <a:pt x="8930" y="2160"/>
                    <a:pt x="8809" y="1851"/>
                    <a:pt x="8688" y="1389"/>
                  </a:cubicBezTo>
                  <a:cubicBezTo>
                    <a:pt x="8568" y="1080"/>
                    <a:pt x="8326" y="771"/>
                    <a:pt x="8085" y="463"/>
                  </a:cubicBezTo>
                  <a:cubicBezTo>
                    <a:pt x="7723" y="154"/>
                    <a:pt x="7361" y="0"/>
                    <a:pt x="7361" y="0"/>
                  </a:cubicBezTo>
                  <a:cubicBezTo>
                    <a:pt x="7361" y="0"/>
                    <a:pt x="2293" y="0"/>
                    <a:pt x="2051" y="154"/>
                  </a:cubicBezTo>
                  <a:cubicBezTo>
                    <a:pt x="1689" y="309"/>
                    <a:pt x="1448" y="463"/>
                    <a:pt x="1327" y="771"/>
                  </a:cubicBezTo>
                  <a:cubicBezTo>
                    <a:pt x="1207" y="1080"/>
                    <a:pt x="1086" y="1389"/>
                    <a:pt x="965" y="1697"/>
                  </a:cubicBezTo>
                  <a:cubicBezTo>
                    <a:pt x="845" y="2160"/>
                    <a:pt x="724" y="2314"/>
                    <a:pt x="724" y="2469"/>
                  </a:cubicBezTo>
                  <a:cubicBezTo>
                    <a:pt x="603" y="2623"/>
                    <a:pt x="603" y="2777"/>
                    <a:pt x="483" y="2931"/>
                  </a:cubicBezTo>
                  <a:cubicBezTo>
                    <a:pt x="483" y="3086"/>
                    <a:pt x="362" y="3240"/>
                    <a:pt x="241" y="3240"/>
                  </a:cubicBezTo>
                  <a:lnTo>
                    <a:pt x="0" y="3394"/>
                  </a:lnTo>
                  <a:lnTo>
                    <a:pt x="0" y="3703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10981" y="21600"/>
                  </a:lnTo>
                  <a:lnTo>
                    <a:pt x="21600" y="21600"/>
                  </a:lnTo>
                  <a:lnTo>
                    <a:pt x="21600" y="10800"/>
                  </a:lnTo>
                  <a:lnTo>
                    <a:pt x="21600" y="5246"/>
                  </a:lnTo>
                  <a:lnTo>
                    <a:pt x="21600" y="4783"/>
                  </a:lnTo>
                  <a:cubicBezTo>
                    <a:pt x="21479" y="4320"/>
                    <a:pt x="21359" y="4011"/>
                    <a:pt x="21117" y="3703"/>
                  </a:cubicBezTo>
                  <a:cubicBezTo>
                    <a:pt x="20876" y="3549"/>
                    <a:pt x="20514" y="3394"/>
                    <a:pt x="20152" y="3240"/>
                  </a:cubicBezTo>
                  <a:close/>
                </a:path>
              </a:pathLst>
            </a:custGeom>
            <a:solidFill>
              <a:srgbClr val="F99F1B"/>
            </a:solidFill>
            <a:ln cap="flat" cmpd="sng" w="9525">
              <a:solidFill>
                <a:srgbClr val="610786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107763">
                <a:srgbClr val="808080"/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951" name="Google Shape;951;p94"/>
            <p:cNvSpPr/>
            <p:nvPr/>
          </p:nvSpPr>
          <p:spPr>
            <a:xfrm>
              <a:off x="9503534" y="4118173"/>
              <a:ext cx="723900" cy="452438"/>
            </a:xfrm>
            <a:custGeom>
              <a:rect b="b" l="l" r="r" t="t"/>
              <a:pathLst>
                <a:path extrusionOk="0" h="21600" w="21600">
                  <a:moveTo>
                    <a:pt x="19790" y="3240"/>
                  </a:moveTo>
                  <a:cubicBezTo>
                    <a:pt x="10981" y="3240"/>
                    <a:pt x="9171" y="3240"/>
                    <a:pt x="9050" y="3086"/>
                  </a:cubicBezTo>
                  <a:cubicBezTo>
                    <a:pt x="9050" y="2931"/>
                    <a:pt x="8930" y="2777"/>
                    <a:pt x="8930" y="2469"/>
                  </a:cubicBezTo>
                  <a:cubicBezTo>
                    <a:pt x="8930" y="2160"/>
                    <a:pt x="8809" y="1851"/>
                    <a:pt x="8688" y="1389"/>
                  </a:cubicBezTo>
                  <a:cubicBezTo>
                    <a:pt x="8568" y="1080"/>
                    <a:pt x="8326" y="771"/>
                    <a:pt x="8085" y="463"/>
                  </a:cubicBezTo>
                  <a:cubicBezTo>
                    <a:pt x="7723" y="154"/>
                    <a:pt x="7361" y="0"/>
                    <a:pt x="7361" y="0"/>
                  </a:cubicBezTo>
                  <a:cubicBezTo>
                    <a:pt x="7361" y="0"/>
                    <a:pt x="2293" y="0"/>
                    <a:pt x="2051" y="154"/>
                  </a:cubicBezTo>
                  <a:cubicBezTo>
                    <a:pt x="1689" y="309"/>
                    <a:pt x="1448" y="463"/>
                    <a:pt x="1327" y="771"/>
                  </a:cubicBezTo>
                  <a:cubicBezTo>
                    <a:pt x="1207" y="1080"/>
                    <a:pt x="1086" y="1389"/>
                    <a:pt x="965" y="1697"/>
                  </a:cubicBezTo>
                  <a:cubicBezTo>
                    <a:pt x="845" y="2160"/>
                    <a:pt x="724" y="2314"/>
                    <a:pt x="724" y="2469"/>
                  </a:cubicBezTo>
                  <a:cubicBezTo>
                    <a:pt x="603" y="2623"/>
                    <a:pt x="603" y="2777"/>
                    <a:pt x="483" y="2931"/>
                  </a:cubicBezTo>
                  <a:cubicBezTo>
                    <a:pt x="483" y="3086"/>
                    <a:pt x="362" y="3240"/>
                    <a:pt x="241" y="3240"/>
                  </a:cubicBezTo>
                  <a:lnTo>
                    <a:pt x="0" y="3394"/>
                  </a:lnTo>
                  <a:lnTo>
                    <a:pt x="0" y="3703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10981" y="21600"/>
                  </a:lnTo>
                  <a:lnTo>
                    <a:pt x="21600" y="21600"/>
                  </a:lnTo>
                  <a:lnTo>
                    <a:pt x="21600" y="10800"/>
                  </a:lnTo>
                  <a:lnTo>
                    <a:pt x="21600" y="5246"/>
                  </a:lnTo>
                  <a:lnTo>
                    <a:pt x="21600" y="4783"/>
                  </a:lnTo>
                  <a:cubicBezTo>
                    <a:pt x="21479" y="4320"/>
                    <a:pt x="21359" y="4011"/>
                    <a:pt x="21117" y="3703"/>
                  </a:cubicBezTo>
                  <a:cubicBezTo>
                    <a:pt x="20876" y="3549"/>
                    <a:pt x="20514" y="3394"/>
                    <a:pt x="20152" y="3240"/>
                  </a:cubicBezTo>
                  <a:close/>
                </a:path>
              </a:pathLst>
            </a:custGeom>
            <a:solidFill>
              <a:srgbClr val="F99F1B"/>
            </a:solidFill>
            <a:ln cap="flat" cmpd="sng" w="9525">
              <a:solidFill>
                <a:srgbClr val="610786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107763">
                <a:srgbClr val="808080"/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952" name="Google Shape;952;p94"/>
            <p:cNvSpPr/>
            <p:nvPr/>
          </p:nvSpPr>
          <p:spPr>
            <a:xfrm>
              <a:off x="9350227" y="2460362"/>
              <a:ext cx="13131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Application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953" name="Google Shape;953;p94"/>
            <p:cNvSpPr/>
            <p:nvPr/>
          </p:nvSpPr>
          <p:spPr>
            <a:xfrm>
              <a:off x="9350227" y="3226267"/>
              <a:ext cx="620683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.war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.jar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954" name="Google Shape;954;p94"/>
            <p:cNvSpPr/>
            <p:nvPr/>
          </p:nvSpPr>
          <p:spPr>
            <a:xfrm>
              <a:off x="10335644" y="4201278"/>
              <a:ext cx="127470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META-INF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955" name="Google Shape;955;p94"/>
            <p:cNvSpPr/>
            <p:nvPr/>
          </p:nvSpPr>
          <p:spPr>
            <a:xfrm>
              <a:off x="10478100" y="5142226"/>
              <a:ext cx="17107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application.xml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grpSp>
          <p:nvGrpSpPr>
            <p:cNvPr id="956" name="Google Shape;956;p94"/>
            <p:cNvGrpSpPr/>
            <p:nvPr/>
          </p:nvGrpSpPr>
          <p:grpSpPr>
            <a:xfrm>
              <a:off x="8699234" y="2829694"/>
              <a:ext cx="1778866" cy="3255617"/>
              <a:chOff x="8699234" y="2829694"/>
              <a:chExt cx="1778866" cy="3255617"/>
            </a:xfrm>
          </p:grpSpPr>
          <p:cxnSp>
            <p:nvCxnSpPr>
              <p:cNvPr id="957" name="Google Shape;957;p94"/>
              <p:cNvCxnSpPr>
                <a:stCxn id="950" idx="2"/>
              </p:cNvCxnSpPr>
              <p:nvPr/>
            </p:nvCxnSpPr>
            <p:spPr>
              <a:xfrm flipH="1">
                <a:off x="8699284" y="2829694"/>
                <a:ext cx="3600" cy="2257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99F1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8" name="Google Shape;958;p94"/>
              <p:cNvCxnSpPr>
                <a:stCxn id="951" idx="1"/>
              </p:cNvCxnSpPr>
              <p:nvPr/>
            </p:nvCxnSpPr>
            <p:spPr>
              <a:xfrm flipH="1">
                <a:off x="8699234" y="4344392"/>
                <a:ext cx="804300" cy="5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99F1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9" name="Google Shape;959;p94"/>
              <p:cNvCxnSpPr>
                <a:stCxn id="953" idx="1"/>
              </p:cNvCxnSpPr>
              <p:nvPr/>
            </p:nvCxnSpPr>
            <p:spPr>
              <a:xfrm rot="10800000">
                <a:off x="8702827" y="3548232"/>
                <a:ext cx="647400" cy="12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99F1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0" name="Google Shape;960;p94"/>
              <p:cNvCxnSpPr>
                <a:stCxn id="951" idx="2"/>
              </p:cNvCxnSpPr>
              <p:nvPr/>
            </p:nvCxnSpPr>
            <p:spPr>
              <a:xfrm>
                <a:off x="9865484" y="4570611"/>
                <a:ext cx="0" cy="1514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99F1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1" name="Google Shape;961;p94"/>
              <p:cNvCxnSpPr>
                <a:stCxn id="955" idx="1"/>
              </p:cNvCxnSpPr>
              <p:nvPr/>
            </p:nvCxnSpPr>
            <p:spPr>
              <a:xfrm rot="10800000">
                <a:off x="9865500" y="5326892"/>
                <a:ext cx="612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99F1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95"/>
          <p:cNvSpPr/>
          <p:nvPr/>
        </p:nvSpPr>
        <p:spPr>
          <a:xfrm>
            <a:off x="297196" y="607315"/>
            <a:ext cx="28007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Components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967" name="Google Shape;967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968" name="Google Shape;968;p95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69" name="Google Shape;969;p95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70" name="Google Shape;970;p95"/>
          <p:cNvSpPr/>
          <p:nvPr/>
        </p:nvSpPr>
        <p:spPr>
          <a:xfrm>
            <a:off x="297196" y="1175154"/>
            <a:ext cx="4645087" cy="779316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Web Components</a:t>
            </a:r>
            <a:endParaRPr b="1"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71" name="Google Shape;971;p95"/>
          <p:cNvSpPr/>
          <p:nvPr/>
        </p:nvSpPr>
        <p:spPr>
          <a:xfrm>
            <a:off x="155981" y="1927332"/>
            <a:ext cx="5244546" cy="492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Web components are used for 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handling presentation logic. 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They consist of: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Static content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HTML pages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Images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Style-sheets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Dynamic content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Servlets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JSPs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Deployment descriptor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web.xml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weblogic.xml</a:t>
            </a:r>
            <a:endParaRPr/>
          </a:p>
        </p:txBody>
      </p:sp>
      <p:grpSp>
        <p:nvGrpSpPr>
          <p:cNvPr id="972" name="Google Shape;972;p95"/>
          <p:cNvGrpSpPr/>
          <p:nvPr/>
        </p:nvGrpSpPr>
        <p:grpSpPr>
          <a:xfrm>
            <a:off x="5765429" y="1849812"/>
            <a:ext cx="5487591" cy="4576527"/>
            <a:chOff x="4992434" y="1819020"/>
            <a:chExt cx="5487591" cy="4576527"/>
          </a:xfrm>
        </p:grpSpPr>
        <p:grpSp>
          <p:nvGrpSpPr>
            <p:cNvPr id="973" name="Google Shape;973;p95"/>
            <p:cNvGrpSpPr/>
            <p:nvPr/>
          </p:nvGrpSpPr>
          <p:grpSpPr>
            <a:xfrm>
              <a:off x="4992434" y="1819020"/>
              <a:ext cx="5487591" cy="4418308"/>
              <a:chOff x="8340934" y="2377256"/>
              <a:chExt cx="4231239" cy="3508471"/>
            </a:xfrm>
          </p:grpSpPr>
          <p:sp>
            <p:nvSpPr>
              <p:cNvPr id="974" name="Google Shape;974;p95"/>
              <p:cNvSpPr/>
              <p:nvPr/>
            </p:nvSpPr>
            <p:spPr>
              <a:xfrm>
                <a:off x="8340934" y="2377256"/>
                <a:ext cx="723900" cy="452438"/>
              </a:xfrm>
              <a:custGeom>
                <a:rect b="b" l="l" r="r" t="t"/>
                <a:pathLst>
                  <a:path extrusionOk="0" h="21600" w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F99F1B"/>
              </a:solidFill>
              <a:ln cap="flat" cmpd="sng" w="9525">
                <a:solidFill>
                  <a:srgbClr val="610786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07763">
                  <a:srgbClr val="808080"/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975" name="Google Shape;975;p95"/>
              <p:cNvSpPr/>
              <p:nvPr/>
            </p:nvSpPr>
            <p:spPr>
              <a:xfrm>
                <a:off x="9503534" y="3605089"/>
                <a:ext cx="723900" cy="452438"/>
              </a:xfrm>
              <a:custGeom>
                <a:rect b="b" l="l" r="r" t="t"/>
                <a:pathLst>
                  <a:path extrusionOk="0" h="21600" w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F99F1B"/>
              </a:solidFill>
              <a:ln cap="flat" cmpd="sng" w="9525">
                <a:solidFill>
                  <a:srgbClr val="610786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07763">
                  <a:srgbClr val="808080"/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976" name="Google Shape;976;p95"/>
              <p:cNvSpPr/>
              <p:nvPr/>
            </p:nvSpPr>
            <p:spPr>
              <a:xfrm>
                <a:off x="9350227" y="2460362"/>
                <a:ext cx="1526714" cy="2932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Web App Foldder</a:t>
                </a:r>
                <a:endParaRPr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977" name="Google Shape;977;p95"/>
              <p:cNvSpPr/>
              <p:nvPr/>
            </p:nvSpPr>
            <p:spPr>
              <a:xfrm>
                <a:off x="9382995" y="2994029"/>
                <a:ext cx="844439" cy="513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All jsp, 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html files</a:t>
                </a:r>
                <a:endParaRPr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978" name="Google Shape;978;p95"/>
              <p:cNvSpPr/>
              <p:nvPr/>
            </p:nvSpPr>
            <p:spPr>
              <a:xfrm>
                <a:off x="10335644" y="3688196"/>
                <a:ext cx="893879" cy="2932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WEB-INF</a:t>
                </a:r>
                <a:endParaRPr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979" name="Google Shape;979;p95"/>
              <p:cNvSpPr/>
              <p:nvPr/>
            </p:nvSpPr>
            <p:spPr>
              <a:xfrm>
                <a:off x="10986132" y="4992217"/>
                <a:ext cx="1586041" cy="2932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All resources (.jar)</a:t>
                </a:r>
                <a:endParaRPr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grpSp>
            <p:nvGrpSpPr>
              <p:cNvPr id="980" name="Google Shape;980;p95"/>
              <p:cNvGrpSpPr/>
              <p:nvPr/>
            </p:nvGrpSpPr>
            <p:grpSpPr>
              <a:xfrm>
                <a:off x="8699234" y="2829694"/>
                <a:ext cx="1553872" cy="3056033"/>
                <a:chOff x="8699234" y="2829694"/>
                <a:chExt cx="1553872" cy="3056033"/>
              </a:xfrm>
            </p:grpSpPr>
            <p:cxnSp>
              <p:nvCxnSpPr>
                <p:cNvPr id="981" name="Google Shape;981;p95"/>
                <p:cNvCxnSpPr>
                  <a:stCxn id="974" idx="2"/>
                </p:cNvCxnSpPr>
                <p:nvPr/>
              </p:nvCxnSpPr>
              <p:spPr>
                <a:xfrm>
                  <a:off x="8702884" y="2829694"/>
                  <a:ext cx="0" cy="1910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82" name="Google Shape;982;p95"/>
                <p:cNvCxnSpPr>
                  <a:stCxn id="975" idx="1"/>
                </p:cNvCxnSpPr>
                <p:nvPr/>
              </p:nvCxnSpPr>
              <p:spPr>
                <a:xfrm flipH="1">
                  <a:off x="8699234" y="3831308"/>
                  <a:ext cx="804300" cy="5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83" name="Google Shape;983;p95"/>
                <p:cNvCxnSpPr>
                  <a:stCxn id="977" idx="1"/>
                </p:cNvCxnSpPr>
                <p:nvPr/>
              </p:nvCxnSpPr>
              <p:spPr>
                <a:xfrm rot="10800000">
                  <a:off x="8699295" y="3250647"/>
                  <a:ext cx="683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84" name="Google Shape;984;p95"/>
                <p:cNvCxnSpPr>
                  <a:stCxn id="975" idx="2"/>
                </p:cNvCxnSpPr>
                <p:nvPr/>
              </p:nvCxnSpPr>
              <p:spPr>
                <a:xfrm>
                  <a:off x="9865484" y="4057527"/>
                  <a:ext cx="0" cy="18282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85" name="Google Shape;985;p95"/>
                <p:cNvCxnSpPr>
                  <a:stCxn id="986" idx="1"/>
                </p:cNvCxnSpPr>
                <p:nvPr/>
              </p:nvCxnSpPr>
              <p:spPr>
                <a:xfrm rot="10800000">
                  <a:off x="9853206" y="5766767"/>
                  <a:ext cx="399900" cy="12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987" name="Google Shape;987;p95"/>
            <p:cNvSpPr/>
            <p:nvPr/>
          </p:nvSpPr>
          <p:spPr>
            <a:xfrm>
              <a:off x="7346465" y="4221088"/>
              <a:ext cx="812594" cy="436108"/>
            </a:xfrm>
            <a:custGeom>
              <a:rect b="b" l="l" r="r" t="t"/>
              <a:pathLst>
                <a:path extrusionOk="0" h="21600" w="21600">
                  <a:moveTo>
                    <a:pt x="19790" y="3240"/>
                  </a:moveTo>
                  <a:cubicBezTo>
                    <a:pt x="10981" y="3240"/>
                    <a:pt x="9171" y="3240"/>
                    <a:pt x="9050" y="3086"/>
                  </a:cubicBezTo>
                  <a:cubicBezTo>
                    <a:pt x="9050" y="2931"/>
                    <a:pt x="8930" y="2777"/>
                    <a:pt x="8930" y="2469"/>
                  </a:cubicBezTo>
                  <a:cubicBezTo>
                    <a:pt x="8930" y="2160"/>
                    <a:pt x="8809" y="1851"/>
                    <a:pt x="8688" y="1389"/>
                  </a:cubicBezTo>
                  <a:cubicBezTo>
                    <a:pt x="8568" y="1080"/>
                    <a:pt x="8326" y="771"/>
                    <a:pt x="8085" y="463"/>
                  </a:cubicBezTo>
                  <a:cubicBezTo>
                    <a:pt x="7723" y="154"/>
                    <a:pt x="7361" y="0"/>
                    <a:pt x="7361" y="0"/>
                  </a:cubicBezTo>
                  <a:cubicBezTo>
                    <a:pt x="7361" y="0"/>
                    <a:pt x="2293" y="0"/>
                    <a:pt x="2051" y="154"/>
                  </a:cubicBezTo>
                  <a:cubicBezTo>
                    <a:pt x="1689" y="309"/>
                    <a:pt x="1448" y="463"/>
                    <a:pt x="1327" y="771"/>
                  </a:cubicBezTo>
                  <a:cubicBezTo>
                    <a:pt x="1207" y="1080"/>
                    <a:pt x="1086" y="1389"/>
                    <a:pt x="965" y="1697"/>
                  </a:cubicBezTo>
                  <a:cubicBezTo>
                    <a:pt x="845" y="2160"/>
                    <a:pt x="724" y="2314"/>
                    <a:pt x="724" y="2469"/>
                  </a:cubicBezTo>
                  <a:cubicBezTo>
                    <a:pt x="603" y="2623"/>
                    <a:pt x="603" y="2777"/>
                    <a:pt x="483" y="2931"/>
                  </a:cubicBezTo>
                  <a:cubicBezTo>
                    <a:pt x="483" y="3086"/>
                    <a:pt x="362" y="3240"/>
                    <a:pt x="241" y="3240"/>
                  </a:cubicBezTo>
                  <a:lnTo>
                    <a:pt x="0" y="3394"/>
                  </a:lnTo>
                  <a:lnTo>
                    <a:pt x="0" y="3703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10981" y="21600"/>
                  </a:lnTo>
                  <a:lnTo>
                    <a:pt x="21600" y="21600"/>
                  </a:lnTo>
                  <a:lnTo>
                    <a:pt x="21600" y="10800"/>
                  </a:lnTo>
                  <a:lnTo>
                    <a:pt x="21600" y="5246"/>
                  </a:lnTo>
                  <a:lnTo>
                    <a:pt x="21600" y="4783"/>
                  </a:lnTo>
                  <a:cubicBezTo>
                    <a:pt x="21479" y="4320"/>
                    <a:pt x="21359" y="4011"/>
                    <a:pt x="21117" y="3703"/>
                  </a:cubicBezTo>
                  <a:cubicBezTo>
                    <a:pt x="20876" y="3549"/>
                    <a:pt x="20514" y="3394"/>
                    <a:pt x="20152" y="3240"/>
                  </a:cubicBezTo>
                  <a:close/>
                </a:path>
              </a:pathLst>
            </a:custGeom>
            <a:solidFill>
              <a:srgbClr val="F99F1B"/>
            </a:solidFill>
            <a:ln cap="flat" cmpd="sng" w="9525">
              <a:solidFill>
                <a:srgbClr val="610786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107763">
                <a:srgbClr val="808080"/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988" name="Google Shape;988;p95"/>
            <p:cNvSpPr/>
            <p:nvPr/>
          </p:nvSpPr>
          <p:spPr>
            <a:xfrm>
              <a:off x="8423045" y="4287863"/>
              <a:ext cx="9541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classes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989" name="Google Shape;989;p95"/>
            <p:cNvSpPr/>
            <p:nvPr/>
          </p:nvSpPr>
          <p:spPr>
            <a:xfrm>
              <a:off x="7342016" y="4997402"/>
              <a:ext cx="812594" cy="436108"/>
            </a:xfrm>
            <a:custGeom>
              <a:rect b="b" l="l" r="r" t="t"/>
              <a:pathLst>
                <a:path extrusionOk="0" h="21600" w="21600">
                  <a:moveTo>
                    <a:pt x="19790" y="3240"/>
                  </a:moveTo>
                  <a:cubicBezTo>
                    <a:pt x="10981" y="3240"/>
                    <a:pt x="9171" y="3240"/>
                    <a:pt x="9050" y="3086"/>
                  </a:cubicBezTo>
                  <a:cubicBezTo>
                    <a:pt x="9050" y="2931"/>
                    <a:pt x="8930" y="2777"/>
                    <a:pt x="8930" y="2469"/>
                  </a:cubicBezTo>
                  <a:cubicBezTo>
                    <a:pt x="8930" y="2160"/>
                    <a:pt x="8809" y="1851"/>
                    <a:pt x="8688" y="1389"/>
                  </a:cubicBezTo>
                  <a:cubicBezTo>
                    <a:pt x="8568" y="1080"/>
                    <a:pt x="8326" y="771"/>
                    <a:pt x="8085" y="463"/>
                  </a:cubicBezTo>
                  <a:cubicBezTo>
                    <a:pt x="7723" y="154"/>
                    <a:pt x="7361" y="0"/>
                    <a:pt x="7361" y="0"/>
                  </a:cubicBezTo>
                  <a:cubicBezTo>
                    <a:pt x="7361" y="0"/>
                    <a:pt x="2293" y="0"/>
                    <a:pt x="2051" y="154"/>
                  </a:cubicBezTo>
                  <a:cubicBezTo>
                    <a:pt x="1689" y="309"/>
                    <a:pt x="1448" y="463"/>
                    <a:pt x="1327" y="771"/>
                  </a:cubicBezTo>
                  <a:cubicBezTo>
                    <a:pt x="1207" y="1080"/>
                    <a:pt x="1086" y="1389"/>
                    <a:pt x="965" y="1697"/>
                  </a:cubicBezTo>
                  <a:cubicBezTo>
                    <a:pt x="845" y="2160"/>
                    <a:pt x="724" y="2314"/>
                    <a:pt x="724" y="2469"/>
                  </a:cubicBezTo>
                  <a:cubicBezTo>
                    <a:pt x="603" y="2623"/>
                    <a:pt x="603" y="2777"/>
                    <a:pt x="483" y="2931"/>
                  </a:cubicBezTo>
                  <a:cubicBezTo>
                    <a:pt x="483" y="3086"/>
                    <a:pt x="362" y="3240"/>
                    <a:pt x="241" y="3240"/>
                  </a:cubicBezTo>
                  <a:lnTo>
                    <a:pt x="0" y="3394"/>
                  </a:lnTo>
                  <a:lnTo>
                    <a:pt x="0" y="3703"/>
                  </a:lnTo>
                  <a:lnTo>
                    <a:pt x="0" y="10800"/>
                  </a:lnTo>
                  <a:lnTo>
                    <a:pt x="0" y="21600"/>
                  </a:lnTo>
                  <a:lnTo>
                    <a:pt x="10981" y="21600"/>
                  </a:lnTo>
                  <a:lnTo>
                    <a:pt x="21600" y="21600"/>
                  </a:lnTo>
                  <a:lnTo>
                    <a:pt x="21600" y="10800"/>
                  </a:lnTo>
                  <a:lnTo>
                    <a:pt x="21600" y="5246"/>
                  </a:lnTo>
                  <a:lnTo>
                    <a:pt x="21600" y="4783"/>
                  </a:lnTo>
                  <a:cubicBezTo>
                    <a:pt x="21479" y="4320"/>
                    <a:pt x="21359" y="4011"/>
                    <a:pt x="21117" y="3703"/>
                  </a:cubicBezTo>
                  <a:cubicBezTo>
                    <a:pt x="20876" y="3549"/>
                    <a:pt x="20514" y="3394"/>
                    <a:pt x="20152" y="3240"/>
                  </a:cubicBezTo>
                  <a:close/>
                </a:path>
              </a:pathLst>
            </a:custGeom>
            <a:solidFill>
              <a:srgbClr val="F99F1B"/>
            </a:solidFill>
            <a:ln cap="flat" cmpd="sng" w="9525">
              <a:solidFill>
                <a:srgbClr val="610786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107763">
                <a:srgbClr val="808080"/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990" name="Google Shape;990;p95"/>
            <p:cNvSpPr/>
            <p:nvPr/>
          </p:nvSpPr>
          <p:spPr>
            <a:xfrm>
              <a:off x="8429331" y="4609373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All .class files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991" name="Google Shape;991;p95"/>
            <p:cNvCxnSpPr>
              <a:stCxn id="987" idx="1"/>
            </p:cNvCxnSpPr>
            <p:nvPr/>
          </p:nvCxnSpPr>
          <p:spPr>
            <a:xfrm rot="10800000">
              <a:off x="6971765" y="4439142"/>
              <a:ext cx="374700" cy="0"/>
            </a:xfrm>
            <a:prstGeom prst="straightConnector1">
              <a:avLst/>
            </a:prstGeom>
            <a:noFill/>
            <a:ln cap="flat" cmpd="sng" w="28575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2" name="Google Shape;992;p95"/>
            <p:cNvCxnSpPr>
              <a:stCxn id="989" idx="1"/>
            </p:cNvCxnSpPr>
            <p:nvPr/>
          </p:nvCxnSpPr>
          <p:spPr>
            <a:xfrm rot="10800000">
              <a:off x="6969716" y="5215456"/>
              <a:ext cx="372300" cy="0"/>
            </a:xfrm>
            <a:prstGeom prst="straightConnector1">
              <a:avLst/>
            </a:prstGeom>
            <a:noFill/>
            <a:ln cap="flat" cmpd="sng" w="28575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86" name="Google Shape;986;p95"/>
            <p:cNvSpPr/>
            <p:nvPr/>
          </p:nvSpPr>
          <p:spPr>
            <a:xfrm>
              <a:off x="7470563" y="5779720"/>
              <a:ext cx="460250" cy="615827"/>
            </a:xfrm>
            <a:custGeom>
              <a:rect b="b" l="l" r="r" t="t"/>
              <a:pathLst>
                <a:path extrusionOk="0" h="21600" w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extrusionOk="0" h="21600" w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F99F1B"/>
            </a:solidFill>
            <a:ln cap="flat" cmpd="sng" w="9525">
              <a:solidFill>
                <a:srgbClr val="610786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107763">
                <a:srgbClr val="808080"/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993" name="Google Shape;993;p95"/>
            <p:cNvSpPr/>
            <p:nvPr/>
          </p:nvSpPr>
          <p:spPr>
            <a:xfrm>
              <a:off x="8086390" y="5904365"/>
              <a:ext cx="10310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web.xml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96"/>
          <p:cNvSpPr/>
          <p:nvPr/>
        </p:nvSpPr>
        <p:spPr>
          <a:xfrm>
            <a:off x="297196" y="607315"/>
            <a:ext cx="28007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Components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999" name="Google Shape;999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000" name="Google Shape;1000;p96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01" name="Google Shape;1001;p96"/>
          <p:cNvSpPr txBox="1"/>
          <p:nvPr>
            <p:ph type="title"/>
          </p:nvPr>
        </p:nvSpPr>
        <p:spPr>
          <a:xfrm>
            <a:off x="297196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Java EE?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02" name="Google Shape;1002;p96"/>
          <p:cNvSpPr/>
          <p:nvPr/>
        </p:nvSpPr>
        <p:spPr>
          <a:xfrm>
            <a:off x="297196" y="1175154"/>
            <a:ext cx="4645087" cy="779316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EJB Components</a:t>
            </a:r>
            <a:endParaRPr b="1"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03" name="Google Shape;1003;p96"/>
          <p:cNvSpPr/>
          <p:nvPr/>
        </p:nvSpPr>
        <p:spPr>
          <a:xfrm>
            <a:off x="155981" y="1927332"/>
            <a:ext cx="5244546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EJB component is a body of code that has fields &amp; methods to implement modules to business logic.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Java content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Home interface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Business interface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Bean class</a:t>
            </a:r>
            <a:endParaRPr b="0" i="0" sz="2800" u="none" cap="none" strike="noStrike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Deployment descriptor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web.xml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weblogic.xml</a:t>
            </a:r>
            <a:endParaRPr b="0" i="0" sz="2800" u="none" cap="none" strike="noStrike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004" name="Google Shape;1004;p96"/>
          <p:cNvGrpSpPr/>
          <p:nvPr/>
        </p:nvGrpSpPr>
        <p:grpSpPr>
          <a:xfrm>
            <a:off x="5765430" y="1849811"/>
            <a:ext cx="5009502" cy="3667421"/>
            <a:chOff x="4992435" y="1819019"/>
            <a:chExt cx="4652377" cy="3115173"/>
          </a:xfrm>
        </p:grpSpPr>
        <p:grpSp>
          <p:nvGrpSpPr>
            <p:cNvPr id="1005" name="Google Shape;1005;p96"/>
            <p:cNvGrpSpPr/>
            <p:nvPr/>
          </p:nvGrpSpPr>
          <p:grpSpPr>
            <a:xfrm>
              <a:off x="4992435" y="1819019"/>
              <a:ext cx="4652377" cy="3091482"/>
              <a:chOff x="8340934" y="2377256"/>
              <a:chExt cx="3587242" cy="2454871"/>
            </a:xfrm>
          </p:grpSpPr>
          <p:sp>
            <p:nvSpPr>
              <p:cNvPr id="1006" name="Google Shape;1006;p96"/>
              <p:cNvSpPr/>
              <p:nvPr/>
            </p:nvSpPr>
            <p:spPr>
              <a:xfrm>
                <a:off x="8340934" y="2377256"/>
                <a:ext cx="723900" cy="452438"/>
              </a:xfrm>
              <a:custGeom>
                <a:rect b="b" l="l" r="r" t="t"/>
                <a:pathLst>
                  <a:path extrusionOk="0" h="21600" w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F99F1B"/>
              </a:solidFill>
              <a:ln cap="flat" cmpd="sng" w="9525">
                <a:solidFill>
                  <a:srgbClr val="610786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07763">
                  <a:srgbClr val="808080"/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07" name="Google Shape;1007;p96"/>
              <p:cNvSpPr/>
              <p:nvPr/>
            </p:nvSpPr>
            <p:spPr>
              <a:xfrm>
                <a:off x="9503534" y="3605089"/>
                <a:ext cx="723900" cy="452438"/>
              </a:xfrm>
              <a:custGeom>
                <a:rect b="b" l="l" r="r" t="t"/>
                <a:pathLst>
                  <a:path extrusionOk="0" h="21600" w="21600">
                    <a:moveTo>
                      <a:pt x="19790" y="3240"/>
                    </a:moveTo>
                    <a:cubicBezTo>
                      <a:pt x="10981" y="3240"/>
                      <a:pt x="9171" y="3240"/>
                      <a:pt x="9050" y="3086"/>
                    </a:cubicBezTo>
                    <a:cubicBezTo>
                      <a:pt x="9050" y="2931"/>
                      <a:pt x="8930" y="2777"/>
                      <a:pt x="8930" y="2469"/>
                    </a:cubicBezTo>
                    <a:cubicBezTo>
                      <a:pt x="8930" y="2160"/>
                      <a:pt x="8809" y="1851"/>
                      <a:pt x="8688" y="1389"/>
                    </a:cubicBezTo>
                    <a:cubicBezTo>
                      <a:pt x="8568" y="1080"/>
                      <a:pt x="8326" y="771"/>
                      <a:pt x="8085" y="463"/>
                    </a:cubicBezTo>
                    <a:cubicBezTo>
                      <a:pt x="7723" y="154"/>
                      <a:pt x="7361" y="0"/>
                      <a:pt x="7361" y="0"/>
                    </a:cubicBezTo>
                    <a:cubicBezTo>
                      <a:pt x="7361" y="0"/>
                      <a:pt x="2293" y="0"/>
                      <a:pt x="2051" y="154"/>
                    </a:cubicBezTo>
                    <a:cubicBezTo>
                      <a:pt x="1689" y="309"/>
                      <a:pt x="1448" y="463"/>
                      <a:pt x="1327" y="771"/>
                    </a:cubicBezTo>
                    <a:cubicBezTo>
                      <a:pt x="1207" y="1080"/>
                      <a:pt x="1086" y="1389"/>
                      <a:pt x="965" y="1697"/>
                    </a:cubicBezTo>
                    <a:cubicBezTo>
                      <a:pt x="845" y="2160"/>
                      <a:pt x="724" y="2314"/>
                      <a:pt x="724" y="2469"/>
                    </a:cubicBezTo>
                    <a:cubicBezTo>
                      <a:pt x="603" y="2623"/>
                      <a:pt x="603" y="2777"/>
                      <a:pt x="483" y="2931"/>
                    </a:cubicBezTo>
                    <a:cubicBezTo>
                      <a:pt x="483" y="3086"/>
                      <a:pt x="362" y="3240"/>
                      <a:pt x="241" y="3240"/>
                    </a:cubicBezTo>
                    <a:lnTo>
                      <a:pt x="0" y="3394"/>
                    </a:lnTo>
                    <a:lnTo>
                      <a:pt x="0" y="3703"/>
                    </a:lnTo>
                    <a:lnTo>
                      <a:pt x="0" y="10800"/>
                    </a:lnTo>
                    <a:lnTo>
                      <a:pt x="0" y="21600"/>
                    </a:lnTo>
                    <a:lnTo>
                      <a:pt x="10981" y="21600"/>
                    </a:lnTo>
                    <a:lnTo>
                      <a:pt x="21600" y="21600"/>
                    </a:lnTo>
                    <a:lnTo>
                      <a:pt x="21600" y="10800"/>
                    </a:lnTo>
                    <a:lnTo>
                      <a:pt x="21600" y="5246"/>
                    </a:lnTo>
                    <a:lnTo>
                      <a:pt x="21600" y="4783"/>
                    </a:lnTo>
                    <a:cubicBezTo>
                      <a:pt x="21479" y="4320"/>
                      <a:pt x="21359" y="4011"/>
                      <a:pt x="21117" y="3703"/>
                    </a:cubicBezTo>
                    <a:cubicBezTo>
                      <a:pt x="20876" y="3549"/>
                      <a:pt x="20514" y="3394"/>
                      <a:pt x="20152" y="3240"/>
                    </a:cubicBezTo>
                    <a:close/>
                  </a:path>
                </a:pathLst>
              </a:custGeom>
              <a:solidFill>
                <a:srgbClr val="F99F1B"/>
              </a:solidFill>
              <a:ln cap="flat" cmpd="sng" w="9525">
                <a:solidFill>
                  <a:srgbClr val="610786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07763">
                  <a:srgbClr val="808080"/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08" name="Google Shape;1008;p96"/>
              <p:cNvSpPr/>
              <p:nvPr/>
            </p:nvSpPr>
            <p:spPr>
              <a:xfrm>
                <a:off x="9350227" y="2460362"/>
                <a:ext cx="1012535" cy="2932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Application</a:t>
                </a:r>
                <a:endParaRPr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09" name="Google Shape;1009;p96"/>
              <p:cNvSpPr/>
              <p:nvPr/>
            </p:nvSpPr>
            <p:spPr>
              <a:xfrm>
                <a:off x="9382995" y="2994029"/>
                <a:ext cx="2545181" cy="513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Home. class, Business. class, 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Bean. class</a:t>
                </a:r>
                <a:endParaRPr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10" name="Google Shape;1010;p96"/>
              <p:cNvSpPr/>
              <p:nvPr/>
            </p:nvSpPr>
            <p:spPr>
              <a:xfrm>
                <a:off x="10335644" y="3688196"/>
                <a:ext cx="982871" cy="2932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META-INF</a:t>
                </a:r>
                <a:endParaRPr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grpSp>
            <p:nvGrpSpPr>
              <p:cNvPr id="1011" name="Google Shape;1011;p96"/>
              <p:cNvGrpSpPr/>
              <p:nvPr/>
            </p:nvGrpSpPr>
            <p:grpSpPr>
              <a:xfrm>
                <a:off x="8699234" y="2829694"/>
                <a:ext cx="1166251" cy="2002433"/>
                <a:chOff x="8699234" y="2829694"/>
                <a:chExt cx="1166251" cy="2002433"/>
              </a:xfrm>
            </p:grpSpPr>
            <p:cxnSp>
              <p:nvCxnSpPr>
                <p:cNvPr id="1012" name="Google Shape;1012;p96"/>
                <p:cNvCxnSpPr>
                  <a:stCxn id="1006" idx="2"/>
                </p:cNvCxnSpPr>
                <p:nvPr/>
              </p:nvCxnSpPr>
              <p:spPr>
                <a:xfrm>
                  <a:off x="8702884" y="2829694"/>
                  <a:ext cx="0" cy="16152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13" name="Google Shape;1013;p96"/>
                <p:cNvCxnSpPr>
                  <a:stCxn id="1007" idx="1"/>
                </p:cNvCxnSpPr>
                <p:nvPr/>
              </p:nvCxnSpPr>
              <p:spPr>
                <a:xfrm flipH="1">
                  <a:off x="8699234" y="3831308"/>
                  <a:ext cx="804300" cy="5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14" name="Google Shape;1014;p96"/>
                <p:cNvCxnSpPr>
                  <a:stCxn id="1009" idx="1"/>
                </p:cNvCxnSpPr>
                <p:nvPr/>
              </p:nvCxnSpPr>
              <p:spPr>
                <a:xfrm rot="10800000">
                  <a:off x="8699295" y="3250647"/>
                  <a:ext cx="6837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15" name="Google Shape;1015;p96"/>
                <p:cNvCxnSpPr>
                  <a:stCxn id="1007" idx="2"/>
                </p:cNvCxnSpPr>
                <p:nvPr/>
              </p:nvCxnSpPr>
              <p:spPr>
                <a:xfrm flipH="1">
                  <a:off x="9856485" y="4057527"/>
                  <a:ext cx="9000" cy="774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016" name="Google Shape;1016;p96"/>
            <p:cNvSpPr/>
            <p:nvPr/>
          </p:nvSpPr>
          <p:spPr>
            <a:xfrm>
              <a:off x="7439080" y="4287861"/>
              <a:ext cx="220573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ejb-jar.xml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weblogic-ejb-jar.xml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1017" name="Google Shape;1017;p96"/>
            <p:cNvCxnSpPr>
              <a:stCxn id="1016" idx="1"/>
            </p:cNvCxnSpPr>
            <p:nvPr/>
          </p:nvCxnSpPr>
          <p:spPr>
            <a:xfrm rot="10800000">
              <a:off x="6957880" y="4611027"/>
              <a:ext cx="481200" cy="0"/>
            </a:xfrm>
            <a:prstGeom prst="straightConnector1">
              <a:avLst/>
            </a:prstGeom>
            <a:noFill/>
            <a:ln cap="flat" cmpd="sng" w="28575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7"/>
          <p:cNvSpPr txBox="1"/>
          <p:nvPr/>
        </p:nvSpPr>
        <p:spPr>
          <a:xfrm>
            <a:off x="401107" y="914402"/>
            <a:ext cx="11770889" cy="5943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aseline="-25000"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24" name="Google Shape;1024;p97"/>
          <p:cNvSpPr txBox="1"/>
          <p:nvPr/>
        </p:nvSpPr>
        <p:spPr>
          <a:xfrm>
            <a:off x="2014403" y="764704"/>
            <a:ext cx="6984775" cy="453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6600"/>
              <a:buFont typeface="Libre Baskerville"/>
              <a:buNone/>
            </a:pPr>
            <a:r>
              <a:rPr b="1" lang="en-US" sz="66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Knowledge Check</a:t>
            </a:r>
            <a:endParaRPr b="1" sz="6600">
              <a:solidFill>
                <a:srgbClr val="610786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25" name="Google Shape;1025;p97"/>
          <p:cNvSpPr/>
          <p:nvPr/>
        </p:nvSpPr>
        <p:spPr>
          <a:xfrm>
            <a:off x="3690201" y="5127659"/>
            <a:ext cx="3633180" cy="1038019"/>
          </a:xfrm>
          <a:prstGeom prst="roundRect">
            <a:avLst>
              <a:gd fmla="val 16667" name="adj"/>
            </a:avLst>
          </a:prstGeom>
          <a:solidFill>
            <a:srgbClr val="F99F1B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Start</a:t>
            </a:r>
            <a:endParaRPr b="1" sz="40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cliparts.co/cliparts/zcX/eRE/zcXeREgMi.png" id="1026" name="Google Shape;1026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3381" y="3912175"/>
            <a:ext cx="1991855" cy="1908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hscway.com.au/Img/OnlineIcon_TestResult_Orange.png" id="1027" name="Google Shape;1027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9576" y="5051355"/>
            <a:ext cx="119062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97"/>
          <p:cNvSpPr/>
          <p:nvPr/>
        </p:nvSpPr>
        <p:spPr>
          <a:xfrm>
            <a:off x="10236046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029" name="Google Shape;1029;p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45769" y="2182772"/>
            <a:ext cx="1784869" cy="1784869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98"/>
          <p:cNvSpPr txBox="1"/>
          <p:nvPr>
            <p:ph type="title"/>
          </p:nvPr>
        </p:nvSpPr>
        <p:spPr>
          <a:xfrm>
            <a:off x="405780" y="1484784"/>
            <a:ext cx="10257217" cy="1343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400"/>
              <a:buFont typeface="Libre Baskerville"/>
              <a:buNone/>
            </a:pPr>
            <a:r>
              <a:rPr b="1" lang="en-US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Java EE provides Component &amp; Container specification?</a:t>
            </a:r>
            <a:endParaRPr b="1">
              <a:solidFill>
                <a:srgbClr val="610786"/>
              </a:solidFill>
            </a:endParaRPr>
          </a:p>
        </p:txBody>
      </p:sp>
      <p:sp>
        <p:nvSpPr>
          <p:cNvPr id="1035" name="Google Shape;1035;p98"/>
          <p:cNvSpPr/>
          <p:nvPr/>
        </p:nvSpPr>
        <p:spPr>
          <a:xfrm>
            <a:off x="3544401" y="4774607"/>
            <a:ext cx="4494227" cy="1008025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False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36" name="Google Shape;1036;p98"/>
          <p:cNvSpPr/>
          <p:nvPr/>
        </p:nvSpPr>
        <p:spPr>
          <a:xfrm>
            <a:off x="3544401" y="3284984"/>
            <a:ext cx="4494227" cy="1008025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True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37" name="Google Shape;1037;p98"/>
          <p:cNvSpPr/>
          <p:nvPr/>
        </p:nvSpPr>
        <p:spPr>
          <a:xfrm>
            <a:off x="10210153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038" name="Google Shape;1038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9"/>
          <p:cNvSpPr txBox="1"/>
          <p:nvPr>
            <p:ph type="title"/>
          </p:nvPr>
        </p:nvSpPr>
        <p:spPr>
          <a:xfrm>
            <a:off x="247129" y="908720"/>
            <a:ext cx="10257217" cy="1343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What are the features of enterprise application?</a:t>
            </a:r>
            <a:endParaRPr b="1" sz="4800">
              <a:solidFill>
                <a:srgbClr val="610786"/>
              </a:solidFill>
            </a:endParaRPr>
          </a:p>
        </p:txBody>
      </p:sp>
      <p:sp>
        <p:nvSpPr>
          <p:cNvPr id="1044" name="Google Shape;1044;p99"/>
          <p:cNvSpPr/>
          <p:nvPr/>
        </p:nvSpPr>
        <p:spPr>
          <a:xfrm>
            <a:off x="3544401" y="3550515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Scalability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45" name="Google Shape;1045;p99"/>
          <p:cNvSpPr/>
          <p:nvPr/>
        </p:nvSpPr>
        <p:spPr>
          <a:xfrm>
            <a:off x="3544401" y="2564904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Maintainability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46" name="Google Shape;1046;p99"/>
          <p:cNvSpPr/>
          <p:nvPr/>
        </p:nvSpPr>
        <p:spPr>
          <a:xfrm>
            <a:off x="3544400" y="5537396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All of the above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47" name="Google Shape;1047;p99"/>
          <p:cNvSpPr/>
          <p:nvPr/>
        </p:nvSpPr>
        <p:spPr>
          <a:xfrm>
            <a:off x="3544401" y="4589511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Transactional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48" name="Google Shape;1048;p99"/>
          <p:cNvSpPr/>
          <p:nvPr/>
        </p:nvSpPr>
        <p:spPr>
          <a:xfrm>
            <a:off x="10210153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049" name="Google Shape;1049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00"/>
          <p:cNvSpPr/>
          <p:nvPr/>
        </p:nvSpPr>
        <p:spPr>
          <a:xfrm>
            <a:off x="2132012" y="2971800"/>
            <a:ext cx="7543801" cy="2039161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2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Results</a:t>
            </a:r>
            <a:endParaRPr sz="4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055" name="Google Shape;105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4606" y="5373216"/>
            <a:ext cx="1198612" cy="1198612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01"/>
          <p:cNvSpPr txBox="1"/>
          <p:nvPr>
            <p:ph type="title"/>
          </p:nvPr>
        </p:nvSpPr>
        <p:spPr>
          <a:xfrm>
            <a:off x="760414" y="3048000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7200"/>
              <a:buFont typeface="Libre Baskerville"/>
              <a:buNone/>
            </a:pPr>
            <a:r>
              <a:rPr lang="en-US" sz="7200" cap="none">
                <a:solidFill>
                  <a:srgbClr val="F99F1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APIs &amp; Technologies</a:t>
            </a:r>
            <a:endParaRPr sz="7200" cap="none">
              <a:solidFill>
                <a:srgbClr val="F99F1B"/>
              </a:solidFill>
            </a:endParaRPr>
          </a:p>
        </p:txBody>
      </p:sp>
      <p:pic>
        <p:nvPicPr>
          <p:cNvPr descr="http://wilddiary.com/wp-content/uploads/2015/07/java_1.png" id="1061" name="Google Shape;106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77" y="188640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02"/>
          <p:cNvSpPr/>
          <p:nvPr/>
        </p:nvSpPr>
        <p:spPr>
          <a:xfrm>
            <a:off x="300834" y="930480"/>
            <a:ext cx="35445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What is Servlet?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067" name="Google Shape;1067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068" name="Google Shape;1068;p102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69" name="Google Shape;1069;p102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70" name="Google Shape;1070;p102"/>
          <p:cNvSpPr/>
          <p:nvPr/>
        </p:nvSpPr>
        <p:spPr>
          <a:xfrm>
            <a:off x="145835" y="1767657"/>
            <a:ext cx="10814127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A servlet is a Java object which extends the functionality of a HTTP server.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Drawback with CGI: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Dynamic contents generation</a:t>
            </a:r>
            <a:endParaRPr/>
          </a:p>
          <a:p>
            <a:pPr indent="-279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Solution to CGI, or proprietary APIs such as NSAPI or ISAPI are: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Efficient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Platform and server independent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Session management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Java-based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03"/>
          <p:cNvSpPr/>
          <p:nvPr/>
        </p:nvSpPr>
        <p:spPr>
          <a:xfrm>
            <a:off x="4257392" y="4269513"/>
            <a:ext cx="6373524" cy="2158029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Servlet Based Webserver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76" name="Google Shape;1076;p103"/>
          <p:cNvSpPr/>
          <p:nvPr/>
        </p:nvSpPr>
        <p:spPr>
          <a:xfrm>
            <a:off x="284438" y="670286"/>
            <a:ext cx="328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Servlet vs. CGI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077" name="Google Shape;1077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078" name="Google Shape;1078;p103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79" name="Google Shape;1079;p103"/>
          <p:cNvSpPr txBox="1"/>
          <p:nvPr>
            <p:ph type="title"/>
          </p:nvPr>
        </p:nvSpPr>
        <p:spPr>
          <a:xfrm>
            <a:off x="300834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080" name="Google Shape;1080;p103"/>
          <p:cNvGrpSpPr/>
          <p:nvPr/>
        </p:nvGrpSpPr>
        <p:grpSpPr>
          <a:xfrm>
            <a:off x="1737558" y="2002563"/>
            <a:ext cx="9371356" cy="1877622"/>
            <a:chOff x="1177028" y="1835531"/>
            <a:chExt cx="9371356" cy="1877622"/>
          </a:xfrm>
        </p:grpSpPr>
        <p:grpSp>
          <p:nvGrpSpPr>
            <p:cNvPr id="1081" name="Google Shape;1081;p103"/>
            <p:cNvGrpSpPr/>
            <p:nvPr/>
          </p:nvGrpSpPr>
          <p:grpSpPr>
            <a:xfrm>
              <a:off x="1177029" y="2204864"/>
              <a:ext cx="2389109" cy="1152128"/>
              <a:chOff x="1183409" y="2204864"/>
              <a:chExt cx="1368152" cy="1152128"/>
            </a:xfrm>
          </p:grpSpPr>
          <p:cxnSp>
            <p:nvCxnSpPr>
              <p:cNvPr id="1082" name="Google Shape;1082;p103"/>
              <p:cNvCxnSpPr/>
              <p:nvPr/>
            </p:nvCxnSpPr>
            <p:spPr>
              <a:xfrm>
                <a:off x="1183409" y="2204864"/>
                <a:ext cx="136815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610786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83" name="Google Shape;1083;p103"/>
              <p:cNvCxnSpPr/>
              <p:nvPr/>
            </p:nvCxnSpPr>
            <p:spPr>
              <a:xfrm>
                <a:off x="1183409" y="2780928"/>
                <a:ext cx="136815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610786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84" name="Google Shape;1084;p103"/>
              <p:cNvCxnSpPr/>
              <p:nvPr/>
            </p:nvCxnSpPr>
            <p:spPr>
              <a:xfrm>
                <a:off x="1183409" y="3356992"/>
                <a:ext cx="136815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610786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  <p:grpSp>
          <p:nvGrpSpPr>
            <p:cNvPr id="1085" name="Google Shape;1085;p103"/>
            <p:cNvGrpSpPr/>
            <p:nvPr/>
          </p:nvGrpSpPr>
          <p:grpSpPr>
            <a:xfrm>
              <a:off x="1177028" y="1835531"/>
              <a:ext cx="9371356" cy="1877622"/>
              <a:chOff x="1177028" y="1835531"/>
              <a:chExt cx="9371356" cy="1877622"/>
            </a:xfrm>
          </p:grpSpPr>
          <p:sp>
            <p:nvSpPr>
              <p:cNvPr id="1086" name="Google Shape;1086;p103"/>
              <p:cNvSpPr/>
              <p:nvPr/>
            </p:nvSpPr>
            <p:spPr>
              <a:xfrm>
                <a:off x="3790156" y="1848703"/>
                <a:ext cx="2304256" cy="1864450"/>
              </a:xfrm>
              <a:prstGeom prst="roundRect">
                <a:avLst>
                  <a:gd fmla="val 16667" name="adj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CGI Based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Webserver</a:t>
                </a:r>
                <a:endParaRPr sz="2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grpSp>
            <p:nvGrpSpPr>
              <p:cNvPr id="1087" name="Google Shape;1087;p103"/>
              <p:cNvGrpSpPr/>
              <p:nvPr/>
            </p:nvGrpSpPr>
            <p:grpSpPr>
              <a:xfrm>
                <a:off x="6310437" y="2204864"/>
                <a:ext cx="1728192" cy="1152128"/>
                <a:chOff x="1183409" y="2204864"/>
                <a:chExt cx="1368152" cy="1152128"/>
              </a:xfrm>
            </p:grpSpPr>
            <p:cxnSp>
              <p:nvCxnSpPr>
                <p:cNvPr id="1088" name="Google Shape;1088;p103"/>
                <p:cNvCxnSpPr/>
                <p:nvPr/>
              </p:nvCxnSpPr>
              <p:spPr>
                <a:xfrm>
                  <a:off x="1183409" y="2204864"/>
                  <a:ext cx="1368152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610786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1089" name="Google Shape;1089;p103"/>
                <p:cNvCxnSpPr/>
                <p:nvPr/>
              </p:nvCxnSpPr>
              <p:spPr>
                <a:xfrm>
                  <a:off x="1183409" y="2780928"/>
                  <a:ext cx="1368152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610786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1090" name="Google Shape;1090;p103"/>
                <p:cNvCxnSpPr/>
                <p:nvPr/>
              </p:nvCxnSpPr>
              <p:spPr>
                <a:xfrm>
                  <a:off x="1183409" y="3356992"/>
                  <a:ext cx="1368152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610786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</p:grpSp>
          <p:sp>
            <p:nvSpPr>
              <p:cNvPr id="1091" name="Google Shape;1091;p103"/>
              <p:cNvSpPr/>
              <p:nvPr/>
            </p:nvSpPr>
            <p:spPr>
              <a:xfrm>
                <a:off x="8228244" y="1949746"/>
                <a:ext cx="2304256" cy="510235"/>
              </a:xfrm>
              <a:prstGeom prst="roundRect">
                <a:avLst>
                  <a:gd fmla="val 16667" name="adj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Child for CGI 1</a:t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92" name="Google Shape;1092;p103"/>
              <p:cNvSpPr/>
              <p:nvPr/>
            </p:nvSpPr>
            <p:spPr>
              <a:xfrm>
                <a:off x="8244128" y="2525810"/>
                <a:ext cx="2304256" cy="510235"/>
              </a:xfrm>
              <a:prstGeom prst="roundRect">
                <a:avLst>
                  <a:gd fmla="val 16667" name="adj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Child for CGI 2</a:t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93" name="Google Shape;1093;p103"/>
              <p:cNvSpPr/>
              <p:nvPr/>
            </p:nvSpPr>
            <p:spPr>
              <a:xfrm>
                <a:off x="8244128" y="3101874"/>
                <a:ext cx="2304256" cy="510235"/>
              </a:xfrm>
              <a:prstGeom prst="roundRect">
                <a:avLst>
                  <a:gd fmla="val 16667" name="adj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Child for CGI 1</a:t>
                </a:r>
                <a:endParaRPr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94" name="Google Shape;1094;p103"/>
              <p:cNvSpPr txBox="1"/>
              <p:nvPr/>
            </p:nvSpPr>
            <p:spPr>
              <a:xfrm>
                <a:off x="1190245" y="1835531"/>
                <a:ext cx="238910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Request CGI1</a:t>
                </a:r>
                <a:endParaRPr sz="20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95" name="Google Shape;1095;p103"/>
              <p:cNvSpPr txBox="1"/>
              <p:nvPr/>
            </p:nvSpPr>
            <p:spPr>
              <a:xfrm>
                <a:off x="1177028" y="2388041"/>
                <a:ext cx="238910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Request CGI2</a:t>
                </a:r>
                <a:endParaRPr sz="20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96" name="Google Shape;1096;p103"/>
              <p:cNvSpPr txBox="1"/>
              <p:nvPr/>
            </p:nvSpPr>
            <p:spPr>
              <a:xfrm>
                <a:off x="1190245" y="2940551"/>
                <a:ext cx="238910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Request CGI1</a:t>
                </a:r>
                <a:endParaRPr sz="20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sp>
        <p:nvSpPr>
          <p:cNvPr id="1097" name="Google Shape;1097;p103"/>
          <p:cNvSpPr/>
          <p:nvPr/>
        </p:nvSpPr>
        <p:spPr>
          <a:xfrm>
            <a:off x="294787" y="2278074"/>
            <a:ext cx="116570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CGI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Model</a:t>
            </a:r>
            <a:endParaRPr b="1" sz="2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98" name="Google Shape;1098;p103"/>
          <p:cNvSpPr/>
          <p:nvPr/>
        </p:nvSpPr>
        <p:spPr>
          <a:xfrm>
            <a:off x="294787" y="1138601"/>
            <a:ext cx="108141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The figure shows the difference between CGI and servlet-based model.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99" name="Google Shape;1099;p103"/>
          <p:cNvSpPr/>
          <p:nvPr/>
        </p:nvSpPr>
        <p:spPr>
          <a:xfrm>
            <a:off x="294787" y="4671392"/>
            <a:ext cx="142539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Servlet-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based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Model</a:t>
            </a:r>
            <a:endParaRPr b="1" sz="2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100" name="Google Shape;1100;p103"/>
          <p:cNvGrpSpPr/>
          <p:nvPr/>
        </p:nvGrpSpPr>
        <p:grpSpPr>
          <a:xfrm>
            <a:off x="1750775" y="4425078"/>
            <a:ext cx="6536921" cy="1766065"/>
            <a:chOff x="1177028" y="1835531"/>
            <a:chExt cx="6536921" cy="1766065"/>
          </a:xfrm>
        </p:grpSpPr>
        <p:grpSp>
          <p:nvGrpSpPr>
            <p:cNvPr id="1101" name="Google Shape;1101;p103"/>
            <p:cNvGrpSpPr/>
            <p:nvPr/>
          </p:nvGrpSpPr>
          <p:grpSpPr>
            <a:xfrm>
              <a:off x="1177029" y="2204864"/>
              <a:ext cx="2389109" cy="1152128"/>
              <a:chOff x="1183409" y="2204864"/>
              <a:chExt cx="1368152" cy="1152128"/>
            </a:xfrm>
          </p:grpSpPr>
          <p:cxnSp>
            <p:nvCxnSpPr>
              <p:cNvPr id="1102" name="Google Shape;1102;p103"/>
              <p:cNvCxnSpPr/>
              <p:nvPr/>
            </p:nvCxnSpPr>
            <p:spPr>
              <a:xfrm>
                <a:off x="1183409" y="2204864"/>
                <a:ext cx="136815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610786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103" name="Google Shape;1103;p103"/>
              <p:cNvCxnSpPr/>
              <p:nvPr/>
            </p:nvCxnSpPr>
            <p:spPr>
              <a:xfrm>
                <a:off x="1183409" y="2780928"/>
                <a:ext cx="136815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610786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104" name="Google Shape;1104;p103"/>
              <p:cNvCxnSpPr/>
              <p:nvPr/>
            </p:nvCxnSpPr>
            <p:spPr>
              <a:xfrm>
                <a:off x="1183409" y="3356992"/>
                <a:ext cx="136815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610786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  <p:grpSp>
          <p:nvGrpSpPr>
            <p:cNvPr id="1105" name="Google Shape;1105;p103"/>
            <p:cNvGrpSpPr/>
            <p:nvPr/>
          </p:nvGrpSpPr>
          <p:grpSpPr>
            <a:xfrm>
              <a:off x="1177028" y="1835531"/>
              <a:ext cx="6536921" cy="1766065"/>
              <a:chOff x="1177028" y="1835531"/>
              <a:chExt cx="6536921" cy="1766065"/>
            </a:xfrm>
          </p:grpSpPr>
          <p:sp>
            <p:nvSpPr>
              <p:cNvPr id="1106" name="Google Shape;1106;p103"/>
              <p:cNvSpPr/>
              <p:nvPr/>
            </p:nvSpPr>
            <p:spPr>
              <a:xfrm>
                <a:off x="4026005" y="2476539"/>
                <a:ext cx="1730509" cy="1125057"/>
              </a:xfrm>
              <a:prstGeom prst="roundRect">
                <a:avLst>
                  <a:gd fmla="val 16667" name="adj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JVM</a:t>
                </a:r>
                <a:endParaRPr sz="2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grpSp>
            <p:nvGrpSpPr>
              <p:cNvPr id="1107" name="Google Shape;1107;p103"/>
              <p:cNvGrpSpPr/>
              <p:nvPr/>
            </p:nvGrpSpPr>
            <p:grpSpPr>
              <a:xfrm>
                <a:off x="5756514" y="2758981"/>
                <a:ext cx="1957435" cy="518660"/>
                <a:chOff x="744886" y="2758981"/>
                <a:chExt cx="1549636" cy="518660"/>
              </a:xfrm>
            </p:grpSpPr>
            <p:cxnSp>
              <p:nvCxnSpPr>
                <p:cNvPr id="1108" name="Google Shape;1108;p103"/>
                <p:cNvCxnSpPr/>
                <p:nvPr/>
              </p:nvCxnSpPr>
              <p:spPr>
                <a:xfrm flipH="1" rot="10800000">
                  <a:off x="744886" y="2758981"/>
                  <a:ext cx="1549636" cy="413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1109" name="Google Shape;1109;p103"/>
                <p:cNvCxnSpPr>
                  <a:endCxn id="1110" idx="1"/>
                </p:cNvCxnSpPr>
                <p:nvPr/>
              </p:nvCxnSpPr>
              <p:spPr>
                <a:xfrm>
                  <a:off x="745022" y="3277641"/>
                  <a:ext cx="1549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</p:grpSp>
          <p:sp>
            <p:nvSpPr>
              <p:cNvPr id="1111" name="Google Shape;1111;p103"/>
              <p:cNvSpPr txBox="1"/>
              <p:nvPr/>
            </p:nvSpPr>
            <p:spPr>
              <a:xfrm>
                <a:off x="1190245" y="1835531"/>
                <a:ext cx="238910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Request Servlet 1</a:t>
                </a:r>
                <a:endParaRPr sz="20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12" name="Google Shape;1112;p103"/>
              <p:cNvSpPr txBox="1"/>
              <p:nvPr/>
            </p:nvSpPr>
            <p:spPr>
              <a:xfrm>
                <a:off x="1177028" y="2388041"/>
                <a:ext cx="238910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Request Servlet 2</a:t>
                </a:r>
                <a:endParaRPr sz="20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13" name="Google Shape;1113;p103"/>
              <p:cNvSpPr txBox="1"/>
              <p:nvPr/>
            </p:nvSpPr>
            <p:spPr>
              <a:xfrm>
                <a:off x="1190245" y="2940551"/>
                <a:ext cx="238910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Request Servlet 1</a:t>
                </a:r>
                <a:endParaRPr sz="20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cxnSp>
        <p:nvCxnSpPr>
          <p:cNvPr id="1114" name="Google Shape;1114;p103"/>
          <p:cNvCxnSpPr/>
          <p:nvPr/>
        </p:nvCxnSpPr>
        <p:spPr>
          <a:xfrm flipH="1" rot="10800000">
            <a:off x="4185213" y="5370475"/>
            <a:ext cx="685063" cy="576064"/>
          </a:xfrm>
          <a:prstGeom prst="straightConnector1">
            <a:avLst/>
          </a:prstGeom>
          <a:noFill/>
          <a:ln cap="flat" cmpd="sng" w="2857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15" name="Google Shape;1115;p103"/>
          <p:cNvCxnSpPr/>
          <p:nvPr/>
        </p:nvCxnSpPr>
        <p:spPr>
          <a:xfrm>
            <a:off x="4185213" y="5377699"/>
            <a:ext cx="685063" cy="489489"/>
          </a:xfrm>
          <a:prstGeom prst="straightConnector1">
            <a:avLst/>
          </a:prstGeom>
          <a:noFill/>
          <a:ln cap="flat" cmpd="sng" w="2857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16" name="Google Shape;1116;p103"/>
          <p:cNvCxnSpPr/>
          <p:nvPr/>
        </p:nvCxnSpPr>
        <p:spPr>
          <a:xfrm>
            <a:off x="4168239" y="4809506"/>
            <a:ext cx="431513" cy="300449"/>
          </a:xfrm>
          <a:prstGeom prst="straightConnector1">
            <a:avLst/>
          </a:prstGeom>
          <a:noFill/>
          <a:ln cap="flat" cmpd="sng" w="2857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17" name="Google Shape;1117;p103"/>
          <p:cNvSpPr/>
          <p:nvPr/>
        </p:nvSpPr>
        <p:spPr>
          <a:xfrm>
            <a:off x="8287696" y="5109955"/>
            <a:ext cx="2142087" cy="477146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Servlet 1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10" name="Google Shape;1110;p103"/>
          <p:cNvSpPr/>
          <p:nvPr/>
        </p:nvSpPr>
        <p:spPr>
          <a:xfrm>
            <a:off x="8287696" y="5628615"/>
            <a:ext cx="2142087" cy="477146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Servlet 2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04"/>
          <p:cNvSpPr/>
          <p:nvPr/>
        </p:nvSpPr>
        <p:spPr>
          <a:xfrm>
            <a:off x="300834" y="930480"/>
            <a:ext cx="54681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What is JSP Technology?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123" name="Google Shape;1123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124" name="Google Shape;1124;p104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25" name="Google Shape;1125;p104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26" name="Google Shape;1126;p104"/>
          <p:cNvSpPr/>
          <p:nvPr/>
        </p:nvSpPr>
        <p:spPr>
          <a:xfrm>
            <a:off x="145835" y="1767657"/>
            <a:ext cx="10814127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Java Server Pages (JSP) is a technology that helps software developers create dynamically generated web pages based on HTML, XML, and other document types.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Enables separation of business logic from presentation: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Presentation is in the form of HTML or XML/XSLT.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Business logic is implemented as Java beans or custom tags.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Better maintainability, and reusability.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Extensible via custom tags.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Builds on servlet technology.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05"/>
          <p:cNvSpPr/>
          <p:nvPr/>
        </p:nvSpPr>
        <p:spPr>
          <a:xfrm>
            <a:off x="300834" y="930480"/>
            <a:ext cx="54681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What is EJB Technology?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132" name="Google Shape;1132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133" name="Google Shape;1133;p105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34" name="Google Shape;1134;p105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35" name="Google Shape;1135;p105"/>
          <p:cNvSpPr/>
          <p:nvPr/>
        </p:nvSpPr>
        <p:spPr>
          <a:xfrm>
            <a:off x="277854" y="1595021"/>
            <a:ext cx="10682109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EJB (Enterprise JavaBean) is a server-side component technology, which enables the easy development and deployment of Java- based enterprise applications in the form of components that have to be enterprise-quality.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They are transactional, distributed, multi-tier, portable, scalable, secure, and reliable, and so on.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EJB benefits: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Agreed upon by the industry.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Portability is easier.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Rapid Application Development.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Provides support for characteristics required by an Enterprise Application.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06"/>
          <p:cNvSpPr/>
          <p:nvPr/>
        </p:nvSpPr>
        <p:spPr>
          <a:xfrm>
            <a:off x="300834" y="930480"/>
            <a:ext cx="485261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Why EJB Technology?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141" name="Google Shape;1141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142" name="Google Shape;1142;p106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43" name="Google Shape;1143;p106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44" name="Google Shape;1144;p106"/>
          <p:cNvSpPr/>
          <p:nvPr/>
        </p:nvSpPr>
        <p:spPr>
          <a:xfrm>
            <a:off x="277854" y="1595021"/>
            <a:ext cx="10682109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EJB leverages the benefits of component-model on the server side.</a:t>
            </a:r>
            <a:endParaRPr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It separates business logic from system code: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r>
              <a:rPr b="0" i="0" lang="en-US" sz="32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  Container provides system services.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It provides framework for portable components: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mo"/>
              <a:buChar char="-"/>
            </a:pPr>
            <a:r>
              <a:rPr b="0" i="0" lang="en-US" sz="32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Over different J2EE-compliant servers.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mo"/>
              <a:buChar char="-"/>
            </a:pPr>
            <a:r>
              <a:rPr b="0" i="0" lang="en-US" sz="32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Over different operational environments.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It enables deployment-time configuration.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mo"/>
              <a:buChar char="-"/>
            </a:pPr>
            <a:r>
              <a:rPr b="0" i="0" lang="en-US" sz="32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Deployment descriptor.</a:t>
            </a:r>
            <a:endParaRPr b="0" i="0" sz="3200" u="none" cap="none" strike="noStrike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07"/>
          <p:cNvSpPr/>
          <p:nvPr/>
        </p:nvSpPr>
        <p:spPr>
          <a:xfrm>
            <a:off x="300834" y="930480"/>
            <a:ext cx="36215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EJB Architecture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50" name="Google Shape;1150;p107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51" name="Google Shape;1151;p107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52" name="Google Shape;1152;p107"/>
          <p:cNvSpPr/>
          <p:nvPr/>
        </p:nvSpPr>
        <p:spPr>
          <a:xfrm>
            <a:off x="277854" y="1595021"/>
            <a:ext cx="106821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The figure shows a simplified architecture of EJB. Let us learn about the simplified architecture of EJB in detail.</a:t>
            </a:r>
            <a:endParaRPr/>
          </a:p>
        </p:txBody>
      </p:sp>
      <p:grpSp>
        <p:nvGrpSpPr>
          <p:cNvPr id="1153" name="Google Shape;1153;p107"/>
          <p:cNvGrpSpPr/>
          <p:nvPr/>
        </p:nvGrpSpPr>
        <p:grpSpPr>
          <a:xfrm>
            <a:off x="214748" y="2703896"/>
            <a:ext cx="11669485" cy="3845874"/>
            <a:chOff x="214748" y="2703896"/>
            <a:chExt cx="11669485" cy="3845874"/>
          </a:xfrm>
        </p:grpSpPr>
        <p:sp>
          <p:nvSpPr>
            <p:cNvPr id="1154" name="Google Shape;1154;p107"/>
            <p:cNvSpPr/>
            <p:nvPr/>
          </p:nvSpPr>
          <p:spPr>
            <a:xfrm>
              <a:off x="1971546" y="2703896"/>
              <a:ext cx="6427122" cy="3189222"/>
            </a:xfrm>
            <a:prstGeom prst="roundRect">
              <a:avLst>
                <a:gd fmla="val 16667" name="adj"/>
              </a:avLst>
            </a:prstGeom>
            <a:solidFill>
              <a:srgbClr val="8A4C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8" marL="36576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    Container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155" name="Google Shape;1155;p107"/>
            <p:cNvSpPr/>
            <p:nvPr/>
          </p:nvSpPr>
          <p:spPr>
            <a:xfrm>
              <a:off x="1985178" y="2703896"/>
              <a:ext cx="6413490" cy="3784772"/>
            </a:xfrm>
            <a:prstGeom prst="roundRect">
              <a:avLst>
                <a:gd fmla="val 963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EJB Server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pic>
          <p:nvPicPr>
            <p:cNvPr descr="http://wilddiary.com/wp-content/uploads/2015/07/java_1.png" id="1156" name="Google Shape;1156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59962" y="5625499"/>
              <a:ext cx="924271" cy="924271"/>
            </a:xfrm>
            <a:prstGeom prst="roundRect">
              <a:avLst>
                <a:gd fmla="val 8594" name="adj"/>
              </a:avLst>
            </a:prstGeom>
            <a:solidFill>
              <a:srgbClr val="ECECEC"/>
            </a:solidFill>
            <a:ln>
              <a:noFill/>
            </a:ln>
            <a:effectLst>
              <a:reflection blurRad="0" dir="0" dist="0" endA="0" endPos="33000" kx="0" rotWithShape="0" algn="bl" stA="34000" stPos="0" sy="-100000" ky="0"/>
            </a:effectLst>
          </p:spPr>
        </p:pic>
        <p:grpSp>
          <p:nvGrpSpPr>
            <p:cNvPr id="1157" name="Google Shape;1157;p107"/>
            <p:cNvGrpSpPr/>
            <p:nvPr/>
          </p:nvGrpSpPr>
          <p:grpSpPr>
            <a:xfrm>
              <a:off x="214748" y="2926392"/>
              <a:ext cx="11208365" cy="2966726"/>
              <a:chOff x="516602" y="2889605"/>
              <a:chExt cx="11208365" cy="2966726"/>
            </a:xfrm>
          </p:grpSpPr>
          <p:sp>
            <p:nvSpPr>
              <p:cNvPr id="1158" name="Google Shape;1158;p107"/>
              <p:cNvSpPr/>
              <p:nvPr/>
            </p:nvSpPr>
            <p:spPr>
              <a:xfrm>
                <a:off x="516602" y="4040247"/>
                <a:ext cx="1415167" cy="739014"/>
              </a:xfrm>
              <a:prstGeom prst="roundRect">
                <a:avLst>
                  <a:gd fmla="val 50000" name="adj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Client</a:t>
                </a:r>
                <a:endParaRPr sz="2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59" name="Google Shape;1159;p107"/>
              <p:cNvSpPr/>
              <p:nvPr/>
            </p:nvSpPr>
            <p:spPr>
              <a:xfrm>
                <a:off x="2718559" y="3351271"/>
                <a:ext cx="2260800" cy="847897"/>
              </a:xfrm>
              <a:prstGeom prst="roundRect">
                <a:avLst>
                  <a:gd fmla="val 0" name="adj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EJB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Home</a:t>
                </a:r>
                <a:endParaRPr sz="26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60" name="Google Shape;1160;p107"/>
              <p:cNvSpPr/>
              <p:nvPr/>
            </p:nvSpPr>
            <p:spPr>
              <a:xfrm>
                <a:off x="2687647" y="4586241"/>
                <a:ext cx="2260800" cy="847897"/>
              </a:xfrm>
              <a:prstGeom prst="roundRect">
                <a:avLst>
                  <a:gd fmla="val 491" name="adj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EJB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Object</a:t>
                </a:r>
                <a:endParaRPr sz="26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61" name="Google Shape;1161;p107"/>
              <p:cNvSpPr/>
              <p:nvPr/>
            </p:nvSpPr>
            <p:spPr>
              <a:xfrm>
                <a:off x="2562839" y="2889605"/>
                <a:ext cx="257224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(Home Interface)</a:t>
                </a:r>
                <a:endParaRPr sz="24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62" name="Google Shape;1162;p107"/>
              <p:cNvSpPr/>
              <p:nvPr/>
            </p:nvSpPr>
            <p:spPr>
              <a:xfrm>
                <a:off x="2469943" y="5394666"/>
                <a:ext cx="275803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610786"/>
                    </a:solidFill>
                    <a:latin typeface="Arimo"/>
                    <a:ea typeface="Arimo"/>
                    <a:cs typeface="Arimo"/>
                    <a:sym typeface="Arimo"/>
                  </a:rPr>
                  <a:t>(Remote Interface)</a:t>
                </a:r>
                <a:endParaRPr sz="24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63" name="Google Shape;1163;p107"/>
              <p:cNvSpPr/>
              <p:nvPr/>
            </p:nvSpPr>
            <p:spPr>
              <a:xfrm>
                <a:off x="5460162" y="3746124"/>
                <a:ext cx="3024336" cy="1327261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Enterprise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JavaBeans™</a:t>
                </a:r>
                <a:endParaRPr sz="24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Component</a:t>
                </a:r>
                <a:endParaRPr sz="24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64" name="Google Shape;1164;p107"/>
              <p:cNvSpPr/>
              <p:nvPr/>
            </p:nvSpPr>
            <p:spPr>
              <a:xfrm>
                <a:off x="8926258" y="3872874"/>
                <a:ext cx="2798709" cy="1073761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Database or</a:t>
                </a:r>
                <a:endParaRPr sz="24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Component</a:t>
                </a:r>
                <a:endParaRPr sz="24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cxnSp>
          <p:nvCxnSpPr>
            <p:cNvPr id="1165" name="Google Shape;1165;p107"/>
            <p:cNvCxnSpPr>
              <a:stCxn id="1158" idx="3"/>
              <a:endCxn id="1159" idx="1"/>
            </p:cNvCxnSpPr>
            <p:nvPr/>
          </p:nvCxnSpPr>
          <p:spPr>
            <a:xfrm flipH="1" rot="10800000">
              <a:off x="1629915" y="3812041"/>
              <a:ext cx="786900" cy="634500"/>
            </a:xfrm>
            <a:prstGeom prst="straightConnector1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166" name="Google Shape;1166;p107"/>
            <p:cNvCxnSpPr>
              <a:stCxn id="1158" idx="3"/>
              <a:endCxn id="1160" idx="1"/>
            </p:cNvCxnSpPr>
            <p:nvPr/>
          </p:nvCxnSpPr>
          <p:spPr>
            <a:xfrm>
              <a:off x="1629915" y="4446541"/>
              <a:ext cx="756000" cy="600300"/>
            </a:xfrm>
            <a:prstGeom prst="straightConnector1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167" name="Google Shape;1167;p107"/>
            <p:cNvCxnSpPr>
              <a:stCxn id="1159" idx="3"/>
              <a:endCxn id="1163" idx="3"/>
            </p:cNvCxnSpPr>
            <p:nvPr/>
          </p:nvCxnSpPr>
          <p:spPr>
            <a:xfrm>
              <a:off x="4677505" y="3812007"/>
              <a:ext cx="480900" cy="634500"/>
            </a:xfrm>
            <a:prstGeom prst="straightConnector1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168" name="Google Shape;1168;p107"/>
            <p:cNvCxnSpPr>
              <a:endCxn id="1163" idx="3"/>
            </p:cNvCxnSpPr>
            <p:nvPr/>
          </p:nvCxnSpPr>
          <p:spPr>
            <a:xfrm flipH="1" rot="10800000">
              <a:off x="4677408" y="4446542"/>
              <a:ext cx="480900" cy="663600"/>
            </a:xfrm>
            <a:prstGeom prst="straightConnector1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169" name="Google Shape;1169;p107"/>
            <p:cNvCxnSpPr>
              <a:stCxn id="1163" idx="0"/>
              <a:endCxn id="1164" idx="3"/>
            </p:cNvCxnSpPr>
            <p:nvPr/>
          </p:nvCxnSpPr>
          <p:spPr>
            <a:xfrm>
              <a:off x="8182644" y="4446542"/>
              <a:ext cx="441900" cy="0"/>
            </a:xfrm>
            <a:prstGeom prst="straightConnector1">
              <a:avLst/>
            </a:prstGeom>
            <a:noFill/>
            <a:ln cap="flat" cmpd="sng" w="19050">
              <a:solidFill>
                <a:srgbClr val="F99F1B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</p:grp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108"/>
          <p:cNvSpPr/>
          <p:nvPr/>
        </p:nvSpPr>
        <p:spPr>
          <a:xfrm>
            <a:off x="330841" y="698148"/>
            <a:ext cx="377539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EJB Components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175" name="Google Shape;1175;p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176" name="Google Shape;1176;p108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77" name="Google Shape;1177;p108"/>
          <p:cNvSpPr txBox="1"/>
          <p:nvPr>
            <p:ph type="title"/>
          </p:nvPr>
        </p:nvSpPr>
        <p:spPr>
          <a:xfrm>
            <a:off x="320482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78" name="Google Shape;1178;p108"/>
          <p:cNvSpPr/>
          <p:nvPr/>
        </p:nvSpPr>
        <p:spPr>
          <a:xfrm>
            <a:off x="330841" y="1315445"/>
            <a:ext cx="106821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EJB components come in three varieties, each with its own define role and life cycle. Let us take a look at each of them in detail.</a:t>
            </a:r>
            <a:endParaRPr/>
          </a:p>
        </p:txBody>
      </p:sp>
      <p:grpSp>
        <p:nvGrpSpPr>
          <p:cNvPr id="1179" name="Google Shape;1179;p108"/>
          <p:cNvGrpSpPr/>
          <p:nvPr/>
        </p:nvGrpSpPr>
        <p:grpSpPr>
          <a:xfrm>
            <a:off x="330841" y="2159011"/>
            <a:ext cx="10535639" cy="4443059"/>
            <a:chOff x="23269" y="2106711"/>
            <a:chExt cx="10535639" cy="4443059"/>
          </a:xfrm>
        </p:grpSpPr>
        <p:sp>
          <p:nvSpPr>
            <p:cNvPr id="1180" name="Google Shape;1180;p108"/>
            <p:cNvSpPr/>
            <p:nvPr/>
          </p:nvSpPr>
          <p:spPr>
            <a:xfrm>
              <a:off x="725899" y="3160675"/>
              <a:ext cx="5512528" cy="1483943"/>
            </a:xfrm>
            <a:prstGeom prst="roundRect">
              <a:avLst>
                <a:gd fmla="val 24606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2" marL="9144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   Synchronous </a:t>
              </a:r>
              <a:endParaRPr/>
            </a:p>
            <a:p>
              <a:pPr indent="0" lvl="1" marL="4572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       communication</a:t>
              </a:r>
              <a:endParaRPr b="0" i="0" sz="20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grpSp>
          <p:nvGrpSpPr>
            <p:cNvPr id="1181" name="Google Shape;1181;p108"/>
            <p:cNvGrpSpPr/>
            <p:nvPr/>
          </p:nvGrpSpPr>
          <p:grpSpPr>
            <a:xfrm>
              <a:off x="23269" y="2106711"/>
              <a:ext cx="10247606" cy="4443059"/>
              <a:chOff x="23269" y="2106711"/>
              <a:chExt cx="10247606" cy="4443059"/>
            </a:xfrm>
          </p:grpSpPr>
          <p:grpSp>
            <p:nvGrpSpPr>
              <p:cNvPr id="1182" name="Google Shape;1182;p108"/>
              <p:cNvGrpSpPr/>
              <p:nvPr/>
            </p:nvGrpSpPr>
            <p:grpSpPr>
              <a:xfrm>
                <a:off x="23269" y="2106711"/>
                <a:ext cx="10247606" cy="4431759"/>
                <a:chOff x="17119" y="2167030"/>
                <a:chExt cx="11915740" cy="4202193"/>
              </a:xfrm>
            </p:grpSpPr>
            <p:cxnSp>
              <p:nvCxnSpPr>
                <p:cNvPr id="1183" name="Google Shape;1183;p108"/>
                <p:cNvCxnSpPr>
                  <a:stCxn id="1184" idx="0"/>
                </p:cNvCxnSpPr>
                <p:nvPr/>
              </p:nvCxnSpPr>
              <p:spPr>
                <a:xfrm rot="10800000">
                  <a:off x="7082245" y="2688333"/>
                  <a:ext cx="2640000" cy="1072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1185" name="Google Shape;1185;p108"/>
                <p:cNvCxnSpPr>
                  <a:stCxn id="1186" idx="0"/>
                </p:cNvCxnSpPr>
                <p:nvPr/>
              </p:nvCxnSpPr>
              <p:spPr>
                <a:xfrm flipH="1" rot="10800000">
                  <a:off x="2165981" y="2688334"/>
                  <a:ext cx="2178900" cy="1072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1187" name="Google Shape;1187;p108"/>
                <p:cNvCxnSpPr>
                  <a:stCxn id="1188" idx="0"/>
                  <a:endCxn id="1189" idx="2"/>
                </p:cNvCxnSpPr>
                <p:nvPr/>
              </p:nvCxnSpPr>
              <p:spPr>
                <a:xfrm flipH="1" rot="10800000">
                  <a:off x="5720318" y="3015034"/>
                  <a:ext cx="300" cy="746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1190" name="Google Shape;1190;p108"/>
                <p:cNvCxnSpPr>
                  <a:stCxn id="1191" idx="0"/>
                </p:cNvCxnSpPr>
                <p:nvPr/>
              </p:nvCxnSpPr>
              <p:spPr>
                <a:xfrm flipH="1" rot="10800000">
                  <a:off x="954784" y="4393016"/>
                  <a:ext cx="459000" cy="300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1192" name="Google Shape;1192;p108"/>
                <p:cNvCxnSpPr>
                  <a:stCxn id="1193" idx="0"/>
                </p:cNvCxnSpPr>
                <p:nvPr/>
              </p:nvCxnSpPr>
              <p:spPr>
                <a:xfrm rot="10800000">
                  <a:off x="2493991" y="4393016"/>
                  <a:ext cx="452100" cy="300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1194" name="Google Shape;1194;p108"/>
                <p:cNvCxnSpPr>
                  <a:stCxn id="1195" idx="0"/>
                </p:cNvCxnSpPr>
                <p:nvPr/>
              </p:nvCxnSpPr>
              <p:spPr>
                <a:xfrm flipH="1" rot="10800000">
                  <a:off x="4344810" y="4392978"/>
                  <a:ext cx="1140900" cy="1282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cxnSp>
              <p:nvCxnSpPr>
                <p:cNvPr id="1196" name="Google Shape;1196;p108"/>
                <p:cNvCxnSpPr>
                  <a:stCxn id="1197" idx="0"/>
                </p:cNvCxnSpPr>
                <p:nvPr/>
              </p:nvCxnSpPr>
              <p:spPr>
                <a:xfrm rot="10800000">
                  <a:off x="6026405" y="4392893"/>
                  <a:ext cx="1259100" cy="12936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99F1B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1189" name="Google Shape;1189;p108"/>
                <p:cNvSpPr/>
                <p:nvPr/>
              </p:nvSpPr>
              <p:spPr>
                <a:xfrm>
                  <a:off x="4359166" y="2167030"/>
                  <a:ext cx="2722944" cy="847897"/>
                </a:xfrm>
                <a:prstGeom prst="roundRect">
                  <a:avLst>
                    <a:gd fmla="val 24755" name="adj"/>
                  </a:avLst>
                </a:prstGeom>
                <a:solidFill>
                  <a:srgbClr val="8A4CA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6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Enterprise JavaBeans</a:t>
                  </a:r>
                  <a:endParaRPr sz="2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86" name="Google Shape;1186;p108"/>
                <p:cNvSpPr/>
                <p:nvPr/>
              </p:nvSpPr>
              <p:spPr>
                <a:xfrm>
                  <a:off x="834125" y="3761134"/>
                  <a:ext cx="2663712" cy="631873"/>
                </a:xfrm>
                <a:prstGeom prst="roundRect">
                  <a:avLst>
                    <a:gd fmla="val 24755" name="adj"/>
                  </a:avLst>
                </a:prstGeom>
                <a:solidFill>
                  <a:srgbClr val="8A4CA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6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Session beans</a:t>
                  </a:r>
                  <a:endParaRPr sz="2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88" name="Google Shape;1188;p108"/>
                <p:cNvSpPr/>
                <p:nvPr/>
              </p:nvSpPr>
              <p:spPr>
                <a:xfrm>
                  <a:off x="4196638" y="3761134"/>
                  <a:ext cx="3047360" cy="631873"/>
                </a:xfrm>
                <a:prstGeom prst="roundRect">
                  <a:avLst>
                    <a:gd fmla="val 24755" name="adj"/>
                  </a:avLst>
                </a:prstGeom>
                <a:solidFill>
                  <a:srgbClr val="8A4CA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6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Entity beans</a:t>
                  </a:r>
                  <a:endParaRPr sz="2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84" name="Google Shape;1184;p108"/>
                <p:cNvSpPr/>
                <p:nvPr/>
              </p:nvSpPr>
              <p:spPr>
                <a:xfrm>
                  <a:off x="7511630" y="3761133"/>
                  <a:ext cx="4421229" cy="631875"/>
                </a:xfrm>
                <a:prstGeom prst="roundRect">
                  <a:avLst>
                    <a:gd fmla="val 24755" name="adj"/>
                  </a:avLst>
                </a:prstGeom>
                <a:solidFill>
                  <a:srgbClr val="8A4CA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6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Message-driven beans</a:t>
                  </a:r>
                  <a:endParaRPr sz="2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91" name="Google Shape;1191;p108"/>
                <p:cNvSpPr/>
                <p:nvPr/>
              </p:nvSpPr>
              <p:spPr>
                <a:xfrm>
                  <a:off x="17119" y="4693316"/>
                  <a:ext cx="1875330" cy="766355"/>
                </a:xfrm>
                <a:prstGeom prst="roundRect">
                  <a:avLst>
                    <a:gd fmla="val 24755" name="adj"/>
                  </a:avLst>
                </a:prstGeom>
                <a:solidFill>
                  <a:srgbClr val="8A4CA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Stateless</a:t>
                  </a:r>
                  <a:endParaRPr sz="24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93" name="Google Shape;1193;p108"/>
                <p:cNvSpPr/>
                <p:nvPr/>
              </p:nvSpPr>
              <p:spPr>
                <a:xfrm>
                  <a:off x="2139693" y="4693316"/>
                  <a:ext cx="1612796" cy="766355"/>
                </a:xfrm>
                <a:prstGeom prst="roundRect">
                  <a:avLst>
                    <a:gd fmla="val 24755" name="adj"/>
                  </a:avLst>
                </a:prstGeom>
                <a:solidFill>
                  <a:srgbClr val="8A4CA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Stateful</a:t>
                  </a:r>
                  <a:endParaRPr sz="24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  <p:sp>
              <p:nvSpPr>
                <p:cNvPr id="1195" name="Google Shape;1195;p108"/>
                <p:cNvSpPr/>
                <p:nvPr/>
              </p:nvSpPr>
              <p:spPr>
                <a:xfrm>
                  <a:off x="2946091" y="5675778"/>
                  <a:ext cx="2797437" cy="693445"/>
                </a:xfrm>
                <a:prstGeom prst="roundRect">
                  <a:avLst>
                    <a:gd fmla="val 24755" name="adj"/>
                  </a:avLst>
                </a:prstGeom>
                <a:solidFill>
                  <a:srgbClr val="8A4CA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Bean-Managed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lt1"/>
                      </a:solidFill>
                      <a:latin typeface="Arimo"/>
                      <a:ea typeface="Arimo"/>
                      <a:cs typeface="Arimo"/>
                      <a:sym typeface="Arimo"/>
                    </a:rPr>
                    <a:t>Parsistence (BMP)</a:t>
                  </a:r>
                  <a:endParaRPr sz="1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endParaRPr>
                </a:p>
              </p:txBody>
            </p:sp>
          </p:grpSp>
          <p:sp>
            <p:nvSpPr>
              <p:cNvPr id="1197" name="Google Shape;1197;p108"/>
              <p:cNvSpPr/>
              <p:nvPr/>
            </p:nvSpPr>
            <p:spPr>
              <a:xfrm>
                <a:off x="5013674" y="5818442"/>
                <a:ext cx="2520898" cy="731328"/>
              </a:xfrm>
              <a:prstGeom prst="roundRect">
                <a:avLst>
                  <a:gd fmla="val 24755" name="adj"/>
                </a:avLst>
              </a:prstGeom>
              <a:solidFill>
                <a:srgbClr val="8A4C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Arimo"/>
                    <a:ea typeface="Arimo"/>
                    <a:cs typeface="Arimo"/>
                    <a:sym typeface="Arimo"/>
                  </a:rPr>
                  <a:t>Container-Managed Persistance (CMP)</a:t>
                </a:r>
                <a:endParaRPr sz="16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sp>
          <p:nvSpPr>
            <p:cNvPr id="1198" name="Google Shape;1198;p108"/>
            <p:cNvSpPr/>
            <p:nvPr/>
          </p:nvSpPr>
          <p:spPr>
            <a:xfrm>
              <a:off x="6238427" y="3160675"/>
              <a:ext cx="4320481" cy="1503965"/>
            </a:xfrm>
            <a:prstGeom prst="roundRect">
              <a:avLst>
                <a:gd fmla="val 24606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2" marL="9144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 Asynchronous </a:t>
              </a:r>
              <a:endParaRPr/>
            </a:p>
            <a:p>
              <a:pPr indent="0" lvl="3" marL="13716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 communication</a:t>
              </a:r>
              <a:endParaRPr/>
            </a:p>
            <a:p>
              <a:pPr indent="0" lvl="1" marL="4572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109"/>
          <p:cNvSpPr/>
          <p:nvPr/>
        </p:nvSpPr>
        <p:spPr>
          <a:xfrm>
            <a:off x="300834" y="930480"/>
            <a:ext cx="11079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JMS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204" name="Google Shape;1204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205" name="Google Shape;1205;p109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06" name="Google Shape;1206;p109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07" name="Google Shape;1207;p109"/>
          <p:cNvSpPr/>
          <p:nvPr/>
        </p:nvSpPr>
        <p:spPr>
          <a:xfrm>
            <a:off x="277854" y="1595021"/>
            <a:ext cx="10682109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The Java Message Service (JMS) API is a Java Message Oriented Middleware (MOM) API for sending messages between two or more clients. The JMS API was developed by Sun, working in a close co-operation with the leading enterprise message vendors. It is a messaging standard that allows application components based on the Java Enterprise Edition (Java EE) to create, send, receive, and read messages.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Messaging systems (MOM) provide: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mo"/>
              <a:buChar char="-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De-coupled communication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mo"/>
              <a:buChar char="-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Asynchronous communication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mo"/>
              <a:buChar char="-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Plays a role of centralized post office.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Benefits of messaging systems: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    </a:t>
            </a:r>
            <a:r>
              <a:rPr lang="en-US" sz="24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 -   </a:t>
            </a: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Flexible, reliable, scalable communication systems.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Point-to-Point, publish and subscribe.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10"/>
          <p:cNvSpPr/>
          <p:nvPr/>
        </p:nvSpPr>
        <p:spPr>
          <a:xfrm>
            <a:off x="300834" y="930480"/>
            <a:ext cx="49039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Connector Architecture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213" name="Google Shape;1213;p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214" name="Google Shape;1214;p110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15" name="Google Shape;1215;p110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16" name="Google Shape;1216;p110"/>
          <p:cNvSpPr/>
          <p:nvPr/>
        </p:nvSpPr>
        <p:spPr>
          <a:xfrm>
            <a:off x="277854" y="1595021"/>
            <a:ext cx="10682109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Defines standard API for integrating Java EE technology with EIS systems: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CICS, SAP, PeopleSoft, etc</a:t>
            </a:r>
            <a:endParaRPr b="0" i="0" sz="2800" u="none" cap="none" strike="noStrike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Before connector architecture, each App server has to provide an proprietary adaptor for each EIS system: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m (# of App servers) x n (# of EIS's) Adaptors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With connector architecture, same adaptor works with all Java EE compliant containers: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1 (common to all App servers) x n (# of EIS's) Adaptors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11"/>
          <p:cNvSpPr/>
          <p:nvPr/>
        </p:nvSpPr>
        <p:spPr>
          <a:xfrm>
            <a:off x="300834" y="930480"/>
            <a:ext cx="43909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JAAS Authentication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222" name="Google Shape;1222;p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223" name="Google Shape;1223;p111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24" name="Google Shape;1224;p111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25" name="Google Shape;1225;p111"/>
          <p:cNvSpPr/>
          <p:nvPr/>
        </p:nvSpPr>
        <p:spPr>
          <a:xfrm>
            <a:off x="277854" y="1595021"/>
            <a:ext cx="10682109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Java Authentication and Authorization Service, (JAAS), is the Java implementation of the standard Pluggable Authentication Module (PAM| information security framework. JAAS was introduced as an extension library to the Java platform, standard edition 1,3 and was integrated in version 1.4.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Pluggable authentication framework;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User id/password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Smartcard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Kerberos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Biometric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Application portability regardless of authentication schemes underneath: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JAAS provides authentication scheme independent API.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Authentication schemes are specified; login configuration file, which will be read by JAAS.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0" name="Google Shape;1230;p112"/>
          <p:cNvCxnSpPr>
            <a:stCxn id="1231" idx="0"/>
          </p:cNvCxnSpPr>
          <p:nvPr/>
        </p:nvCxnSpPr>
        <p:spPr>
          <a:xfrm flipH="1" rot="10800000">
            <a:off x="2494051" y="3858704"/>
            <a:ext cx="1656000" cy="506400"/>
          </a:xfrm>
          <a:prstGeom prst="straightConnector1">
            <a:avLst/>
          </a:prstGeom>
          <a:noFill/>
          <a:ln cap="flat" cmpd="sng" w="952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32" name="Google Shape;1232;p112"/>
          <p:cNvCxnSpPr>
            <a:stCxn id="1233" idx="0"/>
          </p:cNvCxnSpPr>
          <p:nvPr/>
        </p:nvCxnSpPr>
        <p:spPr>
          <a:xfrm rot="10800000">
            <a:off x="7102463" y="3858704"/>
            <a:ext cx="1641300" cy="506400"/>
          </a:xfrm>
          <a:prstGeom prst="straightConnector1">
            <a:avLst/>
          </a:prstGeom>
          <a:noFill/>
          <a:ln cap="flat" cmpd="sng" w="952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34" name="Google Shape;1234;p112"/>
          <p:cNvCxnSpPr>
            <a:stCxn id="1235" idx="0"/>
          </p:cNvCxnSpPr>
          <p:nvPr/>
        </p:nvCxnSpPr>
        <p:spPr>
          <a:xfrm rot="10800000">
            <a:off x="5618907" y="3858704"/>
            <a:ext cx="0" cy="506400"/>
          </a:xfrm>
          <a:prstGeom prst="straightConnector1">
            <a:avLst/>
          </a:prstGeom>
          <a:noFill/>
          <a:ln cap="flat" cmpd="sng" w="952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36" name="Google Shape;1236;p112"/>
          <p:cNvSpPr/>
          <p:nvPr/>
        </p:nvSpPr>
        <p:spPr>
          <a:xfrm>
            <a:off x="277854" y="674152"/>
            <a:ext cx="65710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JAAS Pluggable Authentication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237" name="Google Shape;1237;p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238" name="Google Shape;1238;p112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39" name="Google Shape;1239;p112"/>
          <p:cNvSpPr txBox="1"/>
          <p:nvPr>
            <p:ph type="title"/>
          </p:nvPr>
        </p:nvSpPr>
        <p:spPr>
          <a:xfrm>
            <a:off x="395017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40" name="Google Shape;1240;p112"/>
          <p:cNvSpPr/>
          <p:nvPr/>
        </p:nvSpPr>
        <p:spPr>
          <a:xfrm>
            <a:off x="277853" y="1266240"/>
            <a:ext cx="106821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The figure shows the pluggable authentication framework of JAAS.</a:t>
            </a:r>
            <a:endParaRPr/>
          </a:p>
        </p:txBody>
      </p:sp>
      <p:sp>
        <p:nvSpPr>
          <p:cNvPr id="1241" name="Google Shape;1241;p112"/>
          <p:cNvSpPr/>
          <p:nvPr/>
        </p:nvSpPr>
        <p:spPr>
          <a:xfrm>
            <a:off x="3956141" y="2192041"/>
            <a:ext cx="3325529" cy="447109"/>
          </a:xfrm>
          <a:prstGeom prst="roundRect">
            <a:avLst>
              <a:gd fmla="val 24755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Applications</a:t>
            </a:r>
            <a:endParaRPr sz="2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42" name="Google Shape;1242;p112"/>
          <p:cNvSpPr/>
          <p:nvPr/>
        </p:nvSpPr>
        <p:spPr>
          <a:xfrm>
            <a:off x="3676801" y="2806845"/>
            <a:ext cx="3884211" cy="447109"/>
          </a:xfrm>
          <a:prstGeom prst="roundRect">
            <a:avLst>
              <a:gd fmla="val 24755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LoginContext API</a:t>
            </a:r>
            <a:endParaRPr sz="2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43" name="Google Shape;1243;p112"/>
          <p:cNvSpPr/>
          <p:nvPr/>
        </p:nvSpPr>
        <p:spPr>
          <a:xfrm>
            <a:off x="3676801" y="3411613"/>
            <a:ext cx="3884211" cy="447109"/>
          </a:xfrm>
          <a:prstGeom prst="roundRect">
            <a:avLst>
              <a:gd fmla="val 24755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LoginModule SPI</a:t>
            </a:r>
            <a:endParaRPr sz="2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31" name="Google Shape;1231;p112"/>
          <p:cNvSpPr/>
          <p:nvPr/>
        </p:nvSpPr>
        <p:spPr>
          <a:xfrm>
            <a:off x="1311300" y="4365104"/>
            <a:ext cx="2365501" cy="792088"/>
          </a:xfrm>
          <a:prstGeom prst="roundRect">
            <a:avLst>
              <a:gd fmla="val 24755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Kerberos</a:t>
            </a:r>
            <a:endParaRPr sz="2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35" name="Google Shape;1235;p112"/>
          <p:cNvSpPr/>
          <p:nvPr/>
        </p:nvSpPr>
        <p:spPr>
          <a:xfrm>
            <a:off x="4436156" y="4365104"/>
            <a:ext cx="2365501" cy="792088"/>
          </a:xfrm>
          <a:prstGeom prst="roundRect">
            <a:avLst>
              <a:gd fmla="val 24755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Smart Card</a:t>
            </a:r>
            <a:endParaRPr sz="2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33" name="Google Shape;1233;p112"/>
          <p:cNvSpPr/>
          <p:nvPr/>
        </p:nvSpPr>
        <p:spPr>
          <a:xfrm>
            <a:off x="7561012" y="4365104"/>
            <a:ext cx="2365501" cy="792088"/>
          </a:xfrm>
          <a:prstGeom prst="roundRect">
            <a:avLst>
              <a:gd fmla="val 24755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Biometric</a:t>
            </a:r>
            <a:endParaRPr sz="2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1244" name="Google Shape;1244;p112"/>
          <p:cNvCxnSpPr>
            <a:stCxn id="1242" idx="3"/>
          </p:cNvCxnSpPr>
          <p:nvPr/>
        </p:nvCxnSpPr>
        <p:spPr>
          <a:xfrm>
            <a:off x="7561012" y="3030400"/>
            <a:ext cx="909600" cy="0"/>
          </a:xfrm>
          <a:prstGeom prst="straightConnector1">
            <a:avLst/>
          </a:prstGeom>
          <a:noFill/>
          <a:ln cap="flat" cmpd="sng" w="9525">
            <a:solidFill>
              <a:srgbClr val="F99F1B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descr="http://www.fieldone.com/hs-fs/hub/330014/file-621187590-png/inner_pages/technology-page/internas/02b_configuration2.png?t=1465569208953&amp;width=520" id="1245" name="Google Shape;1245;p1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0676" y="2132559"/>
            <a:ext cx="2338966" cy="150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112"/>
          <p:cNvSpPr/>
          <p:nvPr/>
        </p:nvSpPr>
        <p:spPr>
          <a:xfrm>
            <a:off x="8470676" y="3588693"/>
            <a:ext cx="23262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Configuration</a:t>
            </a:r>
            <a:endParaRPr sz="2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50"/>
                                        <p:tgtEl>
                                          <p:spTgt spid="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113"/>
          <p:cNvSpPr/>
          <p:nvPr/>
        </p:nvSpPr>
        <p:spPr>
          <a:xfrm>
            <a:off x="300834" y="930480"/>
            <a:ext cx="12105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JNDI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252" name="Google Shape;1252;p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253" name="Google Shape;1253;p113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54" name="Google Shape;1254;p113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55" name="Google Shape;1255;p113"/>
          <p:cNvSpPr/>
          <p:nvPr/>
        </p:nvSpPr>
        <p:spPr>
          <a:xfrm>
            <a:off x="277854" y="1595021"/>
            <a:ext cx="10682108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JNDI (Java Naming and Directory Interface) API is utilized by Java EE applications to locate resources and objects in a portable fashion.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Applications use symbolic names to find object references to resources via JNDI.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When the application is deployed, the symbolic names and object references have to be configured by system administrator.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JNDI provides methods for performing standard directory operations, such as associating attributes with objects, and searching for objects using their attributes.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JNDI organizes its name into a hierarchy. A name can be any string such as "com.mydomain.ejb.MyBean" or an object that implements the 'Name' interface. However, a string is the most common way to name an object.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JNDI is divided into five packages: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000"/>
              <a:buFont typeface="Libre Baskerville"/>
              <a:buAutoNum type="arabicPeriod"/>
            </a:pPr>
            <a:r>
              <a:rPr lang="en-US"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Javax.naming</a:t>
            </a:r>
            <a:endParaRPr sz="20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000"/>
              <a:buFont typeface="Libre Baskerville"/>
              <a:buAutoNum type="arabicPeriod"/>
            </a:pPr>
            <a:r>
              <a:rPr lang="en-US"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Javax.naming.directory</a:t>
            </a:r>
            <a:endParaRPr sz="20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000"/>
              <a:buFont typeface="Libre Baskerville"/>
              <a:buAutoNum type="arabicPeriod"/>
            </a:pPr>
            <a:r>
              <a:rPr lang="en-US"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Javax.naming.event</a:t>
            </a:r>
            <a:endParaRPr sz="20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000"/>
              <a:buFont typeface="Libre Baskerville"/>
              <a:buAutoNum type="arabicPeriod"/>
            </a:pPr>
            <a:r>
              <a:rPr lang="en-US"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Javax.naming.Idap</a:t>
            </a:r>
            <a:endParaRPr sz="20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000"/>
              <a:buFont typeface="Libre Baskerville"/>
              <a:buAutoNum type="arabicPeriod"/>
            </a:pPr>
            <a:r>
              <a:rPr lang="en-US"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Javax.naming.spi</a:t>
            </a:r>
            <a:endParaRPr sz="20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14"/>
          <p:cNvSpPr/>
          <p:nvPr/>
        </p:nvSpPr>
        <p:spPr>
          <a:xfrm>
            <a:off x="300834" y="930480"/>
            <a:ext cx="13901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JDBC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261" name="Google Shape;1261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262" name="Google Shape;1262;p114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63" name="Google Shape;1263;p114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64" name="Google Shape;1264;p114"/>
          <p:cNvSpPr/>
          <p:nvPr/>
        </p:nvSpPr>
        <p:spPr>
          <a:xfrm>
            <a:off x="277854" y="1595021"/>
            <a:ext cx="10682108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JDBC (Java Database Connectivity) is a Java API that can access any kind of tabular data, stored in a relational database.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JDBC defines interfaces and classes for writing database applications in Java by making database connections.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It works with Java on a variety of platforms, such as Windows, Mac OS, and the various version of OS.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Vendors provide JDBC complaint driver, which can be invoked via Standard Java Programming API.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15"/>
          <p:cNvSpPr/>
          <p:nvPr/>
        </p:nvSpPr>
        <p:spPr>
          <a:xfrm>
            <a:off x="300834" y="930480"/>
            <a:ext cx="70326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Java EE Management (JSR – 77)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270" name="Google Shape;1270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271" name="Google Shape;1271;p115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72" name="Google Shape;1272;p115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73" name="Google Shape;1273;p115"/>
          <p:cNvSpPr/>
          <p:nvPr/>
        </p:nvSpPr>
        <p:spPr>
          <a:xfrm>
            <a:off x="277854" y="1595021"/>
            <a:ext cx="10682108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Java EE management specification is a Java specification request (JSR-77) for standardization of Java server management. </a:t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The things Java EE management is trying to address are: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Management applications should be able to discover, and interpret the managed data of any Java EE platform.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Single management platform can manage multiple Java EE servers from different vendors.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Management protocol specifications to ensure a uniform view by SNMP and WBEM management stations.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Leverages JMX.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116"/>
          <p:cNvSpPr/>
          <p:nvPr/>
        </p:nvSpPr>
        <p:spPr>
          <a:xfrm>
            <a:off x="300834" y="930480"/>
            <a:ext cx="93923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Java EE Management (JSR – 88) – J2EE 1.4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279" name="Google Shape;1279;p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280" name="Google Shape;1280;p116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81" name="Google Shape;1281;p116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282" name="Google Shape;1282;p116"/>
          <p:cNvGrpSpPr/>
          <p:nvPr/>
        </p:nvGrpSpPr>
        <p:grpSpPr>
          <a:xfrm>
            <a:off x="818954" y="1793156"/>
            <a:ext cx="9513167" cy="3832343"/>
            <a:chOff x="818954" y="1793156"/>
            <a:chExt cx="9513167" cy="3832343"/>
          </a:xfrm>
        </p:grpSpPr>
        <p:grpSp>
          <p:nvGrpSpPr>
            <p:cNvPr id="1283" name="Google Shape;1283;p116"/>
            <p:cNvGrpSpPr/>
            <p:nvPr/>
          </p:nvGrpSpPr>
          <p:grpSpPr>
            <a:xfrm>
              <a:off x="3184455" y="2685472"/>
              <a:ext cx="4782165" cy="2506156"/>
              <a:chOff x="3184455" y="2685472"/>
              <a:chExt cx="4782165" cy="2506156"/>
            </a:xfrm>
          </p:grpSpPr>
          <p:cxnSp>
            <p:nvCxnSpPr>
              <p:cNvPr id="1284" name="Google Shape;1284;p116"/>
              <p:cNvCxnSpPr>
                <a:stCxn id="1285" idx="3"/>
              </p:cNvCxnSpPr>
              <p:nvPr/>
            </p:nvCxnSpPr>
            <p:spPr>
              <a:xfrm>
                <a:off x="3184455" y="2734052"/>
                <a:ext cx="2406000" cy="1182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99F1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6" name="Google Shape;1286;p116"/>
              <p:cNvCxnSpPr>
                <a:stCxn id="1287" idx="3"/>
              </p:cNvCxnSpPr>
              <p:nvPr/>
            </p:nvCxnSpPr>
            <p:spPr>
              <a:xfrm>
                <a:off x="3184455" y="3924677"/>
                <a:ext cx="2406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99F1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8" name="Google Shape;1288;p116"/>
              <p:cNvCxnSpPr>
                <a:stCxn id="1289" idx="3"/>
              </p:cNvCxnSpPr>
              <p:nvPr/>
            </p:nvCxnSpPr>
            <p:spPr>
              <a:xfrm flipH="1" rot="10800000">
                <a:off x="3184455" y="3924602"/>
                <a:ext cx="2406000" cy="1190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99F1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0" name="Google Shape;1290;p116"/>
              <p:cNvCxnSpPr>
                <a:endCxn id="1291" idx="1"/>
              </p:cNvCxnSpPr>
              <p:nvPr/>
            </p:nvCxnSpPr>
            <p:spPr>
              <a:xfrm flipH="1" rot="10800000">
                <a:off x="6166320" y="2685472"/>
                <a:ext cx="1800300" cy="1231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61078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2" name="Google Shape;1292;p116"/>
              <p:cNvCxnSpPr>
                <a:endCxn id="1293" idx="1"/>
              </p:cNvCxnSpPr>
              <p:nvPr/>
            </p:nvCxnSpPr>
            <p:spPr>
              <a:xfrm flipH="1" rot="10800000">
                <a:off x="6166320" y="3520857"/>
                <a:ext cx="1800300" cy="403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61078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4" name="Google Shape;1294;p116"/>
              <p:cNvCxnSpPr>
                <a:endCxn id="1295" idx="1"/>
              </p:cNvCxnSpPr>
              <p:nvPr/>
            </p:nvCxnSpPr>
            <p:spPr>
              <a:xfrm>
                <a:off x="6166320" y="3917042"/>
                <a:ext cx="1800300" cy="439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61078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6" name="Google Shape;1296;p116"/>
              <p:cNvCxnSpPr>
                <a:endCxn id="1297" idx="1"/>
              </p:cNvCxnSpPr>
              <p:nvPr/>
            </p:nvCxnSpPr>
            <p:spPr>
              <a:xfrm>
                <a:off x="6166320" y="3916928"/>
                <a:ext cx="1800300" cy="1274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61078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descr="http://www.rcaaudiovideo.com/images/common/RCU600M/RCU600M_MED.png" id="1298" name="Google Shape;1298;p1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91880" y="2848205"/>
              <a:ext cx="2777294" cy="27772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16"/>
            <p:cNvSpPr/>
            <p:nvPr/>
          </p:nvSpPr>
          <p:spPr>
            <a:xfrm>
              <a:off x="818954" y="2338008"/>
              <a:ext cx="2365501" cy="792088"/>
            </a:xfrm>
            <a:prstGeom prst="roundRect">
              <a:avLst>
                <a:gd fmla="val 24755" name="adj"/>
              </a:avLst>
            </a:prstGeom>
            <a:solidFill>
              <a:srgbClr val="8A4C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IDEs</a:t>
              </a:r>
              <a:endParaRPr sz="2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287" name="Google Shape;1287;p116"/>
            <p:cNvSpPr/>
            <p:nvPr/>
          </p:nvSpPr>
          <p:spPr>
            <a:xfrm>
              <a:off x="818954" y="3528633"/>
              <a:ext cx="2365501" cy="792088"/>
            </a:xfrm>
            <a:prstGeom prst="roundRect">
              <a:avLst>
                <a:gd fmla="val 24755" name="adj"/>
              </a:avLst>
            </a:prstGeom>
            <a:solidFill>
              <a:srgbClr val="8A4C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Vendor Deploy Tools</a:t>
              </a:r>
              <a:endParaRPr sz="2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289" name="Google Shape;1289;p116"/>
            <p:cNvSpPr/>
            <p:nvPr/>
          </p:nvSpPr>
          <p:spPr>
            <a:xfrm>
              <a:off x="818954" y="4719258"/>
              <a:ext cx="2365501" cy="792088"/>
            </a:xfrm>
            <a:prstGeom prst="roundRect">
              <a:avLst>
                <a:gd fmla="val 24755" name="adj"/>
              </a:avLst>
            </a:prstGeom>
            <a:solidFill>
              <a:srgbClr val="8A4C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Management Tools</a:t>
              </a:r>
              <a:endParaRPr sz="2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299" name="Google Shape;1299;p116"/>
            <p:cNvSpPr/>
            <p:nvPr/>
          </p:nvSpPr>
          <p:spPr>
            <a:xfrm>
              <a:off x="850385" y="1814788"/>
              <a:ext cx="23655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Tools</a:t>
              </a:r>
              <a:endParaRPr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300" name="Google Shape;1300;p116"/>
            <p:cNvSpPr/>
            <p:nvPr/>
          </p:nvSpPr>
          <p:spPr>
            <a:xfrm>
              <a:off x="4697777" y="1827763"/>
              <a:ext cx="23655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Standard Deployment API (Universal Remote)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293" name="Google Shape;1293;p116"/>
            <p:cNvSpPr/>
            <p:nvPr/>
          </p:nvSpPr>
          <p:spPr>
            <a:xfrm>
              <a:off x="7966620" y="3124813"/>
              <a:ext cx="2365501" cy="792088"/>
            </a:xfrm>
            <a:prstGeom prst="roundRect">
              <a:avLst>
                <a:gd fmla="val 24755" name="adj"/>
              </a:avLst>
            </a:prstGeom>
            <a:solidFill>
              <a:srgbClr val="F99F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295" name="Google Shape;1295;p116"/>
            <p:cNvSpPr/>
            <p:nvPr/>
          </p:nvSpPr>
          <p:spPr>
            <a:xfrm>
              <a:off x="7966620" y="3960198"/>
              <a:ext cx="2365501" cy="792088"/>
            </a:xfrm>
            <a:prstGeom prst="roundRect">
              <a:avLst>
                <a:gd fmla="val 24755" name="adj"/>
              </a:avLst>
            </a:prstGeom>
            <a:solidFill>
              <a:srgbClr val="F99F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297" name="Google Shape;1297;p116"/>
            <p:cNvSpPr/>
            <p:nvPr/>
          </p:nvSpPr>
          <p:spPr>
            <a:xfrm>
              <a:off x="7966620" y="4795584"/>
              <a:ext cx="2365501" cy="792088"/>
            </a:xfrm>
            <a:prstGeom prst="roundRect">
              <a:avLst>
                <a:gd fmla="val 24755" name="adj"/>
              </a:avLst>
            </a:prstGeom>
            <a:solidFill>
              <a:srgbClr val="F99F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291" name="Google Shape;1291;p116"/>
            <p:cNvSpPr/>
            <p:nvPr/>
          </p:nvSpPr>
          <p:spPr>
            <a:xfrm>
              <a:off x="7966620" y="2289428"/>
              <a:ext cx="2365501" cy="792088"/>
            </a:xfrm>
            <a:prstGeom prst="roundRect">
              <a:avLst>
                <a:gd fmla="val 24755" name="adj"/>
              </a:avLst>
            </a:prstGeom>
            <a:solidFill>
              <a:srgbClr val="F99F1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301" name="Google Shape;1301;p116"/>
            <p:cNvSpPr/>
            <p:nvPr/>
          </p:nvSpPr>
          <p:spPr>
            <a:xfrm>
              <a:off x="7966620" y="1793156"/>
              <a:ext cx="23655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J2EE Platforms</a:t>
              </a:r>
              <a:endParaRPr sz="24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6" name="Google Shape;1306;p117"/>
          <p:cNvCxnSpPr/>
          <p:nvPr/>
        </p:nvCxnSpPr>
        <p:spPr>
          <a:xfrm>
            <a:off x="2050038" y="3452380"/>
            <a:ext cx="0" cy="706010"/>
          </a:xfrm>
          <a:prstGeom prst="straightConnector1">
            <a:avLst/>
          </a:prstGeom>
          <a:noFill/>
          <a:ln cap="flat" cmpd="sng" w="9525">
            <a:solidFill>
              <a:srgbClr val="F99F1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7" name="Google Shape;1307;p117"/>
          <p:cNvSpPr/>
          <p:nvPr/>
        </p:nvSpPr>
        <p:spPr>
          <a:xfrm>
            <a:off x="300834" y="607314"/>
            <a:ext cx="11079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JMX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308" name="Google Shape;1308;p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309" name="Google Shape;1309;p117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10" name="Google Shape;1310;p117"/>
          <p:cNvSpPr txBox="1"/>
          <p:nvPr>
            <p:ph type="title"/>
          </p:nvPr>
        </p:nvSpPr>
        <p:spPr>
          <a:xfrm>
            <a:off x="294895" y="-7277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&amp; Technologies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11" name="Google Shape;1311;p117"/>
          <p:cNvSpPr/>
          <p:nvPr/>
        </p:nvSpPr>
        <p:spPr>
          <a:xfrm>
            <a:off x="294895" y="1181874"/>
            <a:ext cx="1033008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JMX™ (Java Management Extensions) is a standard API for management and monitoring of resources such as applications, devices, services, and the Java virtual machine.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The figure illustrates “A single technology for the Java EE platform”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312" name="Google Shape;1312;p117"/>
          <p:cNvGrpSpPr/>
          <p:nvPr/>
        </p:nvGrpSpPr>
        <p:grpSpPr>
          <a:xfrm>
            <a:off x="651240" y="2555956"/>
            <a:ext cx="8712969" cy="4321456"/>
            <a:chOff x="621803" y="2751534"/>
            <a:chExt cx="8712969" cy="4321456"/>
          </a:xfrm>
        </p:grpSpPr>
        <p:sp>
          <p:nvSpPr>
            <p:cNvPr id="1313" name="Google Shape;1313;p117"/>
            <p:cNvSpPr/>
            <p:nvPr/>
          </p:nvSpPr>
          <p:spPr>
            <a:xfrm>
              <a:off x="621803" y="3705641"/>
              <a:ext cx="8712969" cy="2760730"/>
            </a:xfrm>
            <a:prstGeom prst="roundRect">
              <a:avLst>
                <a:gd fmla="val 18593" name="adj"/>
              </a:avLst>
            </a:prstGeom>
            <a:solidFill>
              <a:srgbClr val="61078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314" name="Google Shape;1314;p117"/>
            <p:cNvSpPr/>
            <p:nvPr/>
          </p:nvSpPr>
          <p:spPr>
            <a:xfrm>
              <a:off x="4510236" y="4353968"/>
              <a:ext cx="4608512" cy="1871954"/>
            </a:xfrm>
            <a:prstGeom prst="roundRect">
              <a:avLst>
                <a:gd fmla="val 18593" name="adj"/>
              </a:avLst>
            </a:prstGeom>
            <a:solidFill>
              <a:srgbClr val="61078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315" name="Google Shape;1315;p117"/>
            <p:cNvSpPr/>
            <p:nvPr/>
          </p:nvSpPr>
          <p:spPr>
            <a:xfrm>
              <a:off x="837851" y="3957924"/>
              <a:ext cx="2365501" cy="792088"/>
            </a:xfrm>
            <a:prstGeom prst="roundRect">
              <a:avLst>
                <a:gd fmla="val 24755" name="adj"/>
              </a:avLst>
            </a:prstGeom>
            <a:solidFill>
              <a:srgbClr val="F99F1B"/>
            </a:solidFill>
            <a:ln>
              <a:noFill/>
            </a:ln>
            <a:effectLst>
              <a:reflection blurRad="0" dir="0" dist="0" endA="300" endPos="35000" kx="0" rotWithShape="0" algn="bl" stA="52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JMX</a:t>
              </a:r>
              <a:endParaRPr sz="26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1316" name="Google Shape;1316;p117"/>
            <p:cNvCxnSpPr>
              <a:stCxn id="1317" idx="2"/>
            </p:cNvCxnSpPr>
            <p:nvPr/>
          </p:nvCxnSpPr>
          <p:spPr>
            <a:xfrm>
              <a:off x="7031941" y="3647958"/>
              <a:ext cx="0" cy="2901900"/>
            </a:xfrm>
            <a:prstGeom prst="straightConnector1">
              <a:avLst/>
            </a:prstGeom>
            <a:noFill/>
            <a:ln cap="flat" cmpd="sng" w="9525">
              <a:solidFill>
                <a:srgbClr val="F99F1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8" name="Google Shape;1318;p117"/>
            <p:cNvSpPr/>
            <p:nvPr/>
          </p:nvSpPr>
          <p:spPr>
            <a:xfrm>
              <a:off x="5849189" y="5212147"/>
              <a:ext cx="2365501" cy="792088"/>
            </a:xfrm>
            <a:prstGeom prst="roundRect">
              <a:avLst>
                <a:gd fmla="val 24755" name="adj"/>
              </a:avLst>
            </a:prstGeom>
            <a:solidFill>
              <a:srgbClr val="F99F1B"/>
            </a:solidFill>
            <a:ln>
              <a:noFill/>
            </a:ln>
            <a:effectLst>
              <a:reflection blurRad="0" dir="0" dist="0" endA="300" endPos="35000" kx="0" rotWithShape="0" algn="bl" stA="52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JMX</a:t>
              </a:r>
              <a:endParaRPr sz="26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319" name="Google Shape;1319;p117"/>
            <p:cNvSpPr/>
            <p:nvPr/>
          </p:nvSpPr>
          <p:spPr>
            <a:xfrm>
              <a:off x="4858908" y="5419460"/>
              <a:ext cx="914033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App</a:t>
              </a:r>
              <a:endParaRPr b="1" sz="3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320" name="Google Shape;1320;p117"/>
            <p:cNvSpPr/>
            <p:nvPr/>
          </p:nvSpPr>
          <p:spPr>
            <a:xfrm>
              <a:off x="1131836" y="5509132"/>
              <a:ext cx="414302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J2EE App Server</a:t>
              </a:r>
              <a:endParaRPr b="1" sz="3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317" name="Google Shape;1317;p117"/>
            <p:cNvSpPr/>
            <p:nvPr/>
          </p:nvSpPr>
          <p:spPr>
            <a:xfrm>
              <a:off x="4960428" y="3124738"/>
              <a:ext cx="414302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Dynamic deployment</a:t>
              </a:r>
              <a:endParaRPr b="1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321" name="Google Shape;1321;p117"/>
            <p:cNvSpPr/>
            <p:nvPr/>
          </p:nvSpPr>
          <p:spPr>
            <a:xfrm>
              <a:off x="621803" y="2751534"/>
              <a:ext cx="414302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JMX API Into the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J2EE 1.4 platform</a:t>
              </a:r>
              <a:endParaRPr b="1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322" name="Google Shape;1322;p117"/>
            <p:cNvSpPr/>
            <p:nvPr/>
          </p:nvSpPr>
          <p:spPr>
            <a:xfrm>
              <a:off x="4742979" y="6549770"/>
              <a:ext cx="414302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610786"/>
                  </a:solidFill>
                  <a:latin typeface="Arimo"/>
                  <a:ea typeface="Arimo"/>
                  <a:cs typeface="Arimo"/>
                  <a:sym typeface="Arimo"/>
                </a:rPr>
                <a:t>JMX defacto</a:t>
              </a:r>
              <a:endParaRPr b="1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18"/>
          <p:cNvSpPr txBox="1"/>
          <p:nvPr/>
        </p:nvSpPr>
        <p:spPr>
          <a:xfrm>
            <a:off x="401107" y="914402"/>
            <a:ext cx="11770889" cy="5943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aseline="-25000"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29" name="Google Shape;1329;p118"/>
          <p:cNvSpPr txBox="1"/>
          <p:nvPr/>
        </p:nvSpPr>
        <p:spPr>
          <a:xfrm>
            <a:off x="2014403" y="764704"/>
            <a:ext cx="6984775" cy="453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6600"/>
              <a:buFont typeface="Libre Baskerville"/>
              <a:buNone/>
            </a:pPr>
            <a:r>
              <a:rPr b="1" lang="en-US" sz="66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Knowledge Check</a:t>
            </a:r>
            <a:endParaRPr b="1" sz="6600">
              <a:solidFill>
                <a:srgbClr val="610786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30" name="Google Shape;1330;p118"/>
          <p:cNvSpPr/>
          <p:nvPr/>
        </p:nvSpPr>
        <p:spPr>
          <a:xfrm>
            <a:off x="3690201" y="5127659"/>
            <a:ext cx="3633180" cy="1038019"/>
          </a:xfrm>
          <a:prstGeom prst="roundRect">
            <a:avLst>
              <a:gd fmla="val 16667" name="adj"/>
            </a:avLst>
          </a:prstGeom>
          <a:solidFill>
            <a:srgbClr val="F99F1B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Start</a:t>
            </a:r>
            <a:endParaRPr b="1" sz="40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cliparts.co/cliparts/zcX/eRE/zcXeREgMi.png" id="1331" name="Google Shape;1331;p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3381" y="3912175"/>
            <a:ext cx="1991855" cy="1908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hscway.com.au/Img/OnlineIcon_TestResult_Orange.png" id="1332" name="Google Shape;1332;p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9576" y="5051355"/>
            <a:ext cx="119062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18"/>
          <p:cNvSpPr/>
          <p:nvPr/>
        </p:nvSpPr>
        <p:spPr>
          <a:xfrm>
            <a:off x="10236046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334" name="Google Shape;1334;p1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45769" y="2182772"/>
            <a:ext cx="1784869" cy="1784869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19"/>
          <p:cNvSpPr txBox="1"/>
          <p:nvPr>
            <p:ph type="title"/>
          </p:nvPr>
        </p:nvSpPr>
        <p:spPr>
          <a:xfrm>
            <a:off x="252299" y="825489"/>
            <a:ext cx="10257217" cy="1343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400"/>
              <a:buFont typeface="Libre Baskerville"/>
              <a:buNone/>
            </a:pPr>
            <a:r>
              <a:rPr b="1" lang="en-US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Identify the correct feature of servlets?</a:t>
            </a:r>
            <a:endParaRPr b="1">
              <a:solidFill>
                <a:srgbClr val="610786"/>
              </a:solidFill>
            </a:endParaRPr>
          </a:p>
        </p:txBody>
      </p:sp>
      <p:sp>
        <p:nvSpPr>
          <p:cNvPr id="1340" name="Google Shape;1340;p119"/>
          <p:cNvSpPr/>
          <p:nvPr/>
        </p:nvSpPr>
        <p:spPr>
          <a:xfrm>
            <a:off x="556372" y="2168860"/>
            <a:ext cx="9649072" cy="792088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Servlets are client-side components that generate dynamic contents</a:t>
            </a:r>
            <a:endParaRPr/>
          </a:p>
        </p:txBody>
      </p:sp>
      <p:sp>
        <p:nvSpPr>
          <p:cNvPr id="1341" name="Google Shape;1341;p119"/>
          <p:cNvSpPr/>
          <p:nvPr/>
        </p:nvSpPr>
        <p:spPr>
          <a:xfrm>
            <a:off x="10210153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342" name="Google Shape;1342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343" name="Google Shape;1343;p119"/>
          <p:cNvSpPr/>
          <p:nvPr/>
        </p:nvSpPr>
        <p:spPr>
          <a:xfrm>
            <a:off x="556372" y="3140977"/>
            <a:ext cx="9649072" cy="792088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Servlets by default can service only one client request at a time</a:t>
            </a:r>
            <a:endParaRPr/>
          </a:p>
        </p:txBody>
      </p:sp>
      <p:sp>
        <p:nvSpPr>
          <p:cNvPr id="1344" name="Google Shape;1344;p119"/>
          <p:cNvSpPr/>
          <p:nvPr/>
        </p:nvSpPr>
        <p:spPr>
          <a:xfrm>
            <a:off x="556372" y="4113094"/>
            <a:ext cx="9649072" cy="792088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Servlets  are platform dependent</a:t>
            </a:r>
            <a:endParaRPr/>
          </a:p>
        </p:txBody>
      </p:sp>
      <p:sp>
        <p:nvSpPr>
          <p:cNvPr id="1345" name="Google Shape;1345;p119"/>
          <p:cNvSpPr/>
          <p:nvPr/>
        </p:nvSpPr>
        <p:spPr>
          <a:xfrm>
            <a:off x="556372" y="5085211"/>
            <a:ext cx="9649072" cy="792088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Servlets can service multiple client requests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20"/>
          <p:cNvSpPr txBox="1"/>
          <p:nvPr>
            <p:ph type="title"/>
          </p:nvPr>
        </p:nvSpPr>
        <p:spPr>
          <a:xfrm>
            <a:off x="247129" y="908720"/>
            <a:ext cx="10257217" cy="1343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Which of the following is the component technology in Java EE?</a:t>
            </a:r>
            <a:endParaRPr b="1" sz="4800">
              <a:solidFill>
                <a:srgbClr val="610786"/>
              </a:solidFill>
            </a:endParaRPr>
          </a:p>
        </p:txBody>
      </p:sp>
      <p:sp>
        <p:nvSpPr>
          <p:cNvPr id="1351" name="Google Shape;1351;p120"/>
          <p:cNvSpPr/>
          <p:nvPr/>
        </p:nvSpPr>
        <p:spPr>
          <a:xfrm>
            <a:off x="3544401" y="3550515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JSP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52" name="Google Shape;1352;p120"/>
          <p:cNvSpPr/>
          <p:nvPr/>
        </p:nvSpPr>
        <p:spPr>
          <a:xfrm>
            <a:off x="3544401" y="2564904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Servlet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53" name="Google Shape;1353;p120"/>
          <p:cNvSpPr/>
          <p:nvPr/>
        </p:nvSpPr>
        <p:spPr>
          <a:xfrm>
            <a:off x="3544400" y="5537396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JMS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54" name="Google Shape;1354;p120"/>
          <p:cNvSpPr/>
          <p:nvPr/>
        </p:nvSpPr>
        <p:spPr>
          <a:xfrm>
            <a:off x="3544401" y="4589511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EJB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55" name="Google Shape;1355;p120"/>
          <p:cNvSpPr/>
          <p:nvPr/>
        </p:nvSpPr>
        <p:spPr>
          <a:xfrm>
            <a:off x="10210153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356" name="Google Shape;1356;p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21"/>
          <p:cNvSpPr txBox="1"/>
          <p:nvPr>
            <p:ph type="title"/>
          </p:nvPr>
        </p:nvSpPr>
        <p:spPr>
          <a:xfrm>
            <a:off x="765820" y="908720"/>
            <a:ext cx="8856984" cy="1343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400"/>
              <a:buFont typeface="Libre Baskerville"/>
              <a:buNone/>
            </a:pPr>
            <a:r>
              <a:rPr b="1" lang="en-US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Which of the following is a standard API for management and monitoring of resources?</a:t>
            </a:r>
            <a:endParaRPr b="1">
              <a:solidFill>
                <a:srgbClr val="610786"/>
              </a:solidFill>
            </a:endParaRPr>
          </a:p>
        </p:txBody>
      </p:sp>
      <p:sp>
        <p:nvSpPr>
          <p:cNvPr id="1362" name="Google Shape;1362;p121"/>
          <p:cNvSpPr/>
          <p:nvPr/>
        </p:nvSpPr>
        <p:spPr>
          <a:xfrm>
            <a:off x="3544401" y="3550515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JAAS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63" name="Google Shape;1363;p121"/>
          <p:cNvSpPr/>
          <p:nvPr/>
        </p:nvSpPr>
        <p:spPr>
          <a:xfrm>
            <a:off x="3544401" y="2564904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JMS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64" name="Google Shape;1364;p121"/>
          <p:cNvSpPr/>
          <p:nvPr/>
        </p:nvSpPr>
        <p:spPr>
          <a:xfrm>
            <a:off x="3544400" y="5537396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JMX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65" name="Google Shape;1365;p121"/>
          <p:cNvSpPr/>
          <p:nvPr/>
        </p:nvSpPr>
        <p:spPr>
          <a:xfrm>
            <a:off x="3544401" y="4589511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JNDI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66" name="Google Shape;1366;p121"/>
          <p:cNvSpPr/>
          <p:nvPr/>
        </p:nvSpPr>
        <p:spPr>
          <a:xfrm>
            <a:off x="10210153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367" name="Google Shape;1367;p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22"/>
          <p:cNvSpPr txBox="1"/>
          <p:nvPr>
            <p:ph type="title"/>
          </p:nvPr>
        </p:nvSpPr>
        <p:spPr>
          <a:xfrm>
            <a:off x="765820" y="908720"/>
            <a:ext cx="8856984" cy="1343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400"/>
              <a:buFont typeface="Libre Baskerville"/>
              <a:buNone/>
            </a:pPr>
            <a:r>
              <a:rPr b="1" lang="en-US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What are the components that can run in a web container?</a:t>
            </a:r>
            <a:endParaRPr b="1">
              <a:solidFill>
                <a:srgbClr val="610786"/>
              </a:solidFill>
            </a:endParaRPr>
          </a:p>
        </p:txBody>
      </p:sp>
      <p:sp>
        <p:nvSpPr>
          <p:cNvPr id="1373" name="Google Shape;1373;p122"/>
          <p:cNvSpPr/>
          <p:nvPr/>
        </p:nvSpPr>
        <p:spPr>
          <a:xfrm>
            <a:off x="3544401" y="3550515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 EJB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74" name="Google Shape;1374;p122"/>
          <p:cNvSpPr/>
          <p:nvPr/>
        </p:nvSpPr>
        <p:spPr>
          <a:xfrm>
            <a:off x="3544401" y="2564904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Application Client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75" name="Google Shape;1375;p122"/>
          <p:cNvSpPr/>
          <p:nvPr/>
        </p:nvSpPr>
        <p:spPr>
          <a:xfrm>
            <a:off x="3544400" y="5537396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Java Messaging Service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76" name="Google Shape;1376;p122"/>
          <p:cNvSpPr/>
          <p:nvPr/>
        </p:nvSpPr>
        <p:spPr>
          <a:xfrm>
            <a:off x="3544401" y="4589511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Servlet and JSP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77" name="Google Shape;1377;p122"/>
          <p:cNvSpPr/>
          <p:nvPr/>
        </p:nvSpPr>
        <p:spPr>
          <a:xfrm>
            <a:off x="10210153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378" name="Google Shape;1378;p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123"/>
          <p:cNvSpPr txBox="1"/>
          <p:nvPr>
            <p:ph type="title"/>
          </p:nvPr>
        </p:nvSpPr>
        <p:spPr>
          <a:xfrm>
            <a:off x="765820" y="908720"/>
            <a:ext cx="8856984" cy="1343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3200"/>
              <a:buFont typeface="Libre Baskerville"/>
              <a:buNone/>
            </a:pPr>
            <a:r>
              <a:rPr b="1" lang="en-US" sz="32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Which beans can be developed using Bean-Managed Persistence (BMP) or Container-Managed Persistence (CMP), implemented by the container?</a:t>
            </a:r>
            <a:endParaRPr b="1" sz="3200">
              <a:solidFill>
                <a:srgbClr val="610786"/>
              </a:solidFill>
            </a:endParaRPr>
          </a:p>
        </p:txBody>
      </p:sp>
      <p:sp>
        <p:nvSpPr>
          <p:cNvPr id="1384" name="Google Shape;1384;p123"/>
          <p:cNvSpPr/>
          <p:nvPr/>
        </p:nvSpPr>
        <p:spPr>
          <a:xfrm>
            <a:off x="3544401" y="3550515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Message-driven beans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85" name="Google Shape;1385;p123"/>
          <p:cNvSpPr/>
          <p:nvPr/>
        </p:nvSpPr>
        <p:spPr>
          <a:xfrm>
            <a:off x="3544401" y="2564904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Session beans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86" name="Google Shape;1386;p123"/>
          <p:cNvSpPr/>
          <p:nvPr/>
        </p:nvSpPr>
        <p:spPr>
          <a:xfrm>
            <a:off x="3544400" y="5537396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All of the above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87" name="Google Shape;1387;p123"/>
          <p:cNvSpPr/>
          <p:nvPr/>
        </p:nvSpPr>
        <p:spPr>
          <a:xfrm>
            <a:off x="3544401" y="4589511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Entity beans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88" name="Google Shape;1388;p123"/>
          <p:cNvSpPr/>
          <p:nvPr/>
        </p:nvSpPr>
        <p:spPr>
          <a:xfrm>
            <a:off x="10210153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389" name="Google Shape;1389;p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124"/>
          <p:cNvSpPr txBox="1"/>
          <p:nvPr>
            <p:ph type="title"/>
          </p:nvPr>
        </p:nvSpPr>
        <p:spPr>
          <a:xfrm>
            <a:off x="765820" y="908720"/>
            <a:ext cx="8856984" cy="1343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400"/>
              <a:buFont typeface="Libre Baskerville"/>
              <a:buNone/>
            </a:pPr>
            <a:r>
              <a:rPr b="1" lang="en-US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Which of the below API supports Asynchronous communication?</a:t>
            </a:r>
            <a:endParaRPr b="1">
              <a:solidFill>
                <a:srgbClr val="610786"/>
              </a:solidFill>
            </a:endParaRPr>
          </a:p>
        </p:txBody>
      </p:sp>
      <p:sp>
        <p:nvSpPr>
          <p:cNvPr id="1395" name="Google Shape;1395;p124"/>
          <p:cNvSpPr/>
          <p:nvPr/>
        </p:nvSpPr>
        <p:spPr>
          <a:xfrm>
            <a:off x="3544401" y="3550515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JMX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96" name="Google Shape;1396;p124"/>
          <p:cNvSpPr/>
          <p:nvPr/>
        </p:nvSpPr>
        <p:spPr>
          <a:xfrm>
            <a:off x="3544401" y="2564904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JMS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97" name="Google Shape;1397;p124"/>
          <p:cNvSpPr/>
          <p:nvPr/>
        </p:nvSpPr>
        <p:spPr>
          <a:xfrm>
            <a:off x="3544400" y="5537396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JAAS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98" name="Google Shape;1398;p124"/>
          <p:cNvSpPr/>
          <p:nvPr/>
        </p:nvSpPr>
        <p:spPr>
          <a:xfrm>
            <a:off x="3544401" y="4589511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JNDI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99" name="Google Shape;1399;p124"/>
          <p:cNvSpPr/>
          <p:nvPr/>
        </p:nvSpPr>
        <p:spPr>
          <a:xfrm>
            <a:off x="10210153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400" name="Google Shape;1400;p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125"/>
          <p:cNvSpPr txBox="1"/>
          <p:nvPr>
            <p:ph type="title"/>
          </p:nvPr>
        </p:nvSpPr>
        <p:spPr>
          <a:xfrm>
            <a:off x="981844" y="1556792"/>
            <a:ext cx="8856984" cy="1343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800"/>
              <a:buFont typeface="Libre Baskerville"/>
              <a:buNone/>
            </a:pPr>
            <a:r>
              <a:rPr lang="en-US" sz="2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Match the description with the correct APIs and Technologies. </a:t>
            </a:r>
            <a:br>
              <a:rPr lang="en-US" sz="2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It can access any kind of tabular data, stored in a relational database</a:t>
            </a:r>
            <a:br>
              <a:rPr lang="en-US" sz="2800"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-US" sz="2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06" name="Google Shape;1406;p125"/>
          <p:cNvSpPr/>
          <p:nvPr/>
        </p:nvSpPr>
        <p:spPr>
          <a:xfrm>
            <a:off x="3544401" y="3550515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JAAS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07" name="Google Shape;1407;p125"/>
          <p:cNvSpPr/>
          <p:nvPr/>
        </p:nvSpPr>
        <p:spPr>
          <a:xfrm>
            <a:off x="3544400" y="5537396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JDBC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08" name="Google Shape;1408;p125"/>
          <p:cNvSpPr/>
          <p:nvPr/>
        </p:nvSpPr>
        <p:spPr>
          <a:xfrm>
            <a:off x="3544401" y="4589511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JNDI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09" name="Google Shape;1409;p125"/>
          <p:cNvSpPr/>
          <p:nvPr/>
        </p:nvSpPr>
        <p:spPr>
          <a:xfrm>
            <a:off x="10210153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410" name="Google Shape;1410;p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26"/>
          <p:cNvSpPr txBox="1"/>
          <p:nvPr>
            <p:ph type="title"/>
          </p:nvPr>
        </p:nvSpPr>
        <p:spPr>
          <a:xfrm>
            <a:off x="981844" y="1556792"/>
            <a:ext cx="8856984" cy="1343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800"/>
              <a:buFont typeface="Libre Baskerville"/>
              <a:buNone/>
            </a:pPr>
            <a:r>
              <a:rPr lang="en-US" sz="2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Match the description with the correct APIs and Technologies. </a:t>
            </a:r>
            <a:br>
              <a:rPr lang="en-US" sz="2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-US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It is the Java implementation of the standard Pluggable Authentication Module (PAM) information security framework</a:t>
            </a:r>
            <a:br>
              <a:rPr lang="en-US" sz="4800">
                <a:latin typeface="Libre Baskerville"/>
                <a:ea typeface="Libre Baskerville"/>
                <a:cs typeface="Libre Baskerville"/>
                <a:sym typeface="Libre Baskerville"/>
              </a:rPr>
            </a:br>
            <a:br>
              <a:rPr lang="en-US" sz="2800"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-US" sz="2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16" name="Google Shape;1416;p126"/>
          <p:cNvSpPr/>
          <p:nvPr/>
        </p:nvSpPr>
        <p:spPr>
          <a:xfrm>
            <a:off x="3544401" y="3550515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JAAS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17" name="Google Shape;1417;p126"/>
          <p:cNvSpPr/>
          <p:nvPr/>
        </p:nvSpPr>
        <p:spPr>
          <a:xfrm>
            <a:off x="3544400" y="5537396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JDBC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18" name="Google Shape;1418;p126"/>
          <p:cNvSpPr/>
          <p:nvPr/>
        </p:nvSpPr>
        <p:spPr>
          <a:xfrm>
            <a:off x="3544401" y="4589511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JNDI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19" name="Google Shape;1419;p126"/>
          <p:cNvSpPr/>
          <p:nvPr/>
        </p:nvSpPr>
        <p:spPr>
          <a:xfrm>
            <a:off x="10210153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420" name="Google Shape;1420;p1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27"/>
          <p:cNvSpPr txBox="1"/>
          <p:nvPr>
            <p:ph type="title"/>
          </p:nvPr>
        </p:nvSpPr>
        <p:spPr>
          <a:xfrm>
            <a:off x="333772" y="1556792"/>
            <a:ext cx="9505056" cy="1343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2800"/>
              <a:buFont typeface="Libre Baskerville"/>
              <a:buNone/>
            </a:pPr>
            <a:r>
              <a:rPr lang="en-US" sz="2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Match the description with the correct APIs and Technologies. </a:t>
            </a:r>
            <a:br>
              <a:rPr lang="en-US" sz="2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-US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It is utilized by Java EE applications to locate resources and objects in a portable fashion</a:t>
            </a:r>
            <a:br>
              <a:rPr lang="en-US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br>
              <a:rPr lang="en-US" sz="2800"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lang="en-US" sz="2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2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26" name="Google Shape;1426;p127"/>
          <p:cNvSpPr/>
          <p:nvPr/>
        </p:nvSpPr>
        <p:spPr>
          <a:xfrm>
            <a:off x="3214444" y="3329624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JAAS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27" name="Google Shape;1427;p127"/>
          <p:cNvSpPr/>
          <p:nvPr/>
        </p:nvSpPr>
        <p:spPr>
          <a:xfrm>
            <a:off x="3214443" y="5316505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JDBC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28" name="Google Shape;1428;p127"/>
          <p:cNvSpPr/>
          <p:nvPr/>
        </p:nvSpPr>
        <p:spPr>
          <a:xfrm>
            <a:off x="3214444" y="4368620"/>
            <a:ext cx="4206195" cy="738303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JNDI</a:t>
            </a:r>
            <a:endParaRPr sz="2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29" name="Google Shape;1429;p127"/>
          <p:cNvSpPr/>
          <p:nvPr/>
        </p:nvSpPr>
        <p:spPr>
          <a:xfrm>
            <a:off x="10210153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430" name="Google Shape;1430;p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28"/>
          <p:cNvSpPr/>
          <p:nvPr/>
        </p:nvSpPr>
        <p:spPr>
          <a:xfrm>
            <a:off x="2132012" y="2971800"/>
            <a:ext cx="7543801" cy="2039161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2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Results</a:t>
            </a:r>
            <a:endParaRPr sz="4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436" name="Google Shape;1436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4606" y="5373216"/>
            <a:ext cx="1198612" cy="1198612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29"/>
          <p:cNvSpPr txBox="1"/>
          <p:nvPr>
            <p:ph type="title"/>
          </p:nvPr>
        </p:nvSpPr>
        <p:spPr>
          <a:xfrm>
            <a:off x="760414" y="3048000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7200"/>
              <a:buFont typeface="Libre Baskerville"/>
              <a:buNone/>
            </a:pPr>
            <a:r>
              <a:rPr lang="en-US" sz="7200" cap="none">
                <a:solidFill>
                  <a:srgbClr val="F99F1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Java EE Roles</a:t>
            </a:r>
            <a:endParaRPr sz="7200" cap="none">
              <a:solidFill>
                <a:srgbClr val="F99F1B"/>
              </a:solidFill>
            </a:endParaRPr>
          </a:p>
        </p:txBody>
      </p:sp>
      <p:pic>
        <p:nvPicPr>
          <p:cNvPr descr="http://wilddiary.com/wp-content/uploads/2015/07/java_1.png" id="1442" name="Google Shape;1442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77" y="188640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downloadicons.net/sites/default/files/developer-icon-17862.png" id="1447" name="Google Shape;1447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4997" y="2413741"/>
            <a:ext cx="1389059" cy="1389059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30"/>
          <p:cNvSpPr/>
          <p:nvPr/>
        </p:nvSpPr>
        <p:spPr>
          <a:xfrm>
            <a:off x="300834" y="930480"/>
            <a:ext cx="13644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Roles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449" name="Google Shape;1449;p1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450" name="Google Shape;1450;p130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51" name="Google Shape;1451;p130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Java EE Roles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52" name="Google Shape;1452;p130"/>
          <p:cNvSpPr/>
          <p:nvPr/>
        </p:nvSpPr>
        <p:spPr>
          <a:xfrm>
            <a:off x="277854" y="1595021"/>
            <a:ext cx="106821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Java EE specification defines several rotes involved in development, deployment, and management of an enterprise application. The rotes include:</a:t>
            </a:r>
            <a:endParaRPr sz="20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53" name="Google Shape;1453;p130"/>
          <p:cNvSpPr/>
          <p:nvPr/>
        </p:nvSpPr>
        <p:spPr>
          <a:xfrm>
            <a:off x="1409380" y="3367445"/>
            <a:ext cx="164573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Application Component Provider</a:t>
            </a:r>
            <a:endParaRPr b="1" sz="1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54" name="Google Shape;1454;p130"/>
          <p:cNvSpPr/>
          <p:nvPr/>
        </p:nvSpPr>
        <p:spPr>
          <a:xfrm>
            <a:off x="4868020" y="3475167"/>
            <a:ext cx="16457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Application Assembler</a:t>
            </a:r>
            <a:endParaRPr b="1" sz="1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55" name="Google Shape;1455;p130"/>
          <p:cNvSpPr/>
          <p:nvPr/>
        </p:nvSpPr>
        <p:spPr>
          <a:xfrm>
            <a:off x="8326660" y="3582889"/>
            <a:ext cx="1645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Deployer</a:t>
            </a:r>
            <a:endParaRPr b="1" sz="1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56" name="Google Shape;1456;p130"/>
          <p:cNvSpPr/>
          <p:nvPr/>
        </p:nvSpPr>
        <p:spPr>
          <a:xfrm>
            <a:off x="1409380" y="5671665"/>
            <a:ext cx="16457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System Administrator</a:t>
            </a:r>
            <a:endParaRPr b="1" sz="1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57" name="Google Shape;1457;p130"/>
          <p:cNvSpPr/>
          <p:nvPr/>
        </p:nvSpPr>
        <p:spPr>
          <a:xfrm>
            <a:off x="4868020" y="5779387"/>
            <a:ext cx="1645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Tool Provider</a:t>
            </a:r>
            <a:endParaRPr b="1" sz="1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58" name="Google Shape;1458;p130"/>
          <p:cNvSpPr/>
          <p:nvPr/>
        </p:nvSpPr>
        <p:spPr>
          <a:xfrm>
            <a:off x="8326660" y="5779387"/>
            <a:ext cx="164573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Product Provider</a:t>
            </a:r>
            <a:endParaRPr b="1" sz="1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plainicon.com/dboard/userprod/2801_745af/prod_thumb/plainicon.com-39581-256px.png" id="1459" name="Google Shape;1459;p1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5297" y="2302907"/>
            <a:ext cx="1147221" cy="1147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www.newskysecurity.com/assets/img/provider_d.png" id="1460" name="Google Shape;1460;p1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13518" y="2393131"/>
            <a:ext cx="837457" cy="966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228840-200.png" id="1461" name="Google Shape;1461;p1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5310" y="4601244"/>
            <a:ext cx="1178143" cy="1178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99475-200.png" id="1462" name="Google Shape;1462;p1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80607" y="4495659"/>
            <a:ext cx="1220559" cy="1220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clipartbest.com/cliparts/4ib/Kz7/4ibKz78KT.gif" id="1463" name="Google Shape;1463;p1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29483" y="4476131"/>
            <a:ext cx="1240087" cy="1240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31"/>
          <p:cNvSpPr/>
          <p:nvPr/>
        </p:nvSpPr>
        <p:spPr>
          <a:xfrm>
            <a:off x="300834" y="930480"/>
            <a:ext cx="834074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Steps for Developing Java Applocations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70" name="Google Shape;1470;p131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71" name="Google Shape;1471;p131"/>
          <p:cNvSpPr txBox="1"/>
          <p:nvPr>
            <p:ph type="title"/>
          </p:nvPr>
        </p:nvSpPr>
        <p:spPr>
          <a:xfrm>
            <a:off x="300834" y="162195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Java EE Roles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72" name="Google Shape;1472;p131"/>
          <p:cNvSpPr/>
          <p:nvPr/>
        </p:nvSpPr>
        <p:spPr>
          <a:xfrm>
            <a:off x="300834" y="1839655"/>
            <a:ext cx="7112702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Steps for developing Java EE applications include: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Designing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Coding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Creating deployment descriptor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Packaging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Assembling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Deployment</a:t>
            </a:r>
            <a:endParaRPr/>
          </a:p>
        </p:txBody>
      </p:sp>
      <p:grpSp>
        <p:nvGrpSpPr>
          <p:cNvPr id="1473" name="Google Shape;1473;p131"/>
          <p:cNvGrpSpPr/>
          <p:nvPr/>
        </p:nvGrpSpPr>
        <p:grpSpPr>
          <a:xfrm>
            <a:off x="6199432" y="2402044"/>
            <a:ext cx="5084348" cy="4086624"/>
            <a:chOff x="5101211" y="1940248"/>
            <a:chExt cx="4840106" cy="3721000"/>
          </a:xfrm>
        </p:grpSpPr>
        <p:sp>
          <p:nvSpPr>
            <p:cNvPr id="1474" name="Google Shape;1474;p131"/>
            <p:cNvSpPr/>
            <p:nvPr/>
          </p:nvSpPr>
          <p:spPr>
            <a:xfrm>
              <a:off x="6124893" y="1940248"/>
              <a:ext cx="3816424" cy="2710454"/>
            </a:xfrm>
            <a:prstGeom prst="cube">
              <a:avLst>
                <a:gd fmla="val 8355" name="adj"/>
              </a:avLst>
            </a:prstGeom>
            <a:solidFill>
              <a:srgbClr val="610786"/>
            </a:solidFill>
            <a:ln cap="flat" cmpd="sng" w="25400">
              <a:solidFill>
                <a:srgbClr val="4205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Deployment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475" name="Google Shape;1475;p131"/>
            <p:cNvSpPr/>
            <p:nvPr/>
          </p:nvSpPr>
          <p:spPr>
            <a:xfrm>
              <a:off x="5877380" y="2528899"/>
              <a:ext cx="3853721" cy="2340261"/>
            </a:xfrm>
            <a:prstGeom prst="cube">
              <a:avLst>
                <a:gd fmla="val 9719" name="adj"/>
              </a:avLst>
            </a:prstGeom>
            <a:solidFill>
              <a:srgbClr val="610786"/>
            </a:solidFill>
            <a:ln cap="flat" cmpd="sng" w="25400">
              <a:solidFill>
                <a:srgbClr val="4205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Assembling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476" name="Google Shape;1476;p131"/>
            <p:cNvSpPr/>
            <p:nvPr/>
          </p:nvSpPr>
          <p:spPr>
            <a:xfrm>
              <a:off x="5662362" y="3127909"/>
              <a:ext cx="3853721" cy="1962219"/>
            </a:xfrm>
            <a:prstGeom prst="cube">
              <a:avLst>
                <a:gd fmla="val 12252" name="adj"/>
              </a:avLst>
            </a:prstGeom>
            <a:solidFill>
              <a:srgbClr val="610786"/>
            </a:solidFill>
            <a:ln cap="flat" cmpd="sng" w="25400">
              <a:solidFill>
                <a:srgbClr val="4205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Packaging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477" name="Google Shape;1477;p131"/>
            <p:cNvSpPr/>
            <p:nvPr/>
          </p:nvSpPr>
          <p:spPr>
            <a:xfrm>
              <a:off x="5518348" y="3699029"/>
              <a:ext cx="3744416" cy="1602179"/>
            </a:xfrm>
            <a:prstGeom prst="cube">
              <a:avLst>
                <a:gd fmla="val 11228" name="adj"/>
              </a:avLst>
            </a:prstGeom>
            <a:solidFill>
              <a:srgbClr val="610786"/>
            </a:solidFill>
            <a:ln cap="flat" cmpd="sng" w="25400">
              <a:solidFill>
                <a:srgbClr val="4205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Creating deployment description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478" name="Google Shape;1478;p131"/>
            <p:cNvSpPr/>
            <p:nvPr/>
          </p:nvSpPr>
          <p:spPr>
            <a:xfrm>
              <a:off x="5302324" y="4348877"/>
              <a:ext cx="3816423" cy="1134024"/>
            </a:xfrm>
            <a:prstGeom prst="cube">
              <a:avLst>
                <a:gd fmla="val 17870" name="adj"/>
              </a:avLst>
            </a:prstGeom>
            <a:solidFill>
              <a:srgbClr val="610786"/>
            </a:solidFill>
            <a:ln cap="flat" cmpd="sng" w="25400">
              <a:solidFill>
                <a:srgbClr val="4205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Coding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479" name="Google Shape;1479;p131"/>
            <p:cNvSpPr/>
            <p:nvPr/>
          </p:nvSpPr>
          <p:spPr>
            <a:xfrm>
              <a:off x="5101211" y="4932116"/>
              <a:ext cx="3816424" cy="729132"/>
            </a:xfrm>
            <a:prstGeom prst="cube">
              <a:avLst>
                <a:gd fmla="val 26157" name="adj"/>
              </a:avLst>
            </a:prstGeom>
            <a:solidFill>
              <a:srgbClr val="610786"/>
            </a:solidFill>
            <a:ln cap="flat" cmpd="sng" w="25400">
              <a:solidFill>
                <a:srgbClr val="4205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Designing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pic>
        <p:nvPicPr>
          <p:cNvPr descr="http://wilddiary.com/wp-content/uploads/2015/07/java_1.png" id="1480" name="Google Shape;1480;p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08330" y="5274119"/>
            <a:ext cx="1205604" cy="1205604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32"/>
          <p:cNvSpPr/>
          <p:nvPr/>
        </p:nvSpPr>
        <p:spPr>
          <a:xfrm>
            <a:off x="300834" y="1015861"/>
            <a:ext cx="42883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Latest Development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87" name="Google Shape;1487;p132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88" name="Google Shape;1488;p132"/>
          <p:cNvSpPr txBox="1"/>
          <p:nvPr>
            <p:ph type="title"/>
          </p:nvPr>
        </p:nvSpPr>
        <p:spPr>
          <a:xfrm>
            <a:off x="300915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Java EE Roles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89" name="Google Shape;1489;p132"/>
          <p:cNvSpPr/>
          <p:nvPr/>
        </p:nvSpPr>
        <p:spPr>
          <a:xfrm>
            <a:off x="385625" y="2035630"/>
            <a:ext cx="1057433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Let us take a look at the latest developments in Java EE.</a:t>
            </a:r>
            <a:endParaRPr/>
          </a:p>
        </p:txBody>
      </p:sp>
      <p:pic>
        <p:nvPicPr>
          <p:cNvPr descr="http://wilddiary.com/wp-content/uploads/2015/07/java_1.png" id="1490" name="Google Shape;1490;p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48123" y="5687363"/>
            <a:ext cx="801305" cy="801305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491" name="Google Shape;1491;p132"/>
          <p:cNvSpPr/>
          <p:nvPr/>
        </p:nvSpPr>
        <p:spPr>
          <a:xfrm>
            <a:off x="0" y="3280397"/>
            <a:ext cx="2043212" cy="1660771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Annotations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92" name="Google Shape;1492;p132"/>
          <p:cNvSpPr/>
          <p:nvPr/>
        </p:nvSpPr>
        <p:spPr>
          <a:xfrm>
            <a:off x="2029123" y="3280397"/>
            <a:ext cx="2043212" cy="1660771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EJB 3.0 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93" name="Google Shape;1493;p132"/>
          <p:cNvSpPr/>
          <p:nvPr/>
        </p:nvSpPr>
        <p:spPr>
          <a:xfrm>
            <a:off x="4058246" y="3280397"/>
            <a:ext cx="2043212" cy="1660771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 Services Interoperability Technology (WSIT)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94" name="Google Shape;1494;p132"/>
          <p:cNvSpPr/>
          <p:nvPr/>
        </p:nvSpPr>
        <p:spPr>
          <a:xfrm>
            <a:off x="6087369" y="3280397"/>
            <a:ext cx="2043212" cy="1660771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Small Footprint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95" name="Google Shape;1495;p132"/>
          <p:cNvSpPr/>
          <p:nvPr/>
        </p:nvSpPr>
        <p:spPr>
          <a:xfrm>
            <a:off x="8116492" y="3280397"/>
            <a:ext cx="2043212" cy="1660771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Glassfish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96" name="Google Shape;1496;p132"/>
          <p:cNvSpPr/>
          <p:nvPr/>
        </p:nvSpPr>
        <p:spPr>
          <a:xfrm>
            <a:off x="10145613" y="3280397"/>
            <a:ext cx="2043212" cy="1660771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Weblogic 10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33"/>
          <p:cNvSpPr/>
          <p:nvPr/>
        </p:nvSpPr>
        <p:spPr>
          <a:xfrm>
            <a:off x="827853" y="692695"/>
            <a:ext cx="49918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Latest Development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03" name="Google Shape;1503;p133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04" name="Google Shape;1504;p133"/>
          <p:cNvSpPr txBox="1"/>
          <p:nvPr>
            <p:ph type="title"/>
          </p:nvPr>
        </p:nvSpPr>
        <p:spPr>
          <a:xfrm>
            <a:off x="827853" y="0"/>
            <a:ext cx="5809766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Java EE Roles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05" name="Google Shape;1505;p133"/>
          <p:cNvSpPr/>
          <p:nvPr/>
        </p:nvSpPr>
        <p:spPr>
          <a:xfrm>
            <a:off x="252731" y="1354102"/>
            <a:ext cx="3268599" cy="1000304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Annotations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06" name="Google Shape;1506;p133"/>
          <p:cNvSpPr/>
          <p:nvPr/>
        </p:nvSpPr>
        <p:spPr>
          <a:xfrm>
            <a:off x="4185374" y="1354102"/>
            <a:ext cx="3268599" cy="1000304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EJB 3.0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07" name="Google Shape;1507;p133"/>
          <p:cNvSpPr/>
          <p:nvPr/>
        </p:nvSpPr>
        <p:spPr>
          <a:xfrm>
            <a:off x="8096801" y="1354102"/>
            <a:ext cx="3268599" cy="1000304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 Services Interoperability Technology (WSIT)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08" name="Google Shape;1508;p133"/>
          <p:cNvSpPr/>
          <p:nvPr/>
        </p:nvSpPr>
        <p:spPr>
          <a:xfrm>
            <a:off x="242148" y="2420888"/>
            <a:ext cx="3289764" cy="4063350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Annotations are like meta-tags that can be added to the code, and apply them to package declaration, type declarations, constructors, methods, fields, parameters, and variables. As a result, helpful ways can be found to indicate whether the methods are dependent on other methods, or they are incomplete, or the classes have references to other classes, and so on.</a:t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09" name="Google Shape;1509;p133"/>
          <p:cNvSpPr/>
          <p:nvPr/>
        </p:nvSpPr>
        <p:spPr>
          <a:xfrm>
            <a:off x="4174791" y="2420888"/>
            <a:ext cx="3289764" cy="4063350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EJB 3.0 makes another attempt at delivering that promise by EJB's complexity for developers.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Features are: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No need of home &amp; object interface.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No need of any component interface,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Makes use of Java annotations.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The Java Persistence API (JPA).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Simplifies APIs to make flexible for bean's environment.</a:t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10" name="Google Shape;1510;p133"/>
          <p:cNvSpPr/>
          <p:nvPr/>
        </p:nvSpPr>
        <p:spPr>
          <a:xfrm>
            <a:off x="8086218" y="2420888"/>
            <a:ext cx="3289764" cy="4063350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 Services Interoperability Technology (WSIT) is an open- source project started by Sun Microsystems to develop the next-generation of web service technologies. It provides interoperability between Java Web Services, and Microsoft's Windows Communication Foundation (WCF).</a:t>
            </a:r>
            <a:endParaRPr sz="16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511" name="Google Shape;1511;p1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48" y="0"/>
            <a:ext cx="801305" cy="801305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134"/>
          <p:cNvSpPr/>
          <p:nvPr/>
        </p:nvSpPr>
        <p:spPr>
          <a:xfrm>
            <a:off x="827853" y="692695"/>
            <a:ext cx="49918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Latest Development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18" name="Google Shape;1518;p134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19" name="Google Shape;1519;p134"/>
          <p:cNvSpPr txBox="1"/>
          <p:nvPr>
            <p:ph type="title"/>
          </p:nvPr>
        </p:nvSpPr>
        <p:spPr>
          <a:xfrm>
            <a:off x="827853" y="0"/>
            <a:ext cx="5809766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Java EE Roles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20" name="Google Shape;1520;p134"/>
          <p:cNvSpPr/>
          <p:nvPr/>
        </p:nvSpPr>
        <p:spPr>
          <a:xfrm>
            <a:off x="252731" y="1689351"/>
            <a:ext cx="3268599" cy="500152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Small Footprint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21" name="Google Shape;1521;p134"/>
          <p:cNvSpPr/>
          <p:nvPr/>
        </p:nvSpPr>
        <p:spPr>
          <a:xfrm>
            <a:off x="4185374" y="1689351"/>
            <a:ext cx="3268599" cy="500152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Glassfish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22" name="Google Shape;1522;p134"/>
          <p:cNvSpPr/>
          <p:nvPr/>
        </p:nvSpPr>
        <p:spPr>
          <a:xfrm>
            <a:off x="8096801" y="1689351"/>
            <a:ext cx="3268599" cy="500152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  <a:effectLst>
            <a:reflection blurRad="0" dir="0" dist="0" endA="0" endPos="22000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Weblogic 10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23" name="Google Shape;1523;p134"/>
          <p:cNvSpPr/>
          <p:nvPr/>
        </p:nvSpPr>
        <p:spPr>
          <a:xfrm>
            <a:off x="222906" y="2396097"/>
            <a:ext cx="3289764" cy="4063350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With a small memory footprint and fast execution speeds, this API is great for straight-through transformations of data into XML, or out of it.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24" name="Google Shape;1524;p134"/>
          <p:cNvSpPr/>
          <p:nvPr/>
        </p:nvSpPr>
        <p:spPr>
          <a:xfrm>
            <a:off x="4155549" y="2396097"/>
            <a:ext cx="3289764" cy="4063350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GlassFish is an open source application server project led by Sun Microsystems for the Java EE platform.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It is based on source code donated by Sun and Oracle Corporation’s TopLink persistence system.</a:t>
            </a:r>
            <a:endParaRPr sz="18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25" name="Google Shape;1525;p134"/>
          <p:cNvSpPr/>
          <p:nvPr/>
        </p:nvSpPr>
        <p:spPr>
          <a:xfrm>
            <a:off x="8066976" y="2396097"/>
            <a:ext cx="3289764" cy="4063350"/>
          </a:xfrm>
          <a:prstGeom prst="roundRect">
            <a:avLst>
              <a:gd fmla="val 16667" name="adj"/>
            </a:avLst>
          </a:prstGeom>
          <a:solidFill>
            <a:srgbClr val="8A4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Weblogic 10 Server is an enterprise-ready Java EE application server that supports the deployment of mission- critical applications in a robust, secure, highly available, and scalable environment. It is an Ideal foundation for building applications based on Service Oriented Architectures (SOA).</a:t>
            </a:r>
            <a:endParaRPr/>
          </a:p>
        </p:txBody>
      </p:sp>
      <p:pic>
        <p:nvPicPr>
          <p:cNvPr descr="http://wilddiary.com/wp-content/uploads/2015/07/java_1.png" id="1526" name="Google Shape;1526;p1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48" y="0"/>
            <a:ext cx="801305" cy="801305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35"/>
          <p:cNvSpPr/>
          <p:nvPr/>
        </p:nvSpPr>
        <p:spPr>
          <a:xfrm>
            <a:off x="304400" y="702447"/>
            <a:ext cx="254428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99F1B"/>
                </a:solidFill>
                <a:latin typeface="Arimo"/>
                <a:ea typeface="Arimo"/>
                <a:cs typeface="Arimo"/>
                <a:sym typeface="Arimo"/>
              </a:rPr>
              <a:t>References</a:t>
            </a:r>
            <a:endParaRPr b="1" sz="3600">
              <a:solidFill>
                <a:srgbClr val="F99F1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33" name="Google Shape;1533;p135"/>
          <p:cNvSpPr/>
          <p:nvPr/>
        </p:nvSpPr>
        <p:spPr>
          <a:xfrm>
            <a:off x="9731101" y="6488668"/>
            <a:ext cx="2457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34" name="Google Shape;1534;p135"/>
          <p:cNvSpPr txBox="1"/>
          <p:nvPr>
            <p:ph type="title"/>
          </p:nvPr>
        </p:nvSpPr>
        <p:spPr>
          <a:xfrm>
            <a:off x="304772" y="0"/>
            <a:ext cx="6336704" cy="76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800"/>
              <a:buFont typeface="Libre Baskerville"/>
              <a:buNone/>
            </a:pPr>
            <a:r>
              <a:rPr b="1" lang="en-US" sz="48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Java EE Roles</a:t>
            </a:r>
            <a:endParaRPr b="1" sz="48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35" name="Google Shape;1535;p135"/>
          <p:cNvSpPr/>
          <p:nvPr/>
        </p:nvSpPr>
        <p:spPr>
          <a:xfrm>
            <a:off x="304400" y="1265909"/>
            <a:ext cx="9174388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Everything is available at: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http://java.sun.com/Java 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Blueprints: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A Java Series book: Designing Enterprise Applications with the Java™ 2 Platform Enterprise Edition (downloadable).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A sample application "Java Pet Store" Demo: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http://java.sun.com/Java EE/blueprints</a:t>
            </a:r>
            <a:endParaRPr b="0" i="0" sz="2400" u="none" cap="none" strike="noStrike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Simplified Java EE guide available at: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htlp://java.sun.comJJava EE/white/Java EE_guide.pdf</a:t>
            </a:r>
            <a:endParaRPr b="0" i="0" sz="2400" u="none" cap="none" strike="noStrike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Useful enterprise Java URLs: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www.theserverside.com</a:t>
            </a:r>
            <a:endParaRPr sz="24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www.onjava.com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www.javaworld.com</a:t>
            </a:r>
            <a:endParaRPr/>
          </a:p>
        </p:txBody>
      </p:sp>
      <p:pic>
        <p:nvPicPr>
          <p:cNvPr descr="http://wilddiary.com/wp-content/uploads/2015/07/java_1.png" id="1536" name="Google Shape;1536;p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58562" y="5876921"/>
            <a:ext cx="602802" cy="602802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136"/>
          <p:cNvSpPr txBox="1"/>
          <p:nvPr/>
        </p:nvSpPr>
        <p:spPr>
          <a:xfrm>
            <a:off x="401107" y="914402"/>
            <a:ext cx="11770889" cy="5943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aseline="-25000" sz="3200">
              <a:solidFill>
                <a:srgbClr val="610786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43" name="Google Shape;1543;p136"/>
          <p:cNvSpPr txBox="1"/>
          <p:nvPr/>
        </p:nvSpPr>
        <p:spPr>
          <a:xfrm>
            <a:off x="2014403" y="764704"/>
            <a:ext cx="6984775" cy="4537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6600"/>
              <a:buFont typeface="Libre Baskerville"/>
              <a:buNone/>
            </a:pPr>
            <a:r>
              <a:rPr b="1" lang="en-US" sz="6600">
                <a:solidFill>
                  <a:srgbClr val="61078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Knowledge Check</a:t>
            </a:r>
            <a:endParaRPr b="1" sz="6600">
              <a:solidFill>
                <a:srgbClr val="610786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44" name="Google Shape;1544;p136"/>
          <p:cNvSpPr/>
          <p:nvPr/>
        </p:nvSpPr>
        <p:spPr>
          <a:xfrm>
            <a:off x="3690201" y="5127659"/>
            <a:ext cx="3633180" cy="1038019"/>
          </a:xfrm>
          <a:prstGeom prst="roundRect">
            <a:avLst>
              <a:gd fmla="val 16667" name="adj"/>
            </a:avLst>
          </a:prstGeom>
          <a:solidFill>
            <a:srgbClr val="F99F1B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Start</a:t>
            </a:r>
            <a:endParaRPr b="1" sz="40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cliparts.co/cliparts/zcX/eRE/zcXeREgMi.png" id="1545" name="Google Shape;1545;p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3381" y="3912175"/>
            <a:ext cx="1991855" cy="1908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hscway.com.au/Img/OnlineIcon_TestResult_Orange.png" id="1546" name="Google Shape;1546;p1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9576" y="5051355"/>
            <a:ext cx="119062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136"/>
          <p:cNvSpPr/>
          <p:nvPr/>
        </p:nvSpPr>
        <p:spPr>
          <a:xfrm>
            <a:off x="10236046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548" name="Google Shape;1548;p1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45769" y="2182772"/>
            <a:ext cx="1784869" cy="1784869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37"/>
          <p:cNvSpPr txBox="1"/>
          <p:nvPr>
            <p:ph type="title"/>
          </p:nvPr>
        </p:nvSpPr>
        <p:spPr>
          <a:xfrm>
            <a:off x="405780" y="1365777"/>
            <a:ext cx="10257217" cy="1343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10786"/>
              </a:buClr>
              <a:buSzPts val="4400"/>
              <a:buFont typeface="Calibri"/>
              <a:buNone/>
            </a:pPr>
            <a:r>
              <a:rPr lang="en-US">
                <a:solidFill>
                  <a:srgbClr val="610786"/>
                </a:solidFill>
              </a:rPr>
              <a:t>_____deploys the application in the running operational environment.</a:t>
            </a:r>
            <a:endParaRPr>
              <a:solidFill>
                <a:srgbClr val="610786"/>
              </a:solidFill>
            </a:endParaRPr>
          </a:p>
        </p:txBody>
      </p:sp>
      <p:sp>
        <p:nvSpPr>
          <p:cNvPr id="1554" name="Google Shape;1554;p137"/>
          <p:cNvSpPr/>
          <p:nvPr/>
        </p:nvSpPr>
        <p:spPr>
          <a:xfrm>
            <a:off x="2782044" y="2709148"/>
            <a:ext cx="5739503" cy="647844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Bean Developer</a:t>
            </a:r>
            <a:endParaRPr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55" name="Google Shape;1555;p137"/>
          <p:cNvSpPr/>
          <p:nvPr/>
        </p:nvSpPr>
        <p:spPr>
          <a:xfrm>
            <a:off x="10210153" y="6550223"/>
            <a:ext cx="19527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10786"/>
                </a:solidFill>
                <a:latin typeface="Arial"/>
                <a:ea typeface="Arial"/>
                <a:cs typeface="Arial"/>
                <a:sym typeface="Arial"/>
              </a:rPr>
              <a:t>www.prolearninghub.com</a:t>
            </a:r>
            <a:endParaRPr sz="1400">
              <a:solidFill>
                <a:srgbClr val="6107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ilddiary.com/wp-content/uploads/2015/07/java_1.png" id="1556" name="Google Shape;1556;p1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9962" y="5625499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  <p:sp>
        <p:nvSpPr>
          <p:cNvPr id="1557" name="Google Shape;1557;p137"/>
          <p:cNvSpPr/>
          <p:nvPr/>
        </p:nvSpPr>
        <p:spPr>
          <a:xfrm>
            <a:off x="2782044" y="3681265"/>
            <a:ext cx="5739503" cy="647844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Application Assembler</a:t>
            </a:r>
            <a:endParaRPr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58" name="Google Shape;1558;p137"/>
          <p:cNvSpPr/>
          <p:nvPr/>
        </p:nvSpPr>
        <p:spPr>
          <a:xfrm>
            <a:off x="2782044" y="4653382"/>
            <a:ext cx="5739503" cy="647844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Bean Deployer</a:t>
            </a:r>
            <a:endParaRPr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59" name="Google Shape;1559;p137"/>
          <p:cNvSpPr/>
          <p:nvPr/>
        </p:nvSpPr>
        <p:spPr>
          <a:xfrm>
            <a:off x="2782044" y="5625499"/>
            <a:ext cx="5739503" cy="647844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System Administrator</a:t>
            </a:r>
            <a:endParaRPr sz="1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138"/>
          <p:cNvSpPr/>
          <p:nvPr/>
        </p:nvSpPr>
        <p:spPr>
          <a:xfrm>
            <a:off x="2132012" y="2971800"/>
            <a:ext cx="7543801" cy="2039161"/>
          </a:xfrm>
          <a:prstGeom prst="roundRect">
            <a:avLst>
              <a:gd fmla="val 16667" name="adj"/>
            </a:avLst>
          </a:prstGeom>
          <a:solidFill>
            <a:srgbClr val="995CB4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2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Results</a:t>
            </a:r>
            <a:endParaRPr sz="48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http://wilddiary.com/wp-content/uploads/2015/07/java_1.png" id="1565" name="Google Shape;1565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4606" y="5373216"/>
            <a:ext cx="1198612" cy="1198612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139"/>
          <p:cNvSpPr txBox="1"/>
          <p:nvPr>
            <p:ph type="title"/>
          </p:nvPr>
        </p:nvSpPr>
        <p:spPr>
          <a:xfrm>
            <a:off x="684212" y="3284984"/>
            <a:ext cx="5914256" cy="1866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9600"/>
              <a:buFont typeface="Libre Baskerville"/>
              <a:buNone/>
            </a:pPr>
            <a:r>
              <a:rPr lang="en-US" sz="9600" cap="none">
                <a:solidFill>
                  <a:srgbClr val="F99F1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Summary</a:t>
            </a:r>
            <a:endParaRPr sz="9600" cap="none">
              <a:solidFill>
                <a:srgbClr val="F99F1B"/>
              </a:solidFill>
            </a:endParaRPr>
          </a:p>
        </p:txBody>
      </p:sp>
      <p:pic>
        <p:nvPicPr>
          <p:cNvPr descr="http://wilddiary.com/wp-content/uploads/2015/07/java_1.png" id="1571" name="Google Shape;1571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77" y="188640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140"/>
          <p:cNvSpPr/>
          <p:nvPr/>
        </p:nvSpPr>
        <p:spPr>
          <a:xfrm>
            <a:off x="0" y="62739"/>
            <a:ext cx="1019886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Summary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140"/>
          <p:cNvSpPr/>
          <p:nvPr/>
        </p:nvSpPr>
        <p:spPr>
          <a:xfrm>
            <a:off x="761406" y="1661277"/>
            <a:ext cx="8676053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In this course, you have learnt to: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Define need for Java EE.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List different editions in Java.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Explain different types of enterprise tiers.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Identify different layers in multi-tired distributed programming.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Describe Java EE platform architecture.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List specifications of Java EE.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List components of Java EE architecture.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Explain Java EE APIs &amp; technologies.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Describe various roles in Java EE.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99F1B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610786"/>
                </a:solidFill>
                <a:latin typeface="Arimo"/>
                <a:ea typeface="Arimo"/>
                <a:cs typeface="Arimo"/>
                <a:sym typeface="Arimo"/>
              </a:rPr>
              <a:t>Explain about the latest developments in Java EE.</a:t>
            </a:r>
            <a:endParaRPr/>
          </a:p>
        </p:txBody>
      </p:sp>
      <p:pic>
        <p:nvPicPr>
          <p:cNvPr descr="http://wilddiary.com/wp-content/uploads/2015/07/java_1.png" id="1578" name="Google Shape;1578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270" y="148158"/>
            <a:ext cx="924271" cy="924271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0" dist="0" endA="0" endPos="33000" kx="0" rotWithShape="0" algn="bl" stA="34000" stPos="0" sy="-100000" ky="0"/>
          </a:effectLst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57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1_Prolearning-Java Part 2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learning-Java Part 2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Prolearning-Java 1-53 Part 1 don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Prolearning-Java 1-53 Part 1 don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rolearning-Java 1-53 Part 1 don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