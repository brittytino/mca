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9144000"/>
  <p:notesSz cx="6858000" cy="9144000"/>
  <p:embeddedFontLst>
    <p:embeddedFont>
      <p:font typeface="Garamond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Garamond-bold.fntdata"/><Relationship Id="rId20" Type="http://schemas.openxmlformats.org/officeDocument/2006/relationships/slide" Target="slides/slide15.xml"/><Relationship Id="rId42" Type="http://schemas.openxmlformats.org/officeDocument/2006/relationships/font" Target="fonts/Garamond-boldItalic.fntdata"/><Relationship Id="rId41" Type="http://schemas.openxmlformats.org/officeDocument/2006/relationships/font" Target="fonts/Garamond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Garamond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7F7F7F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685800" y="1066800"/>
            <a:ext cx="77724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br>
              <a:rPr lang="en-US"/>
            </a:br>
            <a:r>
              <a:rPr lang="en-US"/>
              <a:t>NoSQL Databases</a:t>
            </a:r>
            <a:br>
              <a:rPr lang="en-US"/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Outline</a:t>
            </a:r>
            <a:endParaRPr/>
          </a:p>
        </p:txBody>
      </p:sp>
      <p:grpSp>
        <p:nvGrpSpPr>
          <p:cNvPr id="94" name="Google Shape;94;p14"/>
          <p:cNvGrpSpPr/>
          <p:nvPr/>
        </p:nvGrpSpPr>
        <p:grpSpPr>
          <a:xfrm>
            <a:off x="-5249168" y="398765"/>
            <a:ext cx="13303907" cy="6974870"/>
            <a:chOff x="-5858768" y="-896635"/>
            <a:chExt cx="13303907" cy="6974870"/>
          </a:xfrm>
        </p:grpSpPr>
        <p:sp>
          <p:nvSpPr>
            <p:cNvPr id="95" name="Google Shape;95;p14"/>
            <p:cNvSpPr/>
            <p:nvPr/>
          </p:nvSpPr>
          <p:spPr>
            <a:xfrm>
              <a:off x="-5858768" y="-896635"/>
              <a:ext cx="6974870" cy="6974870"/>
            </a:xfrm>
            <a:prstGeom prst="blockArc">
              <a:avLst>
                <a:gd fmla="val 18900000" name="adj1"/>
                <a:gd fmla="val 2700000" name="adj2"/>
                <a:gd fmla="val 310" name="adj3"/>
              </a:avLst>
            </a:prstGeom>
            <a:noFill/>
            <a:ln cap="flat" cmpd="sng" w="25400">
              <a:solidFill>
                <a:srgbClr val="3B64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584189" y="398361"/>
              <a:ext cx="6860950" cy="797137"/>
            </a:xfrm>
            <a:prstGeom prst="rect">
              <a:avLst/>
            </a:prstGeom>
            <a:solidFill>
              <a:srgbClr val="0070C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584189" y="398361"/>
              <a:ext cx="6860950" cy="797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1100" lIns="632725" spcFirstLastPara="1" rIns="71100" wrap="square" tIns="71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Types of Data</a:t>
              </a:r>
              <a:endPara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85978" y="298719"/>
              <a:ext cx="996421" cy="996421"/>
            </a:xfrm>
            <a:prstGeom prst="ellipse">
              <a:avLst/>
            </a:prstGeom>
            <a:solidFill>
              <a:srgbClr val="0070C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1041206" y="1594274"/>
              <a:ext cx="6403933" cy="797137"/>
            </a:xfrm>
            <a:prstGeom prst="rect">
              <a:avLst/>
            </a:prstGeom>
            <a:solidFill>
              <a:srgbClr val="FFC0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4"/>
            <p:cNvSpPr txBox="1"/>
            <p:nvPr/>
          </p:nvSpPr>
          <p:spPr>
            <a:xfrm>
              <a:off x="1041206" y="1594274"/>
              <a:ext cx="6403933" cy="797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6025" lIns="632725" spcFirstLastPara="1" rIns="66025" wrap="square" tIns="660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Scaling Databases</a:t>
              </a:r>
              <a:endPara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542995" y="1494632"/>
              <a:ext cx="996421" cy="996421"/>
            </a:xfrm>
            <a:prstGeom prst="ellipse">
              <a:avLst/>
            </a:prstGeom>
            <a:solidFill>
              <a:srgbClr val="FFC0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1041206" y="2790187"/>
              <a:ext cx="6403933" cy="797137"/>
            </a:xfrm>
            <a:prstGeom prst="rect">
              <a:avLst/>
            </a:prstGeom>
            <a:solidFill>
              <a:srgbClr val="C000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 txBox="1"/>
            <p:nvPr/>
          </p:nvSpPr>
          <p:spPr>
            <a:xfrm>
              <a:off x="1041206" y="2790187"/>
              <a:ext cx="6403933" cy="797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1100" lIns="632725" spcFirstLastPara="1" rIns="71100" wrap="square" tIns="71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The CAP Theorem and the BASE Properties</a:t>
              </a:r>
              <a:endPara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542995" y="2690545"/>
              <a:ext cx="996421" cy="996421"/>
            </a:xfrm>
            <a:prstGeom prst="ellipse">
              <a:avLst/>
            </a:prstGeom>
            <a:solidFill>
              <a:srgbClr val="C0000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584189" y="3986101"/>
              <a:ext cx="6860950" cy="797137"/>
            </a:xfrm>
            <a:prstGeom prst="rect">
              <a:avLst/>
            </a:prstGeom>
            <a:solidFill>
              <a:srgbClr val="92D05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 txBox="1"/>
            <p:nvPr/>
          </p:nvSpPr>
          <p:spPr>
            <a:xfrm>
              <a:off x="584189" y="3986101"/>
              <a:ext cx="6860950" cy="797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1100" lIns="632725" spcFirstLastPara="1" rIns="71100" wrap="square" tIns="711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NoSQL Databases</a:t>
              </a:r>
              <a:endPara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85978" y="3886459"/>
              <a:ext cx="996421" cy="996421"/>
            </a:xfrm>
            <a:prstGeom prst="ellipse">
              <a:avLst/>
            </a:prstGeom>
            <a:solidFill>
              <a:srgbClr val="92D050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14"/>
          <p:cNvSpPr txBox="1"/>
          <p:nvPr/>
        </p:nvSpPr>
        <p:spPr>
          <a:xfrm>
            <a:off x="8076078" y="1559004"/>
            <a:ext cx="1067921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685800" lvl="0" marL="685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Noto Sans Symbols"/>
              <a:buChar char="✔"/>
            </a:pPr>
            <a:r>
              <a:rPr b="0" i="0" lang="en-US" sz="6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Data</a:t>
            </a:r>
            <a:endParaRPr/>
          </a:p>
        </p:txBody>
      </p:sp>
      <p:sp>
        <p:nvSpPr>
          <p:cNvPr id="114" name="Google Shape;114;p15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Data can be broadly classified into four types:</a:t>
            </a:r>
            <a:endParaRPr/>
          </a:p>
          <a:p>
            <a:pPr indent="-514350" lvl="1" marL="971550" rtl="0" algn="l">
              <a:spcBef>
                <a:spcPts val="520"/>
              </a:spcBef>
              <a:spcAft>
                <a:spcPts val="0"/>
              </a:spcAft>
              <a:buClr>
                <a:srgbClr val="0070C0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rgbClr val="0070C0"/>
                </a:solidFill>
              </a:rPr>
              <a:t>Structured Data: 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Have a predefined model, which organizes data into a form that is relatively easy to store, process, retrieve </a:t>
            </a:r>
            <a:br>
              <a:rPr lang="en-US"/>
            </a:br>
            <a:r>
              <a:rPr lang="en-US"/>
              <a:t>and manage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E.g., relational data</a:t>
            </a:r>
            <a:endParaRPr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514350" lvl="1" marL="971550" rtl="0" algn="l">
              <a:spcBef>
                <a:spcPts val="520"/>
              </a:spcBef>
              <a:spcAft>
                <a:spcPts val="0"/>
              </a:spcAft>
              <a:buClr>
                <a:srgbClr val="0070C0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rgbClr val="0070C0"/>
                </a:solidFill>
              </a:rPr>
              <a:t>Unstructured Data: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Opposite of structured data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E.g., Flat binary files containing text, video or audio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u="sng"/>
              <a:t>Note</a:t>
            </a:r>
            <a:r>
              <a:rPr lang="en-US"/>
              <a:t>: data is not completely devoid of a structure (e.g., an audio file may still have an encoding structure and some metadata associated with it)</a:t>
            </a:r>
            <a:endParaRPr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Data</a:t>
            </a:r>
            <a:endParaRPr/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Data can be broadly classified into four types:</a:t>
            </a:r>
            <a:endParaRPr/>
          </a:p>
          <a:p>
            <a:pPr indent="-514350" lvl="1" marL="971550" rtl="0" algn="l">
              <a:spcBef>
                <a:spcPts val="520"/>
              </a:spcBef>
              <a:spcAft>
                <a:spcPts val="0"/>
              </a:spcAft>
              <a:buClr>
                <a:srgbClr val="0070C0"/>
              </a:buClr>
              <a:buSzPts val="2600"/>
              <a:buFont typeface="Calibri"/>
              <a:buAutoNum type="arabicPeriod" startAt="3"/>
            </a:pPr>
            <a:r>
              <a:rPr lang="en-US" sz="2600">
                <a:solidFill>
                  <a:srgbClr val="0070C0"/>
                </a:solidFill>
              </a:rPr>
              <a:t>Dynamic Data: 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Data that changes relatively frequently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E.g., office documents and transactional entries in a financial database</a:t>
            </a:r>
            <a:endParaRPr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514350" lvl="1" marL="971550" rtl="0" algn="l">
              <a:spcBef>
                <a:spcPts val="520"/>
              </a:spcBef>
              <a:spcAft>
                <a:spcPts val="0"/>
              </a:spcAft>
              <a:buClr>
                <a:srgbClr val="0070C0"/>
              </a:buClr>
              <a:buSzPts val="2600"/>
              <a:buFont typeface="Calibri"/>
              <a:buAutoNum type="arabicPeriod" startAt="3"/>
            </a:pPr>
            <a:r>
              <a:rPr lang="en-US" sz="2600">
                <a:solidFill>
                  <a:srgbClr val="0070C0"/>
                </a:solidFill>
              </a:rPr>
              <a:t>Static Data: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Opposite of dynamic data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E.g., Medical imaging data from MRI or CT scans</a:t>
            </a:r>
            <a:endParaRPr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Classifying Data?</a:t>
            </a:r>
            <a:endParaRPr/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304800" y="15240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sz="2600"/>
              <a:t>Segmenting data into one of the following 4 quadrants can help in designing and developing a pertaining storage solution </a:t>
            </a:r>
            <a:endParaRPr/>
          </a:p>
          <a:p>
            <a:pPr indent="-178435" lvl="0" marL="3429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800"/>
          </a:p>
          <a:p>
            <a:pPr indent="-178435" lvl="0" marL="3429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800"/>
          </a:p>
          <a:p>
            <a:pPr indent="-178435" lvl="0" marL="3429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800"/>
          </a:p>
          <a:p>
            <a:pPr indent="-178435" lvl="0" marL="3429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800"/>
          </a:p>
          <a:p>
            <a:pPr indent="-178435" lvl="0" marL="3429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800"/>
          </a:p>
          <a:p>
            <a:pPr indent="-178435" lvl="0" marL="3429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sz="2600"/>
              <a:t>Relational databases are usually used for structured data</a:t>
            </a:r>
            <a:endParaRPr/>
          </a:p>
          <a:p>
            <a:pPr indent="-190182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600"/>
          </a:p>
          <a:p>
            <a:pPr indent="-342900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sz="2600"/>
              <a:t>File systems or </a:t>
            </a:r>
            <a:r>
              <a:rPr i="1" lang="en-US" sz="2600">
                <a:solidFill>
                  <a:srgbClr val="000099"/>
                </a:solidFill>
              </a:rPr>
              <a:t>NoSQL databases</a:t>
            </a:r>
            <a:r>
              <a:rPr lang="en-US" sz="2600"/>
              <a:t> can be used for (static), unstructured data </a:t>
            </a:r>
            <a:endParaRPr/>
          </a:p>
          <a:p>
            <a:pPr indent="-122872" lvl="2" marL="114300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1800"/>
          </a:p>
          <a:p>
            <a:pPr indent="-180022" lvl="1" marL="74295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127" name="Google Shape;127;p17"/>
          <p:cNvSpPr/>
          <p:nvPr/>
        </p:nvSpPr>
        <p:spPr>
          <a:xfrm>
            <a:off x="2133600" y="2719864"/>
            <a:ext cx="2667000" cy="942945"/>
          </a:xfrm>
          <a:prstGeom prst="rect">
            <a:avLst/>
          </a:prstGeom>
          <a:solidFill>
            <a:srgbClr val="7030A0"/>
          </a:solidFill>
          <a:ln cap="flat" cmpd="sng" w="2540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Media Production, eCAD, mCAD, Office Docs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4953000" y="2719864"/>
            <a:ext cx="2667000" cy="942945"/>
          </a:xfrm>
          <a:prstGeom prst="rect">
            <a:avLst/>
          </a:prstGeom>
          <a:solidFill>
            <a:srgbClr val="0070C0"/>
          </a:solidFill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Media Archive, Broadcast, Medical Imaging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2133600" y="3786664"/>
            <a:ext cx="2667000" cy="942945"/>
          </a:xfrm>
          <a:prstGeom prst="rect">
            <a:avLst/>
          </a:prstGeom>
          <a:solidFill>
            <a:srgbClr val="FFC000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Transaction Systems, ERP, CRM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4953000" y="3770253"/>
            <a:ext cx="2667000" cy="935111"/>
          </a:xfrm>
          <a:prstGeom prst="rect">
            <a:avLst/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BI, Data Warehousing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2756255" y="2333655"/>
            <a:ext cx="10166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Dynamic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 rot="-5400000">
            <a:off x="1159142" y="2962363"/>
            <a:ext cx="14507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Unstructured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281176" y="4153555"/>
            <a:ext cx="11968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Structured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5820154" y="2286000"/>
            <a:ext cx="71570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8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Scaling Traditional Databases</a:t>
            </a:r>
            <a:endParaRPr/>
          </a:p>
        </p:txBody>
      </p:sp>
      <p:sp>
        <p:nvSpPr>
          <p:cNvPr id="140" name="Google Shape;140;p18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Traditional RDBMSs can be either scaled: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rgbClr val="C00000"/>
                </a:solidFill>
              </a:rPr>
              <a:t>Vertically</a:t>
            </a:r>
            <a:r>
              <a:rPr lang="en-US" sz="2600"/>
              <a:t> (or </a:t>
            </a:r>
            <a:r>
              <a:rPr lang="en-US" sz="2600">
                <a:solidFill>
                  <a:srgbClr val="C00000"/>
                </a:solidFill>
              </a:rPr>
              <a:t>Up</a:t>
            </a:r>
            <a:r>
              <a:rPr lang="en-US" sz="2600"/>
              <a:t>)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Can be achieved by hardware upgrades (e.g., faster CPU, more memory, or larger disk)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Limited by the amount of CPU, RAM and disk that can be configured on a single machine</a:t>
            </a:r>
            <a:endParaRPr/>
          </a:p>
          <a:p>
            <a:pPr indent="-762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rgbClr val="C00000"/>
                </a:solidFill>
              </a:rPr>
              <a:t>Horizontally</a:t>
            </a:r>
            <a:r>
              <a:rPr lang="en-US" sz="2600"/>
              <a:t> (or </a:t>
            </a:r>
            <a:r>
              <a:rPr lang="en-US" sz="2600">
                <a:solidFill>
                  <a:srgbClr val="C00000"/>
                </a:solidFill>
              </a:rPr>
              <a:t>Out</a:t>
            </a:r>
            <a:r>
              <a:rPr lang="en-US" sz="2600"/>
              <a:t>)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Can be achieved by adding more machines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Requires database </a:t>
            </a:r>
            <a:r>
              <a:rPr i="1" lang="en-US">
                <a:solidFill>
                  <a:srgbClr val="0070C0"/>
                </a:solidFill>
              </a:rPr>
              <a:t>sharding</a:t>
            </a:r>
            <a:r>
              <a:rPr lang="en-US"/>
              <a:t> and probably </a:t>
            </a:r>
            <a:r>
              <a:rPr i="1" lang="en-US">
                <a:solidFill>
                  <a:srgbClr val="0070C0"/>
                </a:solidFill>
              </a:rPr>
              <a:t>replication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Limited by the Read-to-Write ratio and communication overhead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Sharding Data?</a:t>
            </a:r>
            <a:endParaRPr/>
          </a:p>
        </p:txBody>
      </p:sp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Data is typically </a:t>
            </a:r>
            <a:r>
              <a:rPr i="1" lang="en-US" sz="2800"/>
              <a:t>sharded</a:t>
            </a:r>
            <a:r>
              <a:rPr lang="en-US" sz="2800"/>
              <a:t> (or </a:t>
            </a:r>
            <a:r>
              <a:rPr i="1" lang="en-US" sz="2800"/>
              <a:t>striped</a:t>
            </a:r>
            <a:r>
              <a:rPr lang="en-US" sz="2800"/>
              <a:t>) to allow for concurrent/parallel accesses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147" name="Google Shape;147;p19"/>
          <p:cNvSpPr/>
          <p:nvPr/>
        </p:nvSpPr>
        <p:spPr>
          <a:xfrm>
            <a:off x="2895600" y="2895600"/>
            <a:ext cx="3048000" cy="4572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Input data: A large file</a:t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1295400" y="3733800"/>
            <a:ext cx="1447800" cy="914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Machine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1323975" y="3990975"/>
            <a:ext cx="1371600" cy="3048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Chunk1 of input data</a:t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1752600" y="3200400"/>
            <a:ext cx="533400" cy="457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1885950" y="3048000"/>
            <a:ext cx="1009650" cy="1571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6553200" y="3200400"/>
            <a:ext cx="533400" cy="457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5943600" y="3048000"/>
            <a:ext cx="1009650" cy="15716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3657600" y="3733800"/>
            <a:ext cx="1447800" cy="914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Machine 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3695700" y="3990975"/>
            <a:ext cx="1371600" cy="3048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Chunk3 of input data</a:t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6096000" y="3733800"/>
            <a:ext cx="1447800" cy="9144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Machine 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6134100" y="3990975"/>
            <a:ext cx="1371600" cy="304800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Chunk5 of input data</a:t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>
            <a:off x="4114800" y="3352800"/>
            <a:ext cx="533400" cy="304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1325563" y="4324350"/>
            <a:ext cx="1371600" cy="304800"/>
          </a:xfrm>
          <a:prstGeom prst="roundRect">
            <a:avLst>
              <a:gd fmla="val 16667" name="adj"/>
            </a:avLst>
          </a:prstGeom>
          <a:solidFill>
            <a:srgbClr val="0000FF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Chunk2 of input data</a:t>
            </a:r>
            <a:endParaRPr/>
          </a:p>
        </p:txBody>
      </p:sp>
      <p:sp>
        <p:nvSpPr>
          <p:cNvPr id="160" name="Google Shape;160;p19"/>
          <p:cNvSpPr/>
          <p:nvPr/>
        </p:nvSpPr>
        <p:spPr>
          <a:xfrm>
            <a:off x="3697288" y="4324350"/>
            <a:ext cx="1371600" cy="3048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Chunk4 of input data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6135688" y="4324350"/>
            <a:ext cx="1371600" cy="304800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Chunk5 of input data</a:t>
            </a:r>
            <a:endParaRPr/>
          </a:p>
        </p:txBody>
      </p:sp>
      <p:cxnSp>
        <p:nvCxnSpPr>
          <p:cNvPr id="162" name="Google Shape;162;p19"/>
          <p:cNvCxnSpPr/>
          <p:nvPr/>
        </p:nvCxnSpPr>
        <p:spPr>
          <a:xfrm rot="10800000">
            <a:off x="2009775" y="4648200"/>
            <a:ext cx="0" cy="533400"/>
          </a:xfrm>
          <a:prstGeom prst="straightConnector1">
            <a:avLst/>
          </a:prstGeom>
          <a:noFill/>
          <a:ln cap="flat" cmpd="sng" w="60325">
            <a:solidFill>
              <a:srgbClr val="0070C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3" name="Google Shape;163;p19"/>
          <p:cNvCxnSpPr/>
          <p:nvPr/>
        </p:nvCxnSpPr>
        <p:spPr>
          <a:xfrm>
            <a:off x="2009775" y="5181600"/>
            <a:ext cx="4826476" cy="0"/>
          </a:xfrm>
          <a:prstGeom prst="straightConnector1">
            <a:avLst/>
          </a:prstGeom>
          <a:noFill/>
          <a:ln cap="flat" cmpd="sng" w="6032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19"/>
          <p:cNvCxnSpPr>
            <a:endCxn id="160" idx="2"/>
          </p:cNvCxnSpPr>
          <p:nvPr/>
        </p:nvCxnSpPr>
        <p:spPr>
          <a:xfrm rot="10800000">
            <a:off x="4383088" y="4629150"/>
            <a:ext cx="0" cy="552300"/>
          </a:xfrm>
          <a:prstGeom prst="straightConnector1">
            <a:avLst/>
          </a:prstGeom>
          <a:noFill/>
          <a:ln cap="flat" cmpd="sng" w="60325">
            <a:solidFill>
              <a:srgbClr val="0070C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5" name="Google Shape;165;p19"/>
          <p:cNvCxnSpPr/>
          <p:nvPr/>
        </p:nvCxnSpPr>
        <p:spPr>
          <a:xfrm rot="10800000">
            <a:off x="6836251" y="4629150"/>
            <a:ext cx="0" cy="552450"/>
          </a:xfrm>
          <a:prstGeom prst="straightConnector1">
            <a:avLst/>
          </a:prstGeom>
          <a:noFill/>
          <a:ln cap="flat" cmpd="sng" w="60325">
            <a:solidFill>
              <a:srgbClr val="0070C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6" name="Google Shape;166;p19"/>
          <p:cNvSpPr txBox="1"/>
          <p:nvPr/>
        </p:nvSpPr>
        <p:spPr>
          <a:xfrm>
            <a:off x="1219200" y="5345668"/>
            <a:ext cx="63494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E.g., Chunks 1, 3 and 5 can be accessed in parallel</a:t>
            </a:r>
            <a:endParaRPr sz="24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0" y="5410200"/>
            <a:ext cx="937260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Sharding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DB distributed across multiple machines needs to know in what machine a piece of data is stored or must be stored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Some Guidelines</a:t>
            </a:r>
            <a:endParaRPr/>
          </a:p>
        </p:txBody>
      </p:sp>
      <p:sp>
        <p:nvSpPr>
          <p:cNvPr id="173" name="Google Shape;17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Here are some guidelines to effectively benefit </a:t>
            </a:r>
            <a:br>
              <a:rPr lang="en-US" sz="2800"/>
            </a:br>
            <a:r>
              <a:rPr lang="en-US" sz="2800"/>
              <a:t>from parallelization:</a:t>
            </a:r>
            <a:endParaRPr/>
          </a:p>
          <a:p>
            <a:pPr indent="-457200" lvl="1" marL="9144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Maximize the fraction of your program that can be parallelized </a:t>
            </a:r>
            <a:endParaRPr/>
          </a:p>
          <a:p>
            <a:pPr indent="-279400" lvl="1" marL="9144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457200" lvl="1" marL="9144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Balance the workload of parallel processes</a:t>
            </a:r>
            <a:endParaRPr/>
          </a:p>
          <a:p>
            <a:pPr indent="-279400" lvl="1" marL="9144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/>
          </a:p>
          <a:p>
            <a:pPr indent="-457200" lvl="1" marL="9144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US"/>
              <a:t>Minimize the time spent for communication</a:t>
            </a:r>
            <a:endParaRPr/>
          </a:p>
          <a:p>
            <a:pPr indent="-457200" lvl="1" marL="9144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/>
          </a:p>
          <a:p>
            <a:pPr indent="-368300" lvl="1" marL="9144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i="1" sz="1400">
              <a:solidFill>
                <a:schemeClr val="dk1"/>
              </a:solidFill>
            </a:endParaRPr>
          </a:p>
          <a:p>
            <a:pPr indent="-355600" lvl="1" marL="914400" rtl="0" algn="just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sz="1600">
              <a:solidFill>
                <a:srgbClr val="7F7F7F"/>
              </a:solidFill>
            </a:endParaRPr>
          </a:p>
          <a:p>
            <a:pPr indent="-215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-215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-215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-215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-215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-215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-215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-215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-215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-215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-215900" lvl="0" marL="342900" rtl="0" algn="just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rgbClr val="7F7F7F"/>
              </a:solidFill>
            </a:endParaRPr>
          </a:p>
          <a:p>
            <a:pPr indent="-368300" lvl="1" marL="914400" rtl="0" algn="just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t/>
            </a:r>
            <a:endParaRPr sz="1400">
              <a:solidFill>
                <a:srgbClr val="7F7F7F"/>
              </a:solidFill>
            </a:endParaRPr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solidFill>
                <a:srgbClr val="7F7F7F"/>
              </a:solidFill>
            </a:endParaRPr>
          </a:p>
          <a:p>
            <a:pPr indent="-279400" lvl="1" marL="914400" rtl="0" algn="just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1" st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>
                                            <p:txEl>
                                              <p:pRg end="22" st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Replicating Data?</a:t>
            </a:r>
            <a:endParaRPr/>
          </a:p>
        </p:txBody>
      </p:sp>
      <p:sp>
        <p:nvSpPr>
          <p:cNvPr id="179" name="Google Shape;179;p21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Replicating data across servers helps in: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Avoiding performance bottlenecks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Avoiding single point of failures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And, hence, enhancing scalability and availability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Replicating Data?</a:t>
            </a:r>
            <a:endParaRPr/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Replicating data across servers helps in: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Avoiding performance bottlenecks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Avoiding single point of failures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And, hence, enhancing scalability and availability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pic>
        <p:nvPicPr>
          <p:cNvPr descr="http://igcministries.org/images/WorldMap.gif" id="186" name="Google Shape;18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9991" y="3429000"/>
            <a:ext cx="5472809" cy="269002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2"/>
          <p:cNvSpPr/>
          <p:nvPr/>
        </p:nvSpPr>
        <p:spPr>
          <a:xfrm>
            <a:off x="1981200" y="4191000"/>
            <a:ext cx="228600" cy="152400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5D427D"/>
              </a:gs>
              <a:gs pos="80000">
                <a:srgbClr val="7A57A5"/>
              </a:gs>
              <a:gs pos="100000">
                <a:srgbClr val="7A56A7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2514600" y="4876800"/>
            <a:ext cx="228600" cy="152400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3810000" y="3962400"/>
            <a:ext cx="228600" cy="152400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5257800" y="4572000"/>
            <a:ext cx="228600" cy="152400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5638800" y="4267200"/>
            <a:ext cx="228600" cy="152400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6248400" y="5410200"/>
            <a:ext cx="228600" cy="152400"/>
          </a:xfrm>
          <a:prstGeom prst="can">
            <a:avLst>
              <a:gd fmla="val 25000" name="adj"/>
            </a:avLst>
          </a:prstGeom>
          <a:gradFill>
            <a:gsLst>
              <a:gs pos="0">
                <a:srgbClr val="992D2B"/>
              </a:gs>
              <a:gs pos="80000">
                <a:srgbClr val="C93D39"/>
              </a:gs>
              <a:gs pos="100000">
                <a:srgbClr val="CD3A36"/>
              </a:gs>
            </a:gsLst>
            <a:lin ang="16200000" scaled="0"/>
          </a:gra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22"/>
          <p:cNvCxnSpPr/>
          <p:nvPr/>
        </p:nvCxnSpPr>
        <p:spPr>
          <a:xfrm>
            <a:off x="2095500" y="4343400"/>
            <a:ext cx="533400" cy="53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22"/>
          <p:cNvCxnSpPr/>
          <p:nvPr/>
        </p:nvCxnSpPr>
        <p:spPr>
          <a:xfrm flipH="1" rot="10800000">
            <a:off x="2209800" y="4038600"/>
            <a:ext cx="1600200" cy="228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22"/>
          <p:cNvCxnSpPr/>
          <p:nvPr/>
        </p:nvCxnSpPr>
        <p:spPr>
          <a:xfrm>
            <a:off x="3924300" y="4114800"/>
            <a:ext cx="1333500" cy="53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22"/>
          <p:cNvCxnSpPr/>
          <p:nvPr/>
        </p:nvCxnSpPr>
        <p:spPr>
          <a:xfrm>
            <a:off x="2095500" y="4343400"/>
            <a:ext cx="4152900" cy="1143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22"/>
          <p:cNvCxnSpPr/>
          <p:nvPr/>
        </p:nvCxnSpPr>
        <p:spPr>
          <a:xfrm rot="10800000">
            <a:off x="4038600" y="4038600"/>
            <a:ext cx="1600200" cy="30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22"/>
          <p:cNvSpPr txBox="1"/>
          <p:nvPr/>
        </p:nvSpPr>
        <p:spPr>
          <a:xfrm>
            <a:off x="1752600" y="3505200"/>
            <a:ext cx="1104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Server</a:t>
            </a:r>
            <a:endParaRPr/>
          </a:p>
        </p:txBody>
      </p:sp>
      <p:cxnSp>
        <p:nvCxnSpPr>
          <p:cNvPr id="199" name="Google Shape;199;p22"/>
          <p:cNvCxnSpPr/>
          <p:nvPr/>
        </p:nvCxnSpPr>
        <p:spPr>
          <a:xfrm>
            <a:off x="2095500" y="3690938"/>
            <a:ext cx="0" cy="5000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stealth"/>
            <a:tailEnd len="sm" w="sm" type="none"/>
          </a:ln>
        </p:spPr>
      </p:cxnSp>
      <p:cxnSp>
        <p:nvCxnSpPr>
          <p:cNvPr id="200" name="Google Shape;200;p22"/>
          <p:cNvCxnSpPr/>
          <p:nvPr/>
        </p:nvCxnSpPr>
        <p:spPr>
          <a:xfrm rot="10800000">
            <a:off x="2628900" y="5029200"/>
            <a:ext cx="11811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stealth"/>
            <a:tailEnd len="sm" w="sm" type="none"/>
          </a:ln>
        </p:spPr>
      </p:cxnSp>
      <p:sp>
        <p:nvSpPr>
          <p:cNvPr id="201" name="Google Shape;201;p22"/>
          <p:cNvSpPr txBox="1"/>
          <p:nvPr/>
        </p:nvSpPr>
        <p:spPr>
          <a:xfrm>
            <a:off x="3805238" y="5638800"/>
            <a:ext cx="156686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Replicated Servers</a:t>
            </a:r>
            <a:endParaRPr/>
          </a:p>
        </p:txBody>
      </p:sp>
      <p:cxnSp>
        <p:nvCxnSpPr>
          <p:cNvPr id="202" name="Google Shape;202;p22"/>
          <p:cNvCxnSpPr/>
          <p:nvPr/>
        </p:nvCxnSpPr>
        <p:spPr>
          <a:xfrm flipH="1" rot="10800000">
            <a:off x="5257800" y="5486400"/>
            <a:ext cx="990600" cy="290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stealth"/>
            <a:tailEnd len="sm" w="sm" type="none"/>
          </a:ln>
        </p:spPr>
      </p:cxnSp>
      <p:pic>
        <p:nvPicPr>
          <p:cNvPr descr="C:\Users\vkolar\AppData\Local\Microsoft\Windows\Temporary Internet Files\Content.IE5\E2H73JIM\MC900322405[1].wmf" id="203" name="Google Shape;20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9700" y="4953000"/>
            <a:ext cx="377825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4" name="Google Shape;204;p22"/>
          <p:cNvCxnSpPr/>
          <p:nvPr/>
        </p:nvCxnSpPr>
        <p:spPr>
          <a:xfrm flipH="1">
            <a:off x="6489700" y="5372100"/>
            <a:ext cx="188913" cy="114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C:\Users\vkolar\AppData\Local\Microsoft\Windows\Temporary Internet Files\Content.IE5\E2H73JIM\MC900322405[1].wmf" id="205" name="Google Shape;20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9563" y="3690938"/>
            <a:ext cx="376237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22"/>
          <p:cNvCxnSpPr/>
          <p:nvPr/>
        </p:nvCxnSpPr>
        <p:spPr>
          <a:xfrm flipH="1">
            <a:off x="3924300" y="3781425"/>
            <a:ext cx="247650" cy="180975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C:\Users\vkolar\AppData\Local\Microsoft\Windows\Temporary Internet Files\Content.IE5\E2H73JIM\MC900322405[1].wmf" id="207" name="Google Shape;20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59025" y="3843338"/>
            <a:ext cx="376238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22"/>
          <p:cNvCxnSpPr/>
          <p:nvPr/>
        </p:nvCxnSpPr>
        <p:spPr>
          <a:xfrm flipH="1">
            <a:off x="2162175" y="4052888"/>
            <a:ext cx="196850" cy="138112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C:\Users\vkolar\AppData\Local\Microsoft\Windows\Temporary Internet Files\Content.IE5\E2H73JIM\MC900322405[1].wmf" id="209" name="Google Shape;2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81200" y="4419600"/>
            <a:ext cx="3778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vkolar\AppData\Local\Microsoft\Windows\Temporary Internet Files\Content.IE5\E2H73JIM\MC900322405[1].wmf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3962400"/>
            <a:ext cx="3778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vkolar\AppData\Local\Microsoft\Windows\Temporary Internet Files\Content.IE5\E2H73JIM\MC900322405[1].wmf" id="211" name="Google Shape;21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4572000"/>
            <a:ext cx="3778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vkolar\AppData\Local\Microsoft\Windows\Temporary Internet Files\Content.IE5\E2H73JIM\MC900322405[1].wmf" id="212" name="Google Shape;21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5562600"/>
            <a:ext cx="3778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vkolar\AppData\Local\Microsoft\Windows\Temporary Internet Files\Content.IE5\E2H73JIM\MC900322405[1].wmf" id="213" name="Google Shape;2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0200" y="4876800"/>
            <a:ext cx="3778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vkolar\AppData\Local\Microsoft\Windows\Temporary Internet Files\Content.IE5\E2H73JIM\MC900322405[1].wmf" id="214" name="Google Shape;21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1200" y="3810000"/>
            <a:ext cx="3778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vkolar\AppData\Local\Microsoft\Windows\Temporary Internet Files\Content.IE5\E2H73JIM\MC900322405[1].wmf" id="215" name="Google Shape;2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4343400"/>
            <a:ext cx="3778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vkolar\AppData\Local\Microsoft\Windows\Temporary Internet Files\Content.IE5\E2H73JIM\MC900322405[1].wmf"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0" y="3429000"/>
            <a:ext cx="3778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vkolar\AppData\Local\Microsoft\Windows\Temporary Internet Files\Content.IE5\E2H73JIM\MC900322405[1].wmf" id="217" name="Google Shape;2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3800" y="4343400"/>
            <a:ext cx="3778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vkolar\AppData\Local\Microsoft\Windows\Temporary Internet Files\Content.IE5\E2H73JIM\MC900322405[1].wmf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5257800"/>
            <a:ext cx="37782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vkolar\AppData\Local\Microsoft\Windows\Temporary Internet Files\Content.IE5\E2H73JIM\MC900322405[1].wmf" id="219" name="Google Shape;2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5181600"/>
            <a:ext cx="377825" cy="419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22"/>
          <p:cNvCxnSpPr>
            <a:stCxn id="187" idx="3"/>
            <a:endCxn id="209" idx="1"/>
          </p:cNvCxnSpPr>
          <p:nvPr/>
        </p:nvCxnSpPr>
        <p:spPr>
          <a:xfrm flipH="1">
            <a:off x="1981200" y="4343400"/>
            <a:ext cx="114300" cy="2859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22"/>
          <p:cNvCxnSpPr>
            <a:stCxn id="188" idx="3"/>
            <a:endCxn id="219" idx="0"/>
          </p:cNvCxnSpPr>
          <p:nvPr/>
        </p:nvCxnSpPr>
        <p:spPr>
          <a:xfrm flipH="1">
            <a:off x="2475000" y="5029200"/>
            <a:ext cx="153900" cy="152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22"/>
          <p:cNvCxnSpPr>
            <a:endCxn id="218" idx="0"/>
          </p:cNvCxnSpPr>
          <p:nvPr/>
        </p:nvCxnSpPr>
        <p:spPr>
          <a:xfrm>
            <a:off x="2666913" y="5029200"/>
            <a:ext cx="189000" cy="228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22"/>
          <p:cNvCxnSpPr>
            <a:stCxn id="189" idx="0"/>
            <a:endCxn id="216" idx="2"/>
          </p:cNvCxnSpPr>
          <p:nvPr/>
        </p:nvCxnSpPr>
        <p:spPr>
          <a:xfrm rot="10800000">
            <a:off x="3846600" y="3848100"/>
            <a:ext cx="77700" cy="152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22"/>
          <p:cNvCxnSpPr>
            <a:endCxn id="217" idx="0"/>
          </p:cNvCxnSpPr>
          <p:nvPr/>
        </p:nvCxnSpPr>
        <p:spPr>
          <a:xfrm>
            <a:off x="3886113" y="4114800"/>
            <a:ext cx="36600" cy="228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22"/>
          <p:cNvCxnSpPr>
            <a:stCxn id="190" idx="3"/>
            <a:endCxn id="213" idx="0"/>
          </p:cNvCxnSpPr>
          <p:nvPr/>
        </p:nvCxnSpPr>
        <p:spPr>
          <a:xfrm>
            <a:off x="5372100" y="4724400"/>
            <a:ext cx="227100" cy="152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22"/>
          <p:cNvCxnSpPr>
            <a:endCxn id="211" idx="1"/>
          </p:cNvCxnSpPr>
          <p:nvPr/>
        </p:nvCxnSpPr>
        <p:spPr>
          <a:xfrm>
            <a:off x="5410200" y="4724250"/>
            <a:ext cx="304800" cy="573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p22"/>
          <p:cNvCxnSpPr>
            <a:stCxn id="191" idx="0"/>
            <a:endCxn id="214" idx="1"/>
          </p:cNvCxnSpPr>
          <p:nvPr/>
        </p:nvCxnSpPr>
        <p:spPr>
          <a:xfrm flipH="1" rot="10800000">
            <a:off x="5753100" y="4019700"/>
            <a:ext cx="38100" cy="285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22"/>
          <p:cNvCxnSpPr>
            <a:stCxn id="191" idx="4"/>
          </p:cNvCxnSpPr>
          <p:nvPr/>
        </p:nvCxnSpPr>
        <p:spPr>
          <a:xfrm flipH="1" rot="10800000">
            <a:off x="5867400" y="4191000"/>
            <a:ext cx="304800" cy="1524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22"/>
          <p:cNvCxnSpPr>
            <a:stCxn id="191" idx="4"/>
            <a:endCxn id="215" idx="1"/>
          </p:cNvCxnSpPr>
          <p:nvPr/>
        </p:nvCxnSpPr>
        <p:spPr>
          <a:xfrm>
            <a:off x="5867400" y="4343400"/>
            <a:ext cx="304800" cy="209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22"/>
          <p:cNvCxnSpPr>
            <a:stCxn id="192" idx="1"/>
            <a:endCxn id="203" idx="1"/>
          </p:cNvCxnSpPr>
          <p:nvPr/>
        </p:nvCxnSpPr>
        <p:spPr>
          <a:xfrm flipH="1" rot="10800000">
            <a:off x="6362700" y="5162700"/>
            <a:ext cx="126900" cy="247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22"/>
          <p:cNvCxnSpPr>
            <a:stCxn id="192" idx="3"/>
            <a:endCxn id="212" idx="1"/>
          </p:cNvCxnSpPr>
          <p:nvPr/>
        </p:nvCxnSpPr>
        <p:spPr>
          <a:xfrm>
            <a:off x="6362700" y="5562600"/>
            <a:ext cx="266700" cy="2097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22"/>
          <p:cNvCxnSpPr>
            <a:endCxn id="187" idx="4"/>
          </p:cNvCxnSpPr>
          <p:nvPr/>
        </p:nvCxnSpPr>
        <p:spPr>
          <a:xfrm flipH="1">
            <a:off x="2209800" y="4053000"/>
            <a:ext cx="304800" cy="214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22"/>
          <p:cNvCxnSpPr>
            <a:stCxn id="216" idx="1"/>
          </p:cNvCxnSpPr>
          <p:nvPr/>
        </p:nvCxnSpPr>
        <p:spPr>
          <a:xfrm flipH="1">
            <a:off x="2260500" y="3638550"/>
            <a:ext cx="1397100" cy="628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22"/>
          <p:cNvCxnSpPr>
            <a:stCxn id="205" idx="1"/>
          </p:cNvCxnSpPr>
          <p:nvPr/>
        </p:nvCxnSpPr>
        <p:spPr>
          <a:xfrm flipH="1">
            <a:off x="2260463" y="3900488"/>
            <a:ext cx="1859100" cy="366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22"/>
          <p:cNvCxnSpPr>
            <a:endCxn id="187" idx="4"/>
          </p:cNvCxnSpPr>
          <p:nvPr/>
        </p:nvCxnSpPr>
        <p:spPr>
          <a:xfrm rot="10800000">
            <a:off x="2209800" y="4267200"/>
            <a:ext cx="1595400" cy="1809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22"/>
          <p:cNvCxnSpPr>
            <a:stCxn id="214" idx="1"/>
            <a:endCxn id="187" idx="4"/>
          </p:cNvCxnSpPr>
          <p:nvPr/>
        </p:nvCxnSpPr>
        <p:spPr>
          <a:xfrm flipH="1">
            <a:off x="2209800" y="4019550"/>
            <a:ext cx="3581400" cy="24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22"/>
          <p:cNvCxnSpPr>
            <a:stCxn id="210" idx="1"/>
            <a:endCxn id="187" idx="4"/>
          </p:cNvCxnSpPr>
          <p:nvPr/>
        </p:nvCxnSpPr>
        <p:spPr>
          <a:xfrm flipH="1">
            <a:off x="2209800" y="4171950"/>
            <a:ext cx="3962400" cy="95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22"/>
          <p:cNvCxnSpPr>
            <a:stCxn id="215" idx="1"/>
          </p:cNvCxnSpPr>
          <p:nvPr/>
        </p:nvCxnSpPr>
        <p:spPr>
          <a:xfrm rot="10800000">
            <a:off x="2260500" y="4267350"/>
            <a:ext cx="3911700" cy="285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22"/>
          <p:cNvCxnSpPr>
            <a:stCxn id="211" idx="1"/>
          </p:cNvCxnSpPr>
          <p:nvPr/>
        </p:nvCxnSpPr>
        <p:spPr>
          <a:xfrm rot="10800000">
            <a:off x="2209800" y="4267050"/>
            <a:ext cx="3505200" cy="514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22"/>
          <p:cNvCxnSpPr>
            <a:stCxn id="213" idx="1"/>
            <a:endCxn id="187" idx="4"/>
          </p:cNvCxnSpPr>
          <p:nvPr/>
        </p:nvCxnSpPr>
        <p:spPr>
          <a:xfrm rot="10800000">
            <a:off x="2209800" y="4267350"/>
            <a:ext cx="3200400" cy="819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22"/>
          <p:cNvCxnSpPr>
            <a:stCxn id="203" idx="1"/>
            <a:endCxn id="187" idx="4"/>
          </p:cNvCxnSpPr>
          <p:nvPr/>
        </p:nvCxnSpPr>
        <p:spPr>
          <a:xfrm rot="10800000">
            <a:off x="2209900" y="4267350"/>
            <a:ext cx="4279800" cy="895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22"/>
          <p:cNvCxnSpPr>
            <a:stCxn id="212" idx="1"/>
            <a:endCxn id="187" idx="4"/>
          </p:cNvCxnSpPr>
          <p:nvPr/>
        </p:nvCxnSpPr>
        <p:spPr>
          <a:xfrm rot="10800000">
            <a:off x="2209800" y="4267350"/>
            <a:ext cx="4419600" cy="1504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3" name="Google Shape;243;p22"/>
          <p:cNvCxnSpPr>
            <a:endCxn id="187" idx="4"/>
          </p:cNvCxnSpPr>
          <p:nvPr/>
        </p:nvCxnSpPr>
        <p:spPr>
          <a:xfrm flipH="1" rot="10800000">
            <a:off x="2170200" y="4267200"/>
            <a:ext cx="39600" cy="285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4" name="Google Shape;244;p22"/>
          <p:cNvCxnSpPr>
            <a:stCxn id="219" idx="0"/>
            <a:endCxn id="187" idx="4"/>
          </p:cNvCxnSpPr>
          <p:nvPr/>
        </p:nvCxnSpPr>
        <p:spPr>
          <a:xfrm rot="10800000">
            <a:off x="2209713" y="4267200"/>
            <a:ext cx="265200" cy="9144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22"/>
          <p:cNvCxnSpPr>
            <a:stCxn id="218" idx="0"/>
            <a:endCxn id="187" idx="4"/>
          </p:cNvCxnSpPr>
          <p:nvPr/>
        </p:nvCxnSpPr>
        <p:spPr>
          <a:xfrm rot="10800000">
            <a:off x="2209713" y="4267200"/>
            <a:ext cx="646200" cy="990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But, Consistency Becomes a Challenge</a:t>
            </a:r>
            <a:endParaRPr/>
          </a:p>
        </p:txBody>
      </p:sp>
      <p:sp>
        <p:nvSpPr>
          <p:cNvPr id="251" name="Google Shape;251;p23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An example: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In an e-commerce application, the bank database has been replicated across two servers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Maintaining consistency of replicated data is a challenge</a:t>
            </a:r>
            <a:endParaRPr sz="2600"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252" name="Google Shape;252;p23"/>
          <p:cNvSpPr/>
          <p:nvPr/>
        </p:nvSpPr>
        <p:spPr>
          <a:xfrm>
            <a:off x="1795462" y="4800600"/>
            <a:ext cx="990600" cy="1447800"/>
          </a:xfrm>
          <a:prstGeom prst="can">
            <a:avLst>
              <a:gd fmla="val 25000" name="adj"/>
            </a:avLst>
          </a:prstGeom>
          <a:solidFill>
            <a:srgbClr val="C4BD9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1871663" y="5410200"/>
            <a:ext cx="838200" cy="30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Bal=1000</a:t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5872162" y="4800600"/>
            <a:ext cx="990600" cy="1447800"/>
          </a:xfrm>
          <a:prstGeom prst="can">
            <a:avLst>
              <a:gd fmla="val 25000" name="adj"/>
            </a:avLst>
          </a:prstGeom>
          <a:solidFill>
            <a:srgbClr val="C4BD9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5948363" y="5410200"/>
            <a:ext cx="838200" cy="30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Bal=1000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3433763" y="5867400"/>
            <a:ext cx="1905000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Replicated Database</a:t>
            </a:r>
            <a:endParaRPr/>
          </a:p>
        </p:txBody>
      </p:sp>
      <p:cxnSp>
        <p:nvCxnSpPr>
          <p:cNvPr id="257" name="Google Shape;257;p23"/>
          <p:cNvCxnSpPr>
            <a:stCxn id="256" idx="1"/>
          </p:cNvCxnSpPr>
          <p:nvPr/>
        </p:nvCxnSpPr>
        <p:spPr>
          <a:xfrm rot="10800000">
            <a:off x="2786063" y="5562688"/>
            <a:ext cx="647700" cy="45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58" name="Google Shape;258;p23"/>
          <p:cNvCxnSpPr>
            <a:stCxn id="256" idx="3"/>
          </p:cNvCxnSpPr>
          <p:nvPr/>
        </p:nvCxnSpPr>
        <p:spPr>
          <a:xfrm flipH="1" rot="10800000">
            <a:off x="5338763" y="5503888"/>
            <a:ext cx="533400" cy="5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9" name="Google Shape;259;p23"/>
          <p:cNvSpPr/>
          <p:nvPr/>
        </p:nvSpPr>
        <p:spPr>
          <a:xfrm>
            <a:off x="1109663" y="3848100"/>
            <a:ext cx="2362200" cy="34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 1 = Add Rs 1000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4962525" y="3830638"/>
            <a:ext cx="2809875" cy="3429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Event 2 = Add interest of 5%</a:t>
            </a:r>
            <a:endParaRPr/>
          </a:p>
        </p:txBody>
      </p:sp>
      <p:cxnSp>
        <p:nvCxnSpPr>
          <p:cNvPr id="261" name="Google Shape;261;p23"/>
          <p:cNvCxnSpPr>
            <a:stCxn id="259" idx="2"/>
            <a:endCxn id="253" idx="0"/>
          </p:cNvCxnSpPr>
          <p:nvPr/>
        </p:nvCxnSpPr>
        <p:spPr>
          <a:xfrm>
            <a:off x="2290763" y="4191000"/>
            <a:ext cx="0" cy="1219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62" name="Google Shape;262;p23"/>
          <p:cNvCxnSpPr>
            <a:stCxn id="259" idx="2"/>
            <a:endCxn id="255" idx="1"/>
          </p:cNvCxnSpPr>
          <p:nvPr/>
        </p:nvCxnSpPr>
        <p:spPr>
          <a:xfrm>
            <a:off x="2290763" y="4191000"/>
            <a:ext cx="3657600" cy="1371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63" name="Google Shape;263;p23"/>
          <p:cNvSpPr/>
          <p:nvPr/>
        </p:nvSpPr>
        <p:spPr>
          <a:xfrm>
            <a:off x="1860550" y="5410200"/>
            <a:ext cx="838200" cy="30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Bal=2000</a:t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1909763" y="4419600"/>
            <a:ext cx="304800" cy="304800"/>
          </a:xfrm>
          <a:prstGeom prst="rect">
            <a:avLst/>
          </a:prstGeom>
          <a:solidFill>
            <a:srgbClr val="FFFF00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cxnSp>
        <p:nvCxnSpPr>
          <p:cNvPr id="265" name="Google Shape;265;p23"/>
          <p:cNvCxnSpPr>
            <a:stCxn id="260" idx="2"/>
            <a:endCxn id="255" idx="0"/>
          </p:cNvCxnSpPr>
          <p:nvPr/>
        </p:nvCxnSpPr>
        <p:spPr>
          <a:xfrm>
            <a:off x="6367463" y="4173538"/>
            <a:ext cx="0" cy="12366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66" name="Google Shape;266;p23"/>
          <p:cNvSpPr/>
          <p:nvPr/>
        </p:nvSpPr>
        <p:spPr>
          <a:xfrm>
            <a:off x="5948363" y="4406900"/>
            <a:ext cx="304800" cy="304800"/>
          </a:xfrm>
          <a:prstGeom prst="rect">
            <a:avLst/>
          </a:prstGeom>
          <a:solidFill>
            <a:srgbClr val="FFFF00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5948363" y="5410200"/>
            <a:ext cx="838200" cy="30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Bal=1050</a:t>
            </a:r>
            <a:endParaRPr/>
          </a:p>
        </p:txBody>
      </p:sp>
      <p:sp>
        <p:nvSpPr>
          <p:cNvPr id="268" name="Google Shape;268;p23"/>
          <p:cNvSpPr/>
          <p:nvPr/>
        </p:nvSpPr>
        <p:spPr>
          <a:xfrm>
            <a:off x="5110163" y="5410200"/>
            <a:ext cx="304800" cy="304800"/>
          </a:xfrm>
          <a:prstGeom prst="rect">
            <a:avLst/>
          </a:prstGeom>
          <a:solidFill>
            <a:srgbClr val="FFFF00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5948363" y="5410200"/>
            <a:ext cx="838200" cy="30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Bal=2050</a:t>
            </a:r>
            <a:endParaRPr/>
          </a:p>
        </p:txBody>
      </p:sp>
      <p:cxnSp>
        <p:nvCxnSpPr>
          <p:cNvPr id="270" name="Google Shape;270;p23"/>
          <p:cNvCxnSpPr>
            <a:stCxn id="260" idx="2"/>
          </p:cNvCxnSpPr>
          <p:nvPr/>
        </p:nvCxnSpPr>
        <p:spPr>
          <a:xfrm flipH="1">
            <a:off x="2698763" y="4173538"/>
            <a:ext cx="3668700" cy="123660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71" name="Google Shape;271;p23"/>
          <p:cNvSpPr/>
          <p:nvPr/>
        </p:nvSpPr>
        <p:spPr>
          <a:xfrm>
            <a:off x="3109913" y="5372100"/>
            <a:ext cx="304800" cy="304800"/>
          </a:xfrm>
          <a:prstGeom prst="rect">
            <a:avLst/>
          </a:prstGeom>
          <a:solidFill>
            <a:srgbClr val="FFFF00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1870075" y="5410200"/>
            <a:ext cx="838200" cy="304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Bal=2100</a:t>
            </a:r>
            <a:endParaRPr/>
          </a:p>
        </p:txBody>
      </p:sp>
      <p:pic>
        <p:nvPicPr>
          <p:cNvPr descr="C:\Users\vkolar\AppData\Local\Microsoft\Windows\Temporary Internet Files\Content.IE5\HRUY4RJ7\MC900441523[1].wmf" id="273" name="Google Shape;27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3678238"/>
            <a:ext cx="104775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/>
          <p:nvPr/>
        </p:nvSpPr>
        <p:spPr>
          <a:xfrm>
            <a:off x="1447800" y="5126038"/>
            <a:ext cx="1662113" cy="895350"/>
          </a:xfrm>
          <a:prstGeom prst="ellipse">
            <a:avLst/>
          </a:prstGeom>
          <a:solidFill>
            <a:srgbClr val="FF0000">
              <a:alpha val="24705"/>
            </a:srgbClr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5565775" y="5126038"/>
            <a:ext cx="1662113" cy="895350"/>
          </a:xfrm>
          <a:prstGeom prst="ellipse">
            <a:avLst/>
          </a:prstGeom>
          <a:solidFill>
            <a:srgbClr val="FF0000">
              <a:alpha val="24705"/>
            </a:srgbClr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CAP Theorem</a:t>
            </a:r>
            <a:endParaRPr/>
          </a:p>
        </p:txBody>
      </p:sp>
      <p:sp>
        <p:nvSpPr>
          <p:cNvPr id="281" name="Google Shape;281;p24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The limitations of distributed databases can be described by the </a:t>
            </a:r>
            <a:r>
              <a:rPr lang="en-US" sz="2600">
                <a:solidFill>
                  <a:srgbClr val="000099"/>
                </a:solidFill>
              </a:rPr>
              <a:t>CAP theorem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▪"/>
            </a:pPr>
            <a:r>
              <a:rPr b="1" lang="en-US" sz="2400" u="sng">
                <a:solidFill>
                  <a:srgbClr val="C00000"/>
                </a:solidFill>
              </a:rPr>
              <a:t>C</a:t>
            </a:r>
            <a:r>
              <a:rPr lang="en-US" sz="2400">
                <a:solidFill>
                  <a:srgbClr val="C00000"/>
                </a:solidFill>
              </a:rPr>
              <a:t>onsistency</a:t>
            </a:r>
            <a:r>
              <a:rPr lang="en-US" sz="2400"/>
              <a:t>: every node always sees the same data at any given instance (i.e., strict consistency)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▪"/>
            </a:pPr>
            <a:r>
              <a:rPr b="1" lang="en-US" sz="2400" u="sng">
                <a:solidFill>
                  <a:srgbClr val="C00000"/>
                </a:solidFill>
              </a:rPr>
              <a:t>A</a:t>
            </a:r>
            <a:r>
              <a:rPr lang="en-US" sz="2400">
                <a:solidFill>
                  <a:srgbClr val="C00000"/>
                </a:solidFill>
              </a:rPr>
              <a:t>vailability</a:t>
            </a:r>
            <a:r>
              <a:rPr lang="en-US" sz="2400"/>
              <a:t>: the system continues to operate, even if nodes in a cluster crash, or some hardware or software parts are down due to upgrades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Noto Sans Symbols"/>
              <a:buChar char="▪"/>
            </a:pPr>
            <a:r>
              <a:rPr b="1" lang="en-US" sz="2400" u="sng">
                <a:solidFill>
                  <a:srgbClr val="C00000"/>
                </a:solidFill>
              </a:rPr>
              <a:t>P</a:t>
            </a:r>
            <a:r>
              <a:rPr lang="en-US" sz="2400">
                <a:solidFill>
                  <a:srgbClr val="C00000"/>
                </a:solidFill>
              </a:rPr>
              <a:t>artition Tolerance</a:t>
            </a:r>
            <a:r>
              <a:rPr lang="en-US" sz="2400"/>
              <a:t>: the system continues to operate in the presence of network partitions</a:t>
            </a:r>
            <a:endParaRPr sz="2400"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282" name="Google Shape;282;p24"/>
          <p:cNvSpPr/>
          <p:nvPr/>
        </p:nvSpPr>
        <p:spPr>
          <a:xfrm>
            <a:off x="381000" y="6096000"/>
            <a:ext cx="8458200" cy="609600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 theorem: any distributed database with shared data, can have </a:t>
            </a:r>
            <a:r>
              <a:rPr i="1"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most two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three desirable properties, C, A or 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Large-Scale Databases</a:t>
            </a:r>
            <a:endParaRPr/>
          </a:p>
        </p:txBody>
      </p:sp>
      <p:sp>
        <p:nvSpPr>
          <p:cNvPr id="288" name="Google Shape;288;p25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When companies such as Google and Amazon were designing large-scale databases, 24/7 Availability was a key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A few minutes of downtime means lost revenue</a:t>
            </a:r>
            <a:endParaRPr/>
          </a:p>
          <a:p>
            <a:pPr indent="-1460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sz="22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When </a:t>
            </a:r>
            <a:r>
              <a:rPr i="1" lang="en-US" sz="2600"/>
              <a:t>horizontally</a:t>
            </a:r>
            <a:r>
              <a:rPr lang="en-US" sz="2600"/>
              <a:t> scaling databases to 1000s of machines, the likelihood of a node or a network failure </a:t>
            </a:r>
            <a:br>
              <a:rPr lang="en-US" sz="2600"/>
            </a:br>
            <a:r>
              <a:rPr lang="en-US" sz="2600"/>
              <a:t>increases tremendously </a:t>
            </a:r>
            <a:endParaRPr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Therefore, in order to have strong guarantees on Availability and Partition Tolerance, they had to sacrifice “strict” Consistency (</a:t>
            </a:r>
            <a:r>
              <a:rPr i="1" lang="en-US" sz="2600"/>
              <a:t>implied by the CAP theorem</a:t>
            </a:r>
            <a:r>
              <a:rPr lang="en-US" sz="2600"/>
              <a:t>)</a:t>
            </a:r>
            <a:endParaRPr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Trading-Off Consistency</a:t>
            </a:r>
            <a:endParaRPr/>
          </a:p>
        </p:txBody>
      </p:sp>
      <p:sp>
        <p:nvSpPr>
          <p:cNvPr id="294" name="Google Shape;294;p26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Maintaining consistency should balance between the strictness of consistency versus availability/scalability</a:t>
            </a:r>
            <a:endParaRPr sz="26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Good-enough consistency </a:t>
            </a:r>
            <a:r>
              <a:rPr i="1" lang="en-US" sz="2400" u="sng"/>
              <a:t>depends on your application</a:t>
            </a:r>
            <a:endParaRPr/>
          </a:p>
          <a:p>
            <a:pPr indent="-161925" lvl="4" marL="2057400" rtl="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 sz="1050"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7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Trading-Off Consistency</a:t>
            </a:r>
            <a:endParaRPr/>
          </a:p>
        </p:txBody>
      </p:sp>
      <p:sp>
        <p:nvSpPr>
          <p:cNvPr id="300" name="Google Shape;300;p27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Maintaining consistency should balance between the strictness of consistency versus availability/scalability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 sz="2400"/>
              <a:t>Good-enough consistency </a:t>
            </a:r>
            <a:r>
              <a:rPr i="1" lang="en-US" sz="2400" u="sng"/>
              <a:t>depends on your application</a:t>
            </a:r>
            <a:endParaRPr/>
          </a:p>
          <a:p>
            <a:pPr indent="-161925" lvl="4" marL="2057400" rtl="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t/>
            </a:r>
            <a:endParaRPr sz="1050"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301" name="Google Shape;301;p27"/>
          <p:cNvSpPr/>
          <p:nvPr/>
        </p:nvSpPr>
        <p:spPr>
          <a:xfrm>
            <a:off x="914400" y="3697069"/>
            <a:ext cx="7162800" cy="951131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 txBox="1"/>
          <p:nvPr/>
        </p:nvSpPr>
        <p:spPr>
          <a:xfrm>
            <a:off x="6400800" y="3175337"/>
            <a:ext cx="228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Strict Consistency</a:t>
            </a:r>
            <a:endParaRPr/>
          </a:p>
        </p:txBody>
      </p:sp>
      <p:sp>
        <p:nvSpPr>
          <p:cNvPr id="303" name="Google Shape;303;p27"/>
          <p:cNvSpPr/>
          <p:nvPr/>
        </p:nvSpPr>
        <p:spPr>
          <a:xfrm>
            <a:off x="5486400" y="4992469"/>
            <a:ext cx="3276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350" lvl="1" marL="635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Generally hard to implement, and is inefficient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381000" y="3163669"/>
            <a:ext cx="228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Loose Consistency</a:t>
            </a:r>
            <a:endParaRPr/>
          </a:p>
        </p:txBody>
      </p:sp>
      <p:sp>
        <p:nvSpPr>
          <p:cNvPr id="305" name="Google Shape;305;p27"/>
          <p:cNvSpPr/>
          <p:nvPr/>
        </p:nvSpPr>
        <p:spPr>
          <a:xfrm>
            <a:off x="609600" y="4916269"/>
            <a:ext cx="24061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7475" lvl="0" marL="1174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Easier to implement, and is efficient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Documents and Settings\dd\Local Settings\Temporary Internet Files\Content.IE5\2JSTM34V\MM900288870[1].gif" id="306" name="Google Shape;3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800" y="3076575"/>
            <a:ext cx="619125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BASE Properties</a:t>
            </a:r>
            <a:endParaRPr/>
          </a:p>
        </p:txBody>
      </p:sp>
      <p:sp>
        <p:nvSpPr>
          <p:cNvPr id="312" name="Google Shape;312;p28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The CAP theorem proves that it is impossible to guarantee strict Consistency and Availability while being able to tolerate network partitions</a:t>
            </a:r>
            <a:endParaRPr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This resulted in databases with relaxed ACID guarantees</a:t>
            </a:r>
            <a:endParaRPr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In particular, such databases apply the BASE properties: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 sz="2400" u="sng"/>
              <a:t>B</a:t>
            </a:r>
            <a:r>
              <a:rPr lang="en-US" sz="2400"/>
              <a:t>asically </a:t>
            </a:r>
            <a:r>
              <a:rPr b="1" lang="en-US" sz="2400" u="sng"/>
              <a:t>A</a:t>
            </a:r>
            <a:r>
              <a:rPr lang="en-US" sz="2400"/>
              <a:t>vailable: the system guarantees Availability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 sz="2400" u="sng"/>
              <a:t>S</a:t>
            </a:r>
            <a:r>
              <a:rPr lang="en-US" sz="2400"/>
              <a:t>oft-State: the state of the system may change over time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1" lang="en-US" sz="2400" u="sng"/>
              <a:t>E</a:t>
            </a:r>
            <a:r>
              <a:rPr lang="en-US" sz="2400"/>
              <a:t>ventual Consistency: the system will </a:t>
            </a:r>
            <a:r>
              <a:rPr i="1" lang="en-US" sz="2400"/>
              <a:t>eventually</a:t>
            </a:r>
            <a:r>
              <a:rPr lang="en-US" sz="2400"/>
              <a:t> </a:t>
            </a:r>
            <a:br>
              <a:rPr lang="en-US" sz="2400"/>
            </a:br>
            <a:r>
              <a:rPr lang="en-US" sz="2400"/>
              <a:t>become consistent</a:t>
            </a:r>
            <a:endParaRPr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Eventual Consistency</a:t>
            </a:r>
            <a:endParaRPr/>
          </a:p>
        </p:txBody>
      </p:sp>
      <p:sp>
        <p:nvSpPr>
          <p:cNvPr id="318" name="Google Shape;318;p29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A database is termed as </a:t>
            </a:r>
            <a:r>
              <a:rPr i="1" lang="en-US" sz="2800"/>
              <a:t>Eventually Consistent</a:t>
            </a:r>
            <a:r>
              <a:rPr lang="en-US" sz="2800"/>
              <a:t> if: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All replicas will </a:t>
            </a:r>
            <a:r>
              <a:rPr i="1" lang="en-US" sz="2600"/>
              <a:t>gradually</a:t>
            </a:r>
            <a:r>
              <a:rPr lang="en-US" sz="2600"/>
              <a:t> become consistent in the absence of updates</a:t>
            </a:r>
            <a:endParaRPr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Eventual Consistency</a:t>
            </a:r>
            <a:endParaRPr/>
          </a:p>
        </p:txBody>
      </p:sp>
      <p:sp>
        <p:nvSpPr>
          <p:cNvPr id="324" name="Google Shape;324;p30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A database is termed as </a:t>
            </a:r>
            <a:r>
              <a:rPr i="1" lang="en-US" sz="2800"/>
              <a:t>Eventually Consistent</a:t>
            </a:r>
            <a:r>
              <a:rPr lang="en-US" sz="2800"/>
              <a:t> if: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All replicas will </a:t>
            </a:r>
            <a:r>
              <a:rPr i="1" lang="en-US" sz="2600"/>
              <a:t>gradually</a:t>
            </a:r>
            <a:r>
              <a:rPr lang="en-US" sz="2600"/>
              <a:t> become consistent in the absence of updates</a:t>
            </a:r>
            <a:endParaRPr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pic>
        <p:nvPicPr>
          <p:cNvPr descr="http://igcministries.org/images/WorldMap.gif" id="325" name="Google Shape;3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2490" y="3352800"/>
            <a:ext cx="6006209" cy="30828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6" name="Google Shape;326;p30"/>
          <p:cNvGrpSpPr/>
          <p:nvPr/>
        </p:nvGrpSpPr>
        <p:grpSpPr>
          <a:xfrm>
            <a:off x="1839690" y="3557134"/>
            <a:ext cx="5382267" cy="2713836"/>
            <a:chOff x="1143000" y="3674663"/>
            <a:chExt cx="5382267" cy="2713836"/>
          </a:xfrm>
        </p:grpSpPr>
        <p:sp>
          <p:nvSpPr>
            <p:cNvPr id="327" name="Google Shape;327;p30"/>
            <p:cNvSpPr/>
            <p:nvPr/>
          </p:nvSpPr>
          <p:spPr>
            <a:xfrm>
              <a:off x="1600200" y="4876800"/>
              <a:ext cx="1332957" cy="897337"/>
            </a:xfrm>
            <a:prstGeom prst="can">
              <a:avLst>
                <a:gd fmla="val 25000" name="adj"/>
              </a:avLst>
            </a:prstGeom>
            <a:solidFill>
              <a:srgbClr val="F4F3EC"/>
            </a:solidFill>
            <a:ln>
              <a:noFill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30"/>
            <p:cNvSpPr/>
            <p:nvPr/>
          </p:nvSpPr>
          <p:spPr>
            <a:xfrm>
              <a:off x="4640304" y="5491162"/>
              <a:ext cx="1332957" cy="897337"/>
            </a:xfrm>
            <a:prstGeom prst="can">
              <a:avLst>
                <a:gd fmla="val 25000" name="adj"/>
              </a:avLst>
            </a:prstGeom>
            <a:solidFill>
              <a:srgbClr val="F4F3EC"/>
            </a:solidFill>
            <a:ln>
              <a:noFill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30"/>
            <p:cNvSpPr/>
            <p:nvPr/>
          </p:nvSpPr>
          <p:spPr>
            <a:xfrm>
              <a:off x="4446254" y="4593825"/>
              <a:ext cx="1332957" cy="897337"/>
            </a:xfrm>
            <a:prstGeom prst="can">
              <a:avLst>
                <a:gd fmla="val 25000" name="adj"/>
              </a:avLst>
            </a:prstGeom>
            <a:solidFill>
              <a:srgbClr val="F4F3EC"/>
            </a:solidFill>
            <a:ln>
              <a:noFill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30"/>
            <p:cNvSpPr/>
            <p:nvPr/>
          </p:nvSpPr>
          <p:spPr>
            <a:xfrm>
              <a:off x="5192310" y="3732860"/>
              <a:ext cx="1332957" cy="897337"/>
            </a:xfrm>
            <a:prstGeom prst="can">
              <a:avLst>
                <a:gd fmla="val 25000" name="adj"/>
              </a:avLst>
            </a:prstGeom>
            <a:solidFill>
              <a:srgbClr val="F4F3EC"/>
            </a:solidFill>
            <a:ln>
              <a:noFill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0"/>
            <p:cNvSpPr/>
            <p:nvPr/>
          </p:nvSpPr>
          <p:spPr>
            <a:xfrm>
              <a:off x="2794305" y="3674663"/>
              <a:ext cx="1332957" cy="897337"/>
            </a:xfrm>
            <a:prstGeom prst="can">
              <a:avLst>
                <a:gd fmla="val 25000" name="adj"/>
              </a:avLst>
            </a:prstGeom>
            <a:solidFill>
              <a:srgbClr val="F4F3EC"/>
            </a:solidFill>
            <a:ln>
              <a:noFill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0"/>
            <p:cNvSpPr/>
            <p:nvPr/>
          </p:nvSpPr>
          <p:spPr>
            <a:xfrm>
              <a:off x="1143000" y="3769183"/>
              <a:ext cx="1332957" cy="897337"/>
            </a:xfrm>
            <a:prstGeom prst="can">
              <a:avLst>
                <a:gd fmla="val 25000" name="adj"/>
              </a:avLst>
            </a:prstGeom>
            <a:solidFill>
              <a:srgbClr val="F4F3EC"/>
            </a:solidFill>
            <a:ln>
              <a:noFill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30"/>
          <p:cNvSpPr txBox="1"/>
          <p:nvPr/>
        </p:nvSpPr>
        <p:spPr>
          <a:xfrm>
            <a:off x="5451469" y="5777672"/>
            <a:ext cx="1104009" cy="276999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30"/>
          <p:cNvCxnSpPr>
            <a:stCxn id="333" idx="3"/>
            <a:endCxn id="335" idx="1"/>
          </p:cNvCxnSpPr>
          <p:nvPr/>
        </p:nvCxnSpPr>
        <p:spPr>
          <a:xfrm flipH="1" rot="10800000">
            <a:off x="6555478" y="5731372"/>
            <a:ext cx="388800" cy="18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336" name="Google Shape;336;p30"/>
          <p:cNvSpPr/>
          <p:nvPr/>
        </p:nvSpPr>
        <p:spPr>
          <a:xfrm>
            <a:off x="7221957" y="4759271"/>
            <a:ext cx="1769643" cy="464962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Event: Update 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vkolar\AppData\Local\Microsoft\Windows\Temporary Internet Files\Content.IE5\E2H73JIM\MC900442038[1].wmf" id="337" name="Google Shape;33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612" y="3650257"/>
            <a:ext cx="709463" cy="884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vkolar\AppData\Local\Microsoft\Windows\Temporary Internet Files\Content.IE5\E2H73JIM\MC900442038[1].wmf" id="338" name="Google Shape;33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897" y="5493470"/>
            <a:ext cx="709463" cy="884237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5257417" y="4909334"/>
            <a:ext cx="1104009" cy="276999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6003473" y="4005802"/>
            <a:ext cx="1104009" cy="276999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0"/>
          <p:cNvSpPr txBox="1"/>
          <p:nvPr/>
        </p:nvSpPr>
        <p:spPr>
          <a:xfrm>
            <a:off x="3629847" y="3925499"/>
            <a:ext cx="1104009" cy="276999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0"/>
          <p:cNvSpPr txBox="1"/>
          <p:nvPr/>
        </p:nvSpPr>
        <p:spPr>
          <a:xfrm>
            <a:off x="1954163" y="4026625"/>
            <a:ext cx="1104009" cy="276999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0"/>
          <p:cNvSpPr txBox="1"/>
          <p:nvPr/>
        </p:nvSpPr>
        <p:spPr>
          <a:xfrm>
            <a:off x="2411363" y="5186333"/>
            <a:ext cx="1104009" cy="276999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30"/>
          <p:cNvCxnSpPr>
            <a:stCxn id="337" idx="3"/>
            <a:endCxn id="342" idx="1"/>
          </p:cNvCxnSpPr>
          <p:nvPr/>
        </p:nvCxnSpPr>
        <p:spPr>
          <a:xfrm>
            <a:off x="1374075" y="4092376"/>
            <a:ext cx="580200" cy="7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345" name="Google Shape;345;p30"/>
          <p:cNvCxnSpPr>
            <a:stCxn id="338" idx="3"/>
            <a:endCxn id="343" idx="1"/>
          </p:cNvCxnSpPr>
          <p:nvPr/>
        </p:nvCxnSpPr>
        <p:spPr>
          <a:xfrm flipH="1" rot="10800000">
            <a:off x="1277360" y="5324789"/>
            <a:ext cx="1134000" cy="610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346" name="Google Shape;346;p30"/>
          <p:cNvSpPr txBox="1"/>
          <p:nvPr/>
        </p:nvSpPr>
        <p:spPr>
          <a:xfrm>
            <a:off x="5445872" y="5777672"/>
            <a:ext cx="1104009" cy="276999"/>
          </a:xfrm>
          <a:prstGeom prst="rect">
            <a:avLst/>
          </a:prstGeom>
          <a:solidFill>
            <a:srgbClr val="00B050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5256263" y="4911671"/>
            <a:ext cx="1104009" cy="276999"/>
          </a:xfrm>
          <a:prstGeom prst="rect">
            <a:avLst/>
          </a:prstGeom>
          <a:solidFill>
            <a:srgbClr val="00B050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0"/>
          <p:cNvSpPr txBox="1"/>
          <p:nvPr/>
        </p:nvSpPr>
        <p:spPr>
          <a:xfrm>
            <a:off x="6007246" y="4008288"/>
            <a:ext cx="1104009" cy="276999"/>
          </a:xfrm>
          <a:prstGeom prst="rect">
            <a:avLst/>
          </a:prstGeom>
          <a:solidFill>
            <a:srgbClr val="00B050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 txBox="1"/>
          <p:nvPr/>
        </p:nvSpPr>
        <p:spPr>
          <a:xfrm>
            <a:off x="3634029" y="3921071"/>
            <a:ext cx="1104009" cy="276999"/>
          </a:xfrm>
          <a:prstGeom prst="rect">
            <a:avLst/>
          </a:prstGeom>
          <a:solidFill>
            <a:srgbClr val="00B050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0"/>
          <p:cNvSpPr txBox="1"/>
          <p:nvPr/>
        </p:nvSpPr>
        <p:spPr>
          <a:xfrm>
            <a:off x="1940672" y="4030322"/>
            <a:ext cx="1104009" cy="276999"/>
          </a:xfrm>
          <a:prstGeom prst="rect">
            <a:avLst/>
          </a:prstGeom>
          <a:solidFill>
            <a:srgbClr val="00B050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0"/>
          <p:cNvSpPr txBox="1"/>
          <p:nvPr/>
        </p:nvSpPr>
        <p:spPr>
          <a:xfrm>
            <a:off x="2397872" y="5184339"/>
            <a:ext cx="1104009" cy="276999"/>
          </a:xfrm>
          <a:prstGeom prst="rect">
            <a:avLst/>
          </a:prstGeom>
          <a:solidFill>
            <a:srgbClr val="00B050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vkolar\AppData\Local\Microsoft\Windows\Temporary Internet Files\Content.IE5\E2H73JIM\MC900322405[1].wmf" id="335" name="Google Shape;33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44392" y="5292671"/>
            <a:ext cx="787480" cy="877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Eventual Consistency: </a:t>
            </a:r>
            <a:br>
              <a:rPr lang="en-US"/>
            </a:br>
            <a:r>
              <a:rPr lang="en-US"/>
              <a:t>A Main Challenge</a:t>
            </a:r>
            <a:endParaRPr/>
          </a:p>
        </p:txBody>
      </p:sp>
      <p:sp>
        <p:nvSpPr>
          <p:cNvPr id="357" name="Google Shape;357;p31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Noto Sans Symbols"/>
              <a:buChar char="▪"/>
            </a:pPr>
            <a:r>
              <a:rPr lang="en-US" sz="3000"/>
              <a:t>But, what if the client accesses the data from different replicas?</a:t>
            </a:r>
            <a:endParaRPr sz="3000"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pic>
        <p:nvPicPr>
          <p:cNvPr descr="http://igcministries.org/images/WorldMap.gif" id="358" name="Google Shape;35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2490" y="2971800"/>
            <a:ext cx="6006209" cy="30828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9" name="Google Shape;359;p31"/>
          <p:cNvGrpSpPr/>
          <p:nvPr/>
        </p:nvGrpSpPr>
        <p:grpSpPr>
          <a:xfrm>
            <a:off x="1839690" y="3176134"/>
            <a:ext cx="5382267" cy="2713836"/>
            <a:chOff x="1143000" y="3674663"/>
            <a:chExt cx="5382267" cy="2713836"/>
          </a:xfrm>
        </p:grpSpPr>
        <p:sp>
          <p:nvSpPr>
            <p:cNvPr id="360" name="Google Shape;360;p31"/>
            <p:cNvSpPr/>
            <p:nvPr/>
          </p:nvSpPr>
          <p:spPr>
            <a:xfrm>
              <a:off x="1600200" y="4876800"/>
              <a:ext cx="1332957" cy="897337"/>
            </a:xfrm>
            <a:prstGeom prst="can">
              <a:avLst>
                <a:gd fmla="val 25000" name="adj"/>
              </a:avLst>
            </a:prstGeom>
            <a:solidFill>
              <a:srgbClr val="F4F3EC"/>
            </a:solidFill>
            <a:ln>
              <a:noFill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31"/>
            <p:cNvSpPr/>
            <p:nvPr/>
          </p:nvSpPr>
          <p:spPr>
            <a:xfrm>
              <a:off x="4640304" y="5491162"/>
              <a:ext cx="1332957" cy="897337"/>
            </a:xfrm>
            <a:prstGeom prst="can">
              <a:avLst>
                <a:gd fmla="val 25000" name="adj"/>
              </a:avLst>
            </a:prstGeom>
            <a:solidFill>
              <a:srgbClr val="F4F3EC"/>
            </a:solidFill>
            <a:ln>
              <a:noFill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31"/>
            <p:cNvSpPr/>
            <p:nvPr/>
          </p:nvSpPr>
          <p:spPr>
            <a:xfrm>
              <a:off x="4446254" y="4593825"/>
              <a:ext cx="1332957" cy="897337"/>
            </a:xfrm>
            <a:prstGeom prst="can">
              <a:avLst>
                <a:gd fmla="val 25000" name="adj"/>
              </a:avLst>
            </a:prstGeom>
            <a:solidFill>
              <a:srgbClr val="F4F3EC"/>
            </a:solidFill>
            <a:ln>
              <a:noFill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31"/>
            <p:cNvSpPr/>
            <p:nvPr/>
          </p:nvSpPr>
          <p:spPr>
            <a:xfrm>
              <a:off x="5192310" y="3732860"/>
              <a:ext cx="1332957" cy="897337"/>
            </a:xfrm>
            <a:prstGeom prst="can">
              <a:avLst>
                <a:gd fmla="val 25000" name="adj"/>
              </a:avLst>
            </a:prstGeom>
            <a:solidFill>
              <a:srgbClr val="F4F3EC"/>
            </a:solidFill>
            <a:ln>
              <a:noFill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31"/>
            <p:cNvSpPr/>
            <p:nvPr/>
          </p:nvSpPr>
          <p:spPr>
            <a:xfrm>
              <a:off x="2794305" y="3674663"/>
              <a:ext cx="1332957" cy="897337"/>
            </a:xfrm>
            <a:prstGeom prst="can">
              <a:avLst>
                <a:gd fmla="val 25000" name="adj"/>
              </a:avLst>
            </a:prstGeom>
            <a:solidFill>
              <a:srgbClr val="F4F3EC"/>
            </a:solidFill>
            <a:ln>
              <a:noFill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31"/>
            <p:cNvSpPr/>
            <p:nvPr/>
          </p:nvSpPr>
          <p:spPr>
            <a:xfrm>
              <a:off x="1143000" y="3769183"/>
              <a:ext cx="1332957" cy="897337"/>
            </a:xfrm>
            <a:prstGeom prst="can">
              <a:avLst>
                <a:gd fmla="val 25000" name="adj"/>
              </a:avLst>
            </a:prstGeom>
            <a:solidFill>
              <a:srgbClr val="F4F3EC"/>
            </a:solidFill>
            <a:ln>
              <a:noFill/>
            </a:ln>
            <a:effectLst>
              <a:outerShdw blurRad="50800" rotWithShape="0" algn="l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" name="Google Shape;366;p31"/>
          <p:cNvSpPr txBox="1"/>
          <p:nvPr/>
        </p:nvSpPr>
        <p:spPr>
          <a:xfrm>
            <a:off x="5451469" y="5396672"/>
            <a:ext cx="1104009" cy="276999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" name="Google Shape;367;p31"/>
          <p:cNvCxnSpPr>
            <a:stCxn id="366" idx="3"/>
            <a:endCxn id="368" idx="1"/>
          </p:cNvCxnSpPr>
          <p:nvPr/>
        </p:nvCxnSpPr>
        <p:spPr>
          <a:xfrm flipH="1" rot="10800000">
            <a:off x="6555478" y="5350372"/>
            <a:ext cx="388800" cy="184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369" name="Google Shape;369;p31"/>
          <p:cNvSpPr/>
          <p:nvPr/>
        </p:nvSpPr>
        <p:spPr>
          <a:xfrm>
            <a:off x="7221957" y="4378271"/>
            <a:ext cx="1769643" cy="464962"/>
          </a:xfrm>
          <a:prstGeom prst="rect">
            <a:avLst/>
          </a:prstGeom>
          <a:solidFill>
            <a:schemeClr val="accent4"/>
          </a:solidFill>
          <a:ln cap="flat" cmpd="sng" w="25400">
            <a:solidFill>
              <a:srgbClr val="5D48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Event: Update 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vkolar\AppData\Local\Microsoft\Windows\Temporary Internet Files\Content.IE5\E2H73JIM\MC900442038[1].wmf" id="370" name="Google Shape;37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612" y="3269257"/>
            <a:ext cx="709463" cy="884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vkolar\AppData\Local\Microsoft\Windows\Temporary Internet Files\Content.IE5\E2H73JIM\MC900442038[1].wmf" id="371" name="Google Shape;371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897" y="5112470"/>
            <a:ext cx="709463" cy="884237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1"/>
          <p:cNvSpPr txBox="1"/>
          <p:nvPr/>
        </p:nvSpPr>
        <p:spPr>
          <a:xfrm>
            <a:off x="5257417" y="4528334"/>
            <a:ext cx="1104009" cy="276999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1"/>
          <p:cNvSpPr txBox="1"/>
          <p:nvPr/>
        </p:nvSpPr>
        <p:spPr>
          <a:xfrm>
            <a:off x="6003473" y="3624802"/>
            <a:ext cx="1104009" cy="276999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1"/>
          <p:cNvSpPr txBox="1"/>
          <p:nvPr/>
        </p:nvSpPr>
        <p:spPr>
          <a:xfrm>
            <a:off x="3629847" y="3544499"/>
            <a:ext cx="1104009" cy="276999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1954163" y="3645625"/>
            <a:ext cx="1104009" cy="276999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2411363" y="4805333"/>
            <a:ext cx="1104009" cy="276999"/>
          </a:xfrm>
          <a:prstGeom prst="rect">
            <a:avLst/>
          </a:prstGeom>
          <a:solidFill>
            <a:schemeClr val="accent6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7" name="Google Shape;377;p31"/>
          <p:cNvCxnSpPr>
            <a:stCxn id="370" idx="3"/>
            <a:endCxn id="375" idx="1"/>
          </p:cNvCxnSpPr>
          <p:nvPr/>
        </p:nvCxnSpPr>
        <p:spPr>
          <a:xfrm>
            <a:off x="1374075" y="3711375"/>
            <a:ext cx="580200" cy="72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378" name="Google Shape;378;p31"/>
          <p:cNvCxnSpPr>
            <a:stCxn id="371" idx="3"/>
            <a:endCxn id="376" idx="1"/>
          </p:cNvCxnSpPr>
          <p:nvPr/>
        </p:nvCxnSpPr>
        <p:spPr>
          <a:xfrm flipH="1" rot="10800000">
            <a:off x="1277360" y="4943789"/>
            <a:ext cx="1134000" cy="610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379" name="Google Shape;379;p31"/>
          <p:cNvSpPr txBox="1"/>
          <p:nvPr/>
        </p:nvSpPr>
        <p:spPr>
          <a:xfrm>
            <a:off x="5445872" y="5396672"/>
            <a:ext cx="1104009" cy="276999"/>
          </a:xfrm>
          <a:prstGeom prst="rect">
            <a:avLst/>
          </a:prstGeom>
          <a:solidFill>
            <a:srgbClr val="00B050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1"/>
          <p:cNvSpPr txBox="1"/>
          <p:nvPr/>
        </p:nvSpPr>
        <p:spPr>
          <a:xfrm>
            <a:off x="5256263" y="4530671"/>
            <a:ext cx="1104009" cy="276999"/>
          </a:xfrm>
          <a:prstGeom prst="rect">
            <a:avLst/>
          </a:prstGeom>
          <a:solidFill>
            <a:srgbClr val="00B050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1"/>
          <p:cNvSpPr txBox="1"/>
          <p:nvPr/>
        </p:nvSpPr>
        <p:spPr>
          <a:xfrm>
            <a:off x="6007246" y="3627288"/>
            <a:ext cx="1104009" cy="276999"/>
          </a:xfrm>
          <a:prstGeom prst="rect">
            <a:avLst/>
          </a:prstGeom>
          <a:solidFill>
            <a:srgbClr val="00B050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1"/>
          <p:cNvSpPr txBox="1"/>
          <p:nvPr/>
        </p:nvSpPr>
        <p:spPr>
          <a:xfrm>
            <a:off x="3634029" y="3540071"/>
            <a:ext cx="1104009" cy="276999"/>
          </a:xfrm>
          <a:prstGeom prst="rect">
            <a:avLst/>
          </a:prstGeom>
          <a:solidFill>
            <a:srgbClr val="00B050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1"/>
          <p:cNvSpPr txBox="1"/>
          <p:nvPr/>
        </p:nvSpPr>
        <p:spPr>
          <a:xfrm>
            <a:off x="1940672" y="3649322"/>
            <a:ext cx="1104009" cy="276999"/>
          </a:xfrm>
          <a:prstGeom prst="rect">
            <a:avLst/>
          </a:prstGeom>
          <a:solidFill>
            <a:srgbClr val="00B050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1"/>
          <p:cNvSpPr txBox="1"/>
          <p:nvPr/>
        </p:nvSpPr>
        <p:spPr>
          <a:xfrm>
            <a:off x="2397872" y="4803339"/>
            <a:ext cx="1104009" cy="276999"/>
          </a:xfrm>
          <a:prstGeom prst="rect">
            <a:avLst/>
          </a:prstGeom>
          <a:solidFill>
            <a:srgbClr val="00B050"/>
          </a:solidFill>
          <a:ln cap="flat" cmpd="sng" w="25400">
            <a:solidFill>
              <a:srgbClr val="B46D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Webpage-A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5" name="Google Shape;385;p31"/>
          <p:cNvCxnSpPr>
            <a:endCxn id="382" idx="2"/>
          </p:cNvCxnSpPr>
          <p:nvPr/>
        </p:nvCxnSpPr>
        <p:spPr>
          <a:xfrm flipH="1" rot="10800000">
            <a:off x="4157534" y="3817070"/>
            <a:ext cx="28500" cy="336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dot"/>
            <a:round/>
            <a:headEnd len="med" w="med" type="stealth"/>
            <a:tailEnd len="sm" w="sm" type="none"/>
          </a:ln>
        </p:spPr>
      </p:cxnSp>
      <p:pic>
        <p:nvPicPr>
          <p:cNvPr descr="C:\Users\vkolar\AppData\Local\Microsoft\Windows\Temporary Internet Files\Content.IE5\E2H73JIM\MC900322405[1].wmf" id="368" name="Google Shape;36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44392" y="4911671"/>
            <a:ext cx="787480" cy="8771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6" name="Google Shape;386;p31"/>
          <p:cNvCxnSpPr>
            <a:endCxn id="382" idx="2"/>
          </p:cNvCxnSpPr>
          <p:nvPr/>
        </p:nvCxnSpPr>
        <p:spPr>
          <a:xfrm flipH="1" rot="10800000">
            <a:off x="4157534" y="3817070"/>
            <a:ext cx="28500" cy="314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stealth"/>
            <a:tailEnd len="sm" w="sm" type="none"/>
          </a:ln>
        </p:spPr>
      </p:cxnSp>
      <p:sp>
        <p:nvSpPr>
          <p:cNvPr id="387" name="Google Shape;387;p31"/>
          <p:cNvSpPr/>
          <p:nvPr/>
        </p:nvSpPr>
        <p:spPr>
          <a:xfrm>
            <a:off x="808308" y="6172200"/>
            <a:ext cx="7154572" cy="6096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Protocols like Read Your Own Writes (RYOW) can be applied!</a:t>
            </a:r>
            <a:endParaRPr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NoSQL Databases</a:t>
            </a:r>
            <a:endParaRPr/>
          </a:p>
        </p:txBody>
      </p:sp>
      <p:sp>
        <p:nvSpPr>
          <p:cNvPr id="393" name="Google Shape;393;p32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To this end, a new class of databases emerged, which mainly follow the BASE properties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These were dubbed as NoSQL databases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/>
              <a:t>E.g., Amazon’s Dynamo and Google’s Bigtable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Main characteristics of NoSQL databases include: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rgbClr val="0070C0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rgbClr val="0070C0"/>
                </a:solidFill>
              </a:rPr>
              <a:t>No strict schema requirements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rgbClr val="0070C0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rgbClr val="0070C0"/>
                </a:solidFill>
              </a:rPr>
              <a:t>No strict adherence to ACID properties 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rgbClr val="0070C0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rgbClr val="0070C0"/>
                </a:solidFill>
              </a:rPr>
              <a:t>Consistency is traded in favor of Availability</a:t>
            </a:r>
            <a:endParaRPr sz="2600">
              <a:solidFill>
                <a:srgbClr val="0070C0"/>
              </a:solidFill>
            </a:endParaRPr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Where does NoSQL come from?</a:t>
            </a:r>
            <a:endParaRPr/>
          </a:p>
        </p:txBody>
      </p:sp>
      <p:sp>
        <p:nvSpPr>
          <p:cNvPr id="399" name="Google Shape;399;p3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Non-relational DBMSs are not new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But NoSQL represents a new incarnation 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Due to massively scalable Internet applications 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Based on distributed and parallel computing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Development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Starts with Google 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First research paper published in 2003 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Continues also thanks to Lucene's developers/Apache (Hadoop) and Amazon (Dynamo) 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Then a lot of products and interests came from Facebook, Netfix, Yahoo, eBay, Hulu, IBM, and many more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4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NoSQL Databases</a:t>
            </a:r>
            <a:endParaRPr/>
          </a:p>
        </p:txBody>
      </p:sp>
      <p:sp>
        <p:nvSpPr>
          <p:cNvPr id="405" name="Google Shape;405;p34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Here is a limited taxonomy of NoSQL databases:</a:t>
            </a:r>
            <a:endParaRPr sz="2600">
              <a:solidFill>
                <a:srgbClr val="0070C0"/>
              </a:solidFill>
            </a:endParaRPr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406" name="Google Shape;406;p34"/>
          <p:cNvSpPr/>
          <p:nvPr/>
        </p:nvSpPr>
        <p:spPr>
          <a:xfrm>
            <a:off x="2829374" y="2438400"/>
            <a:ext cx="3276600" cy="10668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NoSQL Databases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228600" y="4267200"/>
            <a:ext cx="2057400" cy="9906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 Stores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2438400" y="4267200"/>
            <a:ext cx="2057400" cy="9906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Databases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4"/>
          <p:cNvSpPr/>
          <p:nvPr/>
        </p:nvSpPr>
        <p:spPr>
          <a:xfrm>
            <a:off x="4638230" y="4248684"/>
            <a:ext cx="2050279" cy="9906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Key-Value Stores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4"/>
          <p:cNvSpPr/>
          <p:nvPr/>
        </p:nvSpPr>
        <p:spPr>
          <a:xfrm>
            <a:off x="6841620" y="4248684"/>
            <a:ext cx="2050279" cy="9906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Columnar Databases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1" name="Google Shape;411;p34"/>
          <p:cNvCxnSpPr>
            <a:stCxn id="406" idx="2"/>
            <a:endCxn id="407" idx="0"/>
          </p:cNvCxnSpPr>
          <p:nvPr/>
        </p:nvCxnSpPr>
        <p:spPr>
          <a:xfrm flipH="1">
            <a:off x="1257374" y="3505200"/>
            <a:ext cx="3210300" cy="762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2" name="Google Shape;412;p34"/>
          <p:cNvCxnSpPr>
            <a:stCxn id="406" idx="2"/>
            <a:endCxn id="408" idx="0"/>
          </p:cNvCxnSpPr>
          <p:nvPr/>
        </p:nvCxnSpPr>
        <p:spPr>
          <a:xfrm flipH="1">
            <a:off x="3467174" y="3505200"/>
            <a:ext cx="1000500" cy="762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3" name="Google Shape;413;p34"/>
          <p:cNvCxnSpPr>
            <a:stCxn id="406" idx="2"/>
            <a:endCxn id="409" idx="0"/>
          </p:cNvCxnSpPr>
          <p:nvPr/>
        </p:nvCxnSpPr>
        <p:spPr>
          <a:xfrm>
            <a:off x="4467674" y="3505200"/>
            <a:ext cx="1195800" cy="743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14" name="Google Shape;414;p34"/>
          <p:cNvCxnSpPr>
            <a:stCxn id="406" idx="2"/>
            <a:endCxn id="410" idx="0"/>
          </p:cNvCxnSpPr>
          <p:nvPr/>
        </p:nvCxnSpPr>
        <p:spPr>
          <a:xfrm>
            <a:off x="4467674" y="3505200"/>
            <a:ext cx="3399000" cy="743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15" name="Google Shape;415;p34"/>
          <p:cNvSpPr/>
          <p:nvPr/>
        </p:nvSpPr>
        <p:spPr>
          <a:xfrm>
            <a:off x="796539" y="5511326"/>
            <a:ext cx="762000" cy="7620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2060"/>
          </a:solidFill>
          <a:ln cap="flat" cmpd="sng" w="254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aramond"/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NoSQL Database Types</a:t>
            </a:r>
            <a:endParaRPr/>
          </a:p>
        </p:txBody>
      </p:sp>
      <p:sp>
        <p:nvSpPr>
          <p:cNvPr id="421" name="Google Shape;421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/>
              <a:t>Discussing NoSQL databases is complicated </a:t>
            </a:r>
            <a:br>
              <a:rPr lang="en-US"/>
            </a:br>
            <a:r>
              <a:rPr lang="en-US"/>
              <a:t>because there are a variety of types: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14224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Sorted ordered Column Store</a:t>
            </a:r>
            <a:endParaRPr/>
          </a:p>
          <a:p>
            <a:pPr indent="-124459" lvl="1" marL="34290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Optimized for queries over large datasets, and store </a:t>
            </a:r>
            <a:br>
              <a:rPr lang="en-US"/>
            </a:br>
            <a:r>
              <a:rPr lang="en-US"/>
              <a:t>columns of data together, instead of rows</a:t>
            </a:r>
            <a:endParaRPr/>
          </a:p>
          <a:p>
            <a:pPr indent="-14224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Document databases: </a:t>
            </a:r>
            <a:endParaRPr/>
          </a:p>
          <a:p>
            <a:pPr indent="-124459" lvl="1" marL="34290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pair each key with a complex data structure known as a document. </a:t>
            </a:r>
            <a:endParaRPr/>
          </a:p>
          <a:p>
            <a:pPr indent="-14224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Key-Value Store : </a:t>
            </a:r>
            <a:endParaRPr/>
          </a:p>
          <a:p>
            <a:pPr indent="-124459" lvl="1" marL="34290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are the simplest NoSQL databases. Every single item in the database is stored as an attribute name (or 'key'), together with its value. </a:t>
            </a:r>
            <a:endParaRPr/>
          </a:p>
          <a:p>
            <a:pPr indent="-14224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Graph Databases :</a:t>
            </a:r>
            <a:endParaRPr/>
          </a:p>
          <a:p>
            <a:pPr indent="-124459" lvl="1" marL="34290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are used to store information about networks of data, such as social connections.  </a:t>
            </a:r>
            <a:br>
              <a:rPr lang="en-US"/>
            </a:br>
            <a:endParaRPr/>
          </a:p>
        </p:txBody>
      </p:sp>
      <p:pic>
        <p:nvPicPr>
          <p:cNvPr id="422" name="Google Shape;42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1924" y="1483565"/>
            <a:ext cx="2508769" cy="2508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6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Document Stores</a:t>
            </a:r>
            <a:endParaRPr/>
          </a:p>
        </p:txBody>
      </p:sp>
      <p:sp>
        <p:nvSpPr>
          <p:cNvPr id="428" name="Google Shape;428;p36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Documents are stored in some standard format or encoding (e.g., XML, JSON, PDF or Office Documents)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These are typically referred to as Binary Large Objects (BLOBs)</a:t>
            </a:r>
            <a:endParaRPr/>
          </a:p>
          <a:p>
            <a:pPr indent="-1206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Documents can be indexed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This allows document stores to outperform traditional file systems</a:t>
            </a:r>
            <a:endParaRPr/>
          </a:p>
          <a:p>
            <a:pPr indent="-1206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None/>
            </a:pPr>
            <a:r>
              <a:t/>
            </a:r>
            <a:endParaRPr sz="26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E.g., MongoDB and CouchDB (both can be queried using MapReduce)</a:t>
            </a:r>
            <a:endParaRPr sz="2800"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7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NoSQL Databases</a:t>
            </a:r>
            <a:endParaRPr/>
          </a:p>
        </p:txBody>
      </p:sp>
      <p:sp>
        <p:nvSpPr>
          <p:cNvPr id="434" name="Google Shape;434;p37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Here is a limited taxonomy of NoSQL databases:</a:t>
            </a:r>
            <a:endParaRPr sz="2600">
              <a:solidFill>
                <a:srgbClr val="0070C0"/>
              </a:solidFill>
            </a:endParaRPr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435" name="Google Shape;435;p37"/>
          <p:cNvSpPr/>
          <p:nvPr/>
        </p:nvSpPr>
        <p:spPr>
          <a:xfrm>
            <a:off x="2829374" y="2438400"/>
            <a:ext cx="3276600" cy="10668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NoSQL Databases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7"/>
          <p:cNvSpPr/>
          <p:nvPr/>
        </p:nvSpPr>
        <p:spPr>
          <a:xfrm>
            <a:off x="228600" y="4267200"/>
            <a:ext cx="2057400" cy="9906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 Stores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7"/>
          <p:cNvSpPr/>
          <p:nvPr/>
        </p:nvSpPr>
        <p:spPr>
          <a:xfrm>
            <a:off x="2438400" y="4267200"/>
            <a:ext cx="2057400" cy="9906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Databases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7"/>
          <p:cNvSpPr/>
          <p:nvPr/>
        </p:nvSpPr>
        <p:spPr>
          <a:xfrm>
            <a:off x="4638230" y="4248684"/>
            <a:ext cx="2050279" cy="9906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Key-Value Stores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7"/>
          <p:cNvSpPr/>
          <p:nvPr/>
        </p:nvSpPr>
        <p:spPr>
          <a:xfrm>
            <a:off x="6841620" y="4248684"/>
            <a:ext cx="2050279" cy="9906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Columnar Databases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0" name="Google Shape;440;p37"/>
          <p:cNvCxnSpPr>
            <a:stCxn id="435" idx="2"/>
            <a:endCxn id="436" idx="0"/>
          </p:cNvCxnSpPr>
          <p:nvPr/>
        </p:nvCxnSpPr>
        <p:spPr>
          <a:xfrm flipH="1">
            <a:off x="1257374" y="3505200"/>
            <a:ext cx="3210300" cy="762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1" name="Google Shape;441;p37"/>
          <p:cNvCxnSpPr>
            <a:stCxn id="435" idx="2"/>
            <a:endCxn id="437" idx="0"/>
          </p:cNvCxnSpPr>
          <p:nvPr/>
        </p:nvCxnSpPr>
        <p:spPr>
          <a:xfrm flipH="1">
            <a:off x="3467174" y="3505200"/>
            <a:ext cx="1000500" cy="762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2" name="Google Shape;442;p37"/>
          <p:cNvCxnSpPr>
            <a:stCxn id="435" idx="2"/>
            <a:endCxn id="438" idx="0"/>
          </p:cNvCxnSpPr>
          <p:nvPr/>
        </p:nvCxnSpPr>
        <p:spPr>
          <a:xfrm>
            <a:off x="4467674" y="3505200"/>
            <a:ext cx="1195800" cy="743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3" name="Google Shape;443;p37"/>
          <p:cNvCxnSpPr>
            <a:stCxn id="435" idx="2"/>
            <a:endCxn id="439" idx="0"/>
          </p:cNvCxnSpPr>
          <p:nvPr/>
        </p:nvCxnSpPr>
        <p:spPr>
          <a:xfrm>
            <a:off x="4467674" y="3505200"/>
            <a:ext cx="3399000" cy="743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44" name="Google Shape;444;p37"/>
          <p:cNvSpPr/>
          <p:nvPr/>
        </p:nvSpPr>
        <p:spPr>
          <a:xfrm>
            <a:off x="3086100" y="5511326"/>
            <a:ext cx="762000" cy="7620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2060"/>
          </a:solidFill>
          <a:ln cap="flat" cmpd="sng" w="254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8"/>
          <p:cNvSpPr txBox="1"/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Graph Databases</a:t>
            </a:r>
            <a:endParaRPr/>
          </a:p>
        </p:txBody>
      </p:sp>
      <p:sp>
        <p:nvSpPr>
          <p:cNvPr id="450" name="Google Shape;450;p38"/>
          <p:cNvSpPr txBox="1"/>
          <p:nvPr>
            <p:ph idx="1" type="body"/>
          </p:nvPr>
        </p:nvSpPr>
        <p:spPr>
          <a:xfrm>
            <a:off x="457200" y="1143000"/>
            <a:ext cx="84582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sz="2600"/>
              <a:t>Data are represented as vertices and edges</a:t>
            </a:r>
            <a:endParaRPr/>
          </a:p>
          <a:p>
            <a:pPr indent="-190182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600"/>
          </a:p>
          <a:p>
            <a:pPr indent="-190182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600"/>
          </a:p>
          <a:p>
            <a:pPr indent="-190182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600"/>
          </a:p>
          <a:p>
            <a:pPr indent="-190182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600"/>
          </a:p>
          <a:p>
            <a:pPr indent="-190182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600"/>
          </a:p>
          <a:p>
            <a:pPr indent="-190182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600"/>
          </a:p>
          <a:p>
            <a:pPr indent="-190182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600"/>
          </a:p>
          <a:p>
            <a:pPr indent="-190182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600"/>
          </a:p>
          <a:p>
            <a:pPr indent="-190182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600"/>
          </a:p>
          <a:p>
            <a:pPr indent="-342900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sz="2600"/>
              <a:t>Graph databases are powerful for graph-like queries (e.g., find the shortest path between two elements)</a:t>
            </a:r>
            <a:endParaRPr/>
          </a:p>
          <a:p>
            <a:pPr indent="-190182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600"/>
          </a:p>
          <a:p>
            <a:pPr indent="-342900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lang="en-US" sz="2600"/>
              <a:t>E.g., Neo4j and VertexDB</a:t>
            </a:r>
            <a:endParaRPr sz="2600"/>
          </a:p>
          <a:p>
            <a:pPr indent="-144780" lvl="1" marL="74295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400"/>
          </a:p>
          <a:p>
            <a:pPr indent="-122872" lvl="2" marL="114300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1800"/>
          </a:p>
          <a:p>
            <a:pPr indent="-180022" lvl="1" marL="74295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451" name="Google Shape;451;p38"/>
          <p:cNvSpPr/>
          <p:nvPr/>
        </p:nvSpPr>
        <p:spPr>
          <a:xfrm>
            <a:off x="2118612" y="2705925"/>
            <a:ext cx="1143000" cy="1143000"/>
          </a:xfrm>
          <a:prstGeom prst="ellipse">
            <a:avLst/>
          </a:prstGeom>
          <a:solidFill>
            <a:srgbClr val="92D05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Id: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 Alice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Age: 18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8"/>
          <p:cNvSpPr/>
          <p:nvPr/>
        </p:nvSpPr>
        <p:spPr>
          <a:xfrm>
            <a:off x="5014212" y="1597820"/>
            <a:ext cx="1143000" cy="1143000"/>
          </a:xfrm>
          <a:prstGeom prst="ellipse">
            <a:avLst/>
          </a:prstGeom>
          <a:solidFill>
            <a:srgbClr val="92D05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Id: 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Name: Bob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Age: 22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4221606" y="3911983"/>
            <a:ext cx="1143000" cy="1143000"/>
          </a:xfrm>
          <a:prstGeom prst="ellipse">
            <a:avLst/>
          </a:prstGeom>
          <a:solidFill>
            <a:srgbClr val="7030A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Id: 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Name: Chess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Type: Group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4" name="Google Shape;454;p38"/>
          <p:cNvCxnSpPr>
            <a:stCxn id="451" idx="7"/>
            <a:endCxn id="452" idx="2"/>
          </p:cNvCxnSpPr>
          <p:nvPr/>
        </p:nvCxnSpPr>
        <p:spPr>
          <a:xfrm rot="-5400000">
            <a:off x="3702174" y="1561263"/>
            <a:ext cx="704100" cy="1920000"/>
          </a:xfrm>
          <a:prstGeom prst="curvedConnector2">
            <a:avLst/>
          </a:prstGeom>
          <a:noFill/>
          <a:ln cap="flat" cmpd="sng" w="19050">
            <a:solidFill>
              <a:srgbClr val="2906F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5" name="Google Shape;455;p38"/>
          <p:cNvCxnSpPr>
            <a:stCxn id="452" idx="3"/>
            <a:endCxn id="451" idx="6"/>
          </p:cNvCxnSpPr>
          <p:nvPr/>
        </p:nvCxnSpPr>
        <p:spPr>
          <a:xfrm rot="5400000">
            <a:off x="3869550" y="1965482"/>
            <a:ext cx="704100" cy="1920000"/>
          </a:xfrm>
          <a:prstGeom prst="curvedConnector2">
            <a:avLst/>
          </a:prstGeom>
          <a:noFill/>
          <a:ln cap="flat" cmpd="sng" w="19050">
            <a:solidFill>
              <a:srgbClr val="2906F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6" name="Google Shape;456;p38"/>
          <p:cNvCxnSpPr>
            <a:stCxn id="451" idx="4"/>
            <a:endCxn id="453" idx="2"/>
          </p:cNvCxnSpPr>
          <p:nvPr/>
        </p:nvCxnSpPr>
        <p:spPr>
          <a:xfrm flipH="1" rot="-5400000">
            <a:off x="3138612" y="3400425"/>
            <a:ext cx="634500" cy="1531500"/>
          </a:xfrm>
          <a:prstGeom prst="curvedConnector2">
            <a:avLst/>
          </a:prstGeom>
          <a:noFill/>
          <a:ln cap="flat" cmpd="sng" w="19050">
            <a:solidFill>
              <a:srgbClr val="2906F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7" name="Google Shape;457;p38"/>
          <p:cNvCxnSpPr>
            <a:stCxn id="453" idx="1"/>
          </p:cNvCxnSpPr>
          <p:nvPr/>
        </p:nvCxnSpPr>
        <p:spPr>
          <a:xfrm flipH="1" rot="5400000">
            <a:off x="3525744" y="3216121"/>
            <a:ext cx="537900" cy="1188600"/>
          </a:xfrm>
          <a:prstGeom prst="curvedConnector2">
            <a:avLst/>
          </a:prstGeom>
          <a:noFill/>
          <a:ln cap="flat" cmpd="sng" w="19050">
            <a:solidFill>
              <a:srgbClr val="2906F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8" name="Google Shape;458;p38"/>
          <p:cNvCxnSpPr>
            <a:stCxn id="452" idx="4"/>
            <a:endCxn id="453" idx="0"/>
          </p:cNvCxnSpPr>
          <p:nvPr/>
        </p:nvCxnSpPr>
        <p:spPr>
          <a:xfrm rot="5400000">
            <a:off x="4603812" y="2930120"/>
            <a:ext cx="1171200" cy="792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2906FA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9" name="Google Shape;459;p38"/>
          <p:cNvCxnSpPr>
            <a:stCxn id="453" idx="7"/>
            <a:endCxn id="452" idx="5"/>
          </p:cNvCxnSpPr>
          <p:nvPr/>
        </p:nvCxnSpPr>
        <p:spPr>
          <a:xfrm rot="-5400000">
            <a:off x="4840518" y="2930071"/>
            <a:ext cx="1506000" cy="792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2906FA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60" name="Google Shape;460;p38"/>
          <p:cNvSpPr txBox="1"/>
          <p:nvPr/>
        </p:nvSpPr>
        <p:spPr>
          <a:xfrm rot="-1113258">
            <a:off x="3008911" y="1719958"/>
            <a:ext cx="13372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Id:100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Label: knows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Since: 2001/10/03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8"/>
          <p:cNvSpPr txBox="1"/>
          <p:nvPr/>
        </p:nvSpPr>
        <p:spPr>
          <a:xfrm rot="-1113258">
            <a:off x="3541395" y="2507111"/>
            <a:ext cx="13372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Id:101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Label: knows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Since: 2001/10/03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8"/>
          <p:cNvSpPr txBox="1"/>
          <p:nvPr/>
        </p:nvSpPr>
        <p:spPr>
          <a:xfrm rot="1144732">
            <a:off x="3533429" y="3336421"/>
            <a:ext cx="11919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Id:103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Label: Members</a:t>
            </a:r>
            <a:endParaRPr/>
          </a:p>
        </p:txBody>
      </p:sp>
      <p:sp>
        <p:nvSpPr>
          <p:cNvPr id="463" name="Google Shape;463;p38"/>
          <p:cNvSpPr txBox="1"/>
          <p:nvPr/>
        </p:nvSpPr>
        <p:spPr>
          <a:xfrm rot="-2512797">
            <a:off x="5338977" y="3180710"/>
            <a:ext cx="11919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Id:104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Label: Members</a:t>
            </a:r>
            <a:endParaRPr/>
          </a:p>
        </p:txBody>
      </p:sp>
      <p:sp>
        <p:nvSpPr>
          <p:cNvPr id="464" name="Google Shape;464;p38"/>
          <p:cNvSpPr txBox="1"/>
          <p:nvPr/>
        </p:nvSpPr>
        <p:spPr>
          <a:xfrm rot="-2553611">
            <a:off x="4252451" y="2789344"/>
            <a:ext cx="13372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Id:105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Label: is_member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Since: 2011/02/14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8"/>
          <p:cNvSpPr txBox="1"/>
          <p:nvPr/>
        </p:nvSpPr>
        <p:spPr>
          <a:xfrm rot="1437996">
            <a:off x="2531785" y="4351880"/>
            <a:ext cx="13372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Id:102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Label: is_member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Since: 2005/07/01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9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NoSQL Databases</a:t>
            </a:r>
            <a:endParaRPr/>
          </a:p>
        </p:txBody>
      </p:sp>
      <p:sp>
        <p:nvSpPr>
          <p:cNvPr id="471" name="Google Shape;471;p39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Here is a limited taxonomy of NoSQL databases:</a:t>
            </a:r>
            <a:endParaRPr sz="2600">
              <a:solidFill>
                <a:srgbClr val="0070C0"/>
              </a:solidFill>
            </a:endParaRPr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472" name="Google Shape;472;p39"/>
          <p:cNvSpPr/>
          <p:nvPr/>
        </p:nvSpPr>
        <p:spPr>
          <a:xfrm>
            <a:off x="2829374" y="2438400"/>
            <a:ext cx="3276600" cy="10668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NoSQL Databases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9"/>
          <p:cNvSpPr/>
          <p:nvPr/>
        </p:nvSpPr>
        <p:spPr>
          <a:xfrm>
            <a:off x="228600" y="4267200"/>
            <a:ext cx="2057400" cy="9906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 Stores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9"/>
          <p:cNvSpPr/>
          <p:nvPr/>
        </p:nvSpPr>
        <p:spPr>
          <a:xfrm>
            <a:off x="2438400" y="4267200"/>
            <a:ext cx="2057400" cy="9906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Databases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9"/>
          <p:cNvSpPr/>
          <p:nvPr/>
        </p:nvSpPr>
        <p:spPr>
          <a:xfrm>
            <a:off x="4638230" y="4248684"/>
            <a:ext cx="2050279" cy="9906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Key-Value Stores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9"/>
          <p:cNvSpPr/>
          <p:nvPr/>
        </p:nvSpPr>
        <p:spPr>
          <a:xfrm>
            <a:off x="6841620" y="4248684"/>
            <a:ext cx="2050279" cy="9906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Columnar Databases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7" name="Google Shape;477;p39"/>
          <p:cNvCxnSpPr>
            <a:stCxn id="472" idx="2"/>
            <a:endCxn id="473" idx="0"/>
          </p:cNvCxnSpPr>
          <p:nvPr/>
        </p:nvCxnSpPr>
        <p:spPr>
          <a:xfrm flipH="1">
            <a:off x="1257374" y="3505200"/>
            <a:ext cx="3210300" cy="762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8" name="Google Shape;478;p39"/>
          <p:cNvCxnSpPr>
            <a:stCxn id="472" idx="2"/>
            <a:endCxn id="474" idx="0"/>
          </p:cNvCxnSpPr>
          <p:nvPr/>
        </p:nvCxnSpPr>
        <p:spPr>
          <a:xfrm flipH="1">
            <a:off x="3467174" y="3505200"/>
            <a:ext cx="1000500" cy="762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79" name="Google Shape;479;p39"/>
          <p:cNvCxnSpPr>
            <a:stCxn id="472" idx="2"/>
            <a:endCxn id="475" idx="0"/>
          </p:cNvCxnSpPr>
          <p:nvPr/>
        </p:nvCxnSpPr>
        <p:spPr>
          <a:xfrm>
            <a:off x="4467674" y="3505200"/>
            <a:ext cx="1195800" cy="743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80" name="Google Shape;480;p39"/>
          <p:cNvCxnSpPr>
            <a:stCxn id="472" idx="2"/>
            <a:endCxn id="476" idx="0"/>
          </p:cNvCxnSpPr>
          <p:nvPr/>
        </p:nvCxnSpPr>
        <p:spPr>
          <a:xfrm>
            <a:off x="4467674" y="3505200"/>
            <a:ext cx="3399000" cy="743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81" name="Google Shape;481;p39"/>
          <p:cNvSpPr/>
          <p:nvPr/>
        </p:nvSpPr>
        <p:spPr>
          <a:xfrm>
            <a:off x="5282369" y="5464325"/>
            <a:ext cx="762000" cy="7620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2060"/>
          </a:solidFill>
          <a:ln cap="flat" cmpd="sng" w="254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0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Key-Value Stores</a:t>
            </a:r>
            <a:endParaRPr/>
          </a:p>
        </p:txBody>
      </p:sp>
      <p:sp>
        <p:nvSpPr>
          <p:cNvPr id="487" name="Google Shape;487;p40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Keys are mapped to (possibly) more complex value (e.g., lists)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Keys can be stored in a hash table and can be distributed easily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Such stores typically support regular CRUD (create, read, update, and delete) operations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That is, no joins and aggregate functions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E.g., Amazon DynamoDB and Apache Cassandra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1"/>
          <p:cNvSpPr txBox="1"/>
          <p:nvPr>
            <p:ph type="title"/>
          </p:nvPr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NoSQL Databases</a:t>
            </a:r>
            <a:endParaRPr/>
          </a:p>
        </p:txBody>
      </p:sp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457200" y="1524000"/>
            <a:ext cx="8458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▪"/>
            </a:pPr>
            <a:r>
              <a:rPr lang="en-US" sz="2800"/>
              <a:t>Here is a limited taxonomy of NoSQL databases:</a:t>
            </a:r>
            <a:endParaRPr sz="2600">
              <a:solidFill>
                <a:srgbClr val="0070C0"/>
              </a:solidFill>
            </a:endParaRPr>
          </a:p>
          <a:p>
            <a:pPr indent="-114300" lvl="2" marL="1143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1714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494" name="Google Shape;494;p41"/>
          <p:cNvSpPr/>
          <p:nvPr/>
        </p:nvSpPr>
        <p:spPr>
          <a:xfrm>
            <a:off x="2829374" y="2438400"/>
            <a:ext cx="3276600" cy="10668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NoSQL Databases</a:t>
            </a:r>
            <a:endParaRPr sz="2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1"/>
          <p:cNvSpPr/>
          <p:nvPr/>
        </p:nvSpPr>
        <p:spPr>
          <a:xfrm>
            <a:off x="228600" y="4267200"/>
            <a:ext cx="2057400" cy="9906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 Stores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1"/>
          <p:cNvSpPr/>
          <p:nvPr/>
        </p:nvSpPr>
        <p:spPr>
          <a:xfrm>
            <a:off x="2438400" y="4267200"/>
            <a:ext cx="2057400" cy="9906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Databases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1"/>
          <p:cNvSpPr/>
          <p:nvPr/>
        </p:nvSpPr>
        <p:spPr>
          <a:xfrm>
            <a:off x="4638230" y="4248684"/>
            <a:ext cx="2050279" cy="9906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Key-Value Stores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1"/>
          <p:cNvSpPr/>
          <p:nvPr/>
        </p:nvSpPr>
        <p:spPr>
          <a:xfrm>
            <a:off x="6841620" y="4248684"/>
            <a:ext cx="2050279" cy="9906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Columnar Databases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9" name="Google Shape;499;p41"/>
          <p:cNvCxnSpPr>
            <a:stCxn id="494" idx="2"/>
            <a:endCxn id="495" idx="0"/>
          </p:cNvCxnSpPr>
          <p:nvPr/>
        </p:nvCxnSpPr>
        <p:spPr>
          <a:xfrm flipH="1">
            <a:off x="1257374" y="3505200"/>
            <a:ext cx="3210300" cy="762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0" name="Google Shape;500;p41"/>
          <p:cNvCxnSpPr>
            <a:stCxn id="494" idx="2"/>
            <a:endCxn id="496" idx="0"/>
          </p:cNvCxnSpPr>
          <p:nvPr/>
        </p:nvCxnSpPr>
        <p:spPr>
          <a:xfrm flipH="1">
            <a:off x="3467174" y="3505200"/>
            <a:ext cx="1000500" cy="762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1" name="Google Shape;501;p41"/>
          <p:cNvCxnSpPr>
            <a:stCxn id="494" idx="2"/>
            <a:endCxn id="497" idx="0"/>
          </p:cNvCxnSpPr>
          <p:nvPr/>
        </p:nvCxnSpPr>
        <p:spPr>
          <a:xfrm>
            <a:off x="4467674" y="3505200"/>
            <a:ext cx="1195800" cy="743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02" name="Google Shape;502;p41"/>
          <p:cNvCxnSpPr>
            <a:stCxn id="494" idx="2"/>
            <a:endCxn id="498" idx="0"/>
          </p:cNvCxnSpPr>
          <p:nvPr/>
        </p:nvCxnSpPr>
        <p:spPr>
          <a:xfrm>
            <a:off x="4467674" y="3505200"/>
            <a:ext cx="3399000" cy="7434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03" name="Google Shape;503;p41"/>
          <p:cNvSpPr/>
          <p:nvPr/>
        </p:nvSpPr>
        <p:spPr>
          <a:xfrm>
            <a:off x="7485760" y="5410200"/>
            <a:ext cx="762000" cy="7620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002060"/>
          </a:solidFill>
          <a:ln cap="flat" cmpd="sng" w="254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aramond"/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Key/Value stores</a:t>
            </a:r>
            <a:endParaRPr/>
          </a:p>
        </p:txBody>
      </p:sp>
      <p:sp>
        <p:nvSpPr>
          <p:cNvPr id="509" name="Google Shape;509;p42"/>
          <p:cNvSpPr txBox="1"/>
          <p:nvPr>
            <p:ph idx="1" type="body"/>
          </p:nvPr>
        </p:nvSpPr>
        <p:spPr>
          <a:xfrm>
            <a:off x="628650" y="1541540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Store data in a schema-less way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Store data as maps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HashMaps or associative arrays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Provide a very efficient average running time algorithm for accessing data </a:t>
            </a:r>
            <a:endParaRPr/>
          </a:p>
        </p:txBody>
      </p:sp>
      <p:pic>
        <p:nvPicPr>
          <p:cNvPr id="510" name="Google Shape;51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4648200"/>
            <a:ext cx="285750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"/>
          <p:cNvSpPr txBox="1"/>
          <p:nvPr>
            <p:ph idx="1" type="body"/>
          </p:nvPr>
        </p:nvSpPr>
        <p:spPr>
          <a:xfrm>
            <a:off x="457200" y="685800"/>
            <a:ext cx="8229600" cy="544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Notable for: 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Google's Bigtable (used in all </a:t>
            </a:r>
            <a:br>
              <a:rPr lang="en-US"/>
            </a:br>
            <a:r>
              <a:rPr lang="en-US"/>
              <a:t>Google's services) 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HBase (Facebook, StumbleUpon, </a:t>
            </a:r>
            <a:br>
              <a:rPr lang="en-US"/>
            </a:br>
            <a:r>
              <a:rPr lang="en-US"/>
              <a:t>Hulu, Yahoo!, ...)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Google's Bigtable (used in all </a:t>
            </a:r>
            <a:br>
              <a:rPr lang="en-US"/>
            </a:br>
            <a:r>
              <a:rPr lang="en-US"/>
              <a:t>Google's services) 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HBase (Facebook, StumbleUpon, </a:t>
            </a:r>
            <a:br>
              <a:rPr lang="en-US"/>
            </a:br>
            <a:r>
              <a:rPr lang="en-US"/>
              <a:t>Hulu, Yahoo!, ...)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Couchbase (Zynga, Vimeo, NAVTEQ, ...) 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Redis (Craiglist, Instagram, StackOverfow, </a:t>
            </a:r>
            <a:br>
              <a:rPr lang="en-US"/>
            </a:br>
            <a:r>
              <a:rPr lang="en-US"/>
              <a:t>flickr, ...) 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Amazon Dynamo (Amazon, Elsevier, </a:t>
            </a:r>
            <a:br>
              <a:rPr lang="en-US"/>
            </a:br>
            <a:r>
              <a:rPr lang="en-US"/>
              <a:t>IMDb, ...) 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Apache Cassandra (Facebook, Digg, </a:t>
            </a:r>
            <a:br>
              <a:rPr lang="en-US"/>
            </a:br>
            <a:r>
              <a:rPr lang="en-US"/>
              <a:t>Reddit, Twitter,...) 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Voldemort (LinkedIn, eBay, …) 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Riak (Github, Comcast, Mochi, ...)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aramond"/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Sorted Ordered Column-Oriented Stores</a:t>
            </a:r>
            <a:endParaRPr/>
          </a:p>
        </p:txBody>
      </p:sp>
      <p:sp>
        <p:nvSpPr>
          <p:cNvPr id="521" name="Google Shape;521;p44"/>
          <p:cNvSpPr txBox="1"/>
          <p:nvPr>
            <p:ph idx="1" type="body"/>
          </p:nvPr>
        </p:nvSpPr>
        <p:spPr>
          <a:xfrm>
            <a:off x="628650" y="1541540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Data are stored in a column-oriented way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Data efficiently stored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Avoids consuming space for storing nulls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Columns are grouped in column-families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Data isn’t stored as a single table but is stored by column families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Unit of data is a set of key/value pairs 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Identified by “row-key” 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Ordered and sorted based on row-key</a:t>
            </a:r>
            <a:endParaRPr/>
          </a:p>
        </p:txBody>
      </p:sp>
      <p:pic>
        <p:nvPicPr>
          <p:cNvPr id="522" name="Google Shape;52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57775" y="3919537"/>
            <a:ext cx="3894146" cy="2534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aramond"/>
              <a:buNone/>
            </a:pPr>
            <a:r>
              <a:rPr lang="en-US">
                <a:latin typeface="Garamond"/>
                <a:ea typeface="Garamond"/>
                <a:cs typeface="Garamond"/>
                <a:sym typeface="Garamond"/>
              </a:rPr>
              <a:t>CAP Theorem</a:t>
            </a:r>
            <a:endParaRPr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528" name="Google Shape;528;p45"/>
          <p:cNvSpPr txBox="1"/>
          <p:nvPr>
            <p:ph idx="1" type="body"/>
          </p:nvPr>
        </p:nvSpPr>
        <p:spPr>
          <a:xfrm>
            <a:off x="442219" y="1577049"/>
            <a:ext cx="3748781" cy="4823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At most two of the following three can be maximized at one time 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Consistency </a:t>
            </a:r>
            <a:endParaRPr/>
          </a:p>
          <a:p>
            <a:pPr indent="-285750" lvl="1" marL="74295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</a:pPr>
            <a:r>
              <a:rPr lang="en-US" sz="1200"/>
              <a:t>Each client has the same view of the </a:t>
            </a:r>
            <a:br>
              <a:rPr lang="en-US" sz="1200"/>
            </a:br>
            <a:r>
              <a:rPr lang="en-US" sz="1200"/>
              <a:t>data 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Availability </a:t>
            </a:r>
            <a:endParaRPr/>
          </a:p>
          <a:p>
            <a:pPr indent="-285750" lvl="1" marL="74295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</a:pPr>
            <a:r>
              <a:rPr lang="en-US" sz="1200"/>
              <a:t>Each client can always read and write 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Partition tolerance </a:t>
            </a:r>
            <a:endParaRPr sz="1600"/>
          </a:p>
          <a:p>
            <a:pPr indent="-285750" lvl="1" marL="74295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</a:pPr>
            <a:r>
              <a:rPr lang="en-US" sz="1200"/>
              <a:t>System works well across distributed </a:t>
            </a:r>
            <a:br>
              <a:rPr lang="en-US" sz="1200"/>
            </a:br>
            <a:r>
              <a:rPr lang="en-US" sz="1200"/>
              <a:t>physical networks</a:t>
            </a:r>
            <a:endParaRPr sz="1200"/>
          </a:p>
        </p:txBody>
      </p:sp>
      <p:pic>
        <p:nvPicPr>
          <p:cNvPr id="529" name="Google Shape;52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3400" y="1524000"/>
            <a:ext cx="4590731" cy="445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