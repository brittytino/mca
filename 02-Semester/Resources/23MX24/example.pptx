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999FB-D2BF-425D-765C-01BF2E2CA5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9858330-C0F6-BA97-8793-B980E12827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0FDE670-83E0-2779-EF61-569BA9E8A442}"/>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5" name="Footer Placeholder 4">
            <a:extLst>
              <a:ext uri="{FF2B5EF4-FFF2-40B4-BE49-F238E27FC236}">
                <a16:creationId xmlns:a16="http://schemas.microsoft.com/office/drawing/2014/main" id="{FE569463-6518-5D9D-BB1F-E9E52637DD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BDEB8E-D120-4648-981A-31555FE3EF10}"/>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3529644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F7DF2-A59E-907C-EF77-37240E7DB7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B6CCEB-2A21-F45D-7D55-B1C9B3F71E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E96170-327F-FB68-D699-3B9778950CA6}"/>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5" name="Footer Placeholder 4">
            <a:extLst>
              <a:ext uri="{FF2B5EF4-FFF2-40B4-BE49-F238E27FC236}">
                <a16:creationId xmlns:a16="http://schemas.microsoft.com/office/drawing/2014/main" id="{9F657157-F987-8865-FF6E-509B86013E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698BDE-E9D1-43D1-4636-8CCF425F9C8E}"/>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3621573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2491A-A0C9-F4ED-1018-E2D9E400CB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5F011F-0A3E-DC31-2DBA-D554520823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685B31-EFFA-79AD-15A8-99A58BB1533E}"/>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5" name="Footer Placeholder 4">
            <a:extLst>
              <a:ext uri="{FF2B5EF4-FFF2-40B4-BE49-F238E27FC236}">
                <a16:creationId xmlns:a16="http://schemas.microsoft.com/office/drawing/2014/main" id="{18C41773-7779-F834-20B4-C5AAF6F498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BD4C0F-1F02-5648-70F0-46D416E23C9E}"/>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654330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5D7EA-14A6-E04E-517F-F044D55D54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4554A9-59F9-9062-E0D4-7D1ADBE3CA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D12B1E3-C076-BC9E-9B19-F010D04A21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1616ADA-1C9A-8A3A-ACF8-0BA6093CD274}"/>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6" name="Footer Placeholder 5">
            <a:extLst>
              <a:ext uri="{FF2B5EF4-FFF2-40B4-BE49-F238E27FC236}">
                <a16:creationId xmlns:a16="http://schemas.microsoft.com/office/drawing/2014/main" id="{6B48702F-F0F6-E497-9842-B50CAF852B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B7C41E-37A9-4C18-70D3-EFE5983D1BD1}"/>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4252829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2968A-C2B1-F9DA-60A9-8449464175A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C16760-ECB0-A055-FD20-F5B47B463D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B9E76E-9D68-CBBE-8A3E-D286ADD040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8640C22-61E4-16FB-3891-458BFD0473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121CE7-1BFB-D42E-162B-6973ADAD0D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193BF8-8A00-8739-938F-A343E91D42C9}"/>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8" name="Footer Placeholder 7">
            <a:extLst>
              <a:ext uri="{FF2B5EF4-FFF2-40B4-BE49-F238E27FC236}">
                <a16:creationId xmlns:a16="http://schemas.microsoft.com/office/drawing/2014/main" id="{1C91CA2A-C9B4-7A91-D868-A52AB6B4EB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0437D7-17DF-D49C-F143-89F3728087B3}"/>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2944717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D652C-19AC-F205-EA82-DF05FBEA03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FB058A-A04A-6D09-390A-3FABCB8C88B7}"/>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4" name="Footer Placeholder 3">
            <a:extLst>
              <a:ext uri="{FF2B5EF4-FFF2-40B4-BE49-F238E27FC236}">
                <a16:creationId xmlns:a16="http://schemas.microsoft.com/office/drawing/2014/main" id="{C47603A6-BDF2-8515-E52D-AEF26DD6E90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DF27D9-0CFF-E9C7-4190-B83CDD09B9CE}"/>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3972055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9A2EF2-8628-256D-4CAD-AAE350367764}"/>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3" name="Footer Placeholder 2">
            <a:extLst>
              <a:ext uri="{FF2B5EF4-FFF2-40B4-BE49-F238E27FC236}">
                <a16:creationId xmlns:a16="http://schemas.microsoft.com/office/drawing/2014/main" id="{CD16E3D1-5251-7BE9-FF89-651AB8FA48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375563-B396-F782-C04A-5599AC5E1884}"/>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1775477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216E4-83E2-BA4D-0E16-A99FC3C5B7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8B23AF-04B2-9C02-A626-7A73D33F86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04A26C-CDE8-EBEF-0BE1-81702FE517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0C4009-411C-B7AB-8384-9F70C8E92335}"/>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6" name="Footer Placeholder 5">
            <a:extLst>
              <a:ext uri="{FF2B5EF4-FFF2-40B4-BE49-F238E27FC236}">
                <a16:creationId xmlns:a16="http://schemas.microsoft.com/office/drawing/2014/main" id="{762FA4E4-1C76-1A2D-9942-8F0DFC5B85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751FD4-B143-2C27-AF33-9C122D185476}"/>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872763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14C1B-A6A0-7C3A-D113-438D87A004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FE408C-E2D8-CB36-717C-29AC0B8C2B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6E5037-2C92-0880-6922-A468FE17F7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C5158-6F12-B46C-FF04-2F01A991316C}"/>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6" name="Footer Placeholder 5">
            <a:extLst>
              <a:ext uri="{FF2B5EF4-FFF2-40B4-BE49-F238E27FC236}">
                <a16:creationId xmlns:a16="http://schemas.microsoft.com/office/drawing/2014/main" id="{2E636B98-4087-9016-1776-F10FEAA01A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7897AB-04AB-128B-400A-0AADCE302910}"/>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244976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73035-C808-CA5A-6170-B74AD4B509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BBE732-BFEB-55A4-CD33-80F0180890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BEDBEE-F8C2-D9F1-24EC-CE9BAAEB0F02}"/>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5" name="Footer Placeholder 4">
            <a:extLst>
              <a:ext uri="{FF2B5EF4-FFF2-40B4-BE49-F238E27FC236}">
                <a16:creationId xmlns:a16="http://schemas.microsoft.com/office/drawing/2014/main" id="{77957B6A-C323-854A-F245-7102353ECD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1267E8-E0F8-9F3E-027E-5AE37C3AA0C3}"/>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984290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A85FC9-EBF7-9FC6-EC28-2EE4B16AC8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C75FEB-59F2-6D2B-B506-F3C34BA1C6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94DA2D-20DF-E61C-E09B-8BB3EB633A6F}"/>
              </a:ext>
            </a:extLst>
          </p:cNvPr>
          <p:cNvSpPr>
            <a:spLocks noGrp="1"/>
          </p:cNvSpPr>
          <p:nvPr>
            <p:ph type="dt" sz="half" idx="10"/>
          </p:nvPr>
        </p:nvSpPr>
        <p:spPr/>
        <p:txBody>
          <a:bodyPr/>
          <a:lstStyle/>
          <a:p>
            <a:fld id="{3DC5275A-05FB-4189-9998-07B88FF1971C}" type="datetimeFigureOut">
              <a:rPr lang="en-IN" smtClean="0"/>
              <a:t>26-01-2025</a:t>
            </a:fld>
            <a:endParaRPr lang="en-IN"/>
          </a:p>
        </p:txBody>
      </p:sp>
      <p:sp>
        <p:nvSpPr>
          <p:cNvPr id="5" name="Footer Placeholder 4">
            <a:extLst>
              <a:ext uri="{FF2B5EF4-FFF2-40B4-BE49-F238E27FC236}">
                <a16:creationId xmlns:a16="http://schemas.microsoft.com/office/drawing/2014/main" id="{820672A4-EFD9-0391-73CB-5B50059C8A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7D989C-337F-68DF-0E80-6156CB661161}"/>
              </a:ext>
            </a:extLst>
          </p:cNvPr>
          <p:cNvSpPr>
            <a:spLocks noGrp="1"/>
          </p:cNvSpPr>
          <p:nvPr>
            <p:ph type="sldNum" sz="quarter" idx="12"/>
          </p:nvPr>
        </p:nvSpPr>
        <p:spPr/>
        <p:txBody>
          <a:bodyPr/>
          <a:lstStyle/>
          <a:p>
            <a:fld id="{CB53E09F-8A41-46F0-AF27-327FB3F11484}" type="slidenum">
              <a:rPr lang="en-IN" smtClean="0"/>
              <a:t>‹#›</a:t>
            </a:fld>
            <a:endParaRPr lang="en-IN"/>
          </a:p>
        </p:txBody>
      </p:sp>
    </p:spTree>
    <p:extLst>
      <p:ext uri="{BB962C8B-B14F-4D97-AF65-F5344CB8AC3E}">
        <p14:creationId xmlns:p14="http://schemas.microsoft.com/office/powerpoint/2010/main" val="1323897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05380D-2EC5-D942-DAC1-E9D2496BD0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1DCC5B-D32C-1233-B298-54D63D86AE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55AF3C-ADD2-C22E-20CE-45DB983AC2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C5275A-05FB-4189-9998-07B88FF1971C}" type="datetimeFigureOut">
              <a:rPr lang="en-IN" smtClean="0"/>
              <a:t>26-01-2025</a:t>
            </a:fld>
            <a:endParaRPr lang="en-IN"/>
          </a:p>
        </p:txBody>
      </p:sp>
      <p:sp>
        <p:nvSpPr>
          <p:cNvPr id="5" name="Footer Placeholder 4">
            <a:extLst>
              <a:ext uri="{FF2B5EF4-FFF2-40B4-BE49-F238E27FC236}">
                <a16:creationId xmlns:a16="http://schemas.microsoft.com/office/drawing/2014/main" id="{D68EE4AD-7308-B8FD-D6D8-E834E35B6C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AB8CB5E-1480-52B2-3F18-1773C4135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53E09F-8A41-46F0-AF27-327FB3F11484}" type="slidenum">
              <a:rPr lang="en-IN" smtClean="0"/>
              <a:t>‹#›</a:t>
            </a:fld>
            <a:endParaRPr lang="en-IN"/>
          </a:p>
        </p:txBody>
      </p:sp>
    </p:spTree>
    <p:extLst>
      <p:ext uri="{BB962C8B-B14F-4D97-AF65-F5344CB8AC3E}">
        <p14:creationId xmlns:p14="http://schemas.microsoft.com/office/powerpoint/2010/main" val="2491749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A478B-012B-1448-A72E-5F4A73F6338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2AFBBA5-127B-4E52-A0D8-226113184EC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93578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40761-1E47-443D-6638-75A79E90BFE3}"/>
              </a:ext>
            </a:extLst>
          </p:cNvPr>
          <p:cNvSpPr>
            <a:spLocks noGrp="1"/>
          </p:cNvSpPr>
          <p:nvPr>
            <p:ph type="title"/>
          </p:nvPr>
        </p:nvSpPr>
        <p:spPr/>
        <p:txBody>
          <a:bodyPr/>
          <a:lstStyle/>
          <a:p>
            <a:r>
              <a:rPr lang="en-IN" dirty="0"/>
              <a:t>4-Tier Architecture Overview</a:t>
            </a:r>
          </a:p>
        </p:txBody>
      </p:sp>
      <p:sp>
        <p:nvSpPr>
          <p:cNvPr id="3" name="Content Placeholder 2">
            <a:extLst>
              <a:ext uri="{FF2B5EF4-FFF2-40B4-BE49-F238E27FC236}">
                <a16:creationId xmlns:a16="http://schemas.microsoft.com/office/drawing/2014/main" id="{D9D5D7C8-6041-9CC3-A1A0-3466BC324805}"/>
              </a:ext>
            </a:extLst>
          </p:cNvPr>
          <p:cNvSpPr>
            <a:spLocks noGrp="1"/>
          </p:cNvSpPr>
          <p:nvPr>
            <p:ph idx="1"/>
          </p:nvPr>
        </p:nvSpPr>
        <p:spPr/>
        <p:txBody>
          <a:bodyPr/>
          <a:lstStyle/>
          <a:p>
            <a:r>
              <a:rPr lang="en-IN" dirty="0"/>
              <a:t>Each tier has specific responsibilities, and separating concerns across more layers allows for greater scalability, maintainability, and flexibility in larger systems.</a:t>
            </a:r>
          </a:p>
          <a:p>
            <a:r>
              <a:rPr lang="en-IN" dirty="0"/>
              <a:t>Example of 4-Tier Architecture in an E-Commerce System</a:t>
            </a:r>
          </a:p>
        </p:txBody>
      </p:sp>
    </p:spTree>
    <p:extLst>
      <p:ext uri="{BB962C8B-B14F-4D97-AF65-F5344CB8AC3E}">
        <p14:creationId xmlns:p14="http://schemas.microsoft.com/office/powerpoint/2010/main" val="4186605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6E2B-60FC-CA0D-6A65-940B868EC0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CA0A0F-08B9-2D38-7275-44D55CC27E58}"/>
              </a:ext>
            </a:extLst>
          </p:cNvPr>
          <p:cNvSpPr>
            <a:spLocks noGrp="1"/>
          </p:cNvSpPr>
          <p:nvPr>
            <p:ph idx="1"/>
          </p:nvPr>
        </p:nvSpPr>
        <p:spPr/>
        <p:txBody>
          <a:bodyPr/>
          <a:lstStyle/>
          <a:p>
            <a:r>
              <a:rPr lang="en-IN" b="1" dirty="0"/>
              <a:t>Presentation  (Client Tier):</a:t>
            </a:r>
            <a:endParaRPr lang="en-IN" dirty="0"/>
          </a:p>
          <a:p>
            <a:pPr algn="just">
              <a:buFont typeface="Arial" panose="020B0604020202020204" pitchFamily="34" charset="0"/>
              <a:buChar char="•"/>
            </a:pPr>
            <a:r>
              <a:rPr lang="en-IN" dirty="0"/>
              <a:t>The user interface where customers interact with the e-commerce platform. This could be a web application or mobile app where customers browse products, add to cart, and check out.</a:t>
            </a:r>
          </a:p>
          <a:p>
            <a:r>
              <a:rPr lang="en-IN" b="1" dirty="0"/>
              <a:t>Business Logic  (Application Tier):</a:t>
            </a:r>
            <a:endParaRPr lang="en-IN" dirty="0"/>
          </a:p>
          <a:p>
            <a:pPr algn="just">
              <a:buFont typeface="Arial" panose="020B0604020202020204" pitchFamily="34" charset="0"/>
              <a:buChar char="•"/>
            </a:pPr>
            <a:r>
              <a:rPr lang="en-IN" dirty="0"/>
              <a:t>This layer contains the business logic, which handles core operations like processing orders, applying discounts, calculating shipping costs, and managing customer sessions.</a:t>
            </a:r>
          </a:p>
          <a:p>
            <a:endParaRPr lang="en-IN" dirty="0"/>
          </a:p>
        </p:txBody>
      </p:sp>
    </p:spTree>
    <p:extLst>
      <p:ext uri="{BB962C8B-B14F-4D97-AF65-F5344CB8AC3E}">
        <p14:creationId xmlns:p14="http://schemas.microsoft.com/office/powerpoint/2010/main" val="1960629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7F359-057D-7737-FD60-D674A586BB6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B2CDDE-C94C-3ADD-0662-6F9B70608576}"/>
              </a:ext>
            </a:extLst>
          </p:cNvPr>
          <p:cNvSpPr>
            <a:spLocks noGrp="1"/>
          </p:cNvSpPr>
          <p:nvPr>
            <p:ph idx="1"/>
          </p:nvPr>
        </p:nvSpPr>
        <p:spPr/>
        <p:txBody>
          <a:bodyPr/>
          <a:lstStyle/>
          <a:p>
            <a:r>
              <a:rPr lang="en-IN" b="1" dirty="0"/>
              <a:t>Data  (Persistence Tier):</a:t>
            </a:r>
            <a:endParaRPr lang="en-IN" dirty="0"/>
          </a:p>
          <a:p>
            <a:pPr algn="just">
              <a:buFont typeface="Arial" panose="020B0604020202020204" pitchFamily="34" charset="0"/>
              <a:buChar char="•"/>
            </a:pPr>
            <a:r>
              <a:rPr lang="en-IN" dirty="0"/>
              <a:t>This tier manages the storage of data such as customer information, product </a:t>
            </a:r>
            <a:r>
              <a:rPr lang="en-IN" dirty="0" err="1"/>
              <a:t>catalogs</a:t>
            </a:r>
            <a:r>
              <a:rPr lang="en-IN" dirty="0"/>
              <a:t>, order details, payment history, etc. It is typically managed by a database.</a:t>
            </a:r>
          </a:p>
          <a:p>
            <a:r>
              <a:rPr lang="en-IN" b="1" dirty="0"/>
              <a:t>Integration (Service Tier):</a:t>
            </a:r>
            <a:endParaRPr lang="en-IN" dirty="0"/>
          </a:p>
          <a:p>
            <a:pPr algn="just">
              <a:buFont typeface="Arial" panose="020B0604020202020204" pitchFamily="34" charset="0"/>
              <a:buChar char="•"/>
            </a:pPr>
            <a:r>
              <a:rPr lang="en-IN" dirty="0"/>
              <a:t>The integration layer connects the e-commerce system with third-party services like payment gateways, shipping providers, external marketing tools, CRM systems, inventory management systems, etc. This is essential for ensuring that the e-commerce platform can interact with external services efficiently and securely.</a:t>
            </a:r>
          </a:p>
          <a:p>
            <a:pPr>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3406535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C2B14-884D-87E8-05F5-2403719FCDEA}"/>
              </a:ext>
            </a:extLst>
          </p:cNvPr>
          <p:cNvSpPr>
            <a:spLocks noGrp="1"/>
          </p:cNvSpPr>
          <p:nvPr>
            <p:ph type="title"/>
          </p:nvPr>
        </p:nvSpPr>
        <p:spPr/>
        <p:txBody>
          <a:bodyPr/>
          <a:lstStyle/>
          <a:p>
            <a:r>
              <a:rPr lang="en-IN" b="1" dirty="0"/>
              <a:t>Client Tier</a:t>
            </a:r>
            <a:endParaRPr lang="en-IN" dirty="0"/>
          </a:p>
        </p:txBody>
      </p:sp>
      <p:sp>
        <p:nvSpPr>
          <p:cNvPr id="3" name="Content Placeholder 2">
            <a:extLst>
              <a:ext uri="{FF2B5EF4-FFF2-40B4-BE49-F238E27FC236}">
                <a16:creationId xmlns:a16="http://schemas.microsoft.com/office/drawing/2014/main" id="{1EDD1113-198B-2387-0347-26CE9238A28F}"/>
              </a:ext>
            </a:extLst>
          </p:cNvPr>
          <p:cNvSpPr>
            <a:spLocks noGrp="1"/>
          </p:cNvSpPr>
          <p:nvPr>
            <p:ph idx="1"/>
          </p:nvPr>
        </p:nvSpPr>
        <p:spPr/>
        <p:txBody>
          <a:bodyPr>
            <a:normAutofit fontScale="85000" lnSpcReduction="20000"/>
          </a:bodyPr>
          <a:lstStyle/>
          <a:p>
            <a:r>
              <a:rPr lang="en-IN" dirty="0"/>
              <a:t>where the customer interacts with the e-commerce system. It is responsible for displaying information to users and collecting their inputs. This layer can include a website, mobile apps, or other front-end interfaces.</a:t>
            </a:r>
          </a:p>
          <a:p>
            <a:r>
              <a:rPr lang="en-IN" b="1" dirty="0"/>
              <a:t>Components:</a:t>
            </a:r>
            <a:endParaRPr lang="en-IN" dirty="0"/>
          </a:p>
          <a:p>
            <a:pPr>
              <a:buFont typeface="Arial" panose="020B0604020202020204" pitchFamily="34" charset="0"/>
              <a:buChar char="•"/>
            </a:pPr>
            <a:r>
              <a:rPr lang="en-IN" b="1" dirty="0"/>
              <a:t>Web Interface:</a:t>
            </a:r>
            <a:r>
              <a:rPr lang="en-IN" dirty="0"/>
              <a:t> HTML, CSS, JavaScript, React, Angular, or Vue.js to render the UI.</a:t>
            </a:r>
          </a:p>
          <a:p>
            <a:pPr>
              <a:buFont typeface="Arial" panose="020B0604020202020204" pitchFamily="34" charset="0"/>
              <a:buChar char="•"/>
            </a:pPr>
            <a:r>
              <a:rPr lang="en-IN" b="1" dirty="0"/>
              <a:t>Mobile App:</a:t>
            </a:r>
            <a:r>
              <a:rPr lang="en-IN" dirty="0"/>
              <a:t> Built with Swift (iOS) or Kotlin/Java (Android).</a:t>
            </a:r>
          </a:p>
          <a:p>
            <a:pPr>
              <a:buFont typeface="Arial" panose="020B0604020202020204" pitchFamily="34" charset="0"/>
              <a:buChar char="•"/>
            </a:pPr>
            <a:r>
              <a:rPr lang="en-IN" b="1" dirty="0"/>
              <a:t>User Actions:</a:t>
            </a:r>
            <a:endParaRPr lang="en-IN" dirty="0"/>
          </a:p>
          <a:p>
            <a:pPr marL="742950" lvl="1" indent="-285750">
              <a:buFont typeface="Arial" panose="020B0604020202020204" pitchFamily="34" charset="0"/>
              <a:buChar char="•"/>
            </a:pPr>
            <a:r>
              <a:rPr lang="en-IN" dirty="0"/>
              <a:t>Browsing products.</a:t>
            </a:r>
          </a:p>
          <a:p>
            <a:pPr marL="742950" lvl="1" indent="-285750">
              <a:buFont typeface="Arial" panose="020B0604020202020204" pitchFamily="34" charset="0"/>
              <a:buChar char="•"/>
            </a:pPr>
            <a:r>
              <a:rPr lang="en-IN" dirty="0"/>
              <a:t>Adding items to the cart.</a:t>
            </a:r>
          </a:p>
          <a:p>
            <a:pPr marL="742950" lvl="1" indent="-285750">
              <a:buFont typeface="Arial" panose="020B0604020202020204" pitchFamily="34" charset="0"/>
              <a:buChar char="•"/>
            </a:pPr>
            <a:r>
              <a:rPr lang="en-IN" dirty="0"/>
              <a:t>Filling in billing and shipping information.</a:t>
            </a:r>
          </a:p>
          <a:p>
            <a:r>
              <a:rPr lang="en-IN" dirty="0"/>
              <a:t>Checking out and making a payment.</a:t>
            </a:r>
            <a:r>
              <a:rPr lang="en-IN" b="1" dirty="0"/>
              <a:t> Example:</a:t>
            </a:r>
            <a:endParaRPr lang="en-IN" dirty="0"/>
          </a:p>
          <a:p>
            <a:pPr>
              <a:buFont typeface="Arial" panose="020B0604020202020204" pitchFamily="34" charset="0"/>
              <a:buChar char="•"/>
            </a:pPr>
            <a:r>
              <a:rPr lang="en-IN" dirty="0"/>
              <a:t>A customer visits the website (e.g., www.example-ecommerce.com) and sees the product listings, browses categories, selects an item, and adds it to their cart.</a:t>
            </a:r>
          </a:p>
          <a:p>
            <a:pPr>
              <a:buFont typeface="Arial" panose="020B0604020202020204" pitchFamily="34" charset="0"/>
              <a:buChar char="•"/>
            </a:pPr>
            <a:endParaRPr lang="en-IN" dirty="0"/>
          </a:p>
          <a:p>
            <a:pPr marL="742950" lvl="1" indent="-285750">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3449878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B3065-332A-CD1D-9208-2C36AB06149E}"/>
              </a:ext>
            </a:extLst>
          </p:cNvPr>
          <p:cNvSpPr>
            <a:spLocks noGrp="1"/>
          </p:cNvSpPr>
          <p:nvPr>
            <p:ph type="title"/>
          </p:nvPr>
        </p:nvSpPr>
        <p:spPr/>
        <p:txBody>
          <a:bodyPr/>
          <a:lstStyle/>
          <a:p>
            <a:r>
              <a:rPr lang="en-IN" b="1" dirty="0"/>
              <a:t>Business Logic (Application Tier)</a:t>
            </a:r>
            <a:br>
              <a:rPr lang="en-IN" b="1" dirty="0"/>
            </a:br>
            <a:endParaRPr lang="en-IN" dirty="0"/>
          </a:p>
        </p:txBody>
      </p:sp>
      <p:sp>
        <p:nvSpPr>
          <p:cNvPr id="3" name="Content Placeholder 2">
            <a:extLst>
              <a:ext uri="{FF2B5EF4-FFF2-40B4-BE49-F238E27FC236}">
                <a16:creationId xmlns:a16="http://schemas.microsoft.com/office/drawing/2014/main" id="{5E28DEF3-444B-E31F-BE1E-F063B5173085}"/>
              </a:ext>
            </a:extLst>
          </p:cNvPr>
          <p:cNvSpPr>
            <a:spLocks noGrp="1"/>
          </p:cNvSpPr>
          <p:nvPr>
            <p:ph idx="1"/>
          </p:nvPr>
        </p:nvSpPr>
        <p:spPr/>
        <p:txBody>
          <a:bodyPr>
            <a:normAutofit fontScale="62500" lnSpcReduction="20000"/>
          </a:bodyPr>
          <a:lstStyle/>
          <a:p>
            <a:r>
              <a:rPr lang="en-IN" dirty="0"/>
              <a:t>This layer holds the core functionality of the e-commerce system, where all the business rules and logic are applied. It processes requests from the presentation layer, communicates with the data layer to fetch necessary data, and handles complex transactions like order processing, promotions, and payment validation.</a:t>
            </a:r>
          </a:p>
          <a:p>
            <a:r>
              <a:rPr lang="en-IN" b="1" dirty="0"/>
              <a:t>Components:</a:t>
            </a:r>
            <a:endParaRPr lang="en-IN" dirty="0"/>
          </a:p>
          <a:p>
            <a:pPr>
              <a:buFont typeface="Arial" panose="020B0604020202020204" pitchFamily="34" charset="0"/>
              <a:buChar char="•"/>
            </a:pPr>
            <a:r>
              <a:rPr lang="en-IN" b="1" dirty="0"/>
              <a:t>Order Processing Logic:</a:t>
            </a:r>
            <a:r>
              <a:rPr lang="en-IN" dirty="0"/>
              <a:t> Handle adding items to the cart, calculating totals, applying discounts, processing refunds, etc.</a:t>
            </a:r>
          </a:p>
          <a:p>
            <a:pPr>
              <a:buFont typeface="Arial" panose="020B0604020202020204" pitchFamily="34" charset="0"/>
              <a:buChar char="•"/>
            </a:pPr>
            <a:r>
              <a:rPr lang="en-IN" b="1" dirty="0"/>
              <a:t>User Authentication &amp; Authorization:</a:t>
            </a:r>
            <a:r>
              <a:rPr lang="en-IN" dirty="0"/>
              <a:t> Managing user sessions, login, and role-based access control.</a:t>
            </a:r>
          </a:p>
          <a:p>
            <a:pPr>
              <a:buFont typeface="Arial" panose="020B0604020202020204" pitchFamily="34" charset="0"/>
              <a:buChar char="•"/>
            </a:pPr>
            <a:r>
              <a:rPr lang="en-IN" b="1" dirty="0"/>
              <a:t>Business Rules:</a:t>
            </a:r>
            <a:r>
              <a:rPr lang="en-IN" dirty="0"/>
              <a:t> Managing promotions, loyalty programs, personalized recommendations.</a:t>
            </a:r>
          </a:p>
          <a:p>
            <a:pPr>
              <a:buFont typeface="Arial" panose="020B0604020202020204" pitchFamily="34" charset="0"/>
              <a:buChar char="•"/>
            </a:pPr>
            <a:r>
              <a:rPr lang="en-IN" b="1" dirty="0"/>
              <a:t>Payment Gateway Integration:</a:t>
            </a:r>
            <a:r>
              <a:rPr lang="en-IN" dirty="0"/>
              <a:t> Verifying payment details and coordinating with payment providers.</a:t>
            </a:r>
          </a:p>
          <a:p>
            <a:r>
              <a:rPr lang="en-IN" b="1" dirty="0"/>
              <a:t>Example:</a:t>
            </a:r>
            <a:endParaRPr lang="en-IN" dirty="0"/>
          </a:p>
          <a:p>
            <a:pPr>
              <a:buFont typeface="Arial" panose="020B0604020202020204" pitchFamily="34" charset="0"/>
              <a:buChar char="•"/>
            </a:pPr>
            <a:r>
              <a:rPr lang="en-IN" dirty="0"/>
              <a:t>When a customer clicks “Proceed to Checkout,” the system verifies the availability of the products in the cart, applies any discounts or promotions, and calculates the total price (including tax and shipping).</a:t>
            </a:r>
          </a:p>
          <a:p>
            <a:endParaRPr lang="en-IN" dirty="0"/>
          </a:p>
        </p:txBody>
      </p:sp>
    </p:spTree>
    <p:extLst>
      <p:ext uri="{BB962C8B-B14F-4D97-AF65-F5344CB8AC3E}">
        <p14:creationId xmlns:p14="http://schemas.microsoft.com/office/powerpoint/2010/main" val="1571635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C7BA2-266B-B815-621B-0371A2769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B71FE-D59C-878E-E7A3-88AA131EA4E4}"/>
              </a:ext>
            </a:extLst>
          </p:cNvPr>
          <p:cNvSpPr>
            <a:spLocks noGrp="1"/>
          </p:cNvSpPr>
          <p:nvPr>
            <p:ph type="title"/>
          </p:nvPr>
        </p:nvSpPr>
        <p:spPr/>
        <p:txBody>
          <a:bodyPr/>
          <a:lstStyle/>
          <a:p>
            <a:r>
              <a:rPr lang="en-IN" b="1" dirty="0"/>
              <a:t>Business Logic (Application Tier)</a:t>
            </a:r>
            <a:br>
              <a:rPr lang="en-IN" b="1" dirty="0"/>
            </a:br>
            <a:endParaRPr lang="en-IN" dirty="0"/>
          </a:p>
        </p:txBody>
      </p:sp>
      <p:sp>
        <p:nvSpPr>
          <p:cNvPr id="3" name="Content Placeholder 2">
            <a:extLst>
              <a:ext uri="{FF2B5EF4-FFF2-40B4-BE49-F238E27FC236}">
                <a16:creationId xmlns:a16="http://schemas.microsoft.com/office/drawing/2014/main" id="{FA677C1F-E14B-AFAC-51EB-24C1DE06BE81}"/>
              </a:ext>
            </a:extLst>
          </p:cNvPr>
          <p:cNvSpPr>
            <a:spLocks noGrp="1"/>
          </p:cNvSpPr>
          <p:nvPr>
            <p:ph idx="1"/>
          </p:nvPr>
        </p:nvSpPr>
        <p:spPr/>
        <p:txBody>
          <a:bodyPr>
            <a:normAutofit fontScale="62500" lnSpcReduction="20000"/>
          </a:bodyPr>
          <a:lstStyle/>
          <a:p>
            <a:r>
              <a:rPr lang="en-IN" dirty="0"/>
              <a:t>This layer holds the core functionality of the e-commerce system, where all the business rules and logic are applied. It processes requests from the presentation layer, communicates with the data layer to fetch necessary data, and handles complex transactions like order processing, promotions, and payment validation.</a:t>
            </a:r>
          </a:p>
          <a:p>
            <a:r>
              <a:rPr lang="en-IN" b="1" dirty="0"/>
              <a:t>Components:</a:t>
            </a:r>
            <a:endParaRPr lang="en-IN" dirty="0"/>
          </a:p>
          <a:p>
            <a:pPr>
              <a:buFont typeface="Arial" panose="020B0604020202020204" pitchFamily="34" charset="0"/>
              <a:buChar char="•"/>
            </a:pPr>
            <a:r>
              <a:rPr lang="en-IN" b="1" dirty="0"/>
              <a:t>Order Processing Logic:</a:t>
            </a:r>
            <a:r>
              <a:rPr lang="en-IN" dirty="0"/>
              <a:t> Handle adding items to the cart, calculating totals, applying discounts, processing refunds, etc.</a:t>
            </a:r>
          </a:p>
          <a:p>
            <a:pPr>
              <a:buFont typeface="Arial" panose="020B0604020202020204" pitchFamily="34" charset="0"/>
              <a:buChar char="•"/>
            </a:pPr>
            <a:r>
              <a:rPr lang="en-IN" b="1" dirty="0"/>
              <a:t>User Authentication &amp; Authorization:</a:t>
            </a:r>
            <a:r>
              <a:rPr lang="en-IN" dirty="0"/>
              <a:t> Managing user sessions, login, and role-based access control.</a:t>
            </a:r>
          </a:p>
          <a:p>
            <a:pPr>
              <a:buFont typeface="Arial" panose="020B0604020202020204" pitchFamily="34" charset="0"/>
              <a:buChar char="•"/>
            </a:pPr>
            <a:r>
              <a:rPr lang="en-IN" b="1" dirty="0"/>
              <a:t>Business Rules:</a:t>
            </a:r>
            <a:r>
              <a:rPr lang="en-IN" dirty="0"/>
              <a:t> Managing promotions, loyalty programs, personalized recommendations.</a:t>
            </a:r>
          </a:p>
          <a:p>
            <a:pPr>
              <a:buFont typeface="Arial" panose="020B0604020202020204" pitchFamily="34" charset="0"/>
              <a:buChar char="•"/>
            </a:pPr>
            <a:r>
              <a:rPr lang="en-IN" b="1" dirty="0"/>
              <a:t>Payment Gateway Integration:</a:t>
            </a:r>
            <a:r>
              <a:rPr lang="en-IN" dirty="0"/>
              <a:t> Verifying payment details and coordinating with payment providers.</a:t>
            </a:r>
          </a:p>
          <a:p>
            <a:r>
              <a:rPr lang="en-IN" b="1" dirty="0"/>
              <a:t>Example:</a:t>
            </a:r>
            <a:endParaRPr lang="en-IN" dirty="0"/>
          </a:p>
          <a:p>
            <a:pPr>
              <a:buFont typeface="Arial" panose="020B0604020202020204" pitchFamily="34" charset="0"/>
              <a:buChar char="•"/>
            </a:pPr>
            <a:r>
              <a:rPr lang="en-IN" dirty="0"/>
              <a:t>When a customer clicks “Proceed to Checkout,” the system verifies the availability of the products in the cart, applies any discounts or promotions, and calculates the total price (including tax and shipping).</a:t>
            </a:r>
          </a:p>
          <a:p>
            <a:endParaRPr lang="en-IN" dirty="0"/>
          </a:p>
        </p:txBody>
      </p:sp>
    </p:spTree>
    <p:extLst>
      <p:ext uri="{BB962C8B-B14F-4D97-AF65-F5344CB8AC3E}">
        <p14:creationId xmlns:p14="http://schemas.microsoft.com/office/powerpoint/2010/main" val="3782339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EE647-4016-9AFA-198B-45FDBE064046}"/>
              </a:ext>
            </a:extLst>
          </p:cNvPr>
          <p:cNvSpPr>
            <a:spLocks noGrp="1"/>
          </p:cNvSpPr>
          <p:nvPr>
            <p:ph type="title"/>
          </p:nvPr>
        </p:nvSpPr>
        <p:spPr/>
        <p:txBody>
          <a:bodyPr/>
          <a:lstStyle/>
          <a:p>
            <a:r>
              <a:rPr lang="en-IN" b="1" dirty="0"/>
              <a:t>Data (Persistence Tier)</a:t>
            </a:r>
            <a:br>
              <a:rPr lang="en-IN" b="1" dirty="0"/>
            </a:br>
            <a:endParaRPr lang="en-IN" dirty="0"/>
          </a:p>
        </p:txBody>
      </p:sp>
      <p:sp>
        <p:nvSpPr>
          <p:cNvPr id="3" name="Content Placeholder 2">
            <a:extLst>
              <a:ext uri="{FF2B5EF4-FFF2-40B4-BE49-F238E27FC236}">
                <a16:creationId xmlns:a16="http://schemas.microsoft.com/office/drawing/2014/main" id="{DA7DD66B-4F8B-8673-6309-69471E104DBA}"/>
              </a:ext>
            </a:extLst>
          </p:cNvPr>
          <p:cNvSpPr>
            <a:spLocks noGrp="1"/>
          </p:cNvSpPr>
          <p:nvPr>
            <p:ph idx="1"/>
          </p:nvPr>
        </p:nvSpPr>
        <p:spPr/>
        <p:txBody>
          <a:bodyPr>
            <a:normAutofit fontScale="77500" lnSpcReduction="20000"/>
          </a:bodyPr>
          <a:lstStyle/>
          <a:p>
            <a:pPr algn="just"/>
            <a:r>
              <a:rPr lang="en-IN" dirty="0"/>
              <a:t>This tier is responsible for storing and retrieving the data required by the e-commerce system. It typically involves relational databases, NoSQL databases, or even cloud storage, depending on the specific needs of the system.</a:t>
            </a:r>
          </a:p>
          <a:p>
            <a:r>
              <a:rPr lang="en-IN" b="1" dirty="0"/>
              <a:t>Components:</a:t>
            </a:r>
            <a:endParaRPr lang="en-IN" dirty="0"/>
          </a:p>
          <a:p>
            <a:pPr algn="just">
              <a:buFont typeface="Arial" panose="020B0604020202020204" pitchFamily="34" charset="0"/>
              <a:buChar char="•"/>
            </a:pPr>
            <a:r>
              <a:rPr lang="en-IN" b="1" dirty="0"/>
              <a:t>Database Management System (DBMS):</a:t>
            </a:r>
            <a:r>
              <a:rPr lang="en-IN" dirty="0"/>
              <a:t> Stores critical data like user profiles, orders, products, payment information, inventory, and shipping details.</a:t>
            </a:r>
          </a:p>
          <a:p>
            <a:pPr algn="just">
              <a:buFont typeface="Arial" panose="020B0604020202020204" pitchFamily="34" charset="0"/>
              <a:buChar char="•"/>
            </a:pPr>
            <a:r>
              <a:rPr lang="en-IN" b="1" dirty="0"/>
              <a:t>Data Models:</a:t>
            </a:r>
            <a:r>
              <a:rPr lang="en-IN" dirty="0"/>
              <a:t> Tables or collections in the database for products, users, orders, payments, reviews, etc.</a:t>
            </a:r>
          </a:p>
          <a:p>
            <a:pPr algn="just"/>
            <a:r>
              <a:rPr lang="en-IN" b="1" dirty="0"/>
              <a:t>Technologies:</a:t>
            </a:r>
            <a:r>
              <a:rPr lang="en-IN" dirty="0"/>
              <a:t> SQL databases (MySQL, PostgreSQL), NoSQL databases (MongoDB, DynamoDB), cloud-based databases (AWS RDS, Google Cloud SQL).</a:t>
            </a:r>
          </a:p>
          <a:p>
            <a:r>
              <a:rPr lang="en-IN" b="1" dirty="0"/>
              <a:t>Example:</a:t>
            </a:r>
            <a:endParaRPr lang="en-IN" dirty="0"/>
          </a:p>
          <a:p>
            <a:pPr algn="just">
              <a:buFont typeface="Arial" panose="020B0604020202020204" pitchFamily="34" charset="0"/>
              <a:buChar char="•"/>
            </a:pPr>
            <a:r>
              <a:rPr lang="en-IN" dirty="0"/>
              <a:t>The </a:t>
            </a:r>
            <a:r>
              <a:rPr lang="en-IN" b="1" dirty="0"/>
              <a:t>Products table</a:t>
            </a:r>
            <a:r>
              <a:rPr lang="en-IN" dirty="0"/>
              <a:t> in the database stores product details (name, price, description, image, and stock quantity), and the </a:t>
            </a:r>
            <a:r>
              <a:rPr lang="en-IN" b="1" dirty="0"/>
              <a:t>Orders table</a:t>
            </a:r>
            <a:r>
              <a:rPr lang="en-IN" dirty="0"/>
              <a:t> stores customer purchase details (order ID, product ID, customer ID, shipping address, etc.).</a:t>
            </a:r>
          </a:p>
          <a:p>
            <a:endParaRPr lang="en-IN" dirty="0"/>
          </a:p>
        </p:txBody>
      </p:sp>
    </p:spTree>
    <p:extLst>
      <p:ext uri="{BB962C8B-B14F-4D97-AF65-F5344CB8AC3E}">
        <p14:creationId xmlns:p14="http://schemas.microsoft.com/office/powerpoint/2010/main" val="2103278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24075-4687-20FC-6B47-B6063FF8BF60}"/>
              </a:ext>
            </a:extLst>
          </p:cNvPr>
          <p:cNvSpPr>
            <a:spLocks noGrp="1"/>
          </p:cNvSpPr>
          <p:nvPr>
            <p:ph type="title"/>
          </p:nvPr>
        </p:nvSpPr>
        <p:spPr/>
        <p:txBody>
          <a:bodyPr/>
          <a:lstStyle/>
          <a:p>
            <a:r>
              <a:rPr lang="en-IN" b="1" dirty="0"/>
              <a:t>Integration (Service Tier)</a:t>
            </a:r>
            <a:br>
              <a:rPr lang="en-IN" b="1" dirty="0"/>
            </a:br>
            <a:endParaRPr lang="en-IN" dirty="0"/>
          </a:p>
        </p:txBody>
      </p:sp>
      <p:sp>
        <p:nvSpPr>
          <p:cNvPr id="3" name="Content Placeholder 2">
            <a:extLst>
              <a:ext uri="{FF2B5EF4-FFF2-40B4-BE49-F238E27FC236}">
                <a16:creationId xmlns:a16="http://schemas.microsoft.com/office/drawing/2014/main" id="{DF98AD70-C145-4B9E-93F8-331AD978B19E}"/>
              </a:ext>
            </a:extLst>
          </p:cNvPr>
          <p:cNvSpPr>
            <a:spLocks noGrp="1"/>
          </p:cNvSpPr>
          <p:nvPr>
            <p:ph idx="1"/>
          </p:nvPr>
        </p:nvSpPr>
        <p:spPr/>
        <p:txBody>
          <a:bodyPr>
            <a:normAutofit fontScale="55000" lnSpcReduction="20000"/>
          </a:bodyPr>
          <a:lstStyle/>
          <a:p>
            <a:pPr algn="just"/>
            <a:r>
              <a:rPr lang="en-IN" dirty="0"/>
              <a:t>The integration layer handles communication between the e-commerce platform and third-party services that are required for extended functionality. This could include services for payment processing, shipping, external APIs for marketing and CRM systems, or integration with external inventory management systems.</a:t>
            </a:r>
          </a:p>
          <a:p>
            <a:r>
              <a:rPr lang="en-IN" b="1" dirty="0"/>
              <a:t>Components:</a:t>
            </a:r>
            <a:endParaRPr lang="en-IN" dirty="0"/>
          </a:p>
          <a:p>
            <a:pPr>
              <a:buFont typeface="Arial" panose="020B0604020202020204" pitchFamily="34" charset="0"/>
              <a:buChar char="•"/>
            </a:pPr>
            <a:r>
              <a:rPr lang="en-IN" b="1" dirty="0"/>
              <a:t>Payment Gateways:</a:t>
            </a:r>
            <a:r>
              <a:rPr lang="en-IN" dirty="0"/>
              <a:t> Integrates with third-party services like </a:t>
            </a:r>
            <a:r>
              <a:rPr lang="en-IN" b="1" dirty="0"/>
              <a:t>Stripe</a:t>
            </a:r>
            <a:r>
              <a:rPr lang="en-IN" dirty="0"/>
              <a:t>, </a:t>
            </a:r>
            <a:r>
              <a:rPr lang="en-IN" b="1" dirty="0"/>
              <a:t>PayPal</a:t>
            </a:r>
            <a:r>
              <a:rPr lang="en-IN" dirty="0"/>
              <a:t>, or </a:t>
            </a:r>
            <a:r>
              <a:rPr lang="en-IN" b="1" dirty="0"/>
              <a:t>Square</a:t>
            </a:r>
            <a:r>
              <a:rPr lang="en-IN" dirty="0"/>
              <a:t> to handle secure payment processing.</a:t>
            </a:r>
          </a:p>
          <a:p>
            <a:pPr>
              <a:buFont typeface="Arial" panose="020B0604020202020204" pitchFamily="34" charset="0"/>
              <a:buChar char="•"/>
            </a:pPr>
            <a:r>
              <a:rPr lang="en-IN" b="1" dirty="0"/>
              <a:t>Shipping APIs:</a:t>
            </a:r>
            <a:r>
              <a:rPr lang="en-IN" dirty="0"/>
              <a:t> Interfaces with services like </a:t>
            </a:r>
            <a:r>
              <a:rPr lang="en-IN" b="1" dirty="0"/>
              <a:t>UPS</a:t>
            </a:r>
            <a:r>
              <a:rPr lang="en-IN" dirty="0"/>
              <a:t>, </a:t>
            </a:r>
            <a:r>
              <a:rPr lang="en-IN" b="1" dirty="0"/>
              <a:t>FedEx</a:t>
            </a:r>
            <a:r>
              <a:rPr lang="en-IN" dirty="0"/>
              <a:t>, or </a:t>
            </a:r>
            <a:r>
              <a:rPr lang="en-IN" b="1" dirty="0"/>
              <a:t>DHL</a:t>
            </a:r>
            <a:r>
              <a:rPr lang="en-IN" dirty="0"/>
              <a:t> to handle shipment tracking and shipping rate calculations.</a:t>
            </a:r>
          </a:p>
          <a:p>
            <a:pPr>
              <a:buFont typeface="Arial" panose="020B0604020202020204" pitchFamily="34" charset="0"/>
              <a:buChar char="•"/>
            </a:pPr>
            <a:r>
              <a:rPr lang="en-IN" b="1" dirty="0"/>
              <a:t>Inventory Systems:</a:t>
            </a:r>
            <a:r>
              <a:rPr lang="en-IN" dirty="0"/>
              <a:t> Communicates with external inventory management systems to ensure that stock levels are up to date and accurate.</a:t>
            </a:r>
          </a:p>
          <a:p>
            <a:pPr>
              <a:buFont typeface="Arial" panose="020B0604020202020204" pitchFamily="34" charset="0"/>
              <a:buChar char="•"/>
            </a:pPr>
            <a:r>
              <a:rPr lang="en-IN" b="1" dirty="0"/>
              <a:t>CRM Systems:</a:t>
            </a:r>
            <a:r>
              <a:rPr lang="en-IN" dirty="0"/>
              <a:t> Integration with customer relationship management systems (e.g., </a:t>
            </a:r>
            <a:r>
              <a:rPr lang="en-IN" b="1" dirty="0"/>
              <a:t>Salesforce</a:t>
            </a:r>
            <a:r>
              <a:rPr lang="en-IN" dirty="0"/>
              <a:t>, </a:t>
            </a:r>
            <a:r>
              <a:rPr lang="en-IN" b="1" dirty="0"/>
              <a:t>HubSpot</a:t>
            </a:r>
            <a:r>
              <a:rPr lang="en-IN" dirty="0"/>
              <a:t>) for personalized marketing campaigns.</a:t>
            </a:r>
          </a:p>
          <a:p>
            <a:pPr>
              <a:buFont typeface="Arial" panose="020B0604020202020204" pitchFamily="34" charset="0"/>
              <a:buChar char="•"/>
            </a:pPr>
            <a:r>
              <a:rPr lang="en-IN" b="1" dirty="0"/>
              <a:t>Email Services:</a:t>
            </a:r>
            <a:r>
              <a:rPr lang="en-IN" dirty="0"/>
              <a:t> Interfaces with services like </a:t>
            </a:r>
            <a:r>
              <a:rPr lang="en-IN" b="1" dirty="0"/>
              <a:t>Mailchimp</a:t>
            </a:r>
            <a:r>
              <a:rPr lang="en-IN" dirty="0"/>
              <a:t> or </a:t>
            </a:r>
            <a:r>
              <a:rPr lang="en-IN" b="1" dirty="0"/>
              <a:t>SendGrid</a:t>
            </a:r>
            <a:r>
              <a:rPr lang="en-IN" dirty="0"/>
              <a:t> to send order confirmations, promotional emails, or customer newsletters.</a:t>
            </a:r>
          </a:p>
          <a:p>
            <a:r>
              <a:rPr lang="en-IN" b="1" dirty="0"/>
              <a:t>Example:</a:t>
            </a:r>
            <a:endParaRPr lang="en-IN" dirty="0"/>
          </a:p>
          <a:p>
            <a:pPr>
              <a:buFont typeface="Arial" panose="020B0604020202020204" pitchFamily="34" charset="0"/>
              <a:buChar char="•"/>
            </a:pPr>
            <a:r>
              <a:rPr lang="en-IN" dirty="0"/>
              <a:t>When the customer enters their payment information and completes the checkout process, the system communicates with the </a:t>
            </a:r>
            <a:r>
              <a:rPr lang="en-IN" b="1" dirty="0"/>
              <a:t>payment gateway</a:t>
            </a:r>
            <a:r>
              <a:rPr lang="en-IN" dirty="0"/>
              <a:t> to process the payment. Simultaneously, it sends shipping details to the </a:t>
            </a:r>
            <a:r>
              <a:rPr lang="en-IN" b="1" dirty="0"/>
              <a:t>shipping API</a:t>
            </a:r>
            <a:r>
              <a:rPr lang="en-IN" dirty="0"/>
              <a:t> to generate a shipping label and track delivery.</a:t>
            </a:r>
          </a:p>
          <a:p>
            <a:endParaRPr lang="en-IN" dirty="0"/>
          </a:p>
        </p:txBody>
      </p:sp>
    </p:spTree>
    <p:extLst>
      <p:ext uri="{BB962C8B-B14F-4D97-AF65-F5344CB8AC3E}">
        <p14:creationId xmlns:p14="http://schemas.microsoft.com/office/powerpoint/2010/main" val="3210512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E3BB9-B892-F331-D056-326AD95C6ACF}"/>
              </a:ext>
            </a:extLst>
          </p:cNvPr>
          <p:cNvSpPr>
            <a:spLocks noGrp="1"/>
          </p:cNvSpPr>
          <p:nvPr>
            <p:ph type="title"/>
          </p:nvPr>
        </p:nvSpPr>
        <p:spPr/>
        <p:txBody>
          <a:bodyPr/>
          <a:lstStyle/>
          <a:p>
            <a:r>
              <a:rPr lang="en-IN" b="1" dirty="0"/>
              <a:t>How These tiers Work Together</a:t>
            </a:r>
            <a:br>
              <a:rPr lang="en-IN" b="1" dirty="0"/>
            </a:br>
            <a:endParaRPr lang="en-IN" dirty="0"/>
          </a:p>
        </p:txBody>
      </p:sp>
      <p:sp>
        <p:nvSpPr>
          <p:cNvPr id="3" name="Content Placeholder 2">
            <a:extLst>
              <a:ext uri="{FF2B5EF4-FFF2-40B4-BE49-F238E27FC236}">
                <a16:creationId xmlns:a16="http://schemas.microsoft.com/office/drawing/2014/main" id="{156DE97B-F0A0-7D5D-1BF8-46255C1FBB55}"/>
              </a:ext>
            </a:extLst>
          </p:cNvPr>
          <p:cNvSpPr>
            <a:spLocks noGrp="1"/>
          </p:cNvSpPr>
          <p:nvPr>
            <p:ph idx="1"/>
          </p:nvPr>
        </p:nvSpPr>
        <p:spPr/>
        <p:txBody>
          <a:bodyPr>
            <a:normAutofit fontScale="92500" lnSpcReduction="10000"/>
          </a:bodyPr>
          <a:lstStyle/>
          <a:p>
            <a:pPr>
              <a:buFont typeface="+mj-lt"/>
              <a:buAutoNum type="arabicPeriod"/>
            </a:pPr>
            <a:r>
              <a:rPr lang="en-IN" b="1" dirty="0"/>
              <a:t>Customer Interaction</a:t>
            </a:r>
            <a:endParaRPr lang="en-IN" dirty="0"/>
          </a:p>
          <a:p>
            <a:pPr marL="457200" lvl="1" indent="0">
              <a:buNone/>
            </a:pPr>
            <a:r>
              <a:rPr lang="en-IN" dirty="0"/>
              <a:t>The user browses products, adds items to the cart, and proceeds to checkout.</a:t>
            </a:r>
          </a:p>
          <a:p>
            <a:pPr>
              <a:buFont typeface="+mj-lt"/>
              <a:buAutoNum type="arabicPeriod"/>
            </a:pPr>
            <a:r>
              <a:rPr lang="en-IN" b="1" dirty="0"/>
              <a:t>Business Logic Processing :</a:t>
            </a:r>
            <a:endParaRPr lang="en-IN" dirty="0"/>
          </a:p>
          <a:p>
            <a:pPr marL="457200" lvl="1" indent="0">
              <a:buNone/>
            </a:pPr>
            <a:r>
              <a:rPr lang="en-IN" dirty="0"/>
              <a:t>The system calculates taxes, shipping, and applies discounts. It also processes the payment through an external payment gateway and verifies user credentials.</a:t>
            </a:r>
          </a:p>
          <a:p>
            <a:pPr>
              <a:buFont typeface="+mj-lt"/>
              <a:buAutoNum type="arabicPeriod"/>
            </a:pPr>
            <a:r>
              <a:rPr lang="en-IN" b="1" dirty="0"/>
              <a:t>Data Retrieval:</a:t>
            </a:r>
            <a:endParaRPr lang="en-IN" dirty="0"/>
          </a:p>
          <a:p>
            <a:pPr marL="457200" lvl="1" indent="0">
              <a:buNone/>
            </a:pPr>
            <a:r>
              <a:rPr lang="en-IN" dirty="0"/>
              <a:t>The business logic layer queries the database to check product availability, user information, payment history, and order details.</a:t>
            </a:r>
          </a:p>
          <a:p>
            <a:pPr>
              <a:buFont typeface="+mj-lt"/>
              <a:buAutoNum type="arabicPeriod"/>
            </a:pPr>
            <a:r>
              <a:rPr lang="en-IN" b="1" dirty="0"/>
              <a:t>External Services:</a:t>
            </a:r>
            <a:endParaRPr lang="en-IN" dirty="0"/>
          </a:p>
          <a:p>
            <a:pPr marL="457200" lvl="1" indent="0">
              <a:buNone/>
            </a:pPr>
            <a:r>
              <a:rPr lang="en-IN" dirty="0"/>
              <a:t>The system interacts with third-party services like payment gateways and shipping APIs. After payment is processed successfully, the order information is sent to the shipping service for delivery.</a:t>
            </a:r>
          </a:p>
          <a:p>
            <a:endParaRPr lang="en-IN" dirty="0"/>
          </a:p>
        </p:txBody>
      </p:sp>
    </p:spTree>
    <p:extLst>
      <p:ext uri="{BB962C8B-B14F-4D97-AF65-F5344CB8AC3E}">
        <p14:creationId xmlns:p14="http://schemas.microsoft.com/office/powerpoint/2010/main" val="616398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1157</Words>
  <Application>Microsoft Office PowerPoint</Application>
  <PresentationFormat>Widescreen</PresentationFormat>
  <Paragraphs>68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4-Tier Architecture Overview</vt:lpstr>
      <vt:lpstr>PowerPoint Presentation</vt:lpstr>
      <vt:lpstr>PowerPoint Presentation</vt:lpstr>
      <vt:lpstr>Client Tier</vt:lpstr>
      <vt:lpstr>Business Logic (Application Tier) </vt:lpstr>
      <vt:lpstr>Business Logic (Application Tier) </vt:lpstr>
      <vt:lpstr>Data (Persistence Tier) </vt:lpstr>
      <vt:lpstr>Integration (Service Tier) </vt:lpstr>
      <vt:lpstr>How These tiers Work Together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2</cp:revision>
  <dcterms:created xsi:type="dcterms:W3CDTF">2025-01-26T17:30:37Z</dcterms:created>
  <dcterms:modified xsi:type="dcterms:W3CDTF">2025-01-26T17:38:16Z</dcterms:modified>
</cp:coreProperties>
</file>